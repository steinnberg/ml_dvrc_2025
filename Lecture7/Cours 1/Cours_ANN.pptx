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87" r:id="rId22"/>
    <p:sldId id="288" r:id="rId23"/>
    <p:sldId id="289" r:id="rId24"/>
    <p:sldId id="290" r:id="rId25"/>
    <p:sldId id="291" r:id="rId26"/>
    <p:sldId id="292" r:id="rId27"/>
    <p:sldId id="293" r:id="rId28"/>
    <p:sldId id="294" r:id="rId29"/>
    <p:sldId id="295" r:id="rId30"/>
    <p:sldId id="296" r:id="rId31"/>
    <p:sldId id="297" r:id="rId32"/>
    <p:sldId id="298" r:id="rId33"/>
    <p:sldId id="299" r:id="rId34"/>
    <p:sldId id="300" r:id="rId35"/>
    <p:sldId id="301" r:id="rId36"/>
    <p:sldId id="302" r:id="rId37"/>
    <p:sldId id="303" r:id="rId38"/>
    <p:sldId id="304" r:id="rId39"/>
    <p:sldId id="305" r:id="rId40"/>
    <p:sldId id="306" r:id="rId41"/>
    <p:sldId id="307" r:id="rId42"/>
    <p:sldId id="308" r:id="rId43"/>
    <p:sldId id="309" r:id="rId44"/>
    <p:sldId id="310" r:id="rId45"/>
    <p:sldId id="311" r:id="rId46"/>
    <p:sldId id="312" r:id="rId47"/>
    <p:sldId id="313" r:id="rId48"/>
    <p:sldId id="314" r:id="rId49"/>
    <p:sldId id="315" r:id="rId50"/>
    <p:sldId id="316" r:id="rId51"/>
    <p:sldId id="317" r:id="rId52"/>
    <p:sldId id="318" r:id="rId53"/>
    <p:sldId id="319" r:id="rId54"/>
    <p:sldId id="320" r:id="rId55"/>
    <p:sldId id="321" r:id="rId56"/>
    <p:sldId id="322" r:id="rId57"/>
    <p:sldId id="323" r:id="rId58"/>
    <p:sldId id="324" r:id="rId59"/>
    <p:sldId id="325" r:id="rId60"/>
    <p:sldId id="326" r:id="rId61"/>
    <p:sldId id="327" r:id="rId62"/>
    <p:sldId id="328" r:id="rId63"/>
    <p:sldId id="329" r:id="rId64"/>
    <p:sldId id="330" r:id="rId65"/>
    <p:sldId id="331" r:id="rId66"/>
    <p:sldId id="332" r:id="rId67"/>
    <p:sldId id="333" r:id="rId68"/>
    <p:sldId id="334" r:id="rId69"/>
    <p:sldId id="335" r:id="rId70"/>
    <p:sldId id="336" r:id="rId71"/>
    <p:sldId id="337" r:id="rId72"/>
    <p:sldId id="338" r:id="rId73"/>
    <p:sldId id="339" r:id="rId74"/>
    <p:sldId id="340" r:id="rId75"/>
    <p:sldId id="341" r:id="rId76"/>
    <p:sldId id="342" r:id="rId77"/>
    <p:sldId id="343" r:id="rId78"/>
    <p:sldId id="344" r:id="rId79"/>
    <p:sldId id="345" r:id="rId80"/>
    <p:sldId id="346" r:id="rId81"/>
    <p:sldId id="347" r:id="rId82"/>
    <p:sldId id="348" r:id="rId83"/>
    <p:sldId id="349" r:id="rId84"/>
    <p:sldId id="350" r:id="rId85"/>
    <p:sldId id="351" r:id="rId86"/>
    <p:sldId id="352" r:id="rId87"/>
    <p:sldId id="353" r:id="rId88"/>
    <p:sldId id="354" r:id="rId89"/>
    <p:sldId id="355" r:id="rId90"/>
    <p:sldId id="356" r:id="rId91"/>
    <p:sldId id="357" r:id="rId92"/>
    <p:sldId id="358" r:id="rId93"/>
    <p:sldId id="359" r:id="rId94"/>
    <p:sldId id="360" r:id="rId95"/>
    <p:sldId id="361" r:id="rId96"/>
    <p:sldId id="362" r:id="rId97"/>
    <p:sldId id="363" r:id="rId98"/>
    <p:sldId id="364" r:id="rId99"/>
    <p:sldId id="365" r:id="rId100"/>
    <p:sldId id="366" r:id="rId101"/>
    <p:sldId id="367" r:id="rId102"/>
    <p:sldId id="368" r:id="rId103"/>
    <p:sldId id="369" r:id="rId104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56" autoAdjust="0"/>
    <p:restoredTop sz="87314" autoAdjust="0"/>
  </p:normalViewPr>
  <p:slideViewPr>
    <p:cSldViewPr>
      <p:cViewPr varScale="1">
        <p:scale>
          <a:sx n="78" d="100"/>
          <a:sy n="78" d="100"/>
        </p:scale>
        <p:origin x="784" y="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theme" Target="theme/theme1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4724" y="503825"/>
            <a:ext cx="7675880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95959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999999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1905"/>
              </a:lnSpc>
            </a:pPr>
            <a:r>
              <a:rPr dirty="0"/>
              <a:t>MIT</a:t>
            </a:r>
            <a:r>
              <a:rPr spc="-50" dirty="0"/>
              <a:t> </a:t>
            </a:r>
            <a:r>
              <a:rPr dirty="0"/>
              <a:t>6.S191</a:t>
            </a:r>
            <a:r>
              <a:rPr spc="-45" dirty="0"/>
              <a:t> </a:t>
            </a:r>
            <a:r>
              <a:rPr dirty="0">
                <a:solidFill>
                  <a:srgbClr val="0097A7"/>
                </a:solidFill>
              </a:rPr>
              <a:t>|</a:t>
            </a:r>
            <a:r>
              <a:rPr spc="-45" dirty="0">
                <a:solidFill>
                  <a:srgbClr val="0097A7"/>
                </a:solidFill>
              </a:rPr>
              <a:t> </a:t>
            </a:r>
            <a:r>
              <a:rPr spc="-10" dirty="0"/>
              <a:t>Intro</a:t>
            </a:r>
            <a:r>
              <a:rPr spc="-50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Deep</a:t>
            </a:r>
            <a:r>
              <a:rPr spc="-50" dirty="0"/>
              <a:t> </a:t>
            </a:r>
            <a:r>
              <a:rPr spc="-10" dirty="0"/>
              <a:t>Learning</a:t>
            </a:r>
            <a:r>
              <a:rPr spc="-40" dirty="0"/>
              <a:t> </a:t>
            </a:r>
            <a:r>
              <a:rPr dirty="0">
                <a:solidFill>
                  <a:srgbClr val="0097A7"/>
                </a:solidFill>
              </a:rPr>
              <a:t>|</a:t>
            </a:r>
            <a:r>
              <a:rPr spc="-50" dirty="0">
                <a:solidFill>
                  <a:srgbClr val="0097A7"/>
                </a:solidFill>
              </a:rPr>
              <a:t> </a:t>
            </a:r>
            <a:r>
              <a:rPr dirty="0"/>
              <a:t>IAP</a:t>
            </a:r>
            <a:r>
              <a:rPr spc="-45" dirty="0"/>
              <a:t> </a:t>
            </a:r>
            <a:r>
              <a:rPr spc="-20" dirty="0"/>
              <a:t>2017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12/26/2023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95959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999999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1905"/>
              </a:lnSpc>
            </a:pPr>
            <a:r>
              <a:rPr dirty="0"/>
              <a:t>MIT</a:t>
            </a:r>
            <a:r>
              <a:rPr spc="-50" dirty="0"/>
              <a:t> </a:t>
            </a:r>
            <a:r>
              <a:rPr dirty="0"/>
              <a:t>6.S191</a:t>
            </a:r>
            <a:r>
              <a:rPr spc="-45" dirty="0"/>
              <a:t> </a:t>
            </a:r>
            <a:r>
              <a:rPr dirty="0">
                <a:solidFill>
                  <a:srgbClr val="0097A7"/>
                </a:solidFill>
              </a:rPr>
              <a:t>|</a:t>
            </a:r>
            <a:r>
              <a:rPr spc="-45" dirty="0">
                <a:solidFill>
                  <a:srgbClr val="0097A7"/>
                </a:solidFill>
              </a:rPr>
              <a:t> </a:t>
            </a:r>
            <a:r>
              <a:rPr spc="-10" dirty="0"/>
              <a:t>Intro</a:t>
            </a:r>
            <a:r>
              <a:rPr spc="-50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Deep</a:t>
            </a:r>
            <a:r>
              <a:rPr spc="-50" dirty="0"/>
              <a:t> </a:t>
            </a:r>
            <a:r>
              <a:rPr spc="-10" dirty="0"/>
              <a:t>Learning</a:t>
            </a:r>
            <a:r>
              <a:rPr spc="-40" dirty="0"/>
              <a:t> </a:t>
            </a:r>
            <a:r>
              <a:rPr dirty="0">
                <a:solidFill>
                  <a:srgbClr val="0097A7"/>
                </a:solidFill>
              </a:rPr>
              <a:t>|</a:t>
            </a:r>
            <a:r>
              <a:rPr spc="-50" dirty="0">
                <a:solidFill>
                  <a:srgbClr val="0097A7"/>
                </a:solidFill>
              </a:rPr>
              <a:t> </a:t>
            </a:r>
            <a:r>
              <a:rPr dirty="0"/>
              <a:t>IAP</a:t>
            </a:r>
            <a:r>
              <a:rPr spc="-45" dirty="0"/>
              <a:t> </a:t>
            </a:r>
            <a:r>
              <a:rPr spc="-20" dirty="0"/>
              <a:t>2017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12/26/2023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999999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1905"/>
              </a:lnSpc>
            </a:pPr>
            <a:r>
              <a:rPr dirty="0"/>
              <a:t>MIT</a:t>
            </a:r>
            <a:r>
              <a:rPr spc="-50" dirty="0"/>
              <a:t> </a:t>
            </a:r>
            <a:r>
              <a:rPr dirty="0"/>
              <a:t>6.S191</a:t>
            </a:r>
            <a:r>
              <a:rPr spc="-45" dirty="0"/>
              <a:t> </a:t>
            </a:r>
            <a:r>
              <a:rPr dirty="0">
                <a:solidFill>
                  <a:srgbClr val="0097A7"/>
                </a:solidFill>
              </a:rPr>
              <a:t>|</a:t>
            </a:r>
            <a:r>
              <a:rPr spc="-45" dirty="0">
                <a:solidFill>
                  <a:srgbClr val="0097A7"/>
                </a:solidFill>
              </a:rPr>
              <a:t> </a:t>
            </a:r>
            <a:r>
              <a:rPr spc="-10" dirty="0"/>
              <a:t>Intro</a:t>
            </a:r>
            <a:r>
              <a:rPr spc="-50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Deep</a:t>
            </a:r>
            <a:r>
              <a:rPr spc="-50" dirty="0"/>
              <a:t> </a:t>
            </a:r>
            <a:r>
              <a:rPr spc="-10" dirty="0"/>
              <a:t>Learning</a:t>
            </a:r>
            <a:r>
              <a:rPr spc="-40" dirty="0"/>
              <a:t> </a:t>
            </a:r>
            <a:r>
              <a:rPr dirty="0">
                <a:solidFill>
                  <a:srgbClr val="0097A7"/>
                </a:solidFill>
              </a:rPr>
              <a:t>|</a:t>
            </a:r>
            <a:r>
              <a:rPr spc="-50" dirty="0">
                <a:solidFill>
                  <a:srgbClr val="0097A7"/>
                </a:solidFill>
              </a:rPr>
              <a:t> </a:t>
            </a:r>
            <a:r>
              <a:rPr dirty="0"/>
              <a:t>IAP</a:t>
            </a:r>
            <a:r>
              <a:rPr spc="-45" dirty="0"/>
              <a:t> </a:t>
            </a:r>
            <a:r>
              <a:rPr spc="-20" dirty="0"/>
              <a:t>2017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12/26/2023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999999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1905"/>
              </a:lnSpc>
            </a:pPr>
            <a:r>
              <a:rPr dirty="0"/>
              <a:t>MIT</a:t>
            </a:r>
            <a:r>
              <a:rPr spc="-50" dirty="0"/>
              <a:t> </a:t>
            </a:r>
            <a:r>
              <a:rPr dirty="0"/>
              <a:t>6.S191</a:t>
            </a:r>
            <a:r>
              <a:rPr spc="-45" dirty="0"/>
              <a:t> </a:t>
            </a:r>
            <a:r>
              <a:rPr dirty="0">
                <a:solidFill>
                  <a:srgbClr val="0097A7"/>
                </a:solidFill>
              </a:rPr>
              <a:t>|</a:t>
            </a:r>
            <a:r>
              <a:rPr spc="-45" dirty="0">
                <a:solidFill>
                  <a:srgbClr val="0097A7"/>
                </a:solidFill>
              </a:rPr>
              <a:t> </a:t>
            </a:r>
            <a:r>
              <a:rPr spc="-10" dirty="0"/>
              <a:t>Intro</a:t>
            </a:r>
            <a:r>
              <a:rPr spc="-50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Deep</a:t>
            </a:r>
            <a:r>
              <a:rPr spc="-50" dirty="0"/>
              <a:t> </a:t>
            </a:r>
            <a:r>
              <a:rPr spc="-10" dirty="0"/>
              <a:t>Learning</a:t>
            </a:r>
            <a:r>
              <a:rPr spc="-40" dirty="0"/>
              <a:t> </a:t>
            </a:r>
            <a:r>
              <a:rPr dirty="0">
                <a:solidFill>
                  <a:srgbClr val="0097A7"/>
                </a:solidFill>
              </a:rPr>
              <a:t>|</a:t>
            </a:r>
            <a:r>
              <a:rPr spc="-50" dirty="0">
                <a:solidFill>
                  <a:srgbClr val="0097A7"/>
                </a:solidFill>
              </a:rPr>
              <a:t> </a:t>
            </a:r>
            <a:r>
              <a:rPr dirty="0"/>
              <a:t>IAP</a:t>
            </a:r>
            <a:r>
              <a:rPr spc="-45" dirty="0"/>
              <a:t> </a:t>
            </a:r>
            <a:r>
              <a:rPr spc="-20" dirty="0"/>
              <a:t>2017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12/26/2023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999999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1905"/>
              </a:lnSpc>
            </a:pPr>
            <a:r>
              <a:rPr dirty="0"/>
              <a:t>MIT</a:t>
            </a:r>
            <a:r>
              <a:rPr spc="-50" dirty="0"/>
              <a:t> </a:t>
            </a:r>
            <a:r>
              <a:rPr dirty="0"/>
              <a:t>6.S191</a:t>
            </a:r>
            <a:r>
              <a:rPr spc="-45" dirty="0"/>
              <a:t> </a:t>
            </a:r>
            <a:r>
              <a:rPr dirty="0">
                <a:solidFill>
                  <a:srgbClr val="0097A7"/>
                </a:solidFill>
              </a:rPr>
              <a:t>|</a:t>
            </a:r>
            <a:r>
              <a:rPr spc="-45" dirty="0">
                <a:solidFill>
                  <a:srgbClr val="0097A7"/>
                </a:solidFill>
              </a:rPr>
              <a:t> </a:t>
            </a:r>
            <a:r>
              <a:rPr spc="-10" dirty="0"/>
              <a:t>Intro</a:t>
            </a:r>
            <a:r>
              <a:rPr spc="-50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Deep</a:t>
            </a:r>
            <a:r>
              <a:rPr spc="-50" dirty="0"/>
              <a:t> </a:t>
            </a:r>
            <a:r>
              <a:rPr spc="-10" dirty="0"/>
              <a:t>Learning</a:t>
            </a:r>
            <a:r>
              <a:rPr spc="-40" dirty="0"/>
              <a:t> </a:t>
            </a:r>
            <a:r>
              <a:rPr dirty="0">
                <a:solidFill>
                  <a:srgbClr val="0097A7"/>
                </a:solidFill>
              </a:rPr>
              <a:t>|</a:t>
            </a:r>
            <a:r>
              <a:rPr spc="-50" dirty="0">
                <a:solidFill>
                  <a:srgbClr val="0097A7"/>
                </a:solidFill>
              </a:rPr>
              <a:t> </a:t>
            </a:r>
            <a:r>
              <a:rPr dirty="0"/>
              <a:t>IAP</a:t>
            </a:r>
            <a:r>
              <a:rPr spc="-45" dirty="0"/>
              <a:t> </a:t>
            </a:r>
            <a:r>
              <a:rPr spc="-20" dirty="0"/>
              <a:t>2017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12/26/2023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4" y="503825"/>
            <a:ext cx="7232015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5248" y="1176351"/>
            <a:ext cx="4456430" cy="2540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95959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481916" y="4716894"/>
            <a:ext cx="4179570" cy="263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999999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1905"/>
              </a:lnSpc>
            </a:pPr>
            <a:r>
              <a:rPr dirty="0"/>
              <a:t>MIT</a:t>
            </a:r>
            <a:r>
              <a:rPr spc="-50" dirty="0"/>
              <a:t> </a:t>
            </a:r>
            <a:r>
              <a:rPr dirty="0"/>
              <a:t>6.S191</a:t>
            </a:r>
            <a:r>
              <a:rPr spc="-45" dirty="0"/>
              <a:t> </a:t>
            </a:r>
            <a:r>
              <a:rPr dirty="0">
                <a:solidFill>
                  <a:srgbClr val="0097A7"/>
                </a:solidFill>
              </a:rPr>
              <a:t>|</a:t>
            </a:r>
            <a:r>
              <a:rPr spc="-45" dirty="0">
                <a:solidFill>
                  <a:srgbClr val="0097A7"/>
                </a:solidFill>
              </a:rPr>
              <a:t> </a:t>
            </a:r>
            <a:r>
              <a:rPr spc="-10" dirty="0"/>
              <a:t>Intro</a:t>
            </a:r>
            <a:r>
              <a:rPr spc="-50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Deep</a:t>
            </a:r>
            <a:r>
              <a:rPr spc="-50" dirty="0"/>
              <a:t> </a:t>
            </a:r>
            <a:r>
              <a:rPr spc="-10" dirty="0"/>
              <a:t>Learning</a:t>
            </a:r>
            <a:r>
              <a:rPr spc="-40" dirty="0"/>
              <a:t> </a:t>
            </a:r>
            <a:r>
              <a:rPr dirty="0">
                <a:solidFill>
                  <a:srgbClr val="0097A7"/>
                </a:solidFill>
              </a:rPr>
              <a:t>|</a:t>
            </a:r>
            <a:r>
              <a:rPr spc="-50" dirty="0">
                <a:solidFill>
                  <a:srgbClr val="0097A7"/>
                </a:solidFill>
              </a:rPr>
              <a:t> </a:t>
            </a:r>
            <a:r>
              <a:rPr dirty="0"/>
              <a:t>IAP</a:t>
            </a:r>
            <a:r>
              <a:rPr spc="-45" dirty="0"/>
              <a:t> </a:t>
            </a:r>
            <a:r>
              <a:rPr spc="-20" dirty="0"/>
              <a:t>2017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12/26/2023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7" Type="http://schemas.openxmlformats.org/officeDocument/2006/relationships/image" Target="../media/image24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g"/><Relationship Id="rId5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33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33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33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36.png"/><Relationship Id="rId7" Type="http://schemas.openxmlformats.org/officeDocument/2006/relationships/image" Target="../media/image3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9.png"/><Relationship Id="rId7" Type="http://schemas.openxmlformats.org/officeDocument/2006/relationships/image" Target="../media/image35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41.png"/><Relationship Id="rId10" Type="http://schemas.openxmlformats.org/officeDocument/2006/relationships/image" Target="../media/image37.png"/><Relationship Id="rId4" Type="http://schemas.openxmlformats.org/officeDocument/2006/relationships/image" Target="../media/image40.png"/><Relationship Id="rId9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4.png"/><Relationship Id="rId7" Type="http://schemas.openxmlformats.org/officeDocument/2006/relationships/image" Target="../media/image41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9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7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33.png"/><Relationship Id="rId4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28.png"/><Relationship Id="rId7" Type="http://schemas.openxmlformats.org/officeDocument/2006/relationships/image" Target="../media/image4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3.png"/><Relationship Id="rId18" Type="http://schemas.openxmlformats.org/officeDocument/2006/relationships/image" Target="../media/image78.png"/><Relationship Id="rId3" Type="http://schemas.openxmlformats.org/officeDocument/2006/relationships/image" Target="../media/image63.png"/><Relationship Id="rId21" Type="http://schemas.openxmlformats.org/officeDocument/2006/relationships/image" Target="../media/image81.png"/><Relationship Id="rId7" Type="http://schemas.openxmlformats.org/officeDocument/2006/relationships/image" Target="../media/image67.png"/><Relationship Id="rId12" Type="http://schemas.openxmlformats.org/officeDocument/2006/relationships/image" Target="../media/image72.png"/><Relationship Id="rId17" Type="http://schemas.openxmlformats.org/officeDocument/2006/relationships/image" Target="../media/image77.png"/><Relationship Id="rId2" Type="http://schemas.openxmlformats.org/officeDocument/2006/relationships/image" Target="../media/image62.png"/><Relationship Id="rId16" Type="http://schemas.openxmlformats.org/officeDocument/2006/relationships/image" Target="../media/image76.png"/><Relationship Id="rId20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5" Type="http://schemas.openxmlformats.org/officeDocument/2006/relationships/image" Target="../media/image65.png"/><Relationship Id="rId15" Type="http://schemas.openxmlformats.org/officeDocument/2006/relationships/image" Target="../media/image75.png"/><Relationship Id="rId10" Type="http://schemas.openxmlformats.org/officeDocument/2006/relationships/image" Target="../media/image70.png"/><Relationship Id="rId19" Type="http://schemas.openxmlformats.org/officeDocument/2006/relationships/image" Target="../media/image79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Relationship Id="rId14" Type="http://schemas.openxmlformats.org/officeDocument/2006/relationships/image" Target="../media/image74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g"/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g"/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g"/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13" Type="http://schemas.openxmlformats.org/officeDocument/2006/relationships/image" Target="../media/image93.png"/><Relationship Id="rId3" Type="http://schemas.openxmlformats.org/officeDocument/2006/relationships/image" Target="../media/image83.jpg"/><Relationship Id="rId7" Type="http://schemas.openxmlformats.org/officeDocument/2006/relationships/image" Target="../media/image87.png"/><Relationship Id="rId12" Type="http://schemas.openxmlformats.org/officeDocument/2006/relationships/image" Target="../media/image92.png"/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11" Type="http://schemas.openxmlformats.org/officeDocument/2006/relationships/image" Target="../media/image91.png"/><Relationship Id="rId5" Type="http://schemas.openxmlformats.org/officeDocument/2006/relationships/image" Target="../media/image85.png"/><Relationship Id="rId10" Type="http://schemas.openxmlformats.org/officeDocument/2006/relationships/image" Target="../media/image90.png"/><Relationship Id="rId4" Type="http://schemas.openxmlformats.org/officeDocument/2006/relationships/image" Target="../media/image84.png"/><Relationship Id="rId9" Type="http://schemas.openxmlformats.org/officeDocument/2006/relationships/image" Target="../media/image89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13" Type="http://schemas.openxmlformats.org/officeDocument/2006/relationships/image" Target="../media/image93.png"/><Relationship Id="rId3" Type="http://schemas.openxmlformats.org/officeDocument/2006/relationships/image" Target="../media/image83.jpg"/><Relationship Id="rId7" Type="http://schemas.openxmlformats.org/officeDocument/2006/relationships/image" Target="../media/image87.png"/><Relationship Id="rId12" Type="http://schemas.openxmlformats.org/officeDocument/2006/relationships/image" Target="../media/image92.png"/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11" Type="http://schemas.openxmlformats.org/officeDocument/2006/relationships/image" Target="../media/image91.png"/><Relationship Id="rId5" Type="http://schemas.openxmlformats.org/officeDocument/2006/relationships/image" Target="../media/image85.png"/><Relationship Id="rId10" Type="http://schemas.openxmlformats.org/officeDocument/2006/relationships/image" Target="../media/image90.png"/><Relationship Id="rId4" Type="http://schemas.openxmlformats.org/officeDocument/2006/relationships/image" Target="../media/image84.png"/><Relationship Id="rId9" Type="http://schemas.openxmlformats.org/officeDocument/2006/relationships/image" Target="../media/image89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13" Type="http://schemas.openxmlformats.org/officeDocument/2006/relationships/image" Target="../media/image93.png"/><Relationship Id="rId3" Type="http://schemas.openxmlformats.org/officeDocument/2006/relationships/image" Target="../media/image83.jpg"/><Relationship Id="rId7" Type="http://schemas.openxmlformats.org/officeDocument/2006/relationships/image" Target="../media/image87.png"/><Relationship Id="rId12" Type="http://schemas.openxmlformats.org/officeDocument/2006/relationships/image" Target="../media/image92.png"/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11" Type="http://schemas.openxmlformats.org/officeDocument/2006/relationships/image" Target="../media/image91.png"/><Relationship Id="rId5" Type="http://schemas.openxmlformats.org/officeDocument/2006/relationships/image" Target="../media/image85.png"/><Relationship Id="rId10" Type="http://schemas.openxmlformats.org/officeDocument/2006/relationships/image" Target="../media/image90.png"/><Relationship Id="rId4" Type="http://schemas.openxmlformats.org/officeDocument/2006/relationships/image" Target="../media/image84.png"/><Relationship Id="rId9" Type="http://schemas.openxmlformats.org/officeDocument/2006/relationships/image" Target="../media/image89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86.png"/><Relationship Id="rId7" Type="http://schemas.openxmlformats.org/officeDocument/2006/relationships/image" Target="../media/image90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5" Type="http://schemas.openxmlformats.org/officeDocument/2006/relationships/image" Target="../media/image88.png"/><Relationship Id="rId10" Type="http://schemas.openxmlformats.org/officeDocument/2006/relationships/image" Target="../media/image93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86.png"/><Relationship Id="rId7" Type="http://schemas.openxmlformats.org/officeDocument/2006/relationships/image" Target="../media/image90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5" Type="http://schemas.openxmlformats.org/officeDocument/2006/relationships/image" Target="../media/image88.png"/><Relationship Id="rId10" Type="http://schemas.openxmlformats.org/officeDocument/2006/relationships/image" Target="../media/image93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11" Type="http://schemas.openxmlformats.org/officeDocument/2006/relationships/image" Target="../media/image93.png"/><Relationship Id="rId5" Type="http://schemas.openxmlformats.org/officeDocument/2006/relationships/image" Target="../media/image87.png"/><Relationship Id="rId10" Type="http://schemas.openxmlformats.org/officeDocument/2006/relationships/image" Target="../media/image92.png"/><Relationship Id="rId4" Type="http://schemas.openxmlformats.org/officeDocument/2006/relationships/image" Target="../media/image86.png"/><Relationship Id="rId9" Type="http://schemas.openxmlformats.org/officeDocument/2006/relationships/image" Target="../media/image91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11" Type="http://schemas.openxmlformats.org/officeDocument/2006/relationships/image" Target="../media/image93.png"/><Relationship Id="rId5" Type="http://schemas.openxmlformats.org/officeDocument/2006/relationships/image" Target="../media/image87.png"/><Relationship Id="rId10" Type="http://schemas.openxmlformats.org/officeDocument/2006/relationships/image" Target="../media/image92.png"/><Relationship Id="rId4" Type="http://schemas.openxmlformats.org/officeDocument/2006/relationships/image" Target="../media/image86.png"/><Relationship Id="rId9" Type="http://schemas.openxmlformats.org/officeDocument/2006/relationships/image" Target="../media/image91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11" Type="http://schemas.openxmlformats.org/officeDocument/2006/relationships/image" Target="../media/image93.png"/><Relationship Id="rId5" Type="http://schemas.openxmlformats.org/officeDocument/2006/relationships/image" Target="../media/image87.png"/><Relationship Id="rId10" Type="http://schemas.openxmlformats.org/officeDocument/2006/relationships/image" Target="../media/image92.png"/><Relationship Id="rId4" Type="http://schemas.openxmlformats.org/officeDocument/2006/relationships/image" Target="../media/image86.png"/><Relationship Id="rId9" Type="http://schemas.openxmlformats.org/officeDocument/2006/relationships/image" Target="../media/image91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7.png"/><Relationship Id="rId4" Type="http://schemas.openxmlformats.org/officeDocument/2006/relationships/image" Target="../media/image10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7.png"/><Relationship Id="rId5" Type="http://schemas.openxmlformats.org/officeDocument/2006/relationships/image" Target="../media/image98.jpg"/><Relationship Id="rId4" Type="http://schemas.openxmlformats.org/officeDocument/2006/relationships/image" Target="../media/image10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103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10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png"/><Relationship Id="rId5" Type="http://schemas.openxmlformats.org/officeDocument/2006/relationships/image" Target="../media/image106.png"/><Relationship Id="rId4" Type="http://schemas.openxmlformats.org/officeDocument/2006/relationships/image" Target="../media/image104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99.png"/><Relationship Id="rId7" Type="http://schemas.openxmlformats.org/officeDocument/2006/relationships/image" Target="../media/image108.png"/><Relationship Id="rId2" Type="http://schemas.openxmlformats.org/officeDocument/2006/relationships/image" Target="../media/image10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10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10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png"/><Relationship Id="rId5" Type="http://schemas.openxmlformats.org/officeDocument/2006/relationships/image" Target="../media/image109.png"/><Relationship Id="rId4" Type="http://schemas.openxmlformats.org/officeDocument/2006/relationships/image" Target="../media/image104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10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png"/><Relationship Id="rId5" Type="http://schemas.openxmlformats.org/officeDocument/2006/relationships/image" Target="../media/image109.png"/><Relationship Id="rId4" Type="http://schemas.openxmlformats.org/officeDocument/2006/relationships/image" Target="../media/image104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110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110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1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2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1.jp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1.jp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5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6.png"/><Relationship Id="rId4" Type="http://schemas.openxmlformats.org/officeDocument/2006/relationships/image" Target="../media/image117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8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6.png"/><Relationship Id="rId4" Type="http://schemas.openxmlformats.org/officeDocument/2006/relationships/image" Target="../media/image118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6.png"/><Relationship Id="rId4" Type="http://schemas.openxmlformats.org/officeDocument/2006/relationships/image" Target="../media/image118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6.png"/><Relationship Id="rId4" Type="http://schemas.openxmlformats.org/officeDocument/2006/relationships/image" Target="../media/image118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6.png"/><Relationship Id="rId4" Type="http://schemas.openxmlformats.org/officeDocument/2006/relationships/image" Target="../media/image118.pn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jpg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jp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jp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hyperlink" Target="http://sebastianruder.com/optimizing-gradient-descent/" TargetMode="Externa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jpg"/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jpg"/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2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2.png"/><Relationship Id="rId4" Type="http://schemas.openxmlformats.org/officeDocument/2006/relationships/image" Target="../media/image125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2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7.png"/><Relationship Id="rId4" Type="http://schemas.openxmlformats.org/officeDocument/2006/relationships/image" Target="../media/image126.png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jpg"/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jpg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jp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3.png"/><Relationship Id="rId4" Type="http://schemas.openxmlformats.org/officeDocument/2006/relationships/image" Target="../media/image99.png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jp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6574" y="407010"/>
            <a:ext cx="6623050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00" b="1" dirty="0">
                <a:latin typeface="Roboto"/>
                <a:cs typeface="Roboto"/>
              </a:rPr>
              <a:t>Intro</a:t>
            </a:r>
            <a:r>
              <a:rPr sz="5200" b="1" spc="-95" dirty="0">
                <a:latin typeface="Roboto"/>
                <a:cs typeface="Roboto"/>
              </a:rPr>
              <a:t> </a:t>
            </a:r>
            <a:r>
              <a:rPr sz="5200" b="1" dirty="0">
                <a:latin typeface="Roboto"/>
                <a:cs typeface="Roboto"/>
              </a:rPr>
              <a:t>to</a:t>
            </a:r>
            <a:r>
              <a:rPr sz="5200" b="1" spc="-90" dirty="0">
                <a:latin typeface="Roboto"/>
                <a:cs typeface="Roboto"/>
              </a:rPr>
              <a:t> </a:t>
            </a:r>
            <a:r>
              <a:rPr sz="5200" b="1" dirty="0">
                <a:latin typeface="Roboto"/>
                <a:cs typeface="Roboto"/>
              </a:rPr>
              <a:t>Deep</a:t>
            </a:r>
            <a:r>
              <a:rPr sz="5200" b="1" spc="-100" dirty="0">
                <a:latin typeface="Roboto"/>
                <a:cs typeface="Roboto"/>
              </a:rPr>
              <a:t> </a:t>
            </a:r>
            <a:r>
              <a:rPr sz="5200" b="1" spc="-10" dirty="0">
                <a:latin typeface="Roboto"/>
                <a:cs typeface="Roboto"/>
              </a:rPr>
              <a:t>Learning</a:t>
            </a:r>
            <a:endParaRPr sz="5200" dirty="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33334" y="1380442"/>
            <a:ext cx="356419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spc="-10" dirty="0">
                <a:solidFill>
                  <a:srgbClr val="424242"/>
                </a:solidFill>
                <a:latin typeface="Roboto"/>
                <a:cs typeface="Roboto"/>
              </a:rPr>
              <a:t>Kheireddin Kadri </a:t>
            </a:r>
            <a:endParaRPr sz="2800" dirty="0">
              <a:latin typeface="Roboto"/>
              <a:cs typeface="Roboto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88428" y="2149911"/>
            <a:ext cx="3654008" cy="1526183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2590800" y="4716893"/>
            <a:ext cx="4179570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05"/>
              </a:lnSpc>
            </a:pPr>
            <a:r>
              <a:rPr lang="fr-FR" spc="-50" dirty="0"/>
              <a:t>ESILV</a:t>
            </a:r>
            <a:r>
              <a:rPr spc="-50" dirty="0"/>
              <a:t> </a:t>
            </a:r>
            <a:r>
              <a:rPr spc="-45" dirty="0"/>
              <a:t> </a:t>
            </a:r>
            <a:r>
              <a:rPr dirty="0">
                <a:solidFill>
                  <a:srgbClr val="0097A7"/>
                </a:solidFill>
              </a:rPr>
              <a:t>|</a:t>
            </a:r>
            <a:r>
              <a:rPr spc="-45" dirty="0">
                <a:solidFill>
                  <a:srgbClr val="0097A7"/>
                </a:solidFill>
              </a:rPr>
              <a:t> </a:t>
            </a:r>
            <a:r>
              <a:rPr spc="-10" dirty="0"/>
              <a:t>Intro</a:t>
            </a:r>
            <a:r>
              <a:rPr spc="-50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Deep</a:t>
            </a:r>
            <a:r>
              <a:rPr spc="-50" dirty="0"/>
              <a:t> </a:t>
            </a:r>
            <a:r>
              <a:rPr spc="-10" dirty="0"/>
              <a:t>Learning</a:t>
            </a:r>
            <a:r>
              <a:rPr spc="-40" dirty="0"/>
              <a:t> </a:t>
            </a:r>
            <a:r>
              <a:rPr dirty="0">
                <a:solidFill>
                  <a:srgbClr val="0097A7"/>
                </a:solidFill>
              </a:rPr>
              <a:t>|</a:t>
            </a:r>
            <a:r>
              <a:rPr spc="-50" dirty="0">
                <a:solidFill>
                  <a:srgbClr val="0097A7"/>
                </a:solidFill>
              </a:rPr>
              <a:t> </a:t>
            </a:r>
            <a:r>
              <a:rPr lang="fr-FR" spc="-50" dirty="0">
                <a:solidFill>
                  <a:srgbClr val="0097A7"/>
                </a:solidFill>
              </a:rPr>
              <a:t> </a:t>
            </a:r>
            <a:r>
              <a:rPr lang="fr-FR" spc="-50" dirty="0" err="1">
                <a:solidFill>
                  <a:srgbClr val="0097A7"/>
                </a:solidFill>
              </a:rPr>
              <a:t>K.Kadri</a:t>
            </a:r>
            <a:endParaRPr spc="-2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7416C9E-E87C-6769-4E09-0AF49EDA7A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9624" y="4367036"/>
            <a:ext cx="1083429" cy="6997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95D0F55-F285-5694-8891-3E383676ED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604779"/>
            <a:ext cx="1724026" cy="4619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7773" y="1419904"/>
            <a:ext cx="2276475" cy="140462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z="1800" b="1" dirty="0">
                <a:solidFill>
                  <a:srgbClr val="3D85C6"/>
                </a:solidFill>
                <a:latin typeface="Roboto"/>
                <a:cs typeface="Roboto"/>
              </a:rPr>
              <a:t>-</a:t>
            </a:r>
            <a:r>
              <a:rPr sz="1800" b="1" spc="-65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b="1" dirty="0">
                <a:solidFill>
                  <a:srgbClr val="3D85C6"/>
                </a:solidFill>
                <a:latin typeface="Roboto"/>
                <a:cs typeface="Roboto"/>
              </a:rPr>
              <a:t>Image</a:t>
            </a:r>
            <a:r>
              <a:rPr sz="1800" b="1" spc="-60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b="1" spc="-10" dirty="0">
                <a:solidFill>
                  <a:srgbClr val="3D85C6"/>
                </a:solidFill>
                <a:latin typeface="Roboto"/>
                <a:cs typeface="Roboto"/>
              </a:rPr>
              <a:t>Classification </a:t>
            </a:r>
            <a:r>
              <a:rPr sz="1800" dirty="0">
                <a:solidFill>
                  <a:srgbClr val="3D85C6"/>
                </a:solidFill>
                <a:latin typeface="Roboto"/>
                <a:cs typeface="Roboto"/>
              </a:rPr>
              <a:t>Machine</a:t>
            </a:r>
            <a:r>
              <a:rPr sz="1800" spc="-105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3D85C6"/>
                </a:solidFill>
                <a:latin typeface="Roboto"/>
                <a:cs typeface="Roboto"/>
              </a:rPr>
              <a:t>Translation </a:t>
            </a:r>
            <a:r>
              <a:rPr sz="1800" dirty="0">
                <a:solidFill>
                  <a:srgbClr val="3D85C6"/>
                </a:solidFill>
                <a:latin typeface="Roboto"/>
                <a:cs typeface="Roboto"/>
              </a:rPr>
              <a:t>Speech</a:t>
            </a:r>
            <a:r>
              <a:rPr sz="1800" spc="-90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3D85C6"/>
                </a:solidFill>
                <a:latin typeface="Roboto"/>
                <a:cs typeface="Roboto"/>
              </a:rPr>
              <a:t>Recognition </a:t>
            </a:r>
            <a:r>
              <a:rPr sz="1800" dirty="0">
                <a:solidFill>
                  <a:srgbClr val="3D85C6"/>
                </a:solidFill>
                <a:latin typeface="Roboto"/>
                <a:cs typeface="Roboto"/>
              </a:rPr>
              <a:t>Speech</a:t>
            </a:r>
            <a:r>
              <a:rPr sz="1800" spc="-90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3D85C6"/>
                </a:solidFill>
                <a:latin typeface="Roboto"/>
                <a:cs typeface="Roboto"/>
              </a:rPr>
              <a:t>Synthesis </a:t>
            </a:r>
            <a:r>
              <a:rPr sz="1800" dirty="0">
                <a:solidFill>
                  <a:srgbClr val="3D85C6"/>
                </a:solidFill>
                <a:latin typeface="Roboto"/>
                <a:cs typeface="Roboto"/>
              </a:rPr>
              <a:t>Game</a:t>
            </a:r>
            <a:r>
              <a:rPr sz="1800" spc="-20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3D85C6"/>
                </a:solidFill>
                <a:latin typeface="Roboto"/>
                <a:cs typeface="Roboto"/>
              </a:rPr>
              <a:t>Playing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7773" y="3905924"/>
            <a:ext cx="2473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D85C6"/>
                </a:solidFill>
                <a:latin typeface="Roboto"/>
                <a:cs typeface="Roboto"/>
              </a:rPr>
              <a:t>…</a:t>
            </a:r>
            <a:r>
              <a:rPr sz="1800" spc="-70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3D85C6"/>
                </a:solidFill>
                <a:latin typeface="Roboto"/>
                <a:cs typeface="Roboto"/>
              </a:rPr>
              <a:t>and</a:t>
            </a:r>
            <a:r>
              <a:rPr sz="1800" spc="-70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3D85C6"/>
                </a:solidFill>
                <a:latin typeface="Roboto"/>
                <a:cs typeface="Roboto"/>
              </a:rPr>
              <a:t>many,</a:t>
            </a:r>
            <a:r>
              <a:rPr sz="1800" spc="-70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3D85C6"/>
                </a:solidFill>
                <a:latin typeface="Roboto"/>
                <a:cs typeface="Roboto"/>
              </a:rPr>
              <a:t>many</a:t>
            </a:r>
            <a:r>
              <a:rPr sz="1800" spc="-65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3D85C6"/>
                </a:solidFill>
                <a:latin typeface="Roboto"/>
                <a:cs typeface="Roboto"/>
              </a:rPr>
              <a:t>more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Roboto"/>
                <a:cs typeface="Roboto"/>
              </a:rPr>
              <a:t>Deep</a:t>
            </a:r>
            <a:r>
              <a:rPr spc="-95" dirty="0">
                <a:latin typeface="Roboto"/>
                <a:cs typeface="Roboto"/>
              </a:rPr>
              <a:t> </a:t>
            </a:r>
            <a:r>
              <a:rPr spc="-20" dirty="0">
                <a:latin typeface="Roboto"/>
                <a:cs typeface="Roboto"/>
              </a:rPr>
              <a:t>Learning</a:t>
            </a:r>
            <a:r>
              <a:rPr spc="-90" dirty="0">
                <a:latin typeface="Roboto"/>
                <a:cs typeface="Roboto"/>
              </a:rPr>
              <a:t> </a:t>
            </a:r>
            <a:r>
              <a:rPr spc="-10" dirty="0">
                <a:latin typeface="Roboto"/>
                <a:cs typeface="Roboto"/>
              </a:rPr>
              <a:t>Success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6890" y="1132197"/>
            <a:ext cx="3970591" cy="287906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7773" y="1419904"/>
            <a:ext cx="2276475" cy="140462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z="1800" b="1" dirty="0">
                <a:solidFill>
                  <a:srgbClr val="3D85C6"/>
                </a:solidFill>
                <a:latin typeface="Roboto"/>
                <a:cs typeface="Roboto"/>
              </a:rPr>
              <a:t>-</a:t>
            </a:r>
            <a:r>
              <a:rPr sz="1800" b="1" spc="-65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b="1" dirty="0">
                <a:solidFill>
                  <a:srgbClr val="3D85C6"/>
                </a:solidFill>
                <a:latin typeface="Roboto"/>
                <a:cs typeface="Roboto"/>
              </a:rPr>
              <a:t>Image</a:t>
            </a:r>
            <a:r>
              <a:rPr sz="1800" b="1" spc="-60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b="1" spc="-10" dirty="0">
                <a:solidFill>
                  <a:srgbClr val="3D85C6"/>
                </a:solidFill>
                <a:latin typeface="Roboto"/>
                <a:cs typeface="Roboto"/>
              </a:rPr>
              <a:t>Classification </a:t>
            </a:r>
            <a:r>
              <a:rPr sz="1800" dirty="0">
                <a:solidFill>
                  <a:srgbClr val="3D85C6"/>
                </a:solidFill>
                <a:latin typeface="Roboto"/>
                <a:cs typeface="Roboto"/>
              </a:rPr>
              <a:t>Machine</a:t>
            </a:r>
            <a:r>
              <a:rPr sz="1800" spc="-105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3D85C6"/>
                </a:solidFill>
                <a:latin typeface="Roboto"/>
                <a:cs typeface="Roboto"/>
              </a:rPr>
              <a:t>Translation </a:t>
            </a:r>
            <a:r>
              <a:rPr sz="1800" dirty="0">
                <a:solidFill>
                  <a:srgbClr val="3D85C6"/>
                </a:solidFill>
                <a:latin typeface="Roboto"/>
                <a:cs typeface="Roboto"/>
              </a:rPr>
              <a:t>Speech</a:t>
            </a:r>
            <a:r>
              <a:rPr sz="1800" spc="-90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3D85C6"/>
                </a:solidFill>
                <a:latin typeface="Roboto"/>
                <a:cs typeface="Roboto"/>
              </a:rPr>
              <a:t>Recognition </a:t>
            </a:r>
            <a:r>
              <a:rPr sz="1800" dirty="0">
                <a:solidFill>
                  <a:srgbClr val="3D85C6"/>
                </a:solidFill>
                <a:latin typeface="Roboto"/>
                <a:cs typeface="Roboto"/>
              </a:rPr>
              <a:t>Speech</a:t>
            </a:r>
            <a:r>
              <a:rPr sz="1800" spc="-90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3D85C6"/>
                </a:solidFill>
                <a:latin typeface="Roboto"/>
                <a:cs typeface="Roboto"/>
              </a:rPr>
              <a:t>Synthesis </a:t>
            </a:r>
            <a:r>
              <a:rPr sz="1800" dirty="0">
                <a:solidFill>
                  <a:srgbClr val="3D85C6"/>
                </a:solidFill>
                <a:latin typeface="Roboto"/>
                <a:cs typeface="Roboto"/>
              </a:rPr>
              <a:t>Game</a:t>
            </a:r>
            <a:r>
              <a:rPr sz="1800" spc="-20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3D85C6"/>
                </a:solidFill>
                <a:latin typeface="Roboto"/>
                <a:cs typeface="Roboto"/>
              </a:rPr>
              <a:t>Playing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7773" y="3905924"/>
            <a:ext cx="2473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D85C6"/>
                </a:solidFill>
                <a:latin typeface="Roboto"/>
                <a:cs typeface="Roboto"/>
              </a:rPr>
              <a:t>…</a:t>
            </a:r>
            <a:r>
              <a:rPr sz="1800" spc="-70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3D85C6"/>
                </a:solidFill>
                <a:latin typeface="Roboto"/>
                <a:cs typeface="Roboto"/>
              </a:rPr>
              <a:t>and</a:t>
            </a:r>
            <a:r>
              <a:rPr sz="1800" spc="-70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3D85C6"/>
                </a:solidFill>
                <a:latin typeface="Roboto"/>
                <a:cs typeface="Roboto"/>
              </a:rPr>
              <a:t>many,</a:t>
            </a:r>
            <a:r>
              <a:rPr sz="1800" spc="-70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3D85C6"/>
                </a:solidFill>
                <a:latin typeface="Roboto"/>
                <a:cs typeface="Roboto"/>
              </a:rPr>
              <a:t>many</a:t>
            </a:r>
            <a:r>
              <a:rPr sz="1800" spc="-65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3D85C6"/>
                </a:solidFill>
                <a:latin typeface="Roboto"/>
                <a:cs typeface="Roboto"/>
              </a:rPr>
              <a:t>more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Roboto"/>
                <a:cs typeface="Roboto"/>
              </a:rPr>
              <a:t>Deep</a:t>
            </a:r>
            <a:r>
              <a:rPr spc="-95" dirty="0">
                <a:latin typeface="Roboto"/>
                <a:cs typeface="Roboto"/>
              </a:rPr>
              <a:t> </a:t>
            </a:r>
            <a:r>
              <a:rPr spc="-20" dirty="0">
                <a:latin typeface="Roboto"/>
                <a:cs typeface="Roboto"/>
              </a:rPr>
              <a:t>Learning</a:t>
            </a:r>
            <a:r>
              <a:rPr spc="-90" dirty="0">
                <a:latin typeface="Roboto"/>
                <a:cs typeface="Roboto"/>
              </a:rPr>
              <a:t> </a:t>
            </a:r>
            <a:r>
              <a:rPr spc="-10" dirty="0">
                <a:latin typeface="Roboto"/>
                <a:cs typeface="Roboto"/>
              </a:rPr>
              <a:t>Success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34887" y="1502233"/>
            <a:ext cx="3761797" cy="1735518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6248300" y="3284880"/>
            <a:ext cx="217804" cy="506730"/>
            <a:chOff x="6248300" y="3284880"/>
            <a:chExt cx="217804" cy="506730"/>
          </a:xfrm>
        </p:grpSpPr>
        <p:sp>
          <p:nvSpPr>
            <p:cNvPr id="7" name="object 7"/>
            <p:cNvSpPr/>
            <p:nvPr/>
          </p:nvSpPr>
          <p:spPr>
            <a:xfrm>
              <a:off x="6262587" y="3419743"/>
              <a:ext cx="141605" cy="357505"/>
            </a:xfrm>
            <a:custGeom>
              <a:avLst/>
              <a:gdLst/>
              <a:ahLst/>
              <a:cxnLst/>
              <a:rect l="l" t="t" r="r" b="b"/>
              <a:pathLst>
                <a:path w="141604" h="357504">
                  <a:moveTo>
                    <a:pt x="0" y="357174"/>
                  </a:moveTo>
                  <a:lnTo>
                    <a:pt x="141249" y="0"/>
                  </a:lnTo>
                </a:path>
              </a:pathLst>
            </a:custGeom>
            <a:ln w="2857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45649" y="3284880"/>
              <a:ext cx="120149" cy="16652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4602743" y="3841043"/>
            <a:ext cx="2828290" cy="591185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238125" algn="ctr">
              <a:lnSpc>
                <a:spcPct val="100000"/>
              </a:lnSpc>
              <a:spcBef>
                <a:spcPts val="645"/>
              </a:spcBef>
            </a:pPr>
            <a:r>
              <a:rPr sz="1400" spc="-10" dirty="0">
                <a:latin typeface="Arial MT"/>
                <a:cs typeface="Arial MT"/>
              </a:rPr>
              <a:t>AlexNet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1400" i="1" dirty="0">
                <a:latin typeface="Arial"/>
                <a:cs typeface="Arial"/>
              </a:rPr>
              <a:t>Krizhevsky,</a:t>
            </a:r>
            <a:r>
              <a:rPr sz="1400" i="1" spc="-55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Sutskever,</a:t>
            </a:r>
            <a:r>
              <a:rPr sz="1400" i="1" spc="-45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Hinton</a:t>
            </a:r>
            <a:r>
              <a:rPr sz="1400" i="1" spc="-45" dirty="0">
                <a:latin typeface="Arial"/>
                <a:cs typeface="Arial"/>
              </a:rPr>
              <a:t> </a:t>
            </a:r>
            <a:r>
              <a:rPr sz="1400" i="1" spc="-20" dirty="0">
                <a:latin typeface="Arial"/>
                <a:cs typeface="Arial"/>
              </a:rPr>
              <a:t>2012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97708" y="3769577"/>
            <a:ext cx="89535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 MT"/>
                <a:cs typeface="Arial MT"/>
              </a:rPr>
              <a:t>Better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than </a:t>
            </a:r>
            <a:r>
              <a:rPr sz="1400" spc="-10" dirty="0">
                <a:latin typeface="Arial MT"/>
                <a:cs typeface="Arial MT"/>
              </a:rPr>
              <a:t>humans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259245" y="3286280"/>
            <a:ext cx="149860" cy="431800"/>
            <a:chOff x="8259245" y="3286280"/>
            <a:chExt cx="149860" cy="431800"/>
          </a:xfrm>
        </p:grpSpPr>
        <p:sp>
          <p:nvSpPr>
            <p:cNvPr id="12" name="object 12"/>
            <p:cNvSpPr/>
            <p:nvPr/>
          </p:nvSpPr>
          <p:spPr>
            <a:xfrm>
              <a:off x="8273532" y="3425718"/>
              <a:ext cx="76200" cy="278130"/>
            </a:xfrm>
            <a:custGeom>
              <a:avLst/>
              <a:gdLst/>
              <a:ahLst/>
              <a:cxnLst/>
              <a:rect l="l" t="t" r="r" b="b"/>
              <a:pathLst>
                <a:path w="76200" h="278129">
                  <a:moveTo>
                    <a:pt x="0" y="277949"/>
                  </a:moveTo>
                  <a:lnTo>
                    <a:pt x="75599" y="0"/>
                  </a:lnTo>
                </a:path>
              </a:pathLst>
            </a:custGeom>
            <a:ln w="2857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89295" y="3286280"/>
              <a:ext cx="119674" cy="1660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7773" y="1419904"/>
            <a:ext cx="2280285" cy="1404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D85C6"/>
                </a:solidFill>
                <a:latin typeface="Roboto"/>
                <a:cs typeface="Roboto"/>
              </a:rPr>
              <a:t>Image</a:t>
            </a:r>
            <a:r>
              <a:rPr sz="1800" spc="-80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3D85C6"/>
                </a:solidFill>
                <a:latin typeface="Roboto"/>
                <a:cs typeface="Roboto"/>
              </a:rPr>
              <a:t>Classification</a:t>
            </a:r>
            <a:endParaRPr sz="1800">
              <a:latin typeface="Roboto"/>
              <a:cs typeface="Roboto"/>
            </a:endParaRPr>
          </a:p>
          <a:p>
            <a:pPr marL="12700" marR="5080">
              <a:lnSpc>
                <a:spcPct val="100699"/>
              </a:lnSpc>
            </a:pPr>
            <a:r>
              <a:rPr sz="1800" b="1" dirty="0">
                <a:solidFill>
                  <a:srgbClr val="3D85C6"/>
                </a:solidFill>
                <a:latin typeface="Roboto"/>
                <a:cs typeface="Roboto"/>
              </a:rPr>
              <a:t>-</a:t>
            </a:r>
            <a:r>
              <a:rPr sz="1800" b="1" spc="-70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b="1" dirty="0">
                <a:solidFill>
                  <a:srgbClr val="3D85C6"/>
                </a:solidFill>
                <a:latin typeface="Roboto"/>
                <a:cs typeface="Roboto"/>
              </a:rPr>
              <a:t>Machine</a:t>
            </a:r>
            <a:r>
              <a:rPr sz="1800" b="1" spc="-65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b="1" spc="-10" dirty="0">
                <a:solidFill>
                  <a:srgbClr val="3D85C6"/>
                </a:solidFill>
                <a:latin typeface="Roboto"/>
                <a:cs typeface="Roboto"/>
              </a:rPr>
              <a:t>Translation </a:t>
            </a:r>
            <a:r>
              <a:rPr sz="1800" dirty="0">
                <a:solidFill>
                  <a:srgbClr val="3D85C6"/>
                </a:solidFill>
                <a:latin typeface="Roboto"/>
                <a:cs typeface="Roboto"/>
              </a:rPr>
              <a:t>Speech</a:t>
            </a:r>
            <a:r>
              <a:rPr sz="1800" spc="-90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3D85C6"/>
                </a:solidFill>
                <a:latin typeface="Roboto"/>
                <a:cs typeface="Roboto"/>
              </a:rPr>
              <a:t>Recognition </a:t>
            </a:r>
            <a:r>
              <a:rPr sz="1800" dirty="0">
                <a:solidFill>
                  <a:srgbClr val="3D85C6"/>
                </a:solidFill>
                <a:latin typeface="Roboto"/>
                <a:cs typeface="Roboto"/>
              </a:rPr>
              <a:t>Speech</a:t>
            </a:r>
            <a:r>
              <a:rPr sz="1800" spc="-90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3D85C6"/>
                </a:solidFill>
                <a:latin typeface="Roboto"/>
                <a:cs typeface="Roboto"/>
              </a:rPr>
              <a:t>Synthesis </a:t>
            </a:r>
            <a:r>
              <a:rPr sz="1800" dirty="0">
                <a:solidFill>
                  <a:srgbClr val="3D85C6"/>
                </a:solidFill>
                <a:latin typeface="Roboto"/>
                <a:cs typeface="Roboto"/>
              </a:rPr>
              <a:t>Game</a:t>
            </a:r>
            <a:r>
              <a:rPr sz="1800" spc="-20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3D85C6"/>
                </a:solidFill>
                <a:latin typeface="Roboto"/>
                <a:cs typeface="Roboto"/>
              </a:rPr>
              <a:t>Playing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7773" y="3629700"/>
            <a:ext cx="2473960" cy="575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3D85C6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solidFill>
                  <a:srgbClr val="3D85C6"/>
                </a:solidFill>
                <a:latin typeface="Roboto"/>
                <a:cs typeface="Roboto"/>
              </a:rPr>
              <a:t>…</a:t>
            </a:r>
            <a:r>
              <a:rPr sz="1800" spc="-70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3D85C6"/>
                </a:solidFill>
                <a:latin typeface="Roboto"/>
                <a:cs typeface="Roboto"/>
              </a:rPr>
              <a:t>and</a:t>
            </a:r>
            <a:r>
              <a:rPr sz="1800" spc="-70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3D85C6"/>
                </a:solidFill>
                <a:latin typeface="Roboto"/>
                <a:cs typeface="Roboto"/>
              </a:rPr>
              <a:t>many,</a:t>
            </a:r>
            <a:r>
              <a:rPr sz="1800" spc="-70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3D85C6"/>
                </a:solidFill>
                <a:latin typeface="Roboto"/>
                <a:cs typeface="Roboto"/>
              </a:rPr>
              <a:t>many</a:t>
            </a:r>
            <a:r>
              <a:rPr sz="1800" spc="-65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3D85C6"/>
                </a:solidFill>
                <a:latin typeface="Roboto"/>
                <a:cs typeface="Roboto"/>
              </a:rPr>
              <a:t>more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Roboto"/>
                <a:cs typeface="Roboto"/>
              </a:rPr>
              <a:t>Deep</a:t>
            </a:r>
            <a:r>
              <a:rPr spc="-95" dirty="0">
                <a:latin typeface="Roboto"/>
                <a:cs typeface="Roboto"/>
              </a:rPr>
              <a:t> </a:t>
            </a:r>
            <a:r>
              <a:rPr spc="-20" dirty="0">
                <a:latin typeface="Roboto"/>
                <a:cs typeface="Roboto"/>
              </a:rPr>
              <a:t>Learning</a:t>
            </a:r>
            <a:r>
              <a:rPr spc="-90" dirty="0">
                <a:latin typeface="Roboto"/>
                <a:cs typeface="Roboto"/>
              </a:rPr>
              <a:t> </a:t>
            </a:r>
            <a:r>
              <a:rPr spc="-10" dirty="0">
                <a:latin typeface="Roboto"/>
                <a:cs typeface="Roboto"/>
              </a:rPr>
              <a:t>Success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37573" y="614152"/>
            <a:ext cx="1764093" cy="78733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3630" y="1669734"/>
            <a:ext cx="4909600" cy="24904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7773" y="1419904"/>
            <a:ext cx="2222500" cy="140462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127000">
              <a:lnSpc>
                <a:spcPct val="100699"/>
              </a:lnSpc>
              <a:spcBef>
                <a:spcPts val="85"/>
              </a:spcBef>
            </a:pPr>
            <a:r>
              <a:rPr sz="1800" dirty="0">
                <a:solidFill>
                  <a:srgbClr val="3D85C6"/>
                </a:solidFill>
                <a:latin typeface="Roboto"/>
                <a:cs typeface="Roboto"/>
              </a:rPr>
              <a:t>Image</a:t>
            </a:r>
            <a:r>
              <a:rPr sz="1800" spc="-80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3D85C6"/>
                </a:solidFill>
                <a:latin typeface="Roboto"/>
                <a:cs typeface="Roboto"/>
              </a:rPr>
              <a:t>Classification </a:t>
            </a:r>
            <a:r>
              <a:rPr sz="1800" dirty="0">
                <a:solidFill>
                  <a:srgbClr val="3D85C6"/>
                </a:solidFill>
                <a:latin typeface="Roboto"/>
                <a:cs typeface="Roboto"/>
              </a:rPr>
              <a:t>Machine</a:t>
            </a:r>
            <a:r>
              <a:rPr sz="1800" spc="-105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spc="-25" dirty="0">
                <a:solidFill>
                  <a:srgbClr val="3D85C6"/>
                </a:solidFill>
                <a:latin typeface="Roboto"/>
                <a:cs typeface="Roboto"/>
              </a:rPr>
              <a:t>Translation</a:t>
            </a:r>
            <a:endParaRPr sz="1800" dirty="0">
              <a:latin typeface="Roboto"/>
              <a:cs typeface="Roboto"/>
            </a:endParaRPr>
          </a:p>
          <a:p>
            <a:pPr marL="12700" marR="5080">
              <a:lnSpc>
                <a:spcPct val="100699"/>
              </a:lnSpc>
            </a:pPr>
            <a:r>
              <a:rPr sz="1800" b="1" dirty="0">
                <a:solidFill>
                  <a:srgbClr val="3D85C6"/>
                </a:solidFill>
                <a:latin typeface="Roboto"/>
                <a:cs typeface="Roboto"/>
              </a:rPr>
              <a:t>-</a:t>
            </a:r>
            <a:r>
              <a:rPr sz="1800" b="1" spc="-40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b="1" dirty="0">
                <a:solidFill>
                  <a:srgbClr val="3D85C6"/>
                </a:solidFill>
                <a:latin typeface="Roboto"/>
                <a:cs typeface="Roboto"/>
              </a:rPr>
              <a:t>Speech</a:t>
            </a:r>
            <a:r>
              <a:rPr sz="1800" b="1" spc="-35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b="1" spc="-10" dirty="0">
                <a:solidFill>
                  <a:srgbClr val="3D85C6"/>
                </a:solidFill>
                <a:latin typeface="Roboto"/>
                <a:cs typeface="Roboto"/>
              </a:rPr>
              <a:t>Recognition </a:t>
            </a:r>
            <a:r>
              <a:rPr sz="1800" dirty="0">
                <a:solidFill>
                  <a:srgbClr val="3D85C6"/>
                </a:solidFill>
                <a:latin typeface="Roboto"/>
                <a:cs typeface="Roboto"/>
              </a:rPr>
              <a:t>Speech</a:t>
            </a:r>
            <a:r>
              <a:rPr sz="1800" spc="-90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3D85C6"/>
                </a:solidFill>
                <a:latin typeface="Roboto"/>
                <a:cs typeface="Roboto"/>
              </a:rPr>
              <a:t>Synthesis </a:t>
            </a:r>
            <a:r>
              <a:rPr sz="1800" dirty="0">
                <a:solidFill>
                  <a:srgbClr val="3D85C6"/>
                </a:solidFill>
                <a:latin typeface="Roboto"/>
                <a:cs typeface="Roboto"/>
              </a:rPr>
              <a:t>Game</a:t>
            </a:r>
            <a:r>
              <a:rPr sz="1800" spc="-20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3D85C6"/>
                </a:solidFill>
                <a:latin typeface="Roboto"/>
                <a:cs typeface="Roboto"/>
              </a:rPr>
              <a:t>Playing</a:t>
            </a:r>
            <a:endParaRPr sz="1800" dirty="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7773" y="3629700"/>
            <a:ext cx="2473960" cy="575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3D85C6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solidFill>
                  <a:srgbClr val="3D85C6"/>
                </a:solidFill>
                <a:latin typeface="Roboto"/>
                <a:cs typeface="Roboto"/>
              </a:rPr>
              <a:t>…</a:t>
            </a:r>
            <a:r>
              <a:rPr sz="1800" spc="-70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3D85C6"/>
                </a:solidFill>
                <a:latin typeface="Roboto"/>
                <a:cs typeface="Roboto"/>
              </a:rPr>
              <a:t>and</a:t>
            </a:r>
            <a:r>
              <a:rPr sz="1800" spc="-70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3D85C6"/>
                </a:solidFill>
                <a:latin typeface="Roboto"/>
                <a:cs typeface="Roboto"/>
              </a:rPr>
              <a:t>many,</a:t>
            </a:r>
            <a:r>
              <a:rPr sz="1800" spc="-70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3D85C6"/>
                </a:solidFill>
                <a:latin typeface="Roboto"/>
                <a:cs typeface="Roboto"/>
              </a:rPr>
              <a:t>many</a:t>
            </a:r>
            <a:r>
              <a:rPr sz="1800" spc="-65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3D85C6"/>
                </a:solidFill>
                <a:latin typeface="Roboto"/>
                <a:cs typeface="Roboto"/>
              </a:rPr>
              <a:t>more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Roboto"/>
                <a:cs typeface="Roboto"/>
              </a:rPr>
              <a:t>Deep</a:t>
            </a:r>
            <a:r>
              <a:rPr spc="-95" dirty="0">
                <a:latin typeface="Roboto"/>
                <a:cs typeface="Roboto"/>
              </a:rPr>
              <a:t> </a:t>
            </a:r>
            <a:r>
              <a:rPr spc="-20" dirty="0">
                <a:latin typeface="Roboto"/>
                <a:cs typeface="Roboto"/>
              </a:rPr>
              <a:t>Learning</a:t>
            </a:r>
            <a:r>
              <a:rPr spc="-90" dirty="0">
                <a:latin typeface="Roboto"/>
                <a:cs typeface="Roboto"/>
              </a:rPr>
              <a:t> </a:t>
            </a:r>
            <a:r>
              <a:rPr spc="-10" dirty="0">
                <a:latin typeface="Roboto"/>
                <a:cs typeface="Roboto"/>
              </a:rPr>
              <a:t>Success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78842" y="1453453"/>
            <a:ext cx="4776315" cy="170504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86371" y="3680717"/>
            <a:ext cx="1063227" cy="82202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03335" y="3680717"/>
            <a:ext cx="1574296" cy="8543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7773" y="1419904"/>
            <a:ext cx="2100580" cy="140462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algn="just">
              <a:lnSpc>
                <a:spcPct val="100699"/>
              </a:lnSpc>
              <a:spcBef>
                <a:spcPts val="85"/>
              </a:spcBef>
            </a:pPr>
            <a:r>
              <a:rPr sz="1800" dirty="0">
                <a:solidFill>
                  <a:srgbClr val="3D85C6"/>
                </a:solidFill>
                <a:latin typeface="Roboto"/>
                <a:cs typeface="Roboto"/>
              </a:rPr>
              <a:t>Image</a:t>
            </a:r>
            <a:r>
              <a:rPr sz="1800" spc="-80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3D85C6"/>
                </a:solidFill>
                <a:latin typeface="Roboto"/>
                <a:cs typeface="Roboto"/>
              </a:rPr>
              <a:t>Classification </a:t>
            </a:r>
            <a:r>
              <a:rPr sz="1800" dirty="0">
                <a:solidFill>
                  <a:srgbClr val="3D85C6"/>
                </a:solidFill>
                <a:latin typeface="Roboto"/>
                <a:cs typeface="Roboto"/>
              </a:rPr>
              <a:t>Machine</a:t>
            </a:r>
            <a:r>
              <a:rPr sz="1800" spc="-105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spc="-25" dirty="0">
                <a:solidFill>
                  <a:srgbClr val="3D85C6"/>
                </a:solidFill>
                <a:latin typeface="Roboto"/>
                <a:cs typeface="Roboto"/>
              </a:rPr>
              <a:t>Translation </a:t>
            </a:r>
            <a:r>
              <a:rPr sz="1800" dirty="0">
                <a:solidFill>
                  <a:srgbClr val="3D85C6"/>
                </a:solidFill>
                <a:latin typeface="Roboto"/>
                <a:cs typeface="Roboto"/>
              </a:rPr>
              <a:t>Speech</a:t>
            </a:r>
            <a:r>
              <a:rPr sz="1800" spc="-90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3D85C6"/>
                </a:solidFill>
                <a:latin typeface="Roboto"/>
                <a:cs typeface="Roboto"/>
              </a:rPr>
              <a:t>Recognition</a:t>
            </a:r>
            <a:endParaRPr sz="1800">
              <a:latin typeface="Roboto"/>
              <a:cs typeface="Roboto"/>
            </a:endParaRPr>
          </a:p>
          <a:p>
            <a:pPr marL="12700" algn="just">
              <a:lnSpc>
                <a:spcPct val="100000"/>
              </a:lnSpc>
              <a:spcBef>
                <a:spcPts val="15"/>
              </a:spcBef>
            </a:pPr>
            <a:r>
              <a:rPr sz="1800" b="1" dirty="0">
                <a:solidFill>
                  <a:srgbClr val="3D85C6"/>
                </a:solidFill>
                <a:latin typeface="Roboto"/>
                <a:cs typeface="Roboto"/>
              </a:rPr>
              <a:t>-</a:t>
            </a:r>
            <a:r>
              <a:rPr sz="1800" b="1" spc="-40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b="1" dirty="0">
                <a:solidFill>
                  <a:srgbClr val="3D85C6"/>
                </a:solidFill>
                <a:latin typeface="Roboto"/>
                <a:cs typeface="Roboto"/>
              </a:rPr>
              <a:t>Speech</a:t>
            </a:r>
            <a:r>
              <a:rPr sz="1800" b="1" spc="-35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b="1" spc="-10" dirty="0">
                <a:solidFill>
                  <a:srgbClr val="3D85C6"/>
                </a:solidFill>
                <a:latin typeface="Roboto"/>
                <a:cs typeface="Roboto"/>
              </a:rPr>
              <a:t>Synthesis</a:t>
            </a:r>
            <a:endParaRPr sz="1800">
              <a:latin typeface="Roboto"/>
              <a:cs typeface="Roboto"/>
            </a:endParaRPr>
          </a:p>
          <a:p>
            <a:pPr marL="12700" algn="just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solidFill>
                  <a:srgbClr val="3D85C6"/>
                </a:solidFill>
                <a:latin typeface="Roboto"/>
                <a:cs typeface="Roboto"/>
              </a:rPr>
              <a:t>Game</a:t>
            </a:r>
            <a:r>
              <a:rPr sz="1800" spc="-20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3D85C6"/>
                </a:solidFill>
                <a:latin typeface="Roboto"/>
                <a:cs typeface="Roboto"/>
              </a:rPr>
              <a:t>Playing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7773" y="3629700"/>
            <a:ext cx="2473960" cy="575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3D85C6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solidFill>
                  <a:srgbClr val="3D85C6"/>
                </a:solidFill>
                <a:latin typeface="Roboto"/>
                <a:cs typeface="Roboto"/>
              </a:rPr>
              <a:t>…</a:t>
            </a:r>
            <a:r>
              <a:rPr sz="1800" spc="-70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3D85C6"/>
                </a:solidFill>
                <a:latin typeface="Roboto"/>
                <a:cs typeface="Roboto"/>
              </a:rPr>
              <a:t>and</a:t>
            </a:r>
            <a:r>
              <a:rPr sz="1800" spc="-70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3D85C6"/>
                </a:solidFill>
                <a:latin typeface="Roboto"/>
                <a:cs typeface="Roboto"/>
              </a:rPr>
              <a:t>many,</a:t>
            </a:r>
            <a:r>
              <a:rPr sz="1800" spc="-70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3D85C6"/>
                </a:solidFill>
                <a:latin typeface="Roboto"/>
                <a:cs typeface="Roboto"/>
              </a:rPr>
              <a:t>many</a:t>
            </a:r>
            <a:r>
              <a:rPr sz="1800" spc="-65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3D85C6"/>
                </a:solidFill>
                <a:latin typeface="Roboto"/>
                <a:cs typeface="Roboto"/>
              </a:rPr>
              <a:t>more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Roboto"/>
                <a:cs typeface="Roboto"/>
              </a:rPr>
              <a:t>Deep</a:t>
            </a:r>
            <a:r>
              <a:rPr spc="-95" dirty="0">
                <a:latin typeface="Roboto"/>
                <a:cs typeface="Roboto"/>
              </a:rPr>
              <a:t> </a:t>
            </a:r>
            <a:r>
              <a:rPr spc="-20" dirty="0">
                <a:latin typeface="Roboto"/>
                <a:cs typeface="Roboto"/>
              </a:rPr>
              <a:t>Learning</a:t>
            </a:r>
            <a:r>
              <a:rPr spc="-90" dirty="0">
                <a:latin typeface="Roboto"/>
                <a:cs typeface="Roboto"/>
              </a:rPr>
              <a:t> </a:t>
            </a:r>
            <a:r>
              <a:rPr spc="-10" dirty="0">
                <a:latin typeface="Roboto"/>
                <a:cs typeface="Roboto"/>
              </a:rPr>
              <a:t>Success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0765" y="1696251"/>
            <a:ext cx="3667776" cy="18173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7773" y="1419904"/>
            <a:ext cx="2100580" cy="140462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algn="just">
              <a:lnSpc>
                <a:spcPct val="100699"/>
              </a:lnSpc>
              <a:spcBef>
                <a:spcPts val="85"/>
              </a:spcBef>
            </a:pPr>
            <a:r>
              <a:rPr sz="1800" dirty="0">
                <a:solidFill>
                  <a:srgbClr val="3D85C6"/>
                </a:solidFill>
                <a:latin typeface="Roboto"/>
                <a:cs typeface="Roboto"/>
              </a:rPr>
              <a:t>Image</a:t>
            </a:r>
            <a:r>
              <a:rPr sz="1800" spc="-80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3D85C6"/>
                </a:solidFill>
                <a:latin typeface="Roboto"/>
                <a:cs typeface="Roboto"/>
              </a:rPr>
              <a:t>Classification </a:t>
            </a:r>
            <a:r>
              <a:rPr sz="1800" dirty="0">
                <a:solidFill>
                  <a:srgbClr val="3D85C6"/>
                </a:solidFill>
                <a:latin typeface="Roboto"/>
                <a:cs typeface="Roboto"/>
              </a:rPr>
              <a:t>Machine</a:t>
            </a:r>
            <a:r>
              <a:rPr sz="1800" spc="-105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spc="-25" dirty="0">
                <a:solidFill>
                  <a:srgbClr val="3D85C6"/>
                </a:solidFill>
                <a:latin typeface="Roboto"/>
                <a:cs typeface="Roboto"/>
              </a:rPr>
              <a:t>Translation </a:t>
            </a:r>
            <a:r>
              <a:rPr sz="1800" dirty="0">
                <a:solidFill>
                  <a:srgbClr val="3D85C6"/>
                </a:solidFill>
                <a:latin typeface="Roboto"/>
                <a:cs typeface="Roboto"/>
              </a:rPr>
              <a:t>Speech</a:t>
            </a:r>
            <a:r>
              <a:rPr sz="1800" spc="-90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3D85C6"/>
                </a:solidFill>
                <a:latin typeface="Roboto"/>
                <a:cs typeface="Roboto"/>
              </a:rPr>
              <a:t>Recognition </a:t>
            </a:r>
            <a:r>
              <a:rPr sz="1800" dirty="0">
                <a:solidFill>
                  <a:srgbClr val="3D85C6"/>
                </a:solidFill>
                <a:latin typeface="Roboto"/>
                <a:cs typeface="Roboto"/>
              </a:rPr>
              <a:t>Speech</a:t>
            </a:r>
            <a:r>
              <a:rPr sz="1800" spc="-90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3D85C6"/>
                </a:solidFill>
                <a:latin typeface="Roboto"/>
                <a:cs typeface="Roboto"/>
              </a:rPr>
              <a:t>Synthesis</a:t>
            </a:r>
            <a:endParaRPr sz="1800">
              <a:latin typeface="Roboto"/>
              <a:cs typeface="Roboto"/>
            </a:endParaRPr>
          </a:p>
          <a:p>
            <a:pPr marL="12700" algn="just">
              <a:lnSpc>
                <a:spcPct val="100000"/>
              </a:lnSpc>
              <a:spcBef>
                <a:spcPts val="15"/>
              </a:spcBef>
            </a:pPr>
            <a:r>
              <a:rPr sz="1800" b="1" dirty="0">
                <a:solidFill>
                  <a:srgbClr val="3D85C6"/>
                </a:solidFill>
                <a:latin typeface="Roboto"/>
                <a:cs typeface="Roboto"/>
              </a:rPr>
              <a:t>-</a:t>
            </a:r>
            <a:r>
              <a:rPr sz="1800" b="1" spc="-40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b="1" dirty="0">
                <a:solidFill>
                  <a:srgbClr val="3D85C6"/>
                </a:solidFill>
                <a:latin typeface="Roboto"/>
                <a:cs typeface="Roboto"/>
              </a:rPr>
              <a:t>Game</a:t>
            </a:r>
            <a:r>
              <a:rPr sz="1800" b="1" spc="-35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b="1" spc="-10" dirty="0">
                <a:solidFill>
                  <a:srgbClr val="3D85C6"/>
                </a:solidFill>
                <a:latin typeface="Roboto"/>
                <a:cs typeface="Roboto"/>
              </a:rPr>
              <a:t>Playing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7773" y="3629700"/>
            <a:ext cx="2473960" cy="575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3D85C6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solidFill>
                  <a:srgbClr val="3D85C6"/>
                </a:solidFill>
                <a:latin typeface="Roboto"/>
                <a:cs typeface="Roboto"/>
              </a:rPr>
              <a:t>…</a:t>
            </a:r>
            <a:r>
              <a:rPr sz="1800" spc="-70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3D85C6"/>
                </a:solidFill>
                <a:latin typeface="Roboto"/>
                <a:cs typeface="Roboto"/>
              </a:rPr>
              <a:t>and</a:t>
            </a:r>
            <a:r>
              <a:rPr sz="1800" spc="-70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3D85C6"/>
                </a:solidFill>
                <a:latin typeface="Roboto"/>
                <a:cs typeface="Roboto"/>
              </a:rPr>
              <a:t>many,</a:t>
            </a:r>
            <a:r>
              <a:rPr sz="1800" spc="-70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3D85C6"/>
                </a:solidFill>
                <a:latin typeface="Roboto"/>
                <a:cs typeface="Roboto"/>
              </a:rPr>
              <a:t>many</a:t>
            </a:r>
            <a:r>
              <a:rPr sz="1800" spc="-65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3D85C6"/>
                </a:solidFill>
                <a:latin typeface="Roboto"/>
                <a:cs typeface="Roboto"/>
              </a:rPr>
              <a:t>more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Roboto"/>
                <a:cs typeface="Roboto"/>
              </a:rPr>
              <a:t>Deep</a:t>
            </a:r>
            <a:r>
              <a:rPr spc="-95" dirty="0">
                <a:latin typeface="Roboto"/>
                <a:cs typeface="Roboto"/>
              </a:rPr>
              <a:t> </a:t>
            </a:r>
            <a:r>
              <a:rPr spc="-20" dirty="0">
                <a:latin typeface="Roboto"/>
                <a:cs typeface="Roboto"/>
              </a:rPr>
              <a:t>Learning</a:t>
            </a:r>
            <a:r>
              <a:rPr spc="-90" dirty="0">
                <a:latin typeface="Roboto"/>
                <a:cs typeface="Roboto"/>
              </a:rPr>
              <a:t> </a:t>
            </a:r>
            <a:r>
              <a:rPr spc="-10" dirty="0">
                <a:latin typeface="Roboto"/>
                <a:cs typeface="Roboto"/>
              </a:rPr>
              <a:t>Success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77615" y="1581796"/>
            <a:ext cx="1506621" cy="197992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71461" y="1581796"/>
            <a:ext cx="1979920" cy="1979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7773" y="1419904"/>
            <a:ext cx="2100580" cy="140462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algn="just">
              <a:lnSpc>
                <a:spcPct val="100699"/>
              </a:lnSpc>
              <a:spcBef>
                <a:spcPts val="85"/>
              </a:spcBef>
            </a:pPr>
            <a:r>
              <a:rPr sz="1800" dirty="0">
                <a:solidFill>
                  <a:srgbClr val="3D85C6"/>
                </a:solidFill>
                <a:latin typeface="Roboto"/>
                <a:cs typeface="Roboto"/>
              </a:rPr>
              <a:t>Image</a:t>
            </a:r>
            <a:r>
              <a:rPr sz="1800" spc="-80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3D85C6"/>
                </a:solidFill>
                <a:latin typeface="Roboto"/>
                <a:cs typeface="Roboto"/>
              </a:rPr>
              <a:t>Classification </a:t>
            </a:r>
            <a:r>
              <a:rPr sz="1800" dirty="0">
                <a:solidFill>
                  <a:srgbClr val="3D85C6"/>
                </a:solidFill>
                <a:latin typeface="Roboto"/>
                <a:cs typeface="Roboto"/>
              </a:rPr>
              <a:t>Machine</a:t>
            </a:r>
            <a:r>
              <a:rPr sz="1800" spc="-105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spc="-25" dirty="0">
                <a:solidFill>
                  <a:srgbClr val="3D85C6"/>
                </a:solidFill>
                <a:latin typeface="Roboto"/>
                <a:cs typeface="Roboto"/>
              </a:rPr>
              <a:t>Translation </a:t>
            </a:r>
            <a:r>
              <a:rPr sz="1800" dirty="0">
                <a:solidFill>
                  <a:srgbClr val="3D85C6"/>
                </a:solidFill>
                <a:latin typeface="Roboto"/>
                <a:cs typeface="Roboto"/>
              </a:rPr>
              <a:t>Speech</a:t>
            </a:r>
            <a:r>
              <a:rPr sz="1800" spc="-90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3D85C6"/>
                </a:solidFill>
                <a:latin typeface="Roboto"/>
                <a:cs typeface="Roboto"/>
              </a:rPr>
              <a:t>Recognition </a:t>
            </a:r>
            <a:r>
              <a:rPr sz="1800" dirty="0">
                <a:solidFill>
                  <a:srgbClr val="3D85C6"/>
                </a:solidFill>
                <a:latin typeface="Roboto"/>
                <a:cs typeface="Roboto"/>
              </a:rPr>
              <a:t>Speech</a:t>
            </a:r>
            <a:r>
              <a:rPr sz="1800" spc="-90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3D85C6"/>
                </a:solidFill>
                <a:latin typeface="Roboto"/>
                <a:cs typeface="Roboto"/>
              </a:rPr>
              <a:t>Synthesis</a:t>
            </a:r>
            <a:endParaRPr sz="1800">
              <a:latin typeface="Roboto"/>
              <a:cs typeface="Roboto"/>
            </a:endParaRPr>
          </a:p>
          <a:p>
            <a:pPr marL="12700" algn="just">
              <a:lnSpc>
                <a:spcPct val="100000"/>
              </a:lnSpc>
              <a:spcBef>
                <a:spcPts val="15"/>
              </a:spcBef>
            </a:pPr>
            <a:r>
              <a:rPr sz="1800" b="1" dirty="0">
                <a:solidFill>
                  <a:srgbClr val="3D85C6"/>
                </a:solidFill>
                <a:latin typeface="Roboto"/>
                <a:cs typeface="Roboto"/>
              </a:rPr>
              <a:t>-</a:t>
            </a:r>
            <a:r>
              <a:rPr sz="1800" b="1" spc="-40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b="1" dirty="0">
                <a:solidFill>
                  <a:srgbClr val="3D85C6"/>
                </a:solidFill>
                <a:latin typeface="Roboto"/>
                <a:cs typeface="Roboto"/>
              </a:rPr>
              <a:t>Game</a:t>
            </a:r>
            <a:r>
              <a:rPr sz="1800" b="1" spc="-35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b="1" spc="-10" dirty="0">
                <a:solidFill>
                  <a:srgbClr val="3D85C6"/>
                </a:solidFill>
                <a:latin typeface="Roboto"/>
                <a:cs typeface="Roboto"/>
              </a:rPr>
              <a:t>Playing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7773" y="3629700"/>
            <a:ext cx="2473960" cy="575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3D85C6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solidFill>
                  <a:srgbClr val="3D85C6"/>
                </a:solidFill>
                <a:latin typeface="Roboto"/>
                <a:cs typeface="Roboto"/>
              </a:rPr>
              <a:t>…</a:t>
            </a:r>
            <a:r>
              <a:rPr sz="1800" spc="-70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3D85C6"/>
                </a:solidFill>
                <a:latin typeface="Roboto"/>
                <a:cs typeface="Roboto"/>
              </a:rPr>
              <a:t>and</a:t>
            </a:r>
            <a:r>
              <a:rPr sz="1800" spc="-70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3D85C6"/>
                </a:solidFill>
                <a:latin typeface="Roboto"/>
                <a:cs typeface="Roboto"/>
              </a:rPr>
              <a:t>many,</a:t>
            </a:r>
            <a:r>
              <a:rPr sz="1800" spc="-70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3D85C6"/>
                </a:solidFill>
                <a:latin typeface="Roboto"/>
                <a:cs typeface="Roboto"/>
              </a:rPr>
              <a:t>many</a:t>
            </a:r>
            <a:r>
              <a:rPr sz="1800" spc="-65" dirty="0">
                <a:solidFill>
                  <a:srgbClr val="3D85C6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3D85C6"/>
                </a:solidFill>
                <a:latin typeface="Roboto"/>
                <a:cs typeface="Roboto"/>
              </a:rPr>
              <a:t>more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Roboto"/>
                <a:cs typeface="Roboto"/>
              </a:rPr>
              <a:t>Deep</a:t>
            </a:r>
            <a:r>
              <a:rPr spc="-95" dirty="0">
                <a:latin typeface="Roboto"/>
                <a:cs typeface="Roboto"/>
              </a:rPr>
              <a:t> </a:t>
            </a:r>
            <a:r>
              <a:rPr spc="-20" dirty="0">
                <a:latin typeface="Roboto"/>
                <a:cs typeface="Roboto"/>
              </a:rPr>
              <a:t>Learning</a:t>
            </a:r>
            <a:r>
              <a:rPr spc="-90" dirty="0">
                <a:latin typeface="Roboto"/>
                <a:cs typeface="Roboto"/>
              </a:rPr>
              <a:t> </a:t>
            </a:r>
            <a:r>
              <a:rPr spc="-10" dirty="0">
                <a:latin typeface="Roboto"/>
                <a:cs typeface="Roboto"/>
              </a:rPr>
              <a:t>Success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22263" y="1514021"/>
            <a:ext cx="1772921" cy="21154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>
                <a:latin typeface="Roboto"/>
                <a:cs typeface="Roboto"/>
              </a:rPr>
              <a:t> </a:t>
            </a:r>
            <a:r>
              <a:rPr spc="-10" dirty="0">
                <a:latin typeface="Roboto"/>
                <a:cs typeface="Roboto"/>
              </a:rPr>
              <a:t>Goals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4795" y="1176351"/>
            <a:ext cx="7498080" cy="96116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429259" indent="-416559">
              <a:lnSpc>
                <a:spcPct val="100000"/>
              </a:lnSpc>
              <a:spcBef>
                <a:spcPts val="414"/>
              </a:spcBef>
              <a:buAutoNum type="arabicPeriod"/>
              <a:tabLst>
                <a:tab pos="429259" algn="l"/>
              </a:tabLst>
            </a:pP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Fundamentals</a:t>
            </a:r>
            <a:endParaRPr sz="1800" dirty="0">
              <a:latin typeface="Roboto"/>
              <a:cs typeface="Roboto"/>
            </a:endParaRPr>
          </a:p>
          <a:p>
            <a:pPr marL="429259" indent="-416559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429259" algn="l"/>
              </a:tabLst>
            </a:pP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Practical</a:t>
            </a:r>
            <a:r>
              <a:rPr sz="1800" spc="-10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skills</a:t>
            </a:r>
            <a:endParaRPr sz="1800" dirty="0">
              <a:latin typeface="Roboto"/>
              <a:cs typeface="Roboto"/>
            </a:endParaRPr>
          </a:p>
          <a:p>
            <a:pPr marL="429259" indent="-416559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429259" algn="l"/>
              </a:tabLst>
            </a:pP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Up</a:t>
            </a:r>
            <a:r>
              <a:rPr sz="1800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to</a:t>
            </a:r>
            <a:r>
              <a:rPr sz="1800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speed</a:t>
            </a:r>
            <a:r>
              <a:rPr sz="1800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on</a:t>
            </a:r>
            <a:r>
              <a:rPr sz="1800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current</a:t>
            </a:r>
            <a:r>
              <a:rPr sz="1800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state</a:t>
            </a:r>
            <a:r>
              <a:rPr sz="1800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of</a:t>
            </a:r>
            <a:r>
              <a:rPr sz="1800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the</a:t>
            </a:r>
            <a:r>
              <a:rPr sz="1800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field</a:t>
            </a:r>
            <a:endParaRPr sz="1800" dirty="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4" y="3148022"/>
            <a:ext cx="7986395" cy="654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800" b="1" dirty="0">
                <a:solidFill>
                  <a:srgbClr val="595959"/>
                </a:solidFill>
                <a:latin typeface="Roboto"/>
                <a:cs typeface="Roboto"/>
              </a:rPr>
              <a:t>Knowledge,</a:t>
            </a:r>
            <a:r>
              <a:rPr sz="1800" b="1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b="1" spc="-10" dirty="0">
                <a:solidFill>
                  <a:srgbClr val="595959"/>
                </a:solidFill>
                <a:latin typeface="Roboto"/>
                <a:cs typeface="Roboto"/>
              </a:rPr>
              <a:t>intuition,</a:t>
            </a:r>
            <a:r>
              <a:rPr sz="1800" b="1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b="1" spc="-35" dirty="0">
                <a:solidFill>
                  <a:srgbClr val="595959"/>
                </a:solidFill>
                <a:latin typeface="Roboto"/>
                <a:cs typeface="Roboto"/>
              </a:rPr>
              <a:t>know-</a:t>
            </a:r>
            <a:r>
              <a:rPr sz="1800" b="1" dirty="0">
                <a:solidFill>
                  <a:srgbClr val="595959"/>
                </a:solidFill>
                <a:latin typeface="Roboto"/>
                <a:cs typeface="Roboto"/>
              </a:rPr>
              <a:t>how,</a:t>
            </a:r>
            <a:r>
              <a:rPr sz="1800" b="1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b="1" dirty="0">
                <a:solidFill>
                  <a:srgbClr val="595959"/>
                </a:solidFill>
                <a:latin typeface="Roboto"/>
                <a:cs typeface="Roboto"/>
              </a:rPr>
              <a:t>and</a:t>
            </a:r>
            <a:r>
              <a:rPr sz="1800" b="1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b="1" spc="-10" dirty="0">
                <a:solidFill>
                  <a:srgbClr val="595959"/>
                </a:solidFill>
                <a:latin typeface="Roboto"/>
                <a:cs typeface="Roboto"/>
              </a:rPr>
              <a:t>community</a:t>
            </a:r>
            <a:r>
              <a:rPr sz="1800" b="1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b="1" dirty="0">
                <a:solidFill>
                  <a:srgbClr val="595959"/>
                </a:solidFill>
                <a:latin typeface="Roboto"/>
                <a:cs typeface="Roboto"/>
              </a:rPr>
              <a:t>to</a:t>
            </a:r>
            <a:r>
              <a:rPr sz="1800" b="1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b="1" dirty="0">
                <a:solidFill>
                  <a:srgbClr val="595959"/>
                </a:solidFill>
                <a:latin typeface="Roboto"/>
                <a:cs typeface="Roboto"/>
              </a:rPr>
              <a:t>do</a:t>
            </a:r>
            <a:r>
              <a:rPr sz="1800" b="1" spc="-1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b="1" dirty="0">
                <a:solidFill>
                  <a:srgbClr val="595959"/>
                </a:solidFill>
                <a:latin typeface="Roboto"/>
                <a:cs typeface="Roboto"/>
              </a:rPr>
              <a:t>deep</a:t>
            </a:r>
            <a:r>
              <a:rPr sz="1800" b="1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b="1" dirty="0">
                <a:solidFill>
                  <a:srgbClr val="595959"/>
                </a:solidFill>
                <a:latin typeface="Roboto"/>
                <a:cs typeface="Roboto"/>
              </a:rPr>
              <a:t>learning</a:t>
            </a:r>
            <a:r>
              <a:rPr sz="1800" b="1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b="1" spc="-10" dirty="0">
                <a:solidFill>
                  <a:srgbClr val="595959"/>
                </a:solidFill>
                <a:latin typeface="Roboto"/>
                <a:cs typeface="Roboto"/>
              </a:rPr>
              <a:t>research </a:t>
            </a:r>
            <a:r>
              <a:rPr sz="1800" b="1" dirty="0">
                <a:solidFill>
                  <a:srgbClr val="595959"/>
                </a:solidFill>
                <a:latin typeface="Roboto"/>
                <a:cs typeface="Roboto"/>
              </a:rPr>
              <a:t>and</a:t>
            </a:r>
            <a:r>
              <a:rPr sz="1800" b="1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b="1" spc="-10" dirty="0">
                <a:solidFill>
                  <a:srgbClr val="595959"/>
                </a:solidFill>
                <a:latin typeface="Roboto"/>
                <a:cs typeface="Roboto"/>
              </a:rPr>
              <a:t>development.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52133" y="2142836"/>
            <a:ext cx="54336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Roboto"/>
                <a:cs typeface="Roboto"/>
              </a:rPr>
              <a:t>Why</a:t>
            </a:r>
            <a:r>
              <a:rPr b="1" spc="-40" dirty="0">
                <a:latin typeface="Roboto"/>
                <a:cs typeface="Roboto"/>
              </a:rPr>
              <a:t> </a:t>
            </a:r>
            <a:r>
              <a:rPr b="1" dirty="0">
                <a:latin typeface="Roboto"/>
                <a:cs typeface="Roboto"/>
              </a:rPr>
              <a:t>Deep</a:t>
            </a:r>
            <a:r>
              <a:rPr b="1" spc="-40" dirty="0">
                <a:latin typeface="Roboto"/>
                <a:cs typeface="Roboto"/>
              </a:rPr>
              <a:t> </a:t>
            </a:r>
            <a:r>
              <a:rPr b="1" dirty="0">
                <a:latin typeface="Roboto"/>
                <a:cs typeface="Roboto"/>
              </a:rPr>
              <a:t>Learning</a:t>
            </a:r>
            <a:r>
              <a:rPr b="1" spc="-40" dirty="0">
                <a:latin typeface="Roboto"/>
                <a:cs typeface="Roboto"/>
              </a:rPr>
              <a:t> </a:t>
            </a:r>
            <a:r>
              <a:rPr b="1" dirty="0">
                <a:latin typeface="Roboto"/>
                <a:cs typeface="Roboto"/>
              </a:rPr>
              <a:t>and</a:t>
            </a:r>
            <a:r>
              <a:rPr b="1" spc="-35" dirty="0">
                <a:latin typeface="Roboto"/>
                <a:cs typeface="Roboto"/>
              </a:rPr>
              <a:t> </a:t>
            </a:r>
            <a:r>
              <a:rPr b="1" dirty="0">
                <a:latin typeface="Roboto"/>
                <a:cs typeface="Roboto"/>
              </a:rPr>
              <a:t>why</a:t>
            </a:r>
            <a:r>
              <a:rPr b="1" spc="-40" dirty="0">
                <a:latin typeface="Roboto"/>
                <a:cs typeface="Roboto"/>
              </a:rPr>
              <a:t> </a:t>
            </a:r>
            <a:r>
              <a:rPr b="1" spc="-20" dirty="0">
                <a:latin typeface="Roboto"/>
                <a:cs typeface="Roboto"/>
              </a:rPr>
              <a:t>now?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4724" y="1189287"/>
            <a:ext cx="5193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spc="-45" dirty="0">
                <a:solidFill>
                  <a:srgbClr val="595959"/>
                </a:solidFill>
                <a:latin typeface="Roboto"/>
                <a:cs typeface="Roboto"/>
              </a:rPr>
              <a:t>Hand-</a:t>
            </a:r>
            <a:r>
              <a:rPr sz="1800" spc="-30" dirty="0">
                <a:solidFill>
                  <a:srgbClr val="595959"/>
                </a:solidFill>
                <a:latin typeface="Roboto"/>
                <a:cs typeface="Roboto"/>
              </a:rPr>
              <a:t>Engineered</a:t>
            </a:r>
            <a:r>
              <a:rPr sz="1800" spc="-7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Features</a:t>
            </a:r>
            <a:r>
              <a:rPr sz="1800" spc="-6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vs.</a:t>
            </a:r>
            <a:r>
              <a:rPr sz="1800" spc="-7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Learned</a:t>
            </a:r>
            <a:r>
              <a:rPr sz="1800" spc="-6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features</a:t>
            </a:r>
            <a:endParaRPr sz="1800" dirty="0">
              <a:latin typeface="Roboto"/>
              <a:cs typeface="Roboto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4" y="503825"/>
            <a:ext cx="32296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Roboto"/>
                <a:cs typeface="Roboto"/>
              </a:rPr>
              <a:t>Why</a:t>
            </a:r>
            <a:r>
              <a:rPr spc="-105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Deep</a:t>
            </a:r>
            <a:r>
              <a:rPr spc="-105" dirty="0">
                <a:latin typeface="Roboto"/>
                <a:cs typeface="Roboto"/>
              </a:rPr>
              <a:t> </a:t>
            </a:r>
            <a:r>
              <a:rPr spc="-10" dirty="0">
                <a:latin typeface="Roboto"/>
                <a:cs typeface="Roboto"/>
              </a:rPr>
              <a:t>Learning?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5318" y="2055545"/>
            <a:ext cx="2408472" cy="239807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51223" y="2055545"/>
            <a:ext cx="2482060" cy="2527544"/>
          </a:xfrm>
          <a:prstGeom prst="rect">
            <a:avLst/>
          </a:prstGeom>
        </p:spPr>
      </p:pic>
      <p:sp>
        <p:nvSpPr>
          <p:cNvPr id="7" name="object 8">
            <a:extLst>
              <a:ext uri="{FF2B5EF4-FFF2-40B4-BE49-F238E27FC236}">
                <a16:creationId xmlns:a16="http://schemas.microsoft.com/office/drawing/2014/main" id="{7E6E31AA-3646-D721-CAEE-81267B406AA0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590800" y="4716893"/>
            <a:ext cx="4179570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05"/>
              </a:lnSpc>
            </a:pPr>
            <a:r>
              <a:rPr lang="fr-FR" spc="-50" dirty="0"/>
              <a:t>ESILV</a:t>
            </a:r>
            <a:r>
              <a:rPr spc="-50" dirty="0"/>
              <a:t> </a:t>
            </a:r>
            <a:r>
              <a:rPr spc="-45" dirty="0"/>
              <a:t> </a:t>
            </a:r>
            <a:r>
              <a:rPr dirty="0">
                <a:solidFill>
                  <a:srgbClr val="0097A7"/>
                </a:solidFill>
              </a:rPr>
              <a:t>|</a:t>
            </a:r>
            <a:r>
              <a:rPr spc="-45" dirty="0">
                <a:solidFill>
                  <a:srgbClr val="0097A7"/>
                </a:solidFill>
              </a:rPr>
              <a:t> </a:t>
            </a:r>
            <a:r>
              <a:rPr spc="-10" dirty="0"/>
              <a:t>Intro</a:t>
            </a:r>
            <a:r>
              <a:rPr spc="-50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Deep</a:t>
            </a:r>
            <a:r>
              <a:rPr spc="-50" dirty="0"/>
              <a:t> </a:t>
            </a:r>
            <a:r>
              <a:rPr spc="-10" dirty="0"/>
              <a:t>Learning</a:t>
            </a:r>
            <a:r>
              <a:rPr spc="-40" dirty="0"/>
              <a:t> </a:t>
            </a:r>
            <a:r>
              <a:rPr dirty="0">
                <a:solidFill>
                  <a:srgbClr val="0097A7"/>
                </a:solidFill>
              </a:rPr>
              <a:t>|</a:t>
            </a:r>
            <a:r>
              <a:rPr spc="-50" dirty="0">
                <a:solidFill>
                  <a:srgbClr val="0097A7"/>
                </a:solidFill>
              </a:rPr>
              <a:t> </a:t>
            </a:r>
            <a:r>
              <a:rPr lang="fr-FR" spc="-50" dirty="0">
                <a:solidFill>
                  <a:srgbClr val="0097A7"/>
                </a:solidFill>
              </a:rPr>
              <a:t> </a:t>
            </a:r>
            <a:r>
              <a:rPr lang="fr-FR" spc="-50" dirty="0" err="1">
                <a:solidFill>
                  <a:srgbClr val="0097A7"/>
                </a:solidFill>
              </a:rPr>
              <a:t>K.Kadri</a:t>
            </a:r>
            <a:endParaRPr spc="-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Roboto"/>
                <a:cs typeface="Roboto"/>
              </a:rPr>
              <a:t>Why</a:t>
            </a:r>
            <a:r>
              <a:rPr spc="-125" dirty="0">
                <a:latin typeface="Roboto"/>
                <a:cs typeface="Roboto"/>
              </a:rPr>
              <a:t> </a:t>
            </a:r>
            <a:r>
              <a:rPr spc="-20" dirty="0">
                <a:latin typeface="Roboto"/>
                <a:cs typeface="Roboto"/>
              </a:rPr>
              <a:t>Now?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2675" y="1176351"/>
            <a:ext cx="4998085" cy="96837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431800" indent="-417195">
              <a:lnSpc>
                <a:spcPct val="100000"/>
              </a:lnSpc>
              <a:spcBef>
                <a:spcPts val="414"/>
              </a:spcBef>
              <a:buFont typeface="Roboto"/>
              <a:buAutoNum type="arabicPeriod"/>
              <a:tabLst>
                <a:tab pos="431800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Large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Datasets</a:t>
            </a:r>
            <a:endParaRPr sz="1800">
              <a:latin typeface="Arial MT"/>
              <a:cs typeface="Arial MT"/>
            </a:endParaRPr>
          </a:p>
          <a:p>
            <a:pPr marL="431800" indent="-419100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431800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GPU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Hardware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Advances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+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Price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Decreases</a:t>
            </a:r>
            <a:endParaRPr sz="1800">
              <a:latin typeface="Arial MT"/>
              <a:cs typeface="Arial MT"/>
            </a:endParaRPr>
          </a:p>
          <a:p>
            <a:pPr marL="431800" indent="-419100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431800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Improved</a:t>
            </a:r>
            <a:r>
              <a:rPr sz="1800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Techniques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41142" y="203299"/>
            <a:ext cx="2047435" cy="105614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5818" y="2229979"/>
            <a:ext cx="1418318" cy="11446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80390" y="289934"/>
            <a:ext cx="1326897" cy="88287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05385" y="1443852"/>
            <a:ext cx="1326897" cy="111132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04597" y="3573417"/>
            <a:ext cx="3511067" cy="8338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362037" y="3208468"/>
            <a:ext cx="2433545" cy="1422672"/>
          </a:xfrm>
          <a:prstGeom prst="rect">
            <a:avLst/>
          </a:prstGeom>
        </p:spPr>
      </p:pic>
      <p:sp>
        <p:nvSpPr>
          <p:cNvPr id="11" name="object 8">
            <a:extLst>
              <a:ext uri="{FF2B5EF4-FFF2-40B4-BE49-F238E27FC236}">
                <a16:creationId xmlns:a16="http://schemas.microsoft.com/office/drawing/2014/main" id="{E37CAFB2-ACEC-835C-E6FD-56ADA3A763F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590800" y="4716893"/>
            <a:ext cx="4179570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05"/>
              </a:lnSpc>
            </a:pPr>
            <a:r>
              <a:rPr lang="fr-FR" spc="-50" dirty="0"/>
              <a:t>ESILV</a:t>
            </a:r>
            <a:r>
              <a:rPr spc="-50" dirty="0"/>
              <a:t> </a:t>
            </a:r>
            <a:r>
              <a:rPr spc="-45" dirty="0"/>
              <a:t> </a:t>
            </a:r>
            <a:r>
              <a:rPr dirty="0">
                <a:solidFill>
                  <a:srgbClr val="0097A7"/>
                </a:solidFill>
              </a:rPr>
              <a:t>|</a:t>
            </a:r>
            <a:r>
              <a:rPr spc="-45" dirty="0">
                <a:solidFill>
                  <a:srgbClr val="0097A7"/>
                </a:solidFill>
              </a:rPr>
              <a:t> </a:t>
            </a:r>
            <a:r>
              <a:rPr spc="-10" dirty="0"/>
              <a:t>Intro</a:t>
            </a:r>
            <a:r>
              <a:rPr spc="-50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Deep</a:t>
            </a:r>
            <a:r>
              <a:rPr spc="-50" dirty="0"/>
              <a:t> </a:t>
            </a:r>
            <a:r>
              <a:rPr spc="-10" dirty="0"/>
              <a:t>Learning</a:t>
            </a:r>
            <a:r>
              <a:rPr spc="-40" dirty="0"/>
              <a:t> </a:t>
            </a:r>
            <a:r>
              <a:rPr dirty="0">
                <a:solidFill>
                  <a:srgbClr val="0097A7"/>
                </a:solidFill>
              </a:rPr>
              <a:t>|</a:t>
            </a:r>
            <a:r>
              <a:rPr spc="-50" dirty="0">
                <a:solidFill>
                  <a:srgbClr val="0097A7"/>
                </a:solidFill>
              </a:rPr>
              <a:t> </a:t>
            </a:r>
            <a:r>
              <a:rPr lang="fr-FR" spc="-50" dirty="0">
                <a:solidFill>
                  <a:srgbClr val="0097A7"/>
                </a:solidFill>
              </a:rPr>
              <a:t> </a:t>
            </a:r>
            <a:r>
              <a:rPr lang="fr-FR" spc="-50" dirty="0" err="1">
                <a:solidFill>
                  <a:srgbClr val="0097A7"/>
                </a:solidFill>
              </a:rPr>
              <a:t>K.Kadri</a:t>
            </a:r>
            <a:endParaRPr spc="-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18791" y="2142836"/>
            <a:ext cx="51028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Roboto"/>
                <a:cs typeface="Roboto"/>
              </a:rPr>
              <a:t>Fundamentals</a:t>
            </a:r>
            <a:r>
              <a:rPr b="1" spc="-25" dirty="0">
                <a:latin typeface="Roboto"/>
                <a:cs typeface="Roboto"/>
              </a:rPr>
              <a:t> </a:t>
            </a:r>
            <a:r>
              <a:rPr b="1" dirty="0">
                <a:latin typeface="Roboto"/>
                <a:cs typeface="Roboto"/>
              </a:rPr>
              <a:t>of</a:t>
            </a:r>
            <a:r>
              <a:rPr b="1" spc="-20" dirty="0">
                <a:latin typeface="Roboto"/>
                <a:cs typeface="Roboto"/>
              </a:rPr>
              <a:t> </a:t>
            </a:r>
            <a:r>
              <a:rPr b="1" dirty="0">
                <a:latin typeface="Roboto"/>
                <a:cs typeface="Roboto"/>
              </a:rPr>
              <a:t>Deep</a:t>
            </a:r>
            <a:r>
              <a:rPr b="1" spc="-20" dirty="0">
                <a:latin typeface="Roboto"/>
                <a:cs typeface="Roboto"/>
              </a:rPr>
              <a:t> </a:t>
            </a:r>
            <a:r>
              <a:rPr b="1" spc="-10" dirty="0">
                <a:latin typeface="Roboto"/>
                <a:cs typeface="Roboto"/>
              </a:rPr>
              <a:t>Learning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2675" y="1176351"/>
            <a:ext cx="4241165" cy="65405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431800" indent="-417195">
              <a:lnSpc>
                <a:spcPct val="100000"/>
              </a:lnSpc>
              <a:spcBef>
                <a:spcPts val="414"/>
              </a:spcBef>
              <a:buFont typeface="Roboto"/>
              <a:buAutoNum type="arabicPeriod"/>
              <a:tabLst>
                <a:tab pos="431800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Invented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in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1954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by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Frank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Rosenblatt</a:t>
            </a:r>
            <a:endParaRPr sz="1800">
              <a:latin typeface="Arial MT"/>
              <a:cs typeface="Arial MT"/>
            </a:endParaRPr>
          </a:p>
          <a:p>
            <a:pPr marL="431800" indent="-419100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431800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Inspired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by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neurobiology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65" dirty="0"/>
              <a:t> </a:t>
            </a:r>
            <a:r>
              <a:rPr spc="-10" dirty="0"/>
              <a:t>Perceptron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72038" y="2446620"/>
            <a:ext cx="1872571" cy="207704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1247" y="2301495"/>
            <a:ext cx="3787692" cy="236729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65" dirty="0"/>
              <a:t> </a:t>
            </a:r>
            <a:r>
              <a:rPr spc="-10" dirty="0"/>
              <a:t>Perceptron</a:t>
            </a:r>
          </a:p>
        </p:txBody>
      </p:sp>
      <p:sp>
        <p:nvSpPr>
          <p:cNvPr id="3" name="object 3"/>
          <p:cNvSpPr/>
          <p:nvPr/>
        </p:nvSpPr>
        <p:spPr>
          <a:xfrm>
            <a:off x="2592692" y="1703628"/>
            <a:ext cx="516890" cy="1109345"/>
          </a:xfrm>
          <a:custGeom>
            <a:avLst/>
            <a:gdLst/>
            <a:ahLst/>
            <a:cxnLst/>
            <a:rect l="l" t="t" r="r" b="b"/>
            <a:pathLst>
              <a:path w="516889" h="1109345">
                <a:moveTo>
                  <a:pt x="500392" y="867194"/>
                </a:moveTo>
                <a:lnTo>
                  <a:pt x="495706" y="819746"/>
                </a:lnTo>
                <a:lnTo>
                  <a:pt x="481965" y="774560"/>
                </a:lnTo>
                <a:lnTo>
                  <a:pt x="459727" y="732878"/>
                </a:lnTo>
                <a:lnTo>
                  <a:pt x="429501" y="696010"/>
                </a:lnTo>
                <a:lnTo>
                  <a:pt x="392620" y="665772"/>
                </a:lnTo>
                <a:lnTo>
                  <a:pt x="350951" y="643534"/>
                </a:lnTo>
                <a:lnTo>
                  <a:pt x="305752" y="629793"/>
                </a:lnTo>
                <a:lnTo>
                  <a:pt x="258292" y="625106"/>
                </a:lnTo>
                <a:lnTo>
                  <a:pt x="209511" y="630021"/>
                </a:lnTo>
                <a:lnTo>
                  <a:pt x="164058" y="644131"/>
                </a:lnTo>
                <a:lnTo>
                  <a:pt x="122936" y="666445"/>
                </a:lnTo>
                <a:lnTo>
                  <a:pt x="87109" y="696010"/>
                </a:lnTo>
                <a:lnTo>
                  <a:pt x="57543" y="731837"/>
                </a:lnTo>
                <a:lnTo>
                  <a:pt x="35217" y="772960"/>
                </a:lnTo>
                <a:lnTo>
                  <a:pt x="21120" y="818400"/>
                </a:lnTo>
                <a:lnTo>
                  <a:pt x="16192" y="867194"/>
                </a:lnTo>
                <a:lnTo>
                  <a:pt x="21120" y="915987"/>
                </a:lnTo>
                <a:lnTo>
                  <a:pt x="35217" y="961428"/>
                </a:lnTo>
                <a:lnTo>
                  <a:pt x="57543" y="1002550"/>
                </a:lnTo>
                <a:lnTo>
                  <a:pt x="87109" y="1038390"/>
                </a:lnTo>
                <a:lnTo>
                  <a:pt x="122936" y="1067943"/>
                </a:lnTo>
                <a:lnTo>
                  <a:pt x="164058" y="1090269"/>
                </a:lnTo>
                <a:lnTo>
                  <a:pt x="209511" y="1104379"/>
                </a:lnTo>
                <a:lnTo>
                  <a:pt x="258292" y="1109294"/>
                </a:lnTo>
                <a:lnTo>
                  <a:pt x="307086" y="1104379"/>
                </a:lnTo>
                <a:lnTo>
                  <a:pt x="352539" y="1090269"/>
                </a:lnTo>
                <a:lnTo>
                  <a:pt x="393661" y="1067943"/>
                </a:lnTo>
                <a:lnTo>
                  <a:pt x="429488" y="1038390"/>
                </a:lnTo>
                <a:lnTo>
                  <a:pt x="459054" y="1002550"/>
                </a:lnTo>
                <a:lnTo>
                  <a:pt x="481368" y="961428"/>
                </a:lnTo>
                <a:lnTo>
                  <a:pt x="495477" y="915987"/>
                </a:lnTo>
                <a:lnTo>
                  <a:pt x="500392" y="867194"/>
                </a:lnTo>
                <a:close/>
              </a:path>
              <a:path w="516889" h="1109345">
                <a:moveTo>
                  <a:pt x="516597" y="258305"/>
                </a:moveTo>
                <a:lnTo>
                  <a:pt x="511594" y="207683"/>
                </a:lnTo>
                <a:lnTo>
                  <a:pt x="496938" y="159461"/>
                </a:lnTo>
                <a:lnTo>
                  <a:pt x="473202" y="114998"/>
                </a:lnTo>
                <a:lnTo>
                  <a:pt x="440944" y="75653"/>
                </a:lnTo>
                <a:lnTo>
                  <a:pt x="401599" y="43408"/>
                </a:lnTo>
                <a:lnTo>
                  <a:pt x="357136" y="19672"/>
                </a:lnTo>
                <a:lnTo>
                  <a:pt x="308914" y="5016"/>
                </a:lnTo>
                <a:lnTo>
                  <a:pt x="258292" y="0"/>
                </a:lnTo>
                <a:lnTo>
                  <a:pt x="211861" y="4165"/>
                </a:lnTo>
                <a:lnTo>
                  <a:pt x="168173" y="16167"/>
                </a:lnTo>
                <a:lnTo>
                  <a:pt x="127927" y="35267"/>
                </a:lnTo>
                <a:lnTo>
                  <a:pt x="91884" y="60756"/>
                </a:lnTo>
                <a:lnTo>
                  <a:pt x="60744" y="91884"/>
                </a:lnTo>
                <a:lnTo>
                  <a:pt x="35267" y="127939"/>
                </a:lnTo>
                <a:lnTo>
                  <a:pt x="16154" y="168173"/>
                </a:lnTo>
                <a:lnTo>
                  <a:pt x="4152" y="211874"/>
                </a:lnTo>
                <a:lnTo>
                  <a:pt x="0" y="258305"/>
                </a:lnTo>
                <a:lnTo>
                  <a:pt x="4152" y="304736"/>
                </a:lnTo>
                <a:lnTo>
                  <a:pt x="16154" y="348437"/>
                </a:lnTo>
                <a:lnTo>
                  <a:pt x="35267" y="388670"/>
                </a:lnTo>
                <a:lnTo>
                  <a:pt x="60744" y="424726"/>
                </a:lnTo>
                <a:lnTo>
                  <a:pt x="91884" y="455853"/>
                </a:lnTo>
                <a:lnTo>
                  <a:pt x="127927" y="481342"/>
                </a:lnTo>
                <a:lnTo>
                  <a:pt x="168173" y="500443"/>
                </a:lnTo>
                <a:lnTo>
                  <a:pt x="211861" y="512445"/>
                </a:lnTo>
                <a:lnTo>
                  <a:pt x="258292" y="516597"/>
                </a:lnTo>
                <a:lnTo>
                  <a:pt x="304723" y="512445"/>
                </a:lnTo>
                <a:lnTo>
                  <a:pt x="348424" y="500443"/>
                </a:lnTo>
                <a:lnTo>
                  <a:pt x="388658" y="481342"/>
                </a:lnTo>
                <a:lnTo>
                  <a:pt x="424713" y="455853"/>
                </a:lnTo>
                <a:lnTo>
                  <a:pt x="455841" y="424726"/>
                </a:lnTo>
                <a:lnTo>
                  <a:pt x="481330" y="388670"/>
                </a:lnTo>
                <a:lnTo>
                  <a:pt x="500430" y="348437"/>
                </a:lnTo>
                <a:lnTo>
                  <a:pt x="512432" y="304736"/>
                </a:lnTo>
                <a:lnTo>
                  <a:pt x="516597" y="258305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731136" y="1837343"/>
            <a:ext cx="240029" cy="847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350" baseline="-30864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40"/>
              </a:spcBef>
            </a:pPr>
            <a:endParaRPr sz="90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608894" y="2921419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5" h="484504">
                <a:moveTo>
                  <a:pt x="242099" y="484199"/>
                </a:moveTo>
                <a:lnTo>
                  <a:pt x="193310" y="479280"/>
                </a:lnTo>
                <a:lnTo>
                  <a:pt x="147866" y="465172"/>
                </a:lnTo>
                <a:lnTo>
                  <a:pt x="106742" y="442850"/>
                </a:lnTo>
                <a:lnTo>
                  <a:pt x="70912" y="413286"/>
                </a:lnTo>
                <a:lnTo>
                  <a:pt x="41348" y="377456"/>
                </a:lnTo>
                <a:lnTo>
                  <a:pt x="19026" y="336332"/>
                </a:lnTo>
                <a:lnTo>
                  <a:pt x="4918" y="290888"/>
                </a:lnTo>
                <a:lnTo>
                  <a:pt x="0" y="242099"/>
                </a:lnTo>
                <a:lnTo>
                  <a:pt x="4918" y="193310"/>
                </a:lnTo>
                <a:lnTo>
                  <a:pt x="19026" y="147866"/>
                </a:lnTo>
                <a:lnTo>
                  <a:pt x="41348" y="106742"/>
                </a:lnTo>
                <a:lnTo>
                  <a:pt x="70927" y="70899"/>
                </a:lnTo>
                <a:lnTo>
                  <a:pt x="106742" y="41348"/>
                </a:lnTo>
                <a:lnTo>
                  <a:pt x="147866" y="19026"/>
                </a:lnTo>
                <a:lnTo>
                  <a:pt x="193310" y="4918"/>
                </a:lnTo>
                <a:lnTo>
                  <a:pt x="242099" y="0"/>
                </a:lnTo>
                <a:lnTo>
                  <a:pt x="289559" y="4693"/>
                </a:lnTo>
                <a:lnTo>
                  <a:pt x="334758" y="18424"/>
                </a:lnTo>
                <a:lnTo>
                  <a:pt x="376427" y="40668"/>
                </a:lnTo>
                <a:lnTo>
                  <a:pt x="413309" y="70912"/>
                </a:lnTo>
                <a:lnTo>
                  <a:pt x="443530" y="107774"/>
                </a:lnTo>
                <a:lnTo>
                  <a:pt x="465774" y="149449"/>
                </a:lnTo>
                <a:lnTo>
                  <a:pt x="479505" y="194649"/>
                </a:lnTo>
                <a:lnTo>
                  <a:pt x="484199" y="242099"/>
                </a:lnTo>
                <a:lnTo>
                  <a:pt x="479281" y="290888"/>
                </a:lnTo>
                <a:lnTo>
                  <a:pt x="465176" y="336332"/>
                </a:lnTo>
                <a:lnTo>
                  <a:pt x="442856" y="377456"/>
                </a:lnTo>
                <a:lnTo>
                  <a:pt x="413296" y="413286"/>
                </a:lnTo>
                <a:lnTo>
                  <a:pt x="377467" y="442850"/>
                </a:lnTo>
                <a:lnTo>
                  <a:pt x="336342" y="465172"/>
                </a:lnTo>
                <a:lnTo>
                  <a:pt x="290895" y="479280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743839" y="3038933"/>
            <a:ext cx="21462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395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1350" baseline="-3395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299991" y="2902069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10" y="479280"/>
                </a:lnTo>
                <a:lnTo>
                  <a:pt x="147866" y="465172"/>
                </a:lnTo>
                <a:lnTo>
                  <a:pt x="106742" y="442850"/>
                </a:lnTo>
                <a:lnTo>
                  <a:pt x="70912" y="413286"/>
                </a:lnTo>
                <a:lnTo>
                  <a:pt x="41348" y="377456"/>
                </a:lnTo>
                <a:lnTo>
                  <a:pt x="19026" y="336332"/>
                </a:lnTo>
                <a:lnTo>
                  <a:pt x="4918" y="290888"/>
                </a:lnTo>
                <a:lnTo>
                  <a:pt x="0" y="242099"/>
                </a:lnTo>
                <a:lnTo>
                  <a:pt x="4918" y="193310"/>
                </a:lnTo>
                <a:lnTo>
                  <a:pt x="19026" y="147866"/>
                </a:lnTo>
                <a:lnTo>
                  <a:pt x="41348" y="106742"/>
                </a:lnTo>
                <a:lnTo>
                  <a:pt x="70927" y="70899"/>
                </a:lnTo>
                <a:lnTo>
                  <a:pt x="106742" y="41348"/>
                </a:lnTo>
                <a:lnTo>
                  <a:pt x="147866" y="19026"/>
                </a:lnTo>
                <a:lnTo>
                  <a:pt x="193310" y="4918"/>
                </a:lnTo>
                <a:lnTo>
                  <a:pt x="242099" y="0"/>
                </a:lnTo>
                <a:lnTo>
                  <a:pt x="289559" y="4693"/>
                </a:lnTo>
                <a:lnTo>
                  <a:pt x="334758" y="18424"/>
                </a:lnTo>
                <a:lnTo>
                  <a:pt x="376427" y="40668"/>
                </a:lnTo>
                <a:lnTo>
                  <a:pt x="413309" y="70912"/>
                </a:lnTo>
                <a:lnTo>
                  <a:pt x="443530" y="107774"/>
                </a:lnTo>
                <a:lnTo>
                  <a:pt x="465774" y="149449"/>
                </a:lnTo>
                <a:lnTo>
                  <a:pt x="479505" y="194649"/>
                </a:lnTo>
                <a:lnTo>
                  <a:pt x="484199" y="242099"/>
                </a:lnTo>
                <a:lnTo>
                  <a:pt x="479281" y="290888"/>
                </a:lnTo>
                <a:lnTo>
                  <a:pt x="465176" y="336332"/>
                </a:lnTo>
                <a:lnTo>
                  <a:pt x="442856" y="377456"/>
                </a:lnTo>
                <a:lnTo>
                  <a:pt x="413296" y="413286"/>
                </a:lnTo>
                <a:lnTo>
                  <a:pt x="377467" y="442850"/>
                </a:lnTo>
                <a:lnTo>
                  <a:pt x="336342" y="465172"/>
                </a:lnTo>
                <a:lnTo>
                  <a:pt x="290895" y="479280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0097A7">
              <a:alpha val="4823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443933" y="2984209"/>
            <a:ext cx="1555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40" dirty="0">
                <a:solidFill>
                  <a:srgbClr val="FFFFFF"/>
                </a:solidFill>
                <a:latin typeface="Roboto"/>
                <a:cs typeface="Roboto"/>
              </a:rPr>
              <a:t>&gt;</a:t>
            </a:r>
            <a:endParaRPr sz="1800">
              <a:latin typeface="Roboto"/>
              <a:cs typeface="Robo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083568" y="1952400"/>
            <a:ext cx="1445260" cy="1235075"/>
            <a:chOff x="3083568" y="1952400"/>
            <a:chExt cx="1445260" cy="1235075"/>
          </a:xfrm>
        </p:grpSpPr>
        <p:sp>
          <p:nvSpPr>
            <p:cNvPr id="10" name="object 10"/>
            <p:cNvSpPr/>
            <p:nvPr/>
          </p:nvSpPr>
          <p:spPr>
            <a:xfrm>
              <a:off x="3109293" y="1961925"/>
              <a:ext cx="1337310" cy="877569"/>
            </a:xfrm>
            <a:custGeom>
              <a:avLst/>
              <a:gdLst/>
              <a:ahLst/>
              <a:cxnLst/>
              <a:rect l="l" t="t" r="r" b="b"/>
              <a:pathLst>
                <a:path w="1337310" h="877569">
                  <a:moveTo>
                    <a:pt x="0" y="0"/>
                  </a:moveTo>
                  <a:lnTo>
                    <a:pt x="1337247" y="877493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19741" y="2803594"/>
              <a:ext cx="108599" cy="9277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093093" y="3146143"/>
              <a:ext cx="1092835" cy="17780"/>
            </a:xfrm>
            <a:custGeom>
              <a:avLst/>
              <a:gdLst/>
              <a:ahLst/>
              <a:cxnLst/>
              <a:rect l="l" t="t" r="r" b="b"/>
              <a:pathLst>
                <a:path w="1092835" h="17780">
                  <a:moveTo>
                    <a:pt x="0" y="17374"/>
                  </a:moveTo>
                  <a:lnTo>
                    <a:pt x="1092622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75691" y="3105143"/>
              <a:ext cx="105974" cy="8197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093093" y="2570819"/>
              <a:ext cx="1169035" cy="368300"/>
            </a:xfrm>
            <a:custGeom>
              <a:avLst/>
              <a:gdLst/>
              <a:ahLst/>
              <a:cxnLst/>
              <a:rect l="l" t="t" r="r" b="b"/>
              <a:pathLst>
                <a:path w="1169035" h="368300">
                  <a:moveTo>
                    <a:pt x="0" y="0"/>
                  </a:moveTo>
                  <a:lnTo>
                    <a:pt x="1168672" y="367974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42791" y="2899244"/>
              <a:ext cx="110974" cy="79074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2574303" y="1272584"/>
            <a:ext cx="5588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AA3F"/>
                </a:solidFill>
                <a:latin typeface="Arial"/>
                <a:cs typeface="Arial"/>
              </a:rPr>
              <a:t>inputs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12223" y="1272584"/>
            <a:ext cx="6877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77909C"/>
                </a:solidFill>
                <a:latin typeface="Arial"/>
                <a:cs typeface="Arial"/>
              </a:rPr>
              <a:t>weights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 rot="1980000">
            <a:off x="3489381" y="2032217"/>
            <a:ext cx="266211" cy="210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55"/>
              </a:lnSpc>
            </a:pPr>
            <a:r>
              <a:rPr sz="1400" b="1" spc="-185" dirty="0">
                <a:solidFill>
                  <a:srgbClr val="77909C"/>
                </a:solidFill>
                <a:latin typeface="Tahoma"/>
                <a:cs typeface="Tahoma"/>
              </a:rPr>
              <a:t>w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 rot="1980000">
            <a:off x="3575087" y="2208745"/>
            <a:ext cx="163257" cy="1143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900" b="1" spc="-114" dirty="0">
                <a:solidFill>
                  <a:srgbClr val="77909C"/>
                </a:solidFill>
                <a:latin typeface="Tahoma"/>
                <a:cs typeface="Tahoma"/>
              </a:rPr>
              <a:t>0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373890" y="2861199"/>
            <a:ext cx="276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77909C"/>
                </a:solidFill>
                <a:latin typeface="Tahoma"/>
                <a:cs typeface="Tahoma"/>
              </a:rPr>
              <a:t>w</a:t>
            </a:r>
            <a:r>
              <a:rPr sz="1350" b="1" spc="-37" baseline="-30864" dirty="0">
                <a:solidFill>
                  <a:srgbClr val="77909C"/>
                </a:solidFill>
                <a:latin typeface="Tahoma"/>
                <a:cs typeface="Tahoma"/>
              </a:rPr>
              <a:t>2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 rot="20700000">
            <a:off x="3357778" y="3308751"/>
            <a:ext cx="266749" cy="212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75"/>
              </a:lnSpc>
            </a:pPr>
            <a:r>
              <a:rPr sz="1400" b="1" spc="-185" dirty="0">
                <a:solidFill>
                  <a:srgbClr val="77909C"/>
                </a:solidFill>
                <a:latin typeface="Tahoma"/>
                <a:cs typeface="Tahoma"/>
              </a:rPr>
              <a:t>w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 rot="20700000">
            <a:off x="3530914" y="3414292"/>
            <a:ext cx="166183" cy="11430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900" b="1" spc="-70" dirty="0">
                <a:solidFill>
                  <a:srgbClr val="77909C"/>
                </a:solidFill>
                <a:latin typeface="Tahoma"/>
                <a:cs typeface="Tahoma"/>
              </a:rPr>
              <a:t>n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373020" y="1275737"/>
            <a:ext cx="3911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0097A7"/>
                </a:solidFill>
                <a:latin typeface="Arial"/>
                <a:cs typeface="Arial"/>
              </a:rPr>
              <a:t>sum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083568" y="2902069"/>
            <a:ext cx="3550285" cy="1456690"/>
            <a:chOff x="3083568" y="2902069"/>
            <a:chExt cx="3550285" cy="1456690"/>
          </a:xfrm>
        </p:grpSpPr>
        <p:sp>
          <p:nvSpPr>
            <p:cNvPr id="25" name="object 25"/>
            <p:cNvSpPr/>
            <p:nvPr/>
          </p:nvSpPr>
          <p:spPr>
            <a:xfrm>
              <a:off x="4784190" y="3144168"/>
              <a:ext cx="581660" cy="0"/>
            </a:xfrm>
            <a:custGeom>
              <a:avLst/>
              <a:gdLst/>
              <a:ahLst/>
              <a:cxnLst/>
              <a:rect l="l" t="t" r="r" b="b"/>
              <a:pathLst>
                <a:path w="581660">
                  <a:moveTo>
                    <a:pt x="0" y="0"/>
                  </a:moveTo>
                  <a:lnTo>
                    <a:pt x="5812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365439" y="312844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0" y="0"/>
                  </a:lnTo>
                  <a:lnTo>
                    <a:pt x="43224" y="15724"/>
                  </a:lnTo>
                  <a:lnTo>
                    <a:pt x="0" y="314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365439" y="312844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49"/>
                  </a:moveTo>
                  <a:lnTo>
                    <a:pt x="43224" y="15724"/>
                  </a:lnTo>
                  <a:lnTo>
                    <a:pt x="0" y="0"/>
                  </a:lnTo>
                  <a:lnTo>
                    <a:pt x="0" y="314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422589" y="2902069"/>
              <a:ext cx="484505" cy="484505"/>
            </a:xfrm>
            <a:custGeom>
              <a:avLst/>
              <a:gdLst/>
              <a:ahLst/>
              <a:cxnLst/>
              <a:rect l="l" t="t" r="r" b="b"/>
              <a:pathLst>
                <a:path w="484504" h="484504">
                  <a:moveTo>
                    <a:pt x="242099" y="484199"/>
                  </a:moveTo>
                  <a:lnTo>
                    <a:pt x="193310" y="479280"/>
                  </a:lnTo>
                  <a:lnTo>
                    <a:pt x="147866" y="465172"/>
                  </a:lnTo>
                  <a:lnTo>
                    <a:pt x="106742" y="442850"/>
                  </a:lnTo>
                  <a:lnTo>
                    <a:pt x="70912" y="413286"/>
                  </a:lnTo>
                  <a:lnTo>
                    <a:pt x="41348" y="377456"/>
                  </a:lnTo>
                  <a:lnTo>
                    <a:pt x="19026" y="336332"/>
                  </a:lnTo>
                  <a:lnTo>
                    <a:pt x="4918" y="290888"/>
                  </a:lnTo>
                  <a:lnTo>
                    <a:pt x="0" y="242099"/>
                  </a:lnTo>
                  <a:lnTo>
                    <a:pt x="4918" y="193310"/>
                  </a:lnTo>
                  <a:lnTo>
                    <a:pt x="19026" y="147866"/>
                  </a:lnTo>
                  <a:lnTo>
                    <a:pt x="41348" y="106742"/>
                  </a:lnTo>
                  <a:lnTo>
                    <a:pt x="70927" y="70899"/>
                  </a:lnTo>
                  <a:lnTo>
                    <a:pt x="106742" y="41348"/>
                  </a:lnTo>
                  <a:lnTo>
                    <a:pt x="147866" y="19026"/>
                  </a:lnTo>
                  <a:lnTo>
                    <a:pt x="193310" y="4918"/>
                  </a:lnTo>
                  <a:lnTo>
                    <a:pt x="242099" y="0"/>
                  </a:lnTo>
                  <a:lnTo>
                    <a:pt x="289559" y="4693"/>
                  </a:lnTo>
                  <a:lnTo>
                    <a:pt x="334758" y="18424"/>
                  </a:lnTo>
                  <a:lnTo>
                    <a:pt x="376427" y="40668"/>
                  </a:lnTo>
                  <a:lnTo>
                    <a:pt x="413309" y="70912"/>
                  </a:lnTo>
                  <a:lnTo>
                    <a:pt x="443530" y="107774"/>
                  </a:lnTo>
                  <a:lnTo>
                    <a:pt x="465774" y="149449"/>
                  </a:lnTo>
                  <a:lnTo>
                    <a:pt x="479505" y="194649"/>
                  </a:lnTo>
                  <a:lnTo>
                    <a:pt x="484199" y="242099"/>
                  </a:lnTo>
                  <a:lnTo>
                    <a:pt x="479281" y="290888"/>
                  </a:lnTo>
                  <a:lnTo>
                    <a:pt x="465176" y="336332"/>
                  </a:lnTo>
                  <a:lnTo>
                    <a:pt x="442856" y="377456"/>
                  </a:lnTo>
                  <a:lnTo>
                    <a:pt x="413296" y="413286"/>
                  </a:lnTo>
                  <a:lnTo>
                    <a:pt x="377467" y="442850"/>
                  </a:lnTo>
                  <a:lnTo>
                    <a:pt x="336342" y="465172"/>
                  </a:lnTo>
                  <a:lnTo>
                    <a:pt x="290895" y="479280"/>
                  </a:lnTo>
                  <a:lnTo>
                    <a:pt x="242099" y="484199"/>
                  </a:lnTo>
                  <a:close/>
                </a:path>
              </a:pathLst>
            </a:custGeom>
            <a:solidFill>
              <a:srgbClr val="0A2138">
                <a:alpha val="6807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906788" y="3144168"/>
              <a:ext cx="678815" cy="6350"/>
            </a:xfrm>
            <a:custGeom>
              <a:avLst/>
              <a:gdLst/>
              <a:ahLst/>
              <a:cxnLst/>
              <a:rect l="l" t="t" r="r" b="b"/>
              <a:pathLst>
                <a:path w="678815" h="6350">
                  <a:moveTo>
                    <a:pt x="0" y="0"/>
                  </a:moveTo>
                  <a:lnTo>
                    <a:pt x="678748" y="5799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585411" y="313424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74"/>
                  </a:moveTo>
                  <a:lnTo>
                    <a:pt x="274" y="0"/>
                  </a:lnTo>
                  <a:lnTo>
                    <a:pt x="43349" y="16099"/>
                  </a:lnTo>
                  <a:lnTo>
                    <a:pt x="0" y="3147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585411" y="313424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74"/>
                  </a:moveTo>
                  <a:lnTo>
                    <a:pt x="43349" y="16099"/>
                  </a:lnTo>
                  <a:lnTo>
                    <a:pt x="274" y="0"/>
                  </a:lnTo>
                  <a:lnTo>
                    <a:pt x="0" y="3147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543188" y="3025818"/>
              <a:ext cx="243204" cy="243204"/>
            </a:xfrm>
            <a:custGeom>
              <a:avLst/>
              <a:gdLst/>
              <a:ahLst/>
              <a:cxnLst/>
              <a:rect l="l" t="t" r="r" b="b"/>
              <a:pathLst>
                <a:path w="243204" h="243204">
                  <a:moveTo>
                    <a:pt x="242999" y="0"/>
                  </a:moveTo>
                  <a:lnTo>
                    <a:pt x="202657" y="10441"/>
                  </a:lnTo>
                  <a:lnTo>
                    <a:pt x="170859" y="37968"/>
                  </a:lnTo>
                  <a:lnTo>
                    <a:pt x="144755" y="76886"/>
                  </a:lnTo>
                  <a:lnTo>
                    <a:pt x="121499" y="121499"/>
                  </a:lnTo>
                  <a:lnTo>
                    <a:pt x="98243" y="166112"/>
                  </a:lnTo>
                  <a:lnTo>
                    <a:pt x="72140" y="205030"/>
                  </a:lnTo>
                  <a:lnTo>
                    <a:pt x="40341" y="232558"/>
                  </a:lnTo>
                  <a:lnTo>
                    <a:pt x="0" y="242999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093093" y="3449467"/>
              <a:ext cx="1353820" cy="899794"/>
            </a:xfrm>
            <a:custGeom>
              <a:avLst/>
              <a:gdLst/>
              <a:ahLst/>
              <a:cxnLst/>
              <a:rect l="l" t="t" r="r" b="b"/>
              <a:pathLst>
                <a:path w="1353820" h="899795">
                  <a:moveTo>
                    <a:pt x="0" y="899448"/>
                  </a:moveTo>
                  <a:lnTo>
                    <a:pt x="1353797" y="0"/>
                  </a:lnTo>
                </a:path>
              </a:pathLst>
            </a:custGeom>
            <a:ln w="19049">
              <a:solidFill>
                <a:srgbClr val="93C3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19966" y="3392093"/>
              <a:ext cx="108449" cy="93099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5263891" y="1275737"/>
            <a:ext cx="10922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0A2138"/>
                </a:solidFill>
                <a:latin typeface="Arial"/>
                <a:cs typeface="Arial"/>
              </a:rPr>
              <a:t>non-linearity</a:t>
            </a:r>
            <a:endParaRPr sz="14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 rot="19680000">
            <a:off x="3409854" y="3887363"/>
            <a:ext cx="206698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400" b="1" spc="-114" dirty="0">
                <a:solidFill>
                  <a:srgbClr val="93C37C"/>
                </a:solidFill>
                <a:latin typeface="Tahoma"/>
                <a:cs typeface="Tahoma"/>
              </a:rPr>
              <a:t>b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2592694" y="3312768"/>
            <a:ext cx="1761489" cy="1278255"/>
            <a:chOff x="2592694" y="3312768"/>
            <a:chExt cx="1761489" cy="1278255"/>
          </a:xfrm>
        </p:grpSpPr>
        <p:sp>
          <p:nvSpPr>
            <p:cNvPr id="38" name="object 38"/>
            <p:cNvSpPr/>
            <p:nvPr/>
          </p:nvSpPr>
          <p:spPr>
            <a:xfrm>
              <a:off x="2608894" y="4106816"/>
              <a:ext cx="484505" cy="484505"/>
            </a:xfrm>
            <a:custGeom>
              <a:avLst/>
              <a:gdLst/>
              <a:ahLst/>
              <a:cxnLst/>
              <a:rect l="l" t="t" r="r" b="b"/>
              <a:pathLst>
                <a:path w="484505" h="484504">
                  <a:moveTo>
                    <a:pt x="242099" y="484199"/>
                  </a:moveTo>
                  <a:lnTo>
                    <a:pt x="193310" y="479280"/>
                  </a:lnTo>
                  <a:lnTo>
                    <a:pt x="147866" y="465172"/>
                  </a:lnTo>
                  <a:lnTo>
                    <a:pt x="106742" y="442850"/>
                  </a:lnTo>
                  <a:lnTo>
                    <a:pt x="70912" y="413286"/>
                  </a:lnTo>
                  <a:lnTo>
                    <a:pt x="41348" y="377456"/>
                  </a:lnTo>
                  <a:lnTo>
                    <a:pt x="19026" y="336332"/>
                  </a:lnTo>
                  <a:lnTo>
                    <a:pt x="4918" y="290888"/>
                  </a:lnTo>
                  <a:lnTo>
                    <a:pt x="0" y="242099"/>
                  </a:lnTo>
                  <a:lnTo>
                    <a:pt x="4918" y="193303"/>
                  </a:lnTo>
                  <a:lnTo>
                    <a:pt x="19026" y="147856"/>
                  </a:lnTo>
                  <a:lnTo>
                    <a:pt x="41348" y="106731"/>
                  </a:lnTo>
                  <a:lnTo>
                    <a:pt x="70916" y="70899"/>
                  </a:lnTo>
                  <a:lnTo>
                    <a:pt x="106742" y="41342"/>
                  </a:lnTo>
                  <a:lnTo>
                    <a:pt x="147866" y="19023"/>
                  </a:lnTo>
                  <a:lnTo>
                    <a:pt x="193310" y="4917"/>
                  </a:lnTo>
                  <a:lnTo>
                    <a:pt x="242099" y="0"/>
                  </a:lnTo>
                  <a:lnTo>
                    <a:pt x="289559" y="4693"/>
                  </a:lnTo>
                  <a:lnTo>
                    <a:pt x="334758" y="18424"/>
                  </a:lnTo>
                  <a:lnTo>
                    <a:pt x="376427" y="40668"/>
                  </a:lnTo>
                  <a:lnTo>
                    <a:pt x="413301" y="70902"/>
                  </a:lnTo>
                  <a:lnTo>
                    <a:pt x="443530" y="107771"/>
                  </a:lnTo>
                  <a:lnTo>
                    <a:pt x="465774" y="149440"/>
                  </a:lnTo>
                  <a:lnTo>
                    <a:pt x="479505" y="194639"/>
                  </a:lnTo>
                  <a:lnTo>
                    <a:pt x="484199" y="242099"/>
                  </a:lnTo>
                  <a:lnTo>
                    <a:pt x="479281" y="290888"/>
                  </a:lnTo>
                  <a:lnTo>
                    <a:pt x="465176" y="336332"/>
                  </a:lnTo>
                  <a:lnTo>
                    <a:pt x="442856" y="377456"/>
                  </a:lnTo>
                  <a:lnTo>
                    <a:pt x="413296" y="413286"/>
                  </a:lnTo>
                  <a:lnTo>
                    <a:pt x="377467" y="442850"/>
                  </a:lnTo>
                  <a:lnTo>
                    <a:pt x="336342" y="465172"/>
                  </a:lnTo>
                  <a:lnTo>
                    <a:pt x="290895" y="479280"/>
                  </a:lnTo>
                  <a:lnTo>
                    <a:pt x="242099" y="484199"/>
                  </a:lnTo>
                  <a:close/>
                </a:path>
              </a:pathLst>
            </a:custGeom>
            <a:solidFill>
              <a:srgbClr val="93C3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592694" y="3514118"/>
              <a:ext cx="484505" cy="484505"/>
            </a:xfrm>
            <a:custGeom>
              <a:avLst/>
              <a:gdLst/>
              <a:ahLst/>
              <a:cxnLst/>
              <a:rect l="l" t="t" r="r" b="b"/>
              <a:pathLst>
                <a:path w="484505" h="484504">
                  <a:moveTo>
                    <a:pt x="242099" y="484199"/>
                  </a:moveTo>
                  <a:lnTo>
                    <a:pt x="193310" y="479280"/>
                  </a:lnTo>
                  <a:lnTo>
                    <a:pt x="147866" y="465172"/>
                  </a:lnTo>
                  <a:lnTo>
                    <a:pt x="106742" y="442850"/>
                  </a:lnTo>
                  <a:lnTo>
                    <a:pt x="70912" y="413286"/>
                  </a:lnTo>
                  <a:lnTo>
                    <a:pt x="41348" y="377456"/>
                  </a:lnTo>
                  <a:lnTo>
                    <a:pt x="19026" y="336332"/>
                  </a:lnTo>
                  <a:lnTo>
                    <a:pt x="4918" y="290888"/>
                  </a:lnTo>
                  <a:lnTo>
                    <a:pt x="0" y="242099"/>
                  </a:lnTo>
                  <a:lnTo>
                    <a:pt x="4918" y="193310"/>
                  </a:lnTo>
                  <a:lnTo>
                    <a:pt x="19026" y="147866"/>
                  </a:lnTo>
                  <a:lnTo>
                    <a:pt x="41348" y="106742"/>
                  </a:lnTo>
                  <a:lnTo>
                    <a:pt x="70927" y="70899"/>
                  </a:lnTo>
                  <a:lnTo>
                    <a:pt x="106742" y="41348"/>
                  </a:lnTo>
                  <a:lnTo>
                    <a:pt x="147866" y="19026"/>
                  </a:lnTo>
                  <a:lnTo>
                    <a:pt x="193310" y="4918"/>
                  </a:lnTo>
                  <a:lnTo>
                    <a:pt x="242099" y="0"/>
                  </a:lnTo>
                  <a:lnTo>
                    <a:pt x="289559" y="4693"/>
                  </a:lnTo>
                  <a:lnTo>
                    <a:pt x="334758" y="18424"/>
                  </a:lnTo>
                  <a:lnTo>
                    <a:pt x="376427" y="40668"/>
                  </a:lnTo>
                  <a:lnTo>
                    <a:pt x="413309" y="70912"/>
                  </a:lnTo>
                  <a:lnTo>
                    <a:pt x="443530" y="107771"/>
                  </a:lnTo>
                  <a:lnTo>
                    <a:pt x="465774" y="149440"/>
                  </a:lnTo>
                  <a:lnTo>
                    <a:pt x="479505" y="194639"/>
                  </a:lnTo>
                  <a:lnTo>
                    <a:pt x="484199" y="242099"/>
                  </a:lnTo>
                  <a:lnTo>
                    <a:pt x="479281" y="290888"/>
                  </a:lnTo>
                  <a:lnTo>
                    <a:pt x="465176" y="336332"/>
                  </a:lnTo>
                  <a:lnTo>
                    <a:pt x="442856" y="377456"/>
                  </a:lnTo>
                  <a:lnTo>
                    <a:pt x="413296" y="413286"/>
                  </a:lnTo>
                  <a:lnTo>
                    <a:pt x="377467" y="442850"/>
                  </a:lnTo>
                  <a:lnTo>
                    <a:pt x="336342" y="465172"/>
                  </a:lnTo>
                  <a:lnTo>
                    <a:pt x="290895" y="479280"/>
                  </a:lnTo>
                  <a:lnTo>
                    <a:pt x="242099" y="484199"/>
                  </a:lnTo>
                  <a:close/>
                </a:path>
              </a:pathLst>
            </a:custGeom>
            <a:solidFill>
              <a:srgbClr val="FFAA3F">
                <a:alpha val="5372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076893" y="3352093"/>
              <a:ext cx="1186180" cy="404495"/>
            </a:xfrm>
            <a:custGeom>
              <a:avLst/>
              <a:gdLst/>
              <a:ahLst/>
              <a:cxnLst/>
              <a:rect l="l" t="t" r="r" b="b"/>
              <a:pathLst>
                <a:path w="1186179" h="404495">
                  <a:moveTo>
                    <a:pt x="0" y="404124"/>
                  </a:moveTo>
                  <a:lnTo>
                    <a:pt x="1185722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42941" y="3312768"/>
              <a:ext cx="111024" cy="78624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 rot="1020000">
            <a:off x="3397527" y="2437379"/>
            <a:ext cx="266749" cy="210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55"/>
              </a:lnSpc>
            </a:pPr>
            <a:r>
              <a:rPr sz="1400" b="1" spc="-185" dirty="0">
                <a:solidFill>
                  <a:srgbClr val="77909C"/>
                </a:solidFill>
                <a:latin typeface="Tahoma"/>
                <a:cs typeface="Tahoma"/>
              </a:rPr>
              <a:t>w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3" name="object 43"/>
          <p:cNvSpPr txBox="1"/>
          <p:nvPr/>
        </p:nvSpPr>
        <p:spPr>
          <a:xfrm rot="1020000">
            <a:off x="3517451" y="2599556"/>
            <a:ext cx="164093" cy="1143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900" b="1" spc="-110" dirty="0">
                <a:solidFill>
                  <a:srgbClr val="77909C"/>
                </a:solidFill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699275" y="3631625"/>
            <a:ext cx="1071245" cy="1335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endParaRPr sz="1350" baseline="-30864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endParaRPr sz="900">
              <a:latin typeface="Tahoma"/>
              <a:cs typeface="Tahoma"/>
            </a:endParaRPr>
          </a:p>
          <a:p>
            <a:pPr marL="107314">
              <a:lnSpc>
                <a:spcPct val="100000"/>
              </a:lnSpc>
              <a:spcBef>
                <a:spcPts val="5"/>
              </a:spcBef>
            </a:pP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z="1400">
              <a:latin typeface="Tahoma"/>
              <a:cs typeface="Tahoma"/>
            </a:endParaRPr>
          </a:p>
          <a:p>
            <a:pPr marL="689610">
              <a:lnSpc>
                <a:spcPct val="100000"/>
              </a:lnSpc>
            </a:pPr>
            <a:r>
              <a:rPr sz="1400" b="1" spc="-20" dirty="0">
                <a:solidFill>
                  <a:srgbClr val="93C37C"/>
                </a:solidFill>
                <a:latin typeface="Arial"/>
                <a:cs typeface="Arial"/>
              </a:rPr>
              <a:t>bias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95361" y="1718471"/>
            <a:ext cx="3676650" cy="1036319"/>
            <a:chOff x="595361" y="1718471"/>
            <a:chExt cx="3676650" cy="103631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5361" y="1780546"/>
              <a:ext cx="3543292" cy="87629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789946" y="1718471"/>
              <a:ext cx="2482215" cy="1036319"/>
            </a:xfrm>
            <a:custGeom>
              <a:avLst/>
              <a:gdLst/>
              <a:ahLst/>
              <a:cxnLst/>
              <a:rect l="l" t="t" r="r" b="b"/>
              <a:pathLst>
                <a:path w="2482215" h="1036319">
                  <a:moveTo>
                    <a:pt x="2481895" y="1035897"/>
                  </a:moveTo>
                  <a:lnTo>
                    <a:pt x="0" y="1035897"/>
                  </a:lnTo>
                  <a:lnTo>
                    <a:pt x="0" y="0"/>
                  </a:lnTo>
                  <a:lnTo>
                    <a:pt x="2481895" y="0"/>
                  </a:lnTo>
                  <a:lnTo>
                    <a:pt x="2481895" y="103589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Perceptron</a:t>
            </a:r>
            <a:r>
              <a:rPr spc="-165" dirty="0"/>
              <a:t> </a:t>
            </a:r>
            <a:r>
              <a:rPr dirty="0"/>
              <a:t>Forward</a:t>
            </a:r>
            <a:r>
              <a:rPr spc="-165" dirty="0"/>
              <a:t> </a:t>
            </a:r>
            <a:r>
              <a:rPr spc="-20" dirty="0"/>
              <a:t>Pass</a:t>
            </a:r>
          </a:p>
        </p:txBody>
      </p:sp>
      <p:sp>
        <p:nvSpPr>
          <p:cNvPr id="6" name="object 6"/>
          <p:cNvSpPr/>
          <p:nvPr/>
        </p:nvSpPr>
        <p:spPr>
          <a:xfrm>
            <a:off x="4782286" y="1585239"/>
            <a:ext cx="516890" cy="1109345"/>
          </a:xfrm>
          <a:custGeom>
            <a:avLst/>
            <a:gdLst/>
            <a:ahLst/>
            <a:cxnLst/>
            <a:rect l="l" t="t" r="r" b="b"/>
            <a:pathLst>
              <a:path w="516889" h="1109345">
                <a:moveTo>
                  <a:pt x="500392" y="867194"/>
                </a:moveTo>
                <a:lnTo>
                  <a:pt x="495706" y="819734"/>
                </a:lnTo>
                <a:lnTo>
                  <a:pt x="481977" y="774547"/>
                </a:lnTo>
                <a:lnTo>
                  <a:pt x="459727" y="732878"/>
                </a:lnTo>
                <a:lnTo>
                  <a:pt x="429501" y="695998"/>
                </a:lnTo>
                <a:lnTo>
                  <a:pt x="392620" y="665772"/>
                </a:lnTo>
                <a:lnTo>
                  <a:pt x="350951" y="643521"/>
                </a:lnTo>
                <a:lnTo>
                  <a:pt x="305752" y="629780"/>
                </a:lnTo>
                <a:lnTo>
                  <a:pt x="258292" y="625094"/>
                </a:lnTo>
                <a:lnTo>
                  <a:pt x="209511" y="630008"/>
                </a:lnTo>
                <a:lnTo>
                  <a:pt x="164058" y="644118"/>
                </a:lnTo>
                <a:lnTo>
                  <a:pt x="122936" y="666432"/>
                </a:lnTo>
                <a:lnTo>
                  <a:pt x="87109" y="695998"/>
                </a:lnTo>
                <a:lnTo>
                  <a:pt x="57543" y="731824"/>
                </a:lnTo>
                <a:lnTo>
                  <a:pt x="35229" y="772960"/>
                </a:lnTo>
                <a:lnTo>
                  <a:pt x="21120" y="818400"/>
                </a:lnTo>
                <a:lnTo>
                  <a:pt x="16192" y="867194"/>
                </a:lnTo>
                <a:lnTo>
                  <a:pt x="21120" y="915974"/>
                </a:lnTo>
                <a:lnTo>
                  <a:pt x="35229" y="961415"/>
                </a:lnTo>
                <a:lnTo>
                  <a:pt x="57543" y="1002538"/>
                </a:lnTo>
                <a:lnTo>
                  <a:pt x="87109" y="1038377"/>
                </a:lnTo>
                <a:lnTo>
                  <a:pt x="122936" y="1067943"/>
                </a:lnTo>
                <a:lnTo>
                  <a:pt x="164058" y="1090256"/>
                </a:lnTo>
                <a:lnTo>
                  <a:pt x="209511" y="1104366"/>
                </a:lnTo>
                <a:lnTo>
                  <a:pt x="258292" y="1109281"/>
                </a:lnTo>
                <a:lnTo>
                  <a:pt x="307098" y="1104366"/>
                </a:lnTo>
                <a:lnTo>
                  <a:pt x="352539" y="1090256"/>
                </a:lnTo>
                <a:lnTo>
                  <a:pt x="393661" y="1067943"/>
                </a:lnTo>
                <a:lnTo>
                  <a:pt x="429488" y="1038377"/>
                </a:lnTo>
                <a:lnTo>
                  <a:pt x="459054" y="1002538"/>
                </a:lnTo>
                <a:lnTo>
                  <a:pt x="481368" y="961415"/>
                </a:lnTo>
                <a:lnTo>
                  <a:pt x="495477" y="915974"/>
                </a:lnTo>
                <a:lnTo>
                  <a:pt x="500392" y="867194"/>
                </a:lnTo>
                <a:close/>
              </a:path>
              <a:path w="516889" h="1109345">
                <a:moveTo>
                  <a:pt x="516597" y="258292"/>
                </a:moveTo>
                <a:lnTo>
                  <a:pt x="511594" y="207670"/>
                </a:lnTo>
                <a:lnTo>
                  <a:pt x="496938" y="159448"/>
                </a:lnTo>
                <a:lnTo>
                  <a:pt x="473202" y="114985"/>
                </a:lnTo>
                <a:lnTo>
                  <a:pt x="440944" y="75653"/>
                </a:lnTo>
                <a:lnTo>
                  <a:pt x="401599" y="43395"/>
                </a:lnTo>
                <a:lnTo>
                  <a:pt x="357136" y="19659"/>
                </a:lnTo>
                <a:lnTo>
                  <a:pt x="308927" y="5003"/>
                </a:lnTo>
                <a:lnTo>
                  <a:pt x="258292" y="0"/>
                </a:lnTo>
                <a:lnTo>
                  <a:pt x="211874" y="4152"/>
                </a:lnTo>
                <a:lnTo>
                  <a:pt x="168173" y="16154"/>
                </a:lnTo>
                <a:lnTo>
                  <a:pt x="127927" y="35255"/>
                </a:lnTo>
                <a:lnTo>
                  <a:pt x="91884" y="60744"/>
                </a:lnTo>
                <a:lnTo>
                  <a:pt x="60744" y="91871"/>
                </a:lnTo>
                <a:lnTo>
                  <a:pt x="35267" y="127927"/>
                </a:lnTo>
                <a:lnTo>
                  <a:pt x="16154" y="168160"/>
                </a:lnTo>
                <a:lnTo>
                  <a:pt x="4165" y="211861"/>
                </a:lnTo>
                <a:lnTo>
                  <a:pt x="0" y="258292"/>
                </a:lnTo>
                <a:lnTo>
                  <a:pt x="4165" y="304723"/>
                </a:lnTo>
                <a:lnTo>
                  <a:pt x="16154" y="348424"/>
                </a:lnTo>
                <a:lnTo>
                  <a:pt x="35267" y="388658"/>
                </a:lnTo>
                <a:lnTo>
                  <a:pt x="60744" y="424713"/>
                </a:lnTo>
                <a:lnTo>
                  <a:pt x="91884" y="455841"/>
                </a:lnTo>
                <a:lnTo>
                  <a:pt x="127927" y="481330"/>
                </a:lnTo>
                <a:lnTo>
                  <a:pt x="168173" y="500430"/>
                </a:lnTo>
                <a:lnTo>
                  <a:pt x="211874" y="512432"/>
                </a:lnTo>
                <a:lnTo>
                  <a:pt x="258292" y="516597"/>
                </a:lnTo>
                <a:lnTo>
                  <a:pt x="304723" y="512432"/>
                </a:lnTo>
                <a:lnTo>
                  <a:pt x="348424" y="500430"/>
                </a:lnTo>
                <a:lnTo>
                  <a:pt x="388658" y="481330"/>
                </a:lnTo>
                <a:lnTo>
                  <a:pt x="424713" y="455841"/>
                </a:lnTo>
                <a:lnTo>
                  <a:pt x="455841" y="424713"/>
                </a:lnTo>
                <a:lnTo>
                  <a:pt x="481330" y="388658"/>
                </a:lnTo>
                <a:lnTo>
                  <a:pt x="500430" y="348424"/>
                </a:lnTo>
                <a:lnTo>
                  <a:pt x="512432" y="304723"/>
                </a:lnTo>
                <a:lnTo>
                  <a:pt x="516597" y="258292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920729" y="1718938"/>
            <a:ext cx="240029" cy="847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350" baseline="-30864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40"/>
              </a:spcBef>
            </a:pPr>
            <a:endParaRPr sz="90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798490" y="2803019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10" y="479280"/>
                </a:lnTo>
                <a:lnTo>
                  <a:pt x="147866" y="465172"/>
                </a:lnTo>
                <a:lnTo>
                  <a:pt x="106742" y="442850"/>
                </a:lnTo>
                <a:lnTo>
                  <a:pt x="70912" y="413286"/>
                </a:lnTo>
                <a:lnTo>
                  <a:pt x="41348" y="377456"/>
                </a:lnTo>
                <a:lnTo>
                  <a:pt x="19026" y="336332"/>
                </a:lnTo>
                <a:lnTo>
                  <a:pt x="4918" y="290888"/>
                </a:lnTo>
                <a:lnTo>
                  <a:pt x="0" y="242099"/>
                </a:lnTo>
                <a:lnTo>
                  <a:pt x="4918" y="193310"/>
                </a:lnTo>
                <a:lnTo>
                  <a:pt x="19026" y="147866"/>
                </a:lnTo>
                <a:lnTo>
                  <a:pt x="41348" y="106742"/>
                </a:lnTo>
                <a:lnTo>
                  <a:pt x="70927" y="70899"/>
                </a:lnTo>
                <a:lnTo>
                  <a:pt x="106742" y="41348"/>
                </a:lnTo>
                <a:lnTo>
                  <a:pt x="147866" y="19026"/>
                </a:lnTo>
                <a:lnTo>
                  <a:pt x="193310" y="4918"/>
                </a:lnTo>
                <a:lnTo>
                  <a:pt x="242099" y="0"/>
                </a:lnTo>
                <a:lnTo>
                  <a:pt x="289559" y="4693"/>
                </a:lnTo>
                <a:lnTo>
                  <a:pt x="334758" y="18424"/>
                </a:lnTo>
                <a:lnTo>
                  <a:pt x="376427" y="40668"/>
                </a:lnTo>
                <a:lnTo>
                  <a:pt x="413309" y="70912"/>
                </a:lnTo>
                <a:lnTo>
                  <a:pt x="443530" y="107774"/>
                </a:lnTo>
                <a:lnTo>
                  <a:pt x="465774" y="149449"/>
                </a:lnTo>
                <a:lnTo>
                  <a:pt x="479505" y="194649"/>
                </a:lnTo>
                <a:lnTo>
                  <a:pt x="484199" y="242099"/>
                </a:lnTo>
                <a:lnTo>
                  <a:pt x="479281" y="290888"/>
                </a:lnTo>
                <a:lnTo>
                  <a:pt x="465176" y="336332"/>
                </a:lnTo>
                <a:lnTo>
                  <a:pt x="442856" y="377456"/>
                </a:lnTo>
                <a:lnTo>
                  <a:pt x="413296" y="413286"/>
                </a:lnTo>
                <a:lnTo>
                  <a:pt x="377467" y="442850"/>
                </a:lnTo>
                <a:lnTo>
                  <a:pt x="336342" y="465172"/>
                </a:lnTo>
                <a:lnTo>
                  <a:pt x="290895" y="479280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933432" y="2920528"/>
            <a:ext cx="21462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489587" y="2783669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10" y="479280"/>
                </a:lnTo>
                <a:lnTo>
                  <a:pt x="147866" y="465172"/>
                </a:lnTo>
                <a:lnTo>
                  <a:pt x="106742" y="442850"/>
                </a:lnTo>
                <a:lnTo>
                  <a:pt x="70912" y="413286"/>
                </a:lnTo>
                <a:lnTo>
                  <a:pt x="41348" y="377456"/>
                </a:lnTo>
                <a:lnTo>
                  <a:pt x="19026" y="336332"/>
                </a:lnTo>
                <a:lnTo>
                  <a:pt x="4918" y="290888"/>
                </a:lnTo>
                <a:lnTo>
                  <a:pt x="0" y="242099"/>
                </a:lnTo>
                <a:lnTo>
                  <a:pt x="4918" y="193310"/>
                </a:lnTo>
                <a:lnTo>
                  <a:pt x="19026" y="147866"/>
                </a:lnTo>
                <a:lnTo>
                  <a:pt x="41348" y="106742"/>
                </a:lnTo>
                <a:lnTo>
                  <a:pt x="70927" y="70899"/>
                </a:lnTo>
                <a:lnTo>
                  <a:pt x="106742" y="41348"/>
                </a:lnTo>
                <a:lnTo>
                  <a:pt x="147866" y="19026"/>
                </a:lnTo>
                <a:lnTo>
                  <a:pt x="193310" y="4918"/>
                </a:lnTo>
                <a:lnTo>
                  <a:pt x="242099" y="0"/>
                </a:lnTo>
                <a:lnTo>
                  <a:pt x="289559" y="4693"/>
                </a:lnTo>
                <a:lnTo>
                  <a:pt x="334758" y="18424"/>
                </a:lnTo>
                <a:lnTo>
                  <a:pt x="376427" y="40668"/>
                </a:lnTo>
                <a:lnTo>
                  <a:pt x="413309" y="70912"/>
                </a:lnTo>
                <a:lnTo>
                  <a:pt x="443530" y="107774"/>
                </a:lnTo>
                <a:lnTo>
                  <a:pt x="465774" y="149449"/>
                </a:lnTo>
                <a:lnTo>
                  <a:pt x="479505" y="194649"/>
                </a:lnTo>
                <a:lnTo>
                  <a:pt x="484199" y="242099"/>
                </a:lnTo>
                <a:lnTo>
                  <a:pt x="479281" y="290888"/>
                </a:lnTo>
                <a:lnTo>
                  <a:pt x="465176" y="336332"/>
                </a:lnTo>
                <a:lnTo>
                  <a:pt x="442856" y="377456"/>
                </a:lnTo>
                <a:lnTo>
                  <a:pt x="413296" y="413286"/>
                </a:lnTo>
                <a:lnTo>
                  <a:pt x="377467" y="442850"/>
                </a:lnTo>
                <a:lnTo>
                  <a:pt x="336342" y="465172"/>
                </a:lnTo>
                <a:lnTo>
                  <a:pt x="290895" y="479280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0097A7">
              <a:alpha val="4823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633526" y="2865814"/>
            <a:ext cx="1555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40" dirty="0">
                <a:solidFill>
                  <a:srgbClr val="FFFFFF"/>
                </a:solidFill>
                <a:latin typeface="Roboto"/>
                <a:cs typeface="Roboto"/>
              </a:rPr>
              <a:t>&gt;</a:t>
            </a:r>
            <a:endParaRPr sz="1800">
              <a:latin typeface="Roboto"/>
              <a:cs typeface="Roboto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273164" y="1834001"/>
            <a:ext cx="1445260" cy="1235075"/>
            <a:chOff x="5273164" y="1834001"/>
            <a:chExt cx="1445260" cy="1235075"/>
          </a:xfrm>
        </p:grpSpPr>
        <p:sp>
          <p:nvSpPr>
            <p:cNvPr id="13" name="object 13"/>
            <p:cNvSpPr/>
            <p:nvPr/>
          </p:nvSpPr>
          <p:spPr>
            <a:xfrm>
              <a:off x="5298889" y="1843526"/>
              <a:ext cx="1337310" cy="877569"/>
            </a:xfrm>
            <a:custGeom>
              <a:avLst/>
              <a:gdLst/>
              <a:ahLst/>
              <a:cxnLst/>
              <a:rect l="l" t="t" r="r" b="b"/>
              <a:pathLst>
                <a:path w="1337309" h="877569">
                  <a:moveTo>
                    <a:pt x="0" y="0"/>
                  </a:moveTo>
                  <a:lnTo>
                    <a:pt x="1337247" y="877493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09336" y="2685194"/>
              <a:ext cx="108599" cy="9277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282689" y="3027743"/>
              <a:ext cx="1092835" cy="17780"/>
            </a:xfrm>
            <a:custGeom>
              <a:avLst/>
              <a:gdLst/>
              <a:ahLst/>
              <a:cxnLst/>
              <a:rect l="l" t="t" r="r" b="b"/>
              <a:pathLst>
                <a:path w="1092835" h="17780">
                  <a:moveTo>
                    <a:pt x="0" y="17374"/>
                  </a:moveTo>
                  <a:lnTo>
                    <a:pt x="1092622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65286" y="2986743"/>
              <a:ext cx="105974" cy="8197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282689" y="2452422"/>
              <a:ext cx="1169035" cy="368300"/>
            </a:xfrm>
            <a:custGeom>
              <a:avLst/>
              <a:gdLst/>
              <a:ahLst/>
              <a:cxnLst/>
              <a:rect l="l" t="t" r="r" b="b"/>
              <a:pathLst>
                <a:path w="1169035" h="368300">
                  <a:moveTo>
                    <a:pt x="0" y="0"/>
                  </a:moveTo>
                  <a:lnTo>
                    <a:pt x="1168672" y="367971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32386" y="2780844"/>
              <a:ext cx="110974" cy="79099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4763896" y="1154189"/>
            <a:ext cx="5588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AA3F"/>
                </a:solidFill>
                <a:latin typeface="Arial"/>
                <a:cs typeface="Arial"/>
              </a:rPr>
              <a:t>inputs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501816" y="1154189"/>
            <a:ext cx="6877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77909C"/>
                </a:solidFill>
                <a:latin typeface="Arial"/>
                <a:cs typeface="Arial"/>
              </a:rPr>
              <a:t>weights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 rot="1980000">
            <a:off x="5678984" y="1913812"/>
            <a:ext cx="266211" cy="210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55"/>
              </a:lnSpc>
            </a:pPr>
            <a:r>
              <a:rPr sz="1400" b="1" spc="-185" dirty="0">
                <a:solidFill>
                  <a:srgbClr val="77909C"/>
                </a:solidFill>
                <a:latin typeface="Tahoma"/>
                <a:cs typeface="Tahoma"/>
              </a:rPr>
              <a:t>w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 rot="1980000">
            <a:off x="5764689" y="2090340"/>
            <a:ext cx="163257" cy="1143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900" b="1" spc="-114" dirty="0">
                <a:solidFill>
                  <a:srgbClr val="77909C"/>
                </a:solidFill>
                <a:latin typeface="Tahoma"/>
                <a:cs typeface="Tahoma"/>
              </a:rPr>
              <a:t>0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563484" y="2742803"/>
            <a:ext cx="276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77909C"/>
                </a:solidFill>
                <a:latin typeface="Tahoma"/>
                <a:cs typeface="Tahoma"/>
              </a:rPr>
              <a:t>w</a:t>
            </a:r>
            <a:r>
              <a:rPr sz="1350" b="1" spc="-37" baseline="-33950" dirty="0">
                <a:solidFill>
                  <a:srgbClr val="77909C"/>
                </a:solidFill>
                <a:latin typeface="Tahoma"/>
                <a:cs typeface="Tahoma"/>
              </a:rPr>
              <a:t>2</a:t>
            </a:r>
            <a:endParaRPr sz="1350" baseline="-3395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 rot="20700000">
            <a:off x="5547371" y="3190355"/>
            <a:ext cx="266749" cy="212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75"/>
              </a:lnSpc>
            </a:pPr>
            <a:r>
              <a:rPr sz="1400" b="1" spc="-185" dirty="0">
                <a:solidFill>
                  <a:srgbClr val="77909C"/>
                </a:solidFill>
                <a:latin typeface="Tahoma"/>
                <a:cs typeface="Tahoma"/>
              </a:rPr>
              <a:t>w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 rot="20700000">
            <a:off x="5720507" y="3295897"/>
            <a:ext cx="166183" cy="11430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900" b="1" spc="-70" dirty="0">
                <a:solidFill>
                  <a:srgbClr val="77909C"/>
                </a:solidFill>
                <a:latin typeface="Tahoma"/>
                <a:cs typeface="Tahoma"/>
              </a:rPr>
              <a:t>n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562622" y="1157332"/>
            <a:ext cx="3911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0097A7"/>
                </a:solidFill>
                <a:latin typeface="Arial"/>
                <a:cs typeface="Arial"/>
              </a:rPr>
              <a:t>sum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273164" y="2783669"/>
            <a:ext cx="3550920" cy="1456690"/>
            <a:chOff x="5273164" y="2783669"/>
            <a:chExt cx="3550920" cy="1456690"/>
          </a:xfrm>
        </p:grpSpPr>
        <p:sp>
          <p:nvSpPr>
            <p:cNvPr id="28" name="object 28"/>
            <p:cNvSpPr/>
            <p:nvPr/>
          </p:nvSpPr>
          <p:spPr>
            <a:xfrm>
              <a:off x="6973785" y="3025768"/>
              <a:ext cx="581660" cy="0"/>
            </a:xfrm>
            <a:custGeom>
              <a:avLst/>
              <a:gdLst/>
              <a:ahLst/>
              <a:cxnLst/>
              <a:rect l="l" t="t" r="r" b="b"/>
              <a:pathLst>
                <a:path w="581659">
                  <a:moveTo>
                    <a:pt x="0" y="0"/>
                  </a:moveTo>
                  <a:lnTo>
                    <a:pt x="5812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555034" y="301004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49"/>
                  </a:moveTo>
                  <a:lnTo>
                    <a:pt x="0" y="0"/>
                  </a:lnTo>
                  <a:lnTo>
                    <a:pt x="43224" y="15724"/>
                  </a:lnTo>
                  <a:lnTo>
                    <a:pt x="0" y="314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555034" y="301004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49"/>
                  </a:moveTo>
                  <a:lnTo>
                    <a:pt x="43224" y="15724"/>
                  </a:lnTo>
                  <a:lnTo>
                    <a:pt x="0" y="0"/>
                  </a:lnTo>
                  <a:lnTo>
                    <a:pt x="0" y="314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612184" y="2783669"/>
              <a:ext cx="484505" cy="484505"/>
            </a:xfrm>
            <a:custGeom>
              <a:avLst/>
              <a:gdLst/>
              <a:ahLst/>
              <a:cxnLst/>
              <a:rect l="l" t="t" r="r" b="b"/>
              <a:pathLst>
                <a:path w="484504" h="484504">
                  <a:moveTo>
                    <a:pt x="242099" y="484199"/>
                  </a:moveTo>
                  <a:lnTo>
                    <a:pt x="193310" y="479280"/>
                  </a:lnTo>
                  <a:lnTo>
                    <a:pt x="147866" y="465172"/>
                  </a:lnTo>
                  <a:lnTo>
                    <a:pt x="106742" y="442850"/>
                  </a:lnTo>
                  <a:lnTo>
                    <a:pt x="70912" y="413286"/>
                  </a:lnTo>
                  <a:lnTo>
                    <a:pt x="41348" y="377456"/>
                  </a:lnTo>
                  <a:lnTo>
                    <a:pt x="19026" y="336332"/>
                  </a:lnTo>
                  <a:lnTo>
                    <a:pt x="4918" y="290888"/>
                  </a:lnTo>
                  <a:lnTo>
                    <a:pt x="0" y="242099"/>
                  </a:lnTo>
                  <a:lnTo>
                    <a:pt x="4918" y="193310"/>
                  </a:lnTo>
                  <a:lnTo>
                    <a:pt x="19026" y="147866"/>
                  </a:lnTo>
                  <a:lnTo>
                    <a:pt x="41348" y="106742"/>
                  </a:lnTo>
                  <a:lnTo>
                    <a:pt x="70927" y="70899"/>
                  </a:lnTo>
                  <a:lnTo>
                    <a:pt x="106742" y="41348"/>
                  </a:lnTo>
                  <a:lnTo>
                    <a:pt x="147866" y="19026"/>
                  </a:lnTo>
                  <a:lnTo>
                    <a:pt x="193310" y="4918"/>
                  </a:lnTo>
                  <a:lnTo>
                    <a:pt x="242099" y="0"/>
                  </a:lnTo>
                  <a:lnTo>
                    <a:pt x="289559" y="4693"/>
                  </a:lnTo>
                  <a:lnTo>
                    <a:pt x="334758" y="18424"/>
                  </a:lnTo>
                  <a:lnTo>
                    <a:pt x="376427" y="40668"/>
                  </a:lnTo>
                  <a:lnTo>
                    <a:pt x="413309" y="70912"/>
                  </a:lnTo>
                  <a:lnTo>
                    <a:pt x="443530" y="107774"/>
                  </a:lnTo>
                  <a:lnTo>
                    <a:pt x="465774" y="149449"/>
                  </a:lnTo>
                  <a:lnTo>
                    <a:pt x="479505" y="194649"/>
                  </a:lnTo>
                  <a:lnTo>
                    <a:pt x="484199" y="242099"/>
                  </a:lnTo>
                  <a:lnTo>
                    <a:pt x="479281" y="290888"/>
                  </a:lnTo>
                  <a:lnTo>
                    <a:pt x="465176" y="336332"/>
                  </a:lnTo>
                  <a:lnTo>
                    <a:pt x="442856" y="377456"/>
                  </a:lnTo>
                  <a:lnTo>
                    <a:pt x="413296" y="413286"/>
                  </a:lnTo>
                  <a:lnTo>
                    <a:pt x="377467" y="442850"/>
                  </a:lnTo>
                  <a:lnTo>
                    <a:pt x="336342" y="465172"/>
                  </a:lnTo>
                  <a:lnTo>
                    <a:pt x="290895" y="479280"/>
                  </a:lnTo>
                  <a:lnTo>
                    <a:pt x="242099" y="484199"/>
                  </a:lnTo>
                  <a:close/>
                </a:path>
              </a:pathLst>
            </a:custGeom>
            <a:solidFill>
              <a:srgbClr val="0A2138">
                <a:alpha val="6807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096383" y="3025768"/>
              <a:ext cx="679450" cy="5715"/>
            </a:xfrm>
            <a:custGeom>
              <a:avLst/>
              <a:gdLst/>
              <a:ahLst/>
              <a:cxnLst/>
              <a:rect l="l" t="t" r="r" b="b"/>
              <a:pathLst>
                <a:path w="679450" h="5714">
                  <a:moveTo>
                    <a:pt x="0" y="0"/>
                  </a:moveTo>
                  <a:lnTo>
                    <a:pt x="679348" y="5524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775606" y="301556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74"/>
                  </a:moveTo>
                  <a:lnTo>
                    <a:pt x="249" y="0"/>
                  </a:lnTo>
                  <a:lnTo>
                    <a:pt x="43349" y="16074"/>
                  </a:lnTo>
                  <a:lnTo>
                    <a:pt x="0" y="3147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775606" y="301556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74"/>
                  </a:moveTo>
                  <a:lnTo>
                    <a:pt x="43349" y="16074"/>
                  </a:lnTo>
                  <a:lnTo>
                    <a:pt x="249" y="0"/>
                  </a:lnTo>
                  <a:lnTo>
                    <a:pt x="0" y="3147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732784" y="2907419"/>
              <a:ext cx="243204" cy="243204"/>
            </a:xfrm>
            <a:custGeom>
              <a:avLst/>
              <a:gdLst/>
              <a:ahLst/>
              <a:cxnLst/>
              <a:rect l="l" t="t" r="r" b="b"/>
              <a:pathLst>
                <a:path w="243204" h="243205">
                  <a:moveTo>
                    <a:pt x="242999" y="0"/>
                  </a:moveTo>
                  <a:lnTo>
                    <a:pt x="202657" y="10441"/>
                  </a:lnTo>
                  <a:lnTo>
                    <a:pt x="170859" y="37968"/>
                  </a:lnTo>
                  <a:lnTo>
                    <a:pt x="144755" y="76886"/>
                  </a:lnTo>
                  <a:lnTo>
                    <a:pt x="121499" y="121499"/>
                  </a:lnTo>
                  <a:lnTo>
                    <a:pt x="98243" y="166112"/>
                  </a:lnTo>
                  <a:lnTo>
                    <a:pt x="72140" y="205030"/>
                  </a:lnTo>
                  <a:lnTo>
                    <a:pt x="40341" y="232558"/>
                  </a:lnTo>
                  <a:lnTo>
                    <a:pt x="0" y="242999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282689" y="3331068"/>
              <a:ext cx="1353820" cy="899794"/>
            </a:xfrm>
            <a:custGeom>
              <a:avLst/>
              <a:gdLst/>
              <a:ahLst/>
              <a:cxnLst/>
              <a:rect l="l" t="t" r="r" b="b"/>
              <a:pathLst>
                <a:path w="1353820" h="899795">
                  <a:moveTo>
                    <a:pt x="0" y="899448"/>
                  </a:moveTo>
                  <a:lnTo>
                    <a:pt x="1353797" y="0"/>
                  </a:lnTo>
                </a:path>
              </a:pathLst>
            </a:custGeom>
            <a:ln w="19049">
              <a:solidFill>
                <a:srgbClr val="93C3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09561" y="3273693"/>
              <a:ext cx="108449" cy="93099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7453494" y="1157332"/>
            <a:ext cx="10922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0A2138"/>
                </a:solidFill>
                <a:latin typeface="Arial"/>
                <a:cs typeface="Arial"/>
              </a:rPr>
              <a:t>non-linearity</a:t>
            </a:r>
            <a:endParaRPr sz="14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 rot="19680000">
            <a:off x="5599447" y="3768957"/>
            <a:ext cx="206698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400" b="1" spc="-114" dirty="0">
                <a:solidFill>
                  <a:srgbClr val="93C37C"/>
                </a:solidFill>
                <a:latin typeface="Tahoma"/>
                <a:cs typeface="Tahoma"/>
              </a:rPr>
              <a:t>b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4782290" y="3395718"/>
            <a:ext cx="501015" cy="1076960"/>
            <a:chOff x="4782290" y="3395718"/>
            <a:chExt cx="501015" cy="1076960"/>
          </a:xfrm>
        </p:grpSpPr>
        <p:sp>
          <p:nvSpPr>
            <p:cNvPr id="41" name="object 41"/>
            <p:cNvSpPr/>
            <p:nvPr/>
          </p:nvSpPr>
          <p:spPr>
            <a:xfrm>
              <a:off x="4798490" y="3988417"/>
              <a:ext cx="484505" cy="484505"/>
            </a:xfrm>
            <a:custGeom>
              <a:avLst/>
              <a:gdLst/>
              <a:ahLst/>
              <a:cxnLst/>
              <a:rect l="l" t="t" r="r" b="b"/>
              <a:pathLst>
                <a:path w="484504" h="484504">
                  <a:moveTo>
                    <a:pt x="242099" y="484199"/>
                  </a:moveTo>
                  <a:lnTo>
                    <a:pt x="193310" y="479280"/>
                  </a:lnTo>
                  <a:lnTo>
                    <a:pt x="147866" y="465172"/>
                  </a:lnTo>
                  <a:lnTo>
                    <a:pt x="106742" y="442850"/>
                  </a:lnTo>
                  <a:lnTo>
                    <a:pt x="70912" y="413286"/>
                  </a:lnTo>
                  <a:lnTo>
                    <a:pt x="41348" y="377456"/>
                  </a:lnTo>
                  <a:lnTo>
                    <a:pt x="19026" y="336332"/>
                  </a:lnTo>
                  <a:lnTo>
                    <a:pt x="4918" y="290888"/>
                  </a:lnTo>
                  <a:lnTo>
                    <a:pt x="0" y="242099"/>
                  </a:lnTo>
                  <a:lnTo>
                    <a:pt x="4918" y="193303"/>
                  </a:lnTo>
                  <a:lnTo>
                    <a:pt x="19026" y="147856"/>
                  </a:lnTo>
                  <a:lnTo>
                    <a:pt x="41348" y="106731"/>
                  </a:lnTo>
                  <a:lnTo>
                    <a:pt x="70916" y="70899"/>
                  </a:lnTo>
                  <a:lnTo>
                    <a:pt x="106742" y="41342"/>
                  </a:lnTo>
                  <a:lnTo>
                    <a:pt x="147866" y="19023"/>
                  </a:lnTo>
                  <a:lnTo>
                    <a:pt x="193310" y="4917"/>
                  </a:lnTo>
                  <a:lnTo>
                    <a:pt x="242099" y="0"/>
                  </a:lnTo>
                  <a:lnTo>
                    <a:pt x="289559" y="4693"/>
                  </a:lnTo>
                  <a:lnTo>
                    <a:pt x="334758" y="18424"/>
                  </a:lnTo>
                  <a:lnTo>
                    <a:pt x="376427" y="40668"/>
                  </a:lnTo>
                  <a:lnTo>
                    <a:pt x="413301" y="70902"/>
                  </a:lnTo>
                  <a:lnTo>
                    <a:pt x="443530" y="107771"/>
                  </a:lnTo>
                  <a:lnTo>
                    <a:pt x="465774" y="149440"/>
                  </a:lnTo>
                  <a:lnTo>
                    <a:pt x="479505" y="194639"/>
                  </a:lnTo>
                  <a:lnTo>
                    <a:pt x="484199" y="242099"/>
                  </a:lnTo>
                  <a:lnTo>
                    <a:pt x="479281" y="290888"/>
                  </a:lnTo>
                  <a:lnTo>
                    <a:pt x="465176" y="336332"/>
                  </a:lnTo>
                  <a:lnTo>
                    <a:pt x="442856" y="377456"/>
                  </a:lnTo>
                  <a:lnTo>
                    <a:pt x="413296" y="413286"/>
                  </a:lnTo>
                  <a:lnTo>
                    <a:pt x="377467" y="442850"/>
                  </a:lnTo>
                  <a:lnTo>
                    <a:pt x="336342" y="465172"/>
                  </a:lnTo>
                  <a:lnTo>
                    <a:pt x="290895" y="479280"/>
                  </a:lnTo>
                  <a:lnTo>
                    <a:pt x="242099" y="484199"/>
                  </a:lnTo>
                  <a:close/>
                </a:path>
              </a:pathLst>
            </a:custGeom>
            <a:solidFill>
              <a:srgbClr val="93C3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782290" y="3395718"/>
              <a:ext cx="484505" cy="484505"/>
            </a:xfrm>
            <a:custGeom>
              <a:avLst/>
              <a:gdLst/>
              <a:ahLst/>
              <a:cxnLst/>
              <a:rect l="l" t="t" r="r" b="b"/>
              <a:pathLst>
                <a:path w="484504" h="484504">
                  <a:moveTo>
                    <a:pt x="242099" y="484199"/>
                  </a:moveTo>
                  <a:lnTo>
                    <a:pt x="193310" y="479280"/>
                  </a:lnTo>
                  <a:lnTo>
                    <a:pt x="147866" y="465172"/>
                  </a:lnTo>
                  <a:lnTo>
                    <a:pt x="106742" y="442850"/>
                  </a:lnTo>
                  <a:lnTo>
                    <a:pt x="70912" y="413286"/>
                  </a:lnTo>
                  <a:lnTo>
                    <a:pt x="41348" y="377456"/>
                  </a:lnTo>
                  <a:lnTo>
                    <a:pt x="19026" y="336332"/>
                  </a:lnTo>
                  <a:lnTo>
                    <a:pt x="4918" y="290888"/>
                  </a:lnTo>
                  <a:lnTo>
                    <a:pt x="0" y="242099"/>
                  </a:lnTo>
                  <a:lnTo>
                    <a:pt x="4918" y="193310"/>
                  </a:lnTo>
                  <a:lnTo>
                    <a:pt x="19026" y="147866"/>
                  </a:lnTo>
                  <a:lnTo>
                    <a:pt x="41348" y="106742"/>
                  </a:lnTo>
                  <a:lnTo>
                    <a:pt x="70927" y="70899"/>
                  </a:lnTo>
                  <a:lnTo>
                    <a:pt x="106742" y="41348"/>
                  </a:lnTo>
                  <a:lnTo>
                    <a:pt x="147866" y="19026"/>
                  </a:lnTo>
                  <a:lnTo>
                    <a:pt x="193310" y="4918"/>
                  </a:lnTo>
                  <a:lnTo>
                    <a:pt x="242099" y="0"/>
                  </a:lnTo>
                  <a:lnTo>
                    <a:pt x="289559" y="4693"/>
                  </a:lnTo>
                  <a:lnTo>
                    <a:pt x="334758" y="18424"/>
                  </a:lnTo>
                  <a:lnTo>
                    <a:pt x="376427" y="40668"/>
                  </a:lnTo>
                  <a:lnTo>
                    <a:pt x="413309" y="70912"/>
                  </a:lnTo>
                  <a:lnTo>
                    <a:pt x="443530" y="107771"/>
                  </a:lnTo>
                  <a:lnTo>
                    <a:pt x="465774" y="149440"/>
                  </a:lnTo>
                  <a:lnTo>
                    <a:pt x="479505" y="194639"/>
                  </a:lnTo>
                  <a:lnTo>
                    <a:pt x="484199" y="242099"/>
                  </a:lnTo>
                  <a:lnTo>
                    <a:pt x="479281" y="290888"/>
                  </a:lnTo>
                  <a:lnTo>
                    <a:pt x="465176" y="336332"/>
                  </a:lnTo>
                  <a:lnTo>
                    <a:pt x="442856" y="377456"/>
                  </a:lnTo>
                  <a:lnTo>
                    <a:pt x="413296" y="413286"/>
                  </a:lnTo>
                  <a:lnTo>
                    <a:pt x="377467" y="442850"/>
                  </a:lnTo>
                  <a:lnTo>
                    <a:pt x="336342" y="465172"/>
                  </a:lnTo>
                  <a:lnTo>
                    <a:pt x="290895" y="479280"/>
                  </a:lnTo>
                  <a:lnTo>
                    <a:pt x="242099" y="484199"/>
                  </a:lnTo>
                  <a:close/>
                </a:path>
              </a:pathLst>
            </a:custGeom>
            <a:solidFill>
              <a:srgbClr val="FFAA3F">
                <a:alpha val="5372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4901569" y="3513229"/>
            <a:ext cx="245745" cy="831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endParaRPr sz="1350" baseline="-30864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endParaRPr sz="900">
              <a:latin typeface="Tahoma"/>
              <a:cs typeface="Tahoma"/>
            </a:endParaRPr>
          </a:p>
          <a:p>
            <a:pPr marL="94615">
              <a:lnSpc>
                <a:spcPct val="100000"/>
              </a:lnSpc>
              <a:spcBef>
                <a:spcPts val="5"/>
              </a:spcBef>
            </a:pP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5256964" y="3194368"/>
            <a:ext cx="1287145" cy="453390"/>
            <a:chOff x="5256964" y="3194368"/>
            <a:chExt cx="1287145" cy="453390"/>
          </a:xfrm>
        </p:grpSpPr>
        <p:sp>
          <p:nvSpPr>
            <p:cNvPr id="45" name="object 45"/>
            <p:cNvSpPr/>
            <p:nvPr/>
          </p:nvSpPr>
          <p:spPr>
            <a:xfrm>
              <a:off x="5266489" y="3233693"/>
              <a:ext cx="1186180" cy="404495"/>
            </a:xfrm>
            <a:custGeom>
              <a:avLst/>
              <a:gdLst/>
              <a:ahLst/>
              <a:cxnLst/>
              <a:rect l="l" t="t" r="r" b="b"/>
              <a:pathLst>
                <a:path w="1186179" h="404495">
                  <a:moveTo>
                    <a:pt x="0" y="404124"/>
                  </a:moveTo>
                  <a:lnTo>
                    <a:pt x="1185722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32537" y="3194368"/>
              <a:ext cx="111024" cy="78624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 rot="1020000">
            <a:off x="5587121" y="2318974"/>
            <a:ext cx="266749" cy="210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55"/>
              </a:lnSpc>
            </a:pPr>
            <a:r>
              <a:rPr sz="1400" b="1" spc="-185" dirty="0">
                <a:solidFill>
                  <a:srgbClr val="77909C"/>
                </a:solidFill>
                <a:latin typeface="Tahoma"/>
                <a:cs typeface="Tahoma"/>
              </a:rPr>
              <a:t>w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8" name="object 48"/>
          <p:cNvSpPr txBox="1"/>
          <p:nvPr/>
        </p:nvSpPr>
        <p:spPr>
          <a:xfrm rot="1020000">
            <a:off x="5707044" y="2481151"/>
            <a:ext cx="164093" cy="1143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900" b="1" spc="-110" dirty="0">
                <a:solidFill>
                  <a:srgbClr val="77909C"/>
                </a:solidFill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253707" y="2742203"/>
            <a:ext cx="5784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341C75"/>
                </a:solidFill>
                <a:latin typeface="Arial"/>
                <a:cs typeface="Arial"/>
              </a:rPr>
              <a:t>output</a:t>
            </a:r>
            <a:endParaRPr sz="1400">
              <a:latin typeface="Arial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4690865" y="1145697"/>
            <a:ext cx="4142104" cy="3803650"/>
          </a:xfrm>
          <a:custGeom>
            <a:avLst/>
            <a:gdLst/>
            <a:ahLst/>
            <a:cxnLst/>
            <a:rect l="l" t="t" r="r" b="b"/>
            <a:pathLst>
              <a:path w="4142104" h="3803650">
                <a:moveTo>
                  <a:pt x="4141491" y="3803092"/>
                </a:moveTo>
                <a:lnTo>
                  <a:pt x="0" y="3803092"/>
                </a:lnTo>
                <a:lnTo>
                  <a:pt x="0" y="0"/>
                </a:lnTo>
                <a:lnTo>
                  <a:pt x="4141491" y="0"/>
                </a:lnTo>
                <a:lnTo>
                  <a:pt x="4141491" y="3803092"/>
                </a:lnTo>
                <a:close/>
              </a:path>
            </a:pathLst>
          </a:custGeom>
          <a:solidFill>
            <a:srgbClr val="FFFFFF">
              <a:alpha val="7884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5566350" y="4636610"/>
            <a:ext cx="381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b="1" spc="-20" dirty="0">
                <a:solidFill>
                  <a:srgbClr val="93C37C"/>
                </a:solidFill>
                <a:latin typeface="Arial"/>
                <a:cs typeface="Arial"/>
              </a:rPr>
              <a:t>bias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95361" y="1615796"/>
            <a:ext cx="3846829" cy="1208405"/>
            <a:chOff x="595361" y="1615796"/>
            <a:chExt cx="3846829" cy="12084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5361" y="1780546"/>
              <a:ext cx="3543292" cy="87629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789938" y="1615808"/>
              <a:ext cx="2652395" cy="1208405"/>
            </a:xfrm>
            <a:custGeom>
              <a:avLst/>
              <a:gdLst/>
              <a:ahLst/>
              <a:cxnLst/>
              <a:rect l="l" t="t" r="r" b="b"/>
              <a:pathLst>
                <a:path w="2652395" h="1208405">
                  <a:moveTo>
                    <a:pt x="396900" y="102666"/>
                  </a:moveTo>
                  <a:lnTo>
                    <a:pt x="0" y="102666"/>
                  </a:lnTo>
                  <a:lnTo>
                    <a:pt x="0" y="1138567"/>
                  </a:lnTo>
                  <a:lnTo>
                    <a:pt x="396900" y="1138567"/>
                  </a:lnTo>
                  <a:lnTo>
                    <a:pt x="396900" y="102666"/>
                  </a:lnTo>
                  <a:close/>
                </a:path>
                <a:path w="2652395" h="1208405">
                  <a:moveTo>
                    <a:pt x="2651798" y="0"/>
                  </a:moveTo>
                  <a:lnTo>
                    <a:pt x="1704098" y="0"/>
                  </a:lnTo>
                  <a:lnTo>
                    <a:pt x="1704098" y="1208087"/>
                  </a:lnTo>
                  <a:lnTo>
                    <a:pt x="2651798" y="1208087"/>
                  </a:lnTo>
                  <a:lnTo>
                    <a:pt x="26517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Perceptron</a:t>
            </a:r>
            <a:r>
              <a:rPr spc="-165" dirty="0"/>
              <a:t> </a:t>
            </a:r>
            <a:r>
              <a:rPr dirty="0"/>
              <a:t>Forward</a:t>
            </a:r>
            <a:r>
              <a:rPr spc="-165" dirty="0"/>
              <a:t> </a:t>
            </a:r>
            <a:r>
              <a:rPr spc="-20" dirty="0"/>
              <a:t>Pass</a:t>
            </a:r>
          </a:p>
        </p:txBody>
      </p:sp>
      <p:sp>
        <p:nvSpPr>
          <p:cNvPr id="6" name="object 6"/>
          <p:cNvSpPr/>
          <p:nvPr/>
        </p:nvSpPr>
        <p:spPr>
          <a:xfrm>
            <a:off x="4782286" y="1585239"/>
            <a:ext cx="516890" cy="1109345"/>
          </a:xfrm>
          <a:custGeom>
            <a:avLst/>
            <a:gdLst/>
            <a:ahLst/>
            <a:cxnLst/>
            <a:rect l="l" t="t" r="r" b="b"/>
            <a:pathLst>
              <a:path w="516889" h="1109345">
                <a:moveTo>
                  <a:pt x="500392" y="867194"/>
                </a:moveTo>
                <a:lnTo>
                  <a:pt x="495706" y="819734"/>
                </a:lnTo>
                <a:lnTo>
                  <a:pt x="481977" y="774547"/>
                </a:lnTo>
                <a:lnTo>
                  <a:pt x="459727" y="732878"/>
                </a:lnTo>
                <a:lnTo>
                  <a:pt x="429501" y="695998"/>
                </a:lnTo>
                <a:lnTo>
                  <a:pt x="392620" y="665772"/>
                </a:lnTo>
                <a:lnTo>
                  <a:pt x="350951" y="643521"/>
                </a:lnTo>
                <a:lnTo>
                  <a:pt x="305752" y="629780"/>
                </a:lnTo>
                <a:lnTo>
                  <a:pt x="258292" y="625094"/>
                </a:lnTo>
                <a:lnTo>
                  <a:pt x="209511" y="630008"/>
                </a:lnTo>
                <a:lnTo>
                  <a:pt x="164058" y="644118"/>
                </a:lnTo>
                <a:lnTo>
                  <a:pt x="122936" y="666432"/>
                </a:lnTo>
                <a:lnTo>
                  <a:pt x="87109" y="695998"/>
                </a:lnTo>
                <a:lnTo>
                  <a:pt x="57543" y="731824"/>
                </a:lnTo>
                <a:lnTo>
                  <a:pt x="35229" y="772960"/>
                </a:lnTo>
                <a:lnTo>
                  <a:pt x="21120" y="818400"/>
                </a:lnTo>
                <a:lnTo>
                  <a:pt x="16192" y="867194"/>
                </a:lnTo>
                <a:lnTo>
                  <a:pt x="21120" y="915974"/>
                </a:lnTo>
                <a:lnTo>
                  <a:pt x="35229" y="961415"/>
                </a:lnTo>
                <a:lnTo>
                  <a:pt x="57543" y="1002538"/>
                </a:lnTo>
                <a:lnTo>
                  <a:pt x="87109" y="1038377"/>
                </a:lnTo>
                <a:lnTo>
                  <a:pt x="122936" y="1067943"/>
                </a:lnTo>
                <a:lnTo>
                  <a:pt x="164058" y="1090256"/>
                </a:lnTo>
                <a:lnTo>
                  <a:pt x="209511" y="1104366"/>
                </a:lnTo>
                <a:lnTo>
                  <a:pt x="258292" y="1109281"/>
                </a:lnTo>
                <a:lnTo>
                  <a:pt x="307098" y="1104366"/>
                </a:lnTo>
                <a:lnTo>
                  <a:pt x="352539" y="1090256"/>
                </a:lnTo>
                <a:lnTo>
                  <a:pt x="393661" y="1067943"/>
                </a:lnTo>
                <a:lnTo>
                  <a:pt x="429488" y="1038377"/>
                </a:lnTo>
                <a:lnTo>
                  <a:pt x="459054" y="1002538"/>
                </a:lnTo>
                <a:lnTo>
                  <a:pt x="481368" y="961415"/>
                </a:lnTo>
                <a:lnTo>
                  <a:pt x="495477" y="915974"/>
                </a:lnTo>
                <a:lnTo>
                  <a:pt x="500392" y="867194"/>
                </a:lnTo>
                <a:close/>
              </a:path>
              <a:path w="516889" h="1109345">
                <a:moveTo>
                  <a:pt x="516597" y="258292"/>
                </a:moveTo>
                <a:lnTo>
                  <a:pt x="511594" y="207670"/>
                </a:lnTo>
                <a:lnTo>
                  <a:pt x="496938" y="159448"/>
                </a:lnTo>
                <a:lnTo>
                  <a:pt x="473202" y="114985"/>
                </a:lnTo>
                <a:lnTo>
                  <a:pt x="440944" y="75653"/>
                </a:lnTo>
                <a:lnTo>
                  <a:pt x="401599" y="43395"/>
                </a:lnTo>
                <a:lnTo>
                  <a:pt x="357136" y="19659"/>
                </a:lnTo>
                <a:lnTo>
                  <a:pt x="308927" y="5003"/>
                </a:lnTo>
                <a:lnTo>
                  <a:pt x="258292" y="0"/>
                </a:lnTo>
                <a:lnTo>
                  <a:pt x="211874" y="4152"/>
                </a:lnTo>
                <a:lnTo>
                  <a:pt x="168173" y="16154"/>
                </a:lnTo>
                <a:lnTo>
                  <a:pt x="127927" y="35255"/>
                </a:lnTo>
                <a:lnTo>
                  <a:pt x="91884" y="60744"/>
                </a:lnTo>
                <a:lnTo>
                  <a:pt x="60744" y="91871"/>
                </a:lnTo>
                <a:lnTo>
                  <a:pt x="35267" y="127927"/>
                </a:lnTo>
                <a:lnTo>
                  <a:pt x="16154" y="168160"/>
                </a:lnTo>
                <a:lnTo>
                  <a:pt x="4165" y="211861"/>
                </a:lnTo>
                <a:lnTo>
                  <a:pt x="0" y="258292"/>
                </a:lnTo>
                <a:lnTo>
                  <a:pt x="4165" y="304723"/>
                </a:lnTo>
                <a:lnTo>
                  <a:pt x="16154" y="348424"/>
                </a:lnTo>
                <a:lnTo>
                  <a:pt x="35267" y="388658"/>
                </a:lnTo>
                <a:lnTo>
                  <a:pt x="60744" y="424713"/>
                </a:lnTo>
                <a:lnTo>
                  <a:pt x="91884" y="455841"/>
                </a:lnTo>
                <a:lnTo>
                  <a:pt x="127927" y="481330"/>
                </a:lnTo>
                <a:lnTo>
                  <a:pt x="168173" y="500430"/>
                </a:lnTo>
                <a:lnTo>
                  <a:pt x="211874" y="512432"/>
                </a:lnTo>
                <a:lnTo>
                  <a:pt x="258292" y="516597"/>
                </a:lnTo>
                <a:lnTo>
                  <a:pt x="304723" y="512432"/>
                </a:lnTo>
                <a:lnTo>
                  <a:pt x="348424" y="500430"/>
                </a:lnTo>
                <a:lnTo>
                  <a:pt x="388658" y="481330"/>
                </a:lnTo>
                <a:lnTo>
                  <a:pt x="424713" y="455841"/>
                </a:lnTo>
                <a:lnTo>
                  <a:pt x="455841" y="424713"/>
                </a:lnTo>
                <a:lnTo>
                  <a:pt x="481330" y="388658"/>
                </a:lnTo>
                <a:lnTo>
                  <a:pt x="500430" y="348424"/>
                </a:lnTo>
                <a:lnTo>
                  <a:pt x="512432" y="304723"/>
                </a:lnTo>
                <a:lnTo>
                  <a:pt x="516597" y="258292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920729" y="1718938"/>
            <a:ext cx="240029" cy="847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350" baseline="-30864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40"/>
              </a:spcBef>
            </a:pPr>
            <a:endParaRPr sz="90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798490" y="2803019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10" y="479280"/>
                </a:lnTo>
                <a:lnTo>
                  <a:pt x="147866" y="465172"/>
                </a:lnTo>
                <a:lnTo>
                  <a:pt x="106742" y="442850"/>
                </a:lnTo>
                <a:lnTo>
                  <a:pt x="70912" y="413286"/>
                </a:lnTo>
                <a:lnTo>
                  <a:pt x="41348" y="377456"/>
                </a:lnTo>
                <a:lnTo>
                  <a:pt x="19026" y="336332"/>
                </a:lnTo>
                <a:lnTo>
                  <a:pt x="4918" y="290888"/>
                </a:lnTo>
                <a:lnTo>
                  <a:pt x="0" y="242099"/>
                </a:lnTo>
                <a:lnTo>
                  <a:pt x="4918" y="193310"/>
                </a:lnTo>
                <a:lnTo>
                  <a:pt x="19026" y="147866"/>
                </a:lnTo>
                <a:lnTo>
                  <a:pt x="41348" y="106742"/>
                </a:lnTo>
                <a:lnTo>
                  <a:pt x="70927" y="70899"/>
                </a:lnTo>
                <a:lnTo>
                  <a:pt x="106742" y="41348"/>
                </a:lnTo>
                <a:lnTo>
                  <a:pt x="147866" y="19026"/>
                </a:lnTo>
                <a:lnTo>
                  <a:pt x="193310" y="4918"/>
                </a:lnTo>
                <a:lnTo>
                  <a:pt x="242099" y="0"/>
                </a:lnTo>
                <a:lnTo>
                  <a:pt x="289559" y="4693"/>
                </a:lnTo>
                <a:lnTo>
                  <a:pt x="334758" y="18424"/>
                </a:lnTo>
                <a:lnTo>
                  <a:pt x="376427" y="40668"/>
                </a:lnTo>
                <a:lnTo>
                  <a:pt x="413309" y="70912"/>
                </a:lnTo>
                <a:lnTo>
                  <a:pt x="443530" y="107774"/>
                </a:lnTo>
                <a:lnTo>
                  <a:pt x="465774" y="149449"/>
                </a:lnTo>
                <a:lnTo>
                  <a:pt x="479505" y="194649"/>
                </a:lnTo>
                <a:lnTo>
                  <a:pt x="484199" y="242099"/>
                </a:lnTo>
                <a:lnTo>
                  <a:pt x="479281" y="290888"/>
                </a:lnTo>
                <a:lnTo>
                  <a:pt x="465176" y="336332"/>
                </a:lnTo>
                <a:lnTo>
                  <a:pt x="442856" y="377456"/>
                </a:lnTo>
                <a:lnTo>
                  <a:pt x="413296" y="413286"/>
                </a:lnTo>
                <a:lnTo>
                  <a:pt x="377467" y="442850"/>
                </a:lnTo>
                <a:lnTo>
                  <a:pt x="336342" y="465172"/>
                </a:lnTo>
                <a:lnTo>
                  <a:pt x="290895" y="479280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933432" y="2920528"/>
            <a:ext cx="21462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489587" y="2783669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10" y="479280"/>
                </a:lnTo>
                <a:lnTo>
                  <a:pt x="147866" y="465172"/>
                </a:lnTo>
                <a:lnTo>
                  <a:pt x="106742" y="442850"/>
                </a:lnTo>
                <a:lnTo>
                  <a:pt x="70912" y="413286"/>
                </a:lnTo>
                <a:lnTo>
                  <a:pt x="41348" y="377456"/>
                </a:lnTo>
                <a:lnTo>
                  <a:pt x="19026" y="336332"/>
                </a:lnTo>
                <a:lnTo>
                  <a:pt x="4918" y="290888"/>
                </a:lnTo>
                <a:lnTo>
                  <a:pt x="0" y="242099"/>
                </a:lnTo>
                <a:lnTo>
                  <a:pt x="4918" y="193310"/>
                </a:lnTo>
                <a:lnTo>
                  <a:pt x="19026" y="147866"/>
                </a:lnTo>
                <a:lnTo>
                  <a:pt x="41348" y="106742"/>
                </a:lnTo>
                <a:lnTo>
                  <a:pt x="70927" y="70899"/>
                </a:lnTo>
                <a:lnTo>
                  <a:pt x="106742" y="41348"/>
                </a:lnTo>
                <a:lnTo>
                  <a:pt x="147866" y="19026"/>
                </a:lnTo>
                <a:lnTo>
                  <a:pt x="193310" y="4918"/>
                </a:lnTo>
                <a:lnTo>
                  <a:pt x="242099" y="0"/>
                </a:lnTo>
                <a:lnTo>
                  <a:pt x="289559" y="4693"/>
                </a:lnTo>
                <a:lnTo>
                  <a:pt x="334758" y="18424"/>
                </a:lnTo>
                <a:lnTo>
                  <a:pt x="376427" y="40668"/>
                </a:lnTo>
                <a:lnTo>
                  <a:pt x="413309" y="70912"/>
                </a:lnTo>
                <a:lnTo>
                  <a:pt x="443530" y="107774"/>
                </a:lnTo>
                <a:lnTo>
                  <a:pt x="465774" y="149449"/>
                </a:lnTo>
                <a:lnTo>
                  <a:pt x="479505" y="194649"/>
                </a:lnTo>
                <a:lnTo>
                  <a:pt x="484199" y="242099"/>
                </a:lnTo>
                <a:lnTo>
                  <a:pt x="479281" y="290888"/>
                </a:lnTo>
                <a:lnTo>
                  <a:pt x="465176" y="336332"/>
                </a:lnTo>
                <a:lnTo>
                  <a:pt x="442856" y="377456"/>
                </a:lnTo>
                <a:lnTo>
                  <a:pt x="413296" y="413286"/>
                </a:lnTo>
                <a:lnTo>
                  <a:pt x="377467" y="442850"/>
                </a:lnTo>
                <a:lnTo>
                  <a:pt x="336342" y="465172"/>
                </a:lnTo>
                <a:lnTo>
                  <a:pt x="290895" y="479280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0097A7">
              <a:alpha val="4823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633526" y="2865814"/>
            <a:ext cx="1555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40" dirty="0">
                <a:solidFill>
                  <a:srgbClr val="FFFFFF"/>
                </a:solidFill>
                <a:latin typeface="Roboto"/>
                <a:cs typeface="Roboto"/>
              </a:rPr>
              <a:t>&gt;</a:t>
            </a:r>
            <a:endParaRPr sz="1800">
              <a:latin typeface="Roboto"/>
              <a:cs typeface="Roboto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273164" y="1834001"/>
            <a:ext cx="1445260" cy="1235075"/>
            <a:chOff x="5273164" y="1834001"/>
            <a:chExt cx="1445260" cy="1235075"/>
          </a:xfrm>
        </p:grpSpPr>
        <p:sp>
          <p:nvSpPr>
            <p:cNvPr id="13" name="object 13"/>
            <p:cNvSpPr/>
            <p:nvPr/>
          </p:nvSpPr>
          <p:spPr>
            <a:xfrm>
              <a:off x="5298889" y="1843526"/>
              <a:ext cx="1337310" cy="877569"/>
            </a:xfrm>
            <a:custGeom>
              <a:avLst/>
              <a:gdLst/>
              <a:ahLst/>
              <a:cxnLst/>
              <a:rect l="l" t="t" r="r" b="b"/>
              <a:pathLst>
                <a:path w="1337309" h="877569">
                  <a:moveTo>
                    <a:pt x="0" y="0"/>
                  </a:moveTo>
                  <a:lnTo>
                    <a:pt x="1337247" y="877493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09336" y="2685194"/>
              <a:ext cx="108599" cy="9277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282689" y="3027743"/>
              <a:ext cx="1092835" cy="17780"/>
            </a:xfrm>
            <a:custGeom>
              <a:avLst/>
              <a:gdLst/>
              <a:ahLst/>
              <a:cxnLst/>
              <a:rect l="l" t="t" r="r" b="b"/>
              <a:pathLst>
                <a:path w="1092835" h="17780">
                  <a:moveTo>
                    <a:pt x="0" y="17374"/>
                  </a:moveTo>
                  <a:lnTo>
                    <a:pt x="1092622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65286" y="2986743"/>
              <a:ext cx="105974" cy="8197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282689" y="2452422"/>
              <a:ext cx="1169035" cy="368300"/>
            </a:xfrm>
            <a:custGeom>
              <a:avLst/>
              <a:gdLst/>
              <a:ahLst/>
              <a:cxnLst/>
              <a:rect l="l" t="t" r="r" b="b"/>
              <a:pathLst>
                <a:path w="1169035" h="368300">
                  <a:moveTo>
                    <a:pt x="0" y="0"/>
                  </a:moveTo>
                  <a:lnTo>
                    <a:pt x="1168672" y="367971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32386" y="2780844"/>
              <a:ext cx="110974" cy="79099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4763896" y="1154189"/>
            <a:ext cx="5588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AA3F"/>
                </a:solidFill>
                <a:latin typeface="Arial"/>
                <a:cs typeface="Arial"/>
              </a:rPr>
              <a:t>inputs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501816" y="1154189"/>
            <a:ext cx="6877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77909C"/>
                </a:solidFill>
                <a:latin typeface="Arial"/>
                <a:cs typeface="Arial"/>
              </a:rPr>
              <a:t>weights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 rot="1980000">
            <a:off x="5678984" y="1913812"/>
            <a:ext cx="266211" cy="210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55"/>
              </a:lnSpc>
            </a:pPr>
            <a:r>
              <a:rPr sz="1400" b="1" spc="-185" dirty="0">
                <a:solidFill>
                  <a:srgbClr val="77909C"/>
                </a:solidFill>
                <a:latin typeface="Tahoma"/>
                <a:cs typeface="Tahoma"/>
              </a:rPr>
              <a:t>w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 rot="1980000">
            <a:off x="5764689" y="2090340"/>
            <a:ext cx="163257" cy="1143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900" b="1" spc="-114" dirty="0">
                <a:solidFill>
                  <a:srgbClr val="77909C"/>
                </a:solidFill>
                <a:latin typeface="Tahoma"/>
                <a:cs typeface="Tahoma"/>
              </a:rPr>
              <a:t>0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563484" y="2742803"/>
            <a:ext cx="276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77909C"/>
                </a:solidFill>
                <a:latin typeface="Tahoma"/>
                <a:cs typeface="Tahoma"/>
              </a:rPr>
              <a:t>w</a:t>
            </a:r>
            <a:r>
              <a:rPr sz="1350" b="1" spc="-37" baseline="-33950" dirty="0">
                <a:solidFill>
                  <a:srgbClr val="77909C"/>
                </a:solidFill>
                <a:latin typeface="Tahoma"/>
                <a:cs typeface="Tahoma"/>
              </a:rPr>
              <a:t>2</a:t>
            </a:r>
            <a:endParaRPr sz="1350" baseline="-3395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 rot="20700000">
            <a:off x="5547371" y="3190355"/>
            <a:ext cx="266749" cy="212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75"/>
              </a:lnSpc>
            </a:pPr>
            <a:r>
              <a:rPr sz="1400" b="1" spc="-185" dirty="0">
                <a:solidFill>
                  <a:srgbClr val="77909C"/>
                </a:solidFill>
                <a:latin typeface="Tahoma"/>
                <a:cs typeface="Tahoma"/>
              </a:rPr>
              <a:t>w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 rot="20700000">
            <a:off x="5720507" y="3295897"/>
            <a:ext cx="166183" cy="11430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900" b="1" spc="-70" dirty="0">
                <a:solidFill>
                  <a:srgbClr val="77909C"/>
                </a:solidFill>
                <a:latin typeface="Tahoma"/>
                <a:cs typeface="Tahoma"/>
              </a:rPr>
              <a:t>n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562622" y="1157332"/>
            <a:ext cx="3911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0097A7"/>
                </a:solidFill>
                <a:latin typeface="Arial"/>
                <a:cs typeface="Arial"/>
              </a:rPr>
              <a:t>sum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273164" y="2783669"/>
            <a:ext cx="3550920" cy="1456690"/>
            <a:chOff x="5273164" y="2783669"/>
            <a:chExt cx="3550920" cy="1456690"/>
          </a:xfrm>
        </p:grpSpPr>
        <p:sp>
          <p:nvSpPr>
            <p:cNvPr id="28" name="object 28"/>
            <p:cNvSpPr/>
            <p:nvPr/>
          </p:nvSpPr>
          <p:spPr>
            <a:xfrm>
              <a:off x="6973785" y="3025768"/>
              <a:ext cx="581660" cy="0"/>
            </a:xfrm>
            <a:custGeom>
              <a:avLst/>
              <a:gdLst/>
              <a:ahLst/>
              <a:cxnLst/>
              <a:rect l="l" t="t" r="r" b="b"/>
              <a:pathLst>
                <a:path w="581659">
                  <a:moveTo>
                    <a:pt x="0" y="0"/>
                  </a:moveTo>
                  <a:lnTo>
                    <a:pt x="5812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555034" y="301004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49"/>
                  </a:moveTo>
                  <a:lnTo>
                    <a:pt x="0" y="0"/>
                  </a:lnTo>
                  <a:lnTo>
                    <a:pt x="43224" y="15724"/>
                  </a:lnTo>
                  <a:lnTo>
                    <a:pt x="0" y="314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555034" y="301004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49"/>
                  </a:moveTo>
                  <a:lnTo>
                    <a:pt x="43224" y="15724"/>
                  </a:lnTo>
                  <a:lnTo>
                    <a:pt x="0" y="0"/>
                  </a:lnTo>
                  <a:lnTo>
                    <a:pt x="0" y="314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612184" y="2783669"/>
              <a:ext cx="484505" cy="484505"/>
            </a:xfrm>
            <a:custGeom>
              <a:avLst/>
              <a:gdLst/>
              <a:ahLst/>
              <a:cxnLst/>
              <a:rect l="l" t="t" r="r" b="b"/>
              <a:pathLst>
                <a:path w="484504" h="484504">
                  <a:moveTo>
                    <a:pt x="242099" y="484199"/>
                  </a:moveTo>
                  <a:lnTo>
                    <a:pt x="193310" y="479280"/>
                  </a:lnTo>
                  <a:lnTo>
                    <a:pt x="147866" y="465172"/>
                  </a:lnTo>
                  <a:lnTo>
                    <a:pt x="106742" y="442850"/>
                  </a:lnTo>
                  <a:lnTo>
                    <a:pt x="70912" y="413286"/>
                  </a:lnTo>
                  <a:lnTo>
                    <a:pt x="41348" y="377456"/>
                  </a:lnTo>
                  <a:lnTo>
                    <a:pt x="19026" y="336332"/>
                  </a:lnTo>
                  <a:lnTo>
                    <a:pt x="4918" y="290888"/>
                  </a:lnTo>
                  <a:lnTo>
                    <a:pt x="0" y="242099"/>
                  </a:lnTo>
                  <a:lnTo>
                    <a:pt x="4918" y="193310"/>
                  </a:lnTo>
                  <a:lnTo>
                    <a:pt x="19026" y="147866"/>
                  </a:lnTo>
                  <a:lnTo>
                    <a:pt x="41348" y="106742"/>
                  </a:lnTo>
                  <a:lnTo>
                    <a:pt x="70927" y="70899"/>
                  </a:lnTo>
                  <a:lnTo>
                    <a:pt x="106742" y="41348"/>
                  </a:lnTo>
                  <a:lnTo>
                    <a:pt x="147866" y="19026"/>
                  </a:lnTo>
                  <a:lnTo>
                    <a:pt x="193310" y="4918"/>
                  </a:lnTo>
                  <a:lnTo>
                    <a:pt x="242099" y="0"/>
                  </a:lnTo>
                  <a:lnTo>
                    <a:pt x="289559" y="4693"/>
                  </a:lnTo>
                  <a:lnTo>
                    <a:pt x="334758" y="18424"/>
                  </a:lnTo>
                  <a:lnTo>
                    <a:pt x="376427" y="40668"/>
                  </a:lnTo>
                  <a:lnTo>
                    <a:pt x="413309" y="70912"/>
                  </a:lnTo>
                  <a:lnTo>
                    <a:pt x="443530" y="107774"/>
                  </a:lnTo>
                  <a:lnTo>
                    <a:pt x="465774" y="149449"/>
                  </a:lnTo>
                  <a:lnTo>
                    <a:pt x="479505" y="194649"/>
                  </a:lnTo>
                  <a:lnTo>
                    <a:pt x="484199" y="242099"/>
                  </a:lnTo>
                  <a:lnTo>
                    <a:pt x="479281" y="290888"/>
                  </a:lnTo>
                  <a:lnTo>
                    <a:pt x="465176" y="336332"/>
                  </a:lnTo>
                  <a:lnTo>
                    <a:pt x="442856" y="377456"/>
                  </a:lnTo>
                  <a:lnTo>
                    <a:pt x="413296" y="413286"/>
                  </a:lnTo>
                  <a:lnTo>
                    <a:pt x="377467" y="442850"/>
                  </a:lnTo>
                  <a:lnTo>
                    <a:pt x="336342" y="465172"/>
                  </a:lnTo>
                  <a:lnTo>
                    <a:pt x="290895" y="479280"/>
                  </a:lnTo>
                  <a:lnTo>
                    <a:pt x="242099" y="484199"/>
                  </a:lnTo>
                  <a:close/>
                </a:path>
              </a:pathLst>
            </a:custGeom>
            <a:solidFill>
              <a:srgbClr val="0A2138">
                <a:alpha val="6807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096383" y="3025768"/>
              <a:ext cx="679450" cy="5715"/>
            </a:xfrm>
            <a:custGeom>
              <a:avLst/>
              <a:gdLst/>
              <a:ahLst/>
              <a:cxnLst/>
              <a:rect l="l" t="t" r="r" b="b"/>
              <a:pathLst>
                <a:path w="679450" h="5714">
                  <a:moveTo>
                    <a:pt x="0" y="0"/>
                  </a:moveTo>
                  <a:lnTo>
                    <a:pt x="679348" y="5524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775606" y="301556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74"/>
                  </a:moveTo>
                  <a:lnTo>
                    <a:pt x="249" y="0"/>
                  </a:lnTo>
                  <a:lnTo>
                    <a:pt x="43349" y="16074"/>
                  </a:lnTo>
                  <a:lnTo>
                    <a:pt x="0" y="3147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775606" y="301556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74"/>
                  </a:moveTo>
                  <a:lnTo>
                    <a:pt x="43349" y="16074"/>
                  </a:lnTo>
                  <a:lnTo>
                    <a:pt x="249" y="0"/>
                  </a:lnTo>
                  <a:lnTo>
                    <a:pt x="0" y="3147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732784" y="2907419"/>
              <a:ext cx="243204" cy="243204"/>
            </a:xfrm>
            <a:custGeom>
              <a:avLst/>
              <a:gdLst/>
              <a:ahLst/>
              <a:cxnLst/>
              <a:rect l="l" t="t" r="r" b="b"/>
              <a:pathLst>
                <a:path w="243204" h="243205">
                  <a:moveTo>
                    <a:pt x="242999" y="0"/>
                  </a:moveTo>
                  <a:lnTo>
                    <a:pt x="202657" y="10441"/>
                  </a:lnTo>
                  <a:lnTo>
                    <a:pt x="170859" y="37968"/>
                  </a:lnTo>
                  <a:lnTo>
                    <a:pt x="144755" y="76886"/>
                  </a:lnTo>
                  <a:lnTo>
                    <a:pt x="121499" y="121499"/>
                  </a:lnTo>
                  <a:lnTo>
                    <a:pt x="98243" y="166112"/>
                  </a:lnTo>
                  <a:lnTo>
                    <a:pt x="72140" y="205030"/>
                  </a:lnTo>
                  <a:lnTo>
                    <a:pt x="40341" y="232558"/>
                  </a:lnTo>
                  <a:lnTo>
                    <a:pt x="0" y="242999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282689" y="3331068"/>
              <a:ext cx="1353820" cy="899794"/>
            </a:xfrm>
            <a:custGeom>
              <a:avLst/>
              <a:gdLst/>
              <a:ahLst/>
              <a:cxnLst/>
              <a:rect l="l" t="t" r="r" b="b"/>
              <a:pathLst>
                <a:path w="1353820" h="899795">
                  <a:moveTo>
                    <a:pt x="0" y="899448"/>
                  </a:moveTo>
                  <a:lnTo>
                    <a:pt x="1353797" y="0"/>
                  </a:lnTo>
                </a:path>
              </a:pathLst>
            </a:custGeom>
            <a:ln w="19049">
              <a:solidFill>
                <a:srgbClr val="DAEDD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09561" y="3273693"/>
              <a:ext cx="108449" cy="93099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7453494" y="1157332"/>
            <a:ext cx="10922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0A2138"/>
                </a:solidFill>
                <a:latin typeface="Arial"/>
                <a:cs typeface="Arial"/>
              </a:rPr>
              <a:t>non-linearity</a:t>
            </a:r>
            <a:endParaRPr sz="14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 rot="19680000">
            <a:off x="5599447" y="3768957"/>
            <a:ext cx="206698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400" b="1" spc="-114" dirty="0">
                <a:solidFill>
                  <a:srgbClr val="DAEDD1"/>
                </a:solidFill>
                <a:latin typeface="Tahoma"/>
                <a:cs typeface="Tahoma"/>
              </a:rPr>
              <a:t>b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4782290" y="3395718"/>
            <a:ext cx="501015" cy="1076960"/>
            <a:chOff x="4782290" y="3395718"/>
            <a:chExt cx="501015" cy="1076960"/>
          </a:xfrm>
        </p:grpSpPr>
        <p:sp>
          <p:nvSpPr>
            <p:cNvPr id="41" name="object 41"/>
            <p:cNvSpPr/>
            <p:nvPr/>
          </p:nvSpPr>
          <p:spPr>
            <a:xfrm>
              <a:off x="4798490" y="3988417"/>
              <a:ext cx="484505" cy="484505"/>
            </a:xfrm>
            <a:custGeom>
              <a:avLst/>
              <a:gdLst/>
              <a:ahLst/>
              <a:cxnLst/>
              <a:rect l="l" t="t" r="r" b="b"/>
              <a:pathLst>
                <a:path w="484504" h="484504">
                  <a:moveTo>
                    <a:pt x="242099" y="484199"/>
                  </a:moveTo>
                  <a:lnTo>
                    <a:pt x="193310" y="479280"/>
                  </a:lnTo>
                  <a:lnTo>
                    <a:pt x="147866" y="465172"/>
                  </a:lnTo>
                  <a:lnTo>
                    <a:pt x="106742" y="442850"/>
                  </a:lnTo>
                  <a:lnTo>
                    <a:pt x="70912" y="413286"/>
                  </a:lnTo>
                  <a:lnTo>
                    <a:pt x="41348" y="377456"/>
                  </a:lnTo>
                  <a:lnTo>
                    <a:pt x="19026" y="336332"/>
                  </a:lnTo>
                  <a:lnTo>
                    <a:pt x="4918" y="290888"/>
                  </a:lnTo>
                  <a:lnTo>
                    <a:pt x="0" y="242099"/>
                  </a:lnTo>
                  <a:lnTo>
                    <a:pt x="4918" y="193303"/>
                  </a:lnTo>
                  <a:lnTo>
                    <a:pt x="19026" y="147856"/>
                  </a:lnTo>
                  <a:lnTo>
                    <a:pt x="41348" y="106731"/>
                  </a:lnTo>
                  <a:lnTo>
                    <a:pt x="70916" y="70899"/>
                  </a:lnTo>
                  <a:lnTo>
                    <a:pt x="106742" y="41342"/>
                  </a:lnTo>
                  <a:lnTo>
                    <a:pt x="147866" y="19023"/>
                  </a:lnTo>
                  <a:lnTo>
                    <a:pt x="193310" y="4917"/>
                  </a:lnTo>
                  <a:lnTo>
                    <a:pt x="242099" y="0"/>
                  </a:lnTo>
                  <a:lnTo>
                    <a:pt x="289559" y="4693"/>
                  </a:lnTo>
                  <a:lnTo>
                    <a:pt x="334758" y="18424"/>
                  </a:lnTo>
                  <a:lnTo>
                    <a:pt x="376427" y="40668"/>
                  </a:lnTo>
                  <a:lnTo>
                    <a:pt x="413301" y="70902"/>
                  </a:lnTo>
                  <a:lnTo>
                    <a:pt x="443530" y="107771"/>
                  </a:lnTo>
                  <a:lnTo>
                    <a:pt x="465774" y="149440"/>
                  </a:lnTo>
                  <a:lnTo>
                    <a:pt x="479505" y="194639"/>
                  </a:lnTo>
                  <a:lnTo>
                    <a:pt x="484199" y="242099"/>
                  </a:lnTo>
                  <a:lnTo>
                    <a:pt x="479281" y="290888"/>
                  </a:lnTo>
                  <a:lnTo>
                    <a:pt x="465176" y="336332"/>
                  </a:lnTo>
                  <a:lnTo>
                    <a:pt x="442856" y="377456"/>
                  </a:lnTo>
                  <a:lnTo>
                    <a:pt x="413296" y="413286"/>
                  </a:lnTo>
                  <a:lnTo>
                    <a:pt x="377467" y="442850"/>
                  </a:lnTo>
                  <a:lnTo>
                    <a:pt x="336342" y="465172"/>
                  </a:lnTo>
                  <a:lnTo>
                    <a:pt x="290895" y="479280"/>
                  </a:lnTo>
                  <a:lnTo>
                    <a:pt x="242099" y="484199"/>
                  </a:lnTo>
                  <a:close/>
                </a:path>
              </a:pathLst>
            </a:custGeom>
            <a:solidFill>
              <a:srgbClr val="93C37C">
                <a:alpha val="280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782290" y="3395718"/>
              <a:ext cx="484505" cy="484505"/>
            </a:xfrm>
            <a:custGeom>
              <a:avLst/>
              <a:gdLst/>
              <a:ahLst/>
              <a:cxnLst/>
              <a:rect l="l" t="t" r="r" b="b"/>
              <a:pathLst>
                <a:path w="484504" h="484504">
                  <a:moveTo>
                    <a:pt x="242099" y="484199"/>
                  </a:moveTo>
                  <a:lnTo>
                    <a:pt x="193310" y="479280"/>
                  </a:lnTo>
                  <a:lnTo>
                    <a:pt x="147866" y="465172"/>
                  </a:lnTo>
                  <a:lnTo>
                    <a:pt x="106742" y="442850"/>
                  </a:lnTo>
                  <a:lnTo>
                    <a:pt x="70912" y="413286"/>
                  </a:lnTo>
                  <a:lnTo>
                    <a:pt x="41348" y="377456"/>
                  </a:lnTo>
                  <a:lnTo>
                    <a:pt x="19026" y="336332"/>
                  </a:lnTo>
                  <a:lnTo>
                    <a:pt x="4918" y="290888"/>
                  </a:lnTo>
                  <a:lnTo>
                    <a:pt x="0" y="242099"/>
                  </a:lnTo>
                  <a:lnTo>
                    <a:pt x="4918" y="193310"/>
                  </a:lnTo>
                  <a:lnTo>
                    <a:pt x="19026" y="147866"/>
                  </a:lnTo>
                  <a:lnTo>
                    <a:pt x="41348" y="106742"/>
                  </a:lnTo>
                  <a:lnTo>
                    <a:pt x="70927" y="70899"/>
                  </a:lnTo>
                  <a:lnTo>
                    <a:pt x="106742" y="41348"/>
                  </a:lnTo>
                  <a:lnTo>
                    <a:pt x="147866" y="19026"/>
                  </a:lnTo>
                  <a:lnTo>
                    <a:pt x="193310" y="4918"/>
                  </a:lnTo>
                  <a:lnTo>
                    <a:pt x="242099" y="0"/>
                  </a:lnTo>
                  <a:lnTo>
                    <a:pt x="289559" y="4693"/>
                  </a:lnTo>
                  <a:lnTo>
                    <a:pt x="334758" y="18424"/>
                  </a:lnTo>
                  <a:lnTo>
                    <a:pt x="376427" y="40668"/>
                  </a:lnTo>
                  <a:lnTo>
                    <a:pt x="413309" y="70912"/>
                  </a:lnTo>
                  <a:lnTo>
                    <a:pt x="443530" y="107771"/>
                  </a:lnTo>
                  <a:lnTo>
                    <a:pt x="465774" y="149440"/>
                  </a:lnTo>
                  <a:lnTo>
                    <a:pt x="479505" y="194639"/>
                  </a:lnTo>
                  <a:lnTo>
                    <a:pt x="484199" y="242099"/>
                  </a:lnTo>
                  <a:lnTo>
                    <a:pt x="479281" y="290888"/>
                  </a:lnTo>
                  <a:lnTo>
                    <a:pt x="465176" y="336332"/>
                  </a:lnTo>
                  <a:lnTo>
                    <a:pt x="442856" y="377456"/>
                  </a:lnTo>
                  <a:lnTo>
                    <a:pt x="413296" y="413286"/>
                  </a:lnTo>
                  <a:lnTo>
                    <a:pt x="377467" y="442850"/>
                  </a:lnTo>
                  <a:lnTo>
                    <a:pt x="336342" y="465172"/>
                  </a:lnTo>
                  <a:lnTo>
                    <a:pt x="290895" y="479280"/>
                  </a:lnTo>
                  <a:lnTo>
                    <a:pt x="242099" y="484199"/>
                  </a:lnTo>
                  <a:close/>
                </a:path>
              </a:pathLst>
            </a:custGeom>
            <a:solidFill>
              <a:srgbClr val="FFAA3F">
                <a:alpha val="5372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4901569" y="3513229"/>
            <a:ext cx="245745" cy="831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endParaRPr sz="1350" baseline="-30864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endParaRPr sz="900">
              <a:latin typeface="Tahoma"/>
              <a:cs typeface="Tahoma"/>
            </a:endParaRPr>
          </a:p>
          <a:p>
            <a:pPr marL="94615">
              <a:lnSpc>
                <a:spcPct val="100000"/>
              </a:lnSpc>
              <a:spcBef>
                <a:spcPts val="5"/>
              </a:spcBef>
            </a:pP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5256964" y="3194368"/>
            <a:ext cx="1287145" cy="453390"/>
            <a:chOff x="5256964" y="3194368"/>
            <a:chExt cx="1287145" cy="453390"/>
          </a:xfrm>
        </p:grpSpPr>
        <p:sp>
          <p:nvSpPr>
            <p:cNvPr id="45" name="object 45"/>
            <p:cNvSpPr/>
            <p:nvPr/>
          </p:nvSpPr>
          <p:spPr>
            <a:xfrm>
              <a:off x="5266489" y="3233693"/>
              <a:ext cx="1186180" cy="404495"/>
            </a:xfrm>
            <a:custGeom>
              <a:avLst/>
              <a:gdLst/>
              <a:ahLst/>
              <a:cxnLst/>
              <a:rect l="l" t="t" r="r" b="b"/>
              <a:pathLst>
                <a:path w="1186179" h="404495">
                  <a:moveTo>
                    <a:pt x="0" y="404124"/>
                  </a:moveTo>
                  <a:lnTo>
                    <a:pt x="1185722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32537" y="3194368"/>
              <a:ext cx="111024" cy="78624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 rot="1020000">
            <a:off x="5587121" y="2318974"/>
            <a:ext cx="266749" cy="210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55"/>
              </a:lnSpc>
            </a:pPr>
            <a:r>
              <a:rPr sz="1400" b="1" spc="-185" dirty="0">
                <a:solidFill>
                  <a:srgbClr val="77909C"/>
                </a:solidFill>
                <a:latin typeface="Tahoma"/>
                <a:cs typeface="Tahoma"/>
              </a:rPr>
              <a:t>w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8" name="object 48"/>
          <p:cNvSpPr txBox="1"/>
          <p:nvPr/>
        </p:nvSpPr>
        <p:spPr>
          <a:xfrm rot="1020000">
            <a:off x="5707044" y="2481151"/>
            <a:ext cx="164093" cy="1143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900" b="1" spc="-110" dirty="0">
                <a:solidFill>
                  <a:srgbClr val="77909C"/>
                </a:solidFill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253707" y="2742203"/>
            <a:ext cx="5784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341C75"/>
                </a:solidFill>
                <a:latin typeface="Arial"/>
                <a:cs typeface="Arial"/>
              </a:rPr>
              <a:t>output</a:t>
            </a:r>
            <a:endParaRPr sz="1400">
              <a:latin typeface="Arial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6972761" y="1145697"/>
            <a:ext cx="1859914" cy="2852420"/>
          </a:xfrm>
          <a:custGeom>
            <a:avLst/>
            <a:gdLst/>
            <a:ahLst/>
            <a:cxnLst/>
            <a:rect l="l" t="t" r="r" b="b"/>
            <a:pathLst>
              <a:path w="1859915" h="2852420">
                <a:moveTo>
                  <a:pt x="1859696" y="2852094"/>
                </a:moveTo>
                <a:lnTo>
                  <a:pt x="0" y="2852094"/>
                </a:lnTo>
                <a:lnTo>
                  <a:pt x="0" y="0"/>
                </a:lnTo>
                <a:lnTo>
                  <a:pt x="1859696" y="0"/>
                </a:lnTo>
                <a:lnTo>
                  <a:pt x="1859696" y="2852094"/>
                </a:lnTo>
                <a:close/>
              </a:path>
            </a:pathLst>
          </a:custGeom>
          <a:solidFill>
            <a:srgbClr val="FFFFFF">
              <a:alpha val="7884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5566350" y="4636610"/>
            <a:ext cx="381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b="1" spc="-20" dirty="0">
                <a:solidFill>
                  <a:srgbClr val="93C37C"/>
                </a:solidFill>
                <a:latin typeface="Arial"/>
                <a:cs typeface="Arial"/>
              </a:rPr>
              <a:t>bias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95361" y="1718471"/>
            <a:ext cx="3751579" cy="1036319"/>
            <a:chOff x="595361" y="1718471"/>
            <a:chExt cx="3751579" cy="103631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5361" y="1780546"/>
              <a:ext cx="3543292" cy="87629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789938" y="1718474"/>
              <a:ext cx="2557145" cy="1036319"/>
            </a:xfrm>
            <a:custGeom>
              <a:avLst/>
              <a:gdLst/>
              <a:ahLst/>
              <a:cxnLst/>
              <a:rect l="l" t="t" r="r" b="b"/>
              <a:pathLst>
                <a:path w="2557145" h="1036319">
                  <a:moveTo>
                    <a:pt x="280200" y="0"/>
                  </a:moveTo>
                  <a:lnTo>
                    <a:pt x="0" y="0"/>
                  </a:lnTo>
                  <a:lnTo>
                    <a:pt x="0" y="1035900"/>
                  </a:lnTo>
                  <a:lnTo>
                    <a:pt x="280200" y="1035900"/>
                  </a:lnTo>
                  <a:lnTo>
                    <a:pt x="280200" y="0"/>
                  </a:lnTo>
                  <a:close/>
                </a:path>
                <a:path w="2557145" h="1036319">
                  <a:moveTo>
                    <a:pt x="2556675" y="227406"/>
                  </a:moveTo>
                  <a:lnTo>
                    <a:pt x="2276475" y="227406"/>
                  </a:lnTo>
                  <a:lnTo>
                    <a:pt x="2276475" y="800100"/>
                  </a:lnTo>
                  <a:lnTo>
                    <a:pt x="2556675" y="800100"/>
                  </a:lnTo>
                  <a:lnTo>
                    <a:pt x="2556675" y="22740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Perceptron</a:t>
            </a:r>
            <a:r>
              <a:rPr spc="-165" dirty="0"/>
              <a:t> </a:t>
            </a:r>
            <a:r>
              <a:rPr dirty="0"/>
              <a:t>Forward</a:t>
            </a:r>
            <a:r>
              <a:rPr spc="-165" dirty="0"/>
              <a:t> </a:t>
            </a:r>
            <a:r>
              <a:rPr spc="-20" dirty="0"/>
              <a:t>Pass</a:t>
            </a:r>
          </a:p>
        </p:txBody>
      </p:sp>
      <p:sp>
        <p:nvSpPr>
          <p:cNvPr id="6" name="object 6"/>
          <p:cNvSpPr/>
          <p:nvPr/>
        </p:nvSpPr>
        <p:spPr>
          <a:xfrm>
            <a:off x="4782286" y="1585239"/>
            <a:ext cx="516890" cy="1109345"/>
          </a:xfrm>
          <a:custGeom>
            <a:avLst/>
            <a:gdLst/>
            <a:ahLst/>
            <a:cxnLst/>
            <a:rect l="l" t="t" r="r" b="b"/>
            <a:pathLst>
              <a:path w="516889" h="1109345">
                <a:moveTo>
                  <a:pt x="500392" y="867194"/>
                </a:moveTo>
                <a:lnTo>
                  <a:pt x="495706" y="819734"/>
                </a:lnTo>
                <a:lnTo>
                  <a:pt x="481977" y="774547"/>
                </a:lnTo>
                <a:lnTo>
                  <a:pt x="459727" y="732878"/>
                </a:lnTo>
                <a:lnTo>
                  <a:pt x="429501" y="695998"/>
                </a:lnTo>
                <a:lnTo>
                  <a:pt x="392620" y="665772"/>
                </a:lnTo>
                <a:lnTo>
                  <a:pt x="350951" y="643521"/>
                </a:lnTo>
                <a:lnTo>
                  <a:pt x="305752" y="629780"/>
                </a:lnTo>
                <a:lnTo>
                  <a:pt x="258292" y="625094"/>
                </a:lnTo>
                <a:lnTo>
                  <a:pt x="209511" y="630008"/>
                </a:lnTo>
                <a:lnTo>
                  <a:pt x="164058" y="644118"/>
                </a:lnTo>
                <a:lnTo>
                  <a:pt x="122936" y="666432"/>
                </a:lnTo>
                <a:lnTo>
                  <a:pt x="87109" y="695998"/>
                </a:lnTo>
                <a:lnTo>
                  <a:pt x="57543" y="731824"/>
                </a:lnTo>
                <a:lnTo>
                  <a:pt x="35229" y="772960"/>
                </a:lnTo>
                <a:lnTo>
                  <a:pt x="21120" y="818400"/>
                </a:lnTo>
                <a:lnTo>
                  <a:pt x="16192" y="867194"/>
                </a:lnTo>
                <a:lnTo>
                  <a:pt x="21120" y="915974"/>
                </a:lnTo>
                <a:lnTo>
                  <a:pt x="35229" y="961415"/>
                </a:lnTo>
                <a:lnTo>
                  <a:pt x="57543" y="1002538"/>
                </a:lnTo>
                <a:lnTo>
                  <a:pt x="87109" y="1038377"/>
                </a:lnTo>
                <a:lnTo>
                  <a:pt x="122936" y="1067943"/>
                </a:lnTo>
                <a:lnTo>
                  <a:pt x="164058" y="1090256"/>
                </a:lnTo>
                <a:lnTo>
                  <a:pt x="209511" y="1104366"/>
                </a:lnTo>
                <a:lnTo>
                  <a:pt x="258292" y="1109281"/>
                </a:lnTo>
                <a:lnTo>
                  <a:pt x="307098" y="1104366"/>
                </a:lnTo>
                <a:lnTo>
                  <a:pt x="352539" y="1090256"/>
                </a:lnTo>
                <a:lnTo>
                  <a:pt x="393661" y="1067943"/>
                </a:lnTo>
                <a:lnTo>
                  <a:pt x="429488" y="1038377"/>
                </a:lnTo>
                <a:lnTo>
                  <a:pt x="459054" y="1002538"/>
                </a:lnTo>
                <a:lnTo>
                  <a:pt x="481368" y="961415"/>
                </a:lnTo>
                <a:lnTo>
                  <a:pt x="495477" y="915974"/>
                </a:lnTo>
                <a:lnTo>
                  <a:pt x="500392" y="867194"/>
                </a:lnTo>
                <a:close/>
              </a:path>
              <a:path w="516889" h="1109345">
                <a:moveTo>
                  <a:pt x="516597" y="258292"/>
                </a:moveTo>
                <a:lnTo>
                  <a:pt x="511594" y="207670"/>
                </a:lnTo>
                <a:lnTo>
                  <a:pt x="496938" y="159448"/>
                </a:lnTo>
                <a:lnTo>
                  <a:pt x="473202" y="114985"/>
                </a:lnTo>
                <a:lnTo>
                  <a:pt x="440944" y="75653"/>
                </a:lnTo>
                <a:lnTo>
                  <a:pt x="401599" y="43395"/>
                </a:lnTo>
                <a:lnTo>
                  <a:pt x="357136" y="19659"/>
                </a:lnTo>
                <a:lnTo>
                  <a:pt x="308927" y="5003"/>
                </a:lnTo>
                <a:lnTo>
                  <a:pt x="258292" y="0"/>
                </a:lnTo>
                <a:lnTo>
                  <a:pt x="211874" y="4152"/>
                </a:lnTo>
                <a:lnTo>
                  <a:pt x="168173" y="16154"/>
                </a:lnTo>
                <a:lnTo>
                  <a:pt x="127927" y="35255"/>
                </a:lnTo>
                <a:lnTo>
                  <a:pt x="91884" y="60744"/>
                </a:lnTo>
                <a:lnTo>
                  <a:pt x="60744" y="91871"/>
                </a:lnTo>
                <a:lnTo>
                  <a:pt x="35267" y="127927"/>
                </a:lnTo>
                <a:lnTo>
                  <a:pt x="16154" y="168160"/>
                </a:lnTo>
                <a:lnTo>
                  <a:pt x="4165" y="211861"/>
                </a:lnTo>
                <a:lnTo>
                  <a:pt x="0" y="258292"/>
                </a:lnTo>
                <a:lnTo>
                  <a:pt x="4165" y="304723"/>
                </a:lnTo>
                <a:lnTo>
                  <a:pt x="16154" y="348424"/>
                </a:lnTo>
                <a:lnTo>
                  <a:pt x="35267" y="388658"/>
                </a:lnTo>
                <a:lnTo>
                  <a:pt x="60744" y="424713"/>
                </a:lnTo>
                <a:lnTo>
                  <a:pt x="91884" y="455841"/>
                </a:lnTo>
                <a:lnTo>
                  <a:pt x="127927" y="481330"/>
                </a:lnTo>
                <a:lnTo>
                  <a:pt x="168173" y="500430"/>
                </a:lnTo>
                <a:lnTo>
                  <a:pt x="211874" y="512432"/>
                </a:lnTo>
                <a:lnTo>
                  <a:pt x="258292" y="516597"/>
                </a:lnTo>
                <a:lnTo>
                  <a:pt x="304723" y="512432"/>
                </a:lnTo>
                <a:lnTo>
                  <a:pt x="348424" y="500430"/>
                </a:lnTo>
                <a:lnTo>
                  <a:pt x="388658" y="481330"/>
                </a:lnTo>
                <a:lnTo>
                  <a:pt x="424713" y="455841"/>
                </a:lnTo>
                <a:lnTo>
                  <a:pt x="455841" y="424713"/>
                </a:lnTo>
                <a:lnTo>
                  <a:pt x="481330" y="388658"/>
                </a:lnTo>
                <a:lnTo>
                  <a:pt x="500430" y="348424"/>
                </a:lnTo>
                <a:lnTo>
                  <a:pt x="512432" y="304723"/>
                </a:lnTo>
                <a:lnTo>
                  <a:pt x="516597" y="258292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920729" y="1718938"/>
            <a:ext cx="240029" cy="847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350" baseline="-30864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40"/>
              </a:spcBef>
            </a:pPr>
            <a:endParaRPr sz="90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798490" y="2803019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10" y="479280"/>
                </a:lnTo>
                <a:lnTo>
                  <a:pt x="147866" y="465172"/>
                </a:lnTo>
                <a:lnTo>
                  <a:pt x="106742" y="442850"/>
                </a:lnTo>
                <a:lnTo>
                  <a:pt x="70912" y="413286"/>
                </a:lnTo>
                <a:lnTo>
                  <a:pt x="41348" y="377456"/>
                </a:lnTo>
                <a:lnTo>
                  <a:pt x="19026" y="336332"/>
                </a:lnTo>
                <a:lnTo>
                  <a:pt x="4918" y="290888"/>
                </a:lnTo>
                <a:lnTo>
                  <a:pt x="0" y="242099"/>
                </a:lnTo>
                <a:lnTo>
                  <a:pt x="4918" y="193310"/>
                </a:lnTo>
                <a:lnTo>
                  <a:pt x="19026" y="147866"/>
                </a:lnTo>
                <a:lnTo>
                  <a:pt x="41348" y="106742"/>
                </a:lnTo>
                <a:lnTo>
                  <a:pt x="70927" y="70899"/>
                </a:lnTo>
                <a:lnTo>
                  <a:pt x="106742" y="41348"/>
                </a:lnTo>
                <a:lnTo>
                  <a:pt x="147866" y="19026"/>
                </a:lnTo>
                <a:lnTo>
                  <a:pt x="193310" y="4918"/>
                </a:lnTo>
                <a:lnTo>
                  <a:pt x="242099" y="0"/>
                </a:lnTo>
                <a:lnTo>
                  <a:pt x="289559" y="4693"/>
                </a:lnTo>
                <a:lnTo>
                  <a:pt x="334758" y="18424"/>
                </a:lnTo>
                <a:lnTo>
                  <a:pt x="376427" y="40668"/>
                </a:lnTo>
                <a:lnTo>
                  <a:pt x="413309" y="70912"/>
                </a:lnTo>
                <a:lnTo>
                  <a:pt x="443530" y="107774"/>
                </a:lnTo>
                <a:lnTo>
                  <a:pt x="465774" y="149449"/>
                </a:lnTo>
                <a:lnTo>
                  <a:pt x="479505" y="194649"/>
                </a:lnTo>
                <a:lnTo>
                  <a:pt x="484199" y="242099"/>
                </a:lnTo>
                <a:lnTo>
                  <a:pt x="479281" y="290888"/>
                </a:lnTo>
                <a:lnTo>
                  <a:pt x="465176" y="336332"/>
                </a:lnTo>
                <a:lnTo>
                  <a:pt x="442856" y="377456"/>
                </a:lnTo>
                <a:lnTo>
                  <a:pt x="413296" y="413286"/>
                </a:lnTo>
                <a:lnTo>
                  <a:pt x="377467" y="442850"/>
                </a:lnTo>
                <a:lnTo>
                  <a:pt x="336342" y="465172"/>
                </a:lnTo>
                <a:lnTo>
                  <a:pt x="290895" y="479280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933432" y="2920528"/>
            <a:ext cx="21462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489587" y="2783669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10" y="479280"/>
                </a:lnTo>
                <a:lnTo>
                  <a:pt x="147866" y="465172"/>
                </a:lnTo>
                <a:lnTo>
                  <a:pt x="106742" y="442850"/>
                </a:lnTo>
                <a:lnTo>
                  <a:pt x="70912" y="413286"/>
                </a:lnTo>
                <a:lnTo>
                  <a:pt x="41348" y="377456"/>
                </a:lnTo>
                <a:lnTo>
                  <a:pt x="19026" y="336332"/>
                </a:lnTo>
                <a:lnTo>
                  <a:pt x="4918" y="290888"/>
                </a:lnTo>
                <a:lnTo>
                  <a:pt x="0" y="242099"/>
                </a:lnTo>
                <a:lnTo>
                  <a:pt x="4918" y="193310"/>
                </a:lnTo>
                <a:lnTo>
                  <a:pt x="19026" y="147866"/>
                </a:lnTo>
                <a:lnTo>
                  <a:pt x="41348" y="106742"/>
                </a:lnTo>
                <a:lnTo>
                  <a:pt x="70927" y="70899"/>
                </a:lnTo>
                <a:lnTo>
                  <a:pt x="106742" y="41348"/>
                </a:lnTo>
                <a:lnTo>
                  <a:pt x="147866" y="19026"/>
                </a:lnTo>
                <a:lnTo>
                  <a:pt x="193310" y="4918"/>
                </a:lnTo>
                <a:lnTo>
                  <a:pt x="242099" y="0"/>
                </a:lnTo>
                <a:lnTo>
                  <a:pt x="289559" y="4693"/>
                </a:lnTo>
                <a:lnTo>
                  <a:pt x="334758" y="18424"/>
                </a:lnTo>
                <a:lnTo>
                  <a:pt x="376427" y="40668"/>
                </a:lnTo>
                <a:lnTo>
                  <a:pt x="413309" y="70912"/>
                </a:lnTo>
                <a:lnTo>
                  <a:pt x="443530" y="107774"/>
                </a:lnTo>
                <a:lnTo>
                  <a:pt x="465774" y="149449"/>
                </a:lnTo>
                <a:lnTo>
                  <a:pt x="479505" y="194649"/>
                </a:lnTo>
                <a:lnTo>
                  <a:pt x="484199" y="242099"/>
                </a:lnTo>
                <a:lnTo>
                  <a:pt x="479281" y="290888"/>
                </a:lnTo>
                <a:lnTo>
                  <a:pt x="465176" y="336332"/>
                </a:lnTo>
                <a:lnTo>
                  <a:pt x="442856" y="377456"/>
                </a:lnTo>
                <a:lnTo>
                  <a:pt x="413296" y="413286"/>
                </a:lnTo>
                <a:lnTo>
                  <a:pt x="377467" y="442850"/>
                </a:lnTo>
                <a:lnTo>
                  <a:pt x="336342" y="465172"/>
                </a:lnTo>
                <a:lnTo>
                  <a:pt x="290895" y="479280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0097A7">
              <a:alpha val="4823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633526" y="2865814"/>
            <a:ext cx="1555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40" dirty="0">
                <a:solidFill>
                  <a:srgbClr val="FFFFFF"/>
                </a:solidFill>
                <a:latin typeface="Roboto"/>
                <a:cs typeface="Roboto"/>
              </a:rPr>
              <a:t>&gt;</a:t>
            </a:r>
            <a:endParaRPr sz="1800">
              <a:latin typeface="Roboto"/>
              <a:cs typeface="Roboto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273164" y="1834001"/>
            <a:ext cx="1445260" cy="1235075"/>
            <a:chOff x="5273164" y="1834001"/>
            <a:chExt cx="1445260" cy="1235075"/>
          </a:xfrm>
        </p:grpSpPr>
        <p:sp>
          <p:nvSpPr>
            <p:cNvPr id="13" name="object 13"/>
            <p:cNvSpPr/>
            <p:nvPr/>
          </p:nvSpPr>
          <p:spPr>
            <a:xfrm>
              <a:off x="5298889" y="1843526"/>
              <a:ext cx="1337310" cy="877569"/>
            </a:xfrm>
            <a:custGeom>
              <a:avLst/>
              <a:gdLst/>
              <a:ahLst/>
              <a:cxnLst/>
              <a:rect l="l" t="t" r="r" b="b"/>
              <a:pathLst>
                <a:path w="1337309" h="877569">
                  <a:moveTo>
                    <a:pt x="0" y="0"/>
                  </a:moveTo>
                  <a:lnTo>
                    <a:pt x="1337247" y="877493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09336" y="2685194"/>
              <a:ext cx="108599" cy="9277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282689" y="3027743"/>
              <a:ext cx="1092835" cy="17780"/>
            </a:xfrm>
            <a:custGeom>
              <a:avLst/>
              <a:gdLst/>
              <a:ahLst/>
              <a:cxnLst/>
              <a:rect l="l" t="t" r="r" b="b"/>
              <a:pathLst>
                <a:path w="1092835" h="17780">
                  <a:moveTo>
                    <a:pt x="0" y="17374"/>
                  </a:moveTo>
                  <a:lnTo>
                    <a:pt x="1092622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65286" y="2986743"/>
              <a:ext cx="105974" cy="8197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282689" y="2452422"/>
              <a:ext cx="1169035" cy="368300"/>
            </a:xfrm>
            <a:custGeom>
              <a:avLst/>
              <a:gdLst/>
              <a:ahLst/>
              <a:cxnLst/>
              <a:rect l="l" t="t" r="r" b="b"/>
              <a:pathLst>
                <a:path w="1169035" h="368300">
                  <a:moveTo>
                    <a:pt x="0" y="0"/>
                  </a:moveTo>
                  <a:lnTo>
                    <a:pt x="1168672" y="367971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32386" y="2780844"/>
              <a:ext cx="110974" cy="79099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4763896" y="1154189"/>
            <a:ext cx="5588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AA3F"/>
                </a:solidFill>
                <a:latin typeface="Arial"/>
                <a:cs typeface="Arial"/>
              </a:rPr>
              <a:t>inputs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501816" y="1154189"/>
            <a:ext cx="6877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77909C"/>
                </a:solidFill>
                <a:latin typeface="Arial"/>
                <a:cs typeface="Arial"/>
              </a:rPr>
              <a:t>weights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 rot="1980000">
            <a:off x="5678984" y="1913812"/>
            <a:ext cx="266211" cy="210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55"/>
              </a:lnSpc>
            </a:pPr>
            <a:r>
              <a:rPr sz="1400" b="1" spc="-185" dirty="0">
                <a:solidFill>
                  <a:srgbClr val="77909C"/>
                </a:solidFill>
                <a:latin typeface="Tahoma"/>
                <a:cs typeface="Tahoma"/>
              </a:rPr>
              <a:t>w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 rot="1980000">
            <a:off x="5764689" y="2090340"/>
            <a:ext cx="163257" cy="1143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900" b="1" spc="-114" dirty="0">
                <a:solidFill>
                  <a:srgbClr val="77909C"/>
                </a:solidFill>
                <a:latin typeface="Tahoma"/>
                <a:cs typeface="Tahoma"/>
              </a:rPr>
              <a:t>0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563484" y="2742803"/>
            <a:ext cx="276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77909C"/>
                </a:solidFill>
                <a:latin typeface="Tahoma"/>
                <a:cs typeface="Tahoma"/>
              </a:rPr>
              <a:t>w</a:t>
            </a:r>
            <a:r>
              <a:rPr sz="1350" b="1" spc="-37" baseline="-33950" dirty="0">
                <a:solidFill>
                  <a:srgbClr val="77909C"/>
                </a:solidFill>
                <a:latin typeface="Tahoma"/>
                <a:cs typeface="Tahoma"/>
              </a:rPr>
              <a:t>2</a:t>
            </a:r>
            <a:endParaRPr sz="1350" baseline="-3395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 rot="20700000">
            <a:off x="5547371" y="3190355"/>
            <a:ext cx="266749" cy="212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75"/>
              </a:lnSpc>
            </a:pPr>
            <a:r>
              <a:rPr sz="1400" b="1" spc="-185" dirty="0">
                <a:solidFill>
                  <a:srgbClr val="77909C"/>
                </a:solidFill>
                <a:latin typeface="Tahoma"/>
                <a:cs typeface="Tahoma"/>
              </a:rPr>
              <a:t>w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 rot="20700000">
            <a:off x="5720507" y="3295897"/>
            <a:ext cx="166183" cy="11430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900" b="1" spc="-70" dirty="0">
                <a:solidFill>
                  <a:srgbClr val="77909C"/>
                </a:solidFill>
                <a:latin typeface="Tahoma"/>
                <a:cs typeface="Tahoma"/>
              </a:rPr>
              <a:t>n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562622" y="1157332"/>
            <a:ext cx="3911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0097A7"/>
                </a:solidFill>
                <a:latin typeface="Arial"/>
                <a:cs typeface="Arial"/>
              </a:rPr>
              <a:t>sum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273164" y="2783669"/>
            <a:ext cx="3550920" cy="1456690"/>
            <a:chOff x="5273164" y="2783669"/>
            <a:chExt cx="3550920" cy="1456690"/>
          </a:xfrm>
        </p:grpSpPr>
        <p:sp>
          <p:nvSpPr>
            <p:cNvPr id="28" name="object 28"/>
            <p:cNvSpPr/>
            <p:nvPr/>
          </p:nvSpPr>
          <p:spPr>
            <a:xfrm>
              <a:off x="6973785" y="3025768"/>
              <a:ext cx="581660" cy="0"/>
            </a:xfrm>
            <a:custGeom>
              <a:avLst/>
              <a:gdLst/>
              <a:ahLst/>
              <a:cxnLst/>
              <a:rect l="l" t="t" r="r" b="b"/>
              <a:pathLst>
                <a:path w="581659">
                  <a:moveTo>
                    <a:pt x="0" y="0"/>
                  </a:moveTo>
                  <a:lnTo>
                    <a:pt x="5812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555034" y="301004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49"/>
                  </a:moveTo>
                  <a:lnTo>
                    <a:pt x="0" y="0"/>
                  </a:lnTo>
                  <a:lnTo>
                    <a:pt x="43224" y="15724"/>
                  </a:lnTo>
                  <a:lnTo>
                    <a:pt x="0" y="314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555034" y="301004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49"/>
                  </a:moveTo>
                  <a:lnTo>
                    <a:pt x="43224" y="15724"/>
                  </a:lnTo>
                  <a:lnTo>
                    <a:pt x="0" y="0"/>
                  </a:lnTo>
                  <a:lnTo>
                    <a:pt x="0" y="314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612184" y="2783669"/>
              <a:ext cx="484505" cy="484505"/>
            </a:xfrm>
            <a:custGeom>
              <a:avLst/>
              <a:gdLst/>
              <a:ahLst/>
              <a:cxnLst/>
              <a:rect l="l" t="t" r="r" b="b"/>
              <a:pathLst>
                <a:path w="484504" h="484504">
                  <a:moveTo>
                    <a:pt x="242099" y="484199"/>
                  </a:moveTo>
                  <a:lnTo>
                    <a:pt x="193310" y="479280"/>
                  </a:lnTo>
                  <a:lnTo>
                    <a:pt x="147866" y="465172"/>
                  </a:lnTo>
                  <a:lnTo>
                    <a:pt x="106742" y="442850"/>
                  </a:lnTo>
                  <a:lnTo>
                    <a:pt x="70912" y="413286"/>
                  </a:lnTo>
                  <a:lnTo>
                    <a:pt x="41348" y="377456"/>
                  </a:lnTo>
                  <a:lnTo>
                    <a:pt x="19026" y="336332"/>
                  </a:lnTo>
                  <a:lnTo>
                    <a:pt x="4918" y="290888"/>
                  </a:lnTo>
                  <a:lnTo>
                    <a:pt x="0" y="242099"/>
                  </a:lnTo>
                  <a:lnTo>
                    <a:pt x="4918" y="193310"/>
                  </a:lnTo>
                  <a:lnTo>
                    <a:pt x="19026" y="147866"/>
                  </a:lnTo>
                  <a:lnTo>
                    <a:pt x="41348" y="106742"/>
                  </a:lnTo>
                  <a:lnTo>
                    <a:pt x="70927" y="70899"/>
                  </a:lnTo>
                  <a:lnTo>
                    <a:pt x="106742" y="41348"/>
                  </a:lnTo>
                  <a:lnTo>
                    <a:pt x="147866" y="19026"/>
                  </a:lnTo>
                  <a:lnTo>
                    <a:pt x="193310" y="4918"/>
                  </a:lnTo>
                  <a:lnTo>
                    <a:pt x="242099" y="0"/>
                  </a:lnTo>
                  <a:lnTo>
                    <a:pt x="289559" y="4693"/>
                  </a:lnTo>
                  <a:lnTo>
                    <a:pt x="334758" y="18424"/>
                  </a:lnTo>
                  <a:lnTo>
                    <a:pt x="376427" y="40668"/>
                  </a:lnTo>
                  <a:lnTo>
                    <a:pt x="413309" y="70912"/>
                  </a:lnTo>
                  <a:lnTo>
                    <a:pt x="443530" y="107774"/>
                  </a:lnTo>
                  <a:lnTo>
                    <a:pt x="465774" y="149449"/>
                  </a:lnTo>
                  <a:lnTo>
                    <a:pt x="479505" y="194649"/>
                  </a:lnTo>
                  <a:lnTo>
                    <a:pt x="484199" y="242099"/>
                  </a:lnTo>
                  <a:lnTo>
                    <a:pt x="479281" y="290888"/>
                  </a:lnTo>
                  <a:lnTo>
                    <a:pt x="465176" y="336332"/>
                  </a:lnTo>
                  <a:lnTo>
                    <a:pt x="442856" y="377456"/>
                  </a:lnTo>
                  <a:lnTo>
                    <a:pt x="413296" y="413286"/>
                  </a:lnTo>
                  <a:lnTo>
                    <a:pt x="377467" y="442850"/>
                  </a:lnTo>
                  <a:lnTo>
                    <a:pt x="336342" y="465172"/>
                  </a:lnTo>
                  <a:lnTo>
                    <a:pt x="290895" y="479280"/>
                  </a:lnTo>
                  <a:lnTo>
                    <a:pt x="242099" y="484199"/>
                  </a:lnTo>
                  <a:close/>
                </a:path>
              </a:pathLst>
            </a:custGeom>
            <a:solidFill>
              <a:srgbClr val="0A2138">
                <a:alpha val="6807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096383" y="3025768"/>
              <a:ext cx="679450" cy="5715"/>
            </a:xfrm>
            <a:custGeom>
              <a:avLst/>
              <a:gdLst/>
              <a:ahLst/>
              <a:cxnLst/>
              <a:rect l="l" t="t" r="r" b="b"/>
              <a:pathLst>
                <a:path w="679450" h="5714">
                  <a:moveTo>
                    <a:pt x="0" y="0"/>
                  </a:moveTo>
                  <a:lnTo>
                    <a:pt x="679348" y="5524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775606" y="301556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74"/>
                  </a:moveTo>
                  <a:lnTo>
                    <a:pt x="249" y="0"/>
                  </a:lnTo>
                  <a:lnTo>
                    <a:pt x="43349" y="16074"/>
                  </a:lnTo>
                  <a:lnTo>
                    <a:pt x="0" y="3147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775606" y="301556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74"/>
                  </a:moveTo>
                  <a:lnTo>
                    <a:pt x="43349" y="16074"/>
                  </a:lnTo>
                  <a:lnTo>
                    <a:pt x="249" y="0"/>
                  </a:lnTo>
                  <a:lnTo>
                    <a:pt x="0" y="3147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732784" y="2907419"/>
              <a:ext cx="243204" cy="243204"/>
            </a:xfrm>
            <a:custGeom>
              <a:avLst/>
              <a:gdLst/>
              <a:ahLst/>
              <a:cxnLst/>
              <a:rect l="l" t="t" r="r" b="b"/>
              <a:pathLst>
                <a:path w="243204" h="243205">
                  <a:moveTo>
                    <a:pt x="242999" y="0"/>
                  </a:moveTo>
                  <a:lnTo>
                    <a:pt x="202657" y="10441"/>
                  </a:lnTo>
                  <a:lnTo>
                    <a:pt x="170859" y="37968"/>
                  </a:lnTo>
                  <a:lnTo>
                    <a:pt x="144755" y="76886"/>
                  </a:lnTo>
                  <a:lnTo>
                    <a:pt x="121499" y="121499"/>
                  </a:lnTo>
                  <a:lnTo>
                    <a:pt x="98243" y="166112"/>
                  </a:lnTo>
                  <a:lnTo>
                    <a:pt x="72140" y="205030"/>
                  </a:lnTo>
                  <a:lnTo>
                    <a:pt x="40341" y="232558"/>
                  </a:lnTo>
                  <a:lnTo>
                    <a:pt x="0" y="242999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282689" y="3331068"/>
              <a:ext cx="1353820" cy="899794"/>
            </a:xfrm>
            <a:custGeom>
              <a:avLst/>
              <a:gdLst/>
              <a:ahLst/>
              <a:cxnLst/>
              <a:rect l="l" t="t" r="r" b="b"/>
              <a:pathLst>
                <a:path w="1353820" h="899795">
                  <a:moveTo>
                    <a:pt x="0" y="899448"/>
                  </a:moveTo>
                  <a:lnTo>
                    <a:pt x="1353797" y="0"/>
                  </a:lnTo>
                </a:path>
              </a:pathLst>
            </a:custGeom>
            <a:ln w="19049">
              <a:solidFill>
                <a:srgbClr val="93C3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09561" y="3273693"/>
              <a:ext cx="108449" cy="93099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7453494" y="1157332"/>
            <a:ext cx="10922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0A2138"/>
                </a:solidFill>
                <a:latin typeface="Arial"/>
                <a:cs typeface="Arial"/>
              </a:rPr>
              <a:t>non-linearity</a:t>
            </a:r>
            <a:endParaRPr sz="14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 rot="19680000">
            <a:off x="5599447" y="3768957"/>
            <a:ext cx="206698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400" b="1" spc="-114" dirty="0">
                <a:solidFill>
                  <a:srgbClr val="93C37C"/>
                </a:solidFill>
                <a:latin typeface="Tahoma"/>
                <a:cs typeface="Tahoma"/>
              </a:rPr>
              <a:t>b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4782290" y="3395718"/>
            <a:ext cx="501015" cy="1076960"/>
            <a:chOff x="4782290" y="3395718"/>
            <a:chExt cx="501015" cy="1076960"/>
          </a:xfrm>
        </p:grpSpPr>
        <p:sp>
          <p:nvSpPr>
            <p:cNvPr id="41" name="object 41"/>
            <p:cNvSpPr/>
            <p:nvPr/>
          </p:nvSpPr>
          <p:spPr>
            <a:xfrm>
              <a:off x="4798490" y="3988417"/>
              <a:ext cx="484505" cy="484505"/>
            </a:xfrm>
            <a:custGeom>
              <a:avLst/>
              <a:gdLst/>
              <a:ahLst/>
              <a:cxnLst/>
              <a:rect l="l" t="t" r="r" b="b"/>
              <a:pathLst>
                <a:path w="484504" h="484504">
                  <a:moveTo>
                    <a:pt x="242099" y="484199"/>
                  </a:moveTo>
                  <a:lnTo>
                    <a:pt x="193310" y="479280"/>
                  </a:lnTo>
                  <a:lnTo>
                    <a:pt x="147866" y="465172"/>
                  </a:lnTo>
                  <a:lnTo>
                    <a:pt x="106742" y="442850"/>
                  </a:lnTo>
                  <a:lnTo>
                    <a:pt x="70912" y="413286"/>
                  </a:lnTo>
                  <a:lnTo>
                    <a:pt x="41348" y="377456"/>
                  </a:lnTo>
                  <a:lnTo>
                    <a:pt x="19026" y="336332"/>
                  </a:lnTo>
                  <a:lnTo>
                    <a:pt x="4918" y="290888"/>
                  </a:lnTo>
                  <a:lnTo>
                    <a:pt x="0" y="242099"/>
                  </a:lnTo>
                  <a:lnTo>
                    <a:pt x="4918" y="193303"/>
                  </a:lnTo>
                  <a:lnTo>
                    <a:pt x="19026" y="147856"/>
                  </a:lnTo>
                  <a:lnTo>
                    <a:pt x="41348" y="106731"/>
                  </a:lnTo>
                  <a:lnTo>
                    <a:pt x="70916" y="70899"/>
                  </a:lnTo>
                  <a:lnTo>
                    <a:pt x="106742" y="41342"/>
                  </a:lnTo>
                  <a:lnTo>
                    <a:pt x="147866" y="19023"/>
                  </a:lnTo>
                  <a:lnTo>
                    <a:pt x="193310" y="4917"/>
                  </a:lnTo>
                  <a:lnTo>
                    <a:pt x="242099" y="0"/>
                  </a:lnTo>
                  <a:lnTo>
                    <a:pt x="289559" y="4693"/>
                  </a:lnTo>
                  <a:lnTo>
                    <a:pt x="334758" y="18424"/>
                  </a:lnTo>
                  <a:lnTo>
                    <a:pt x="376427" y="40668"/>
                  </a:lnTo>
                  <a:lnTo>
                    <a:pt x="413301" y="70902"/>
                  </a:lnTo>
                  <a:lnTo>
                    <a:pt x="443530" y="107771"/>
                  </a:lnTo>
                  <a:lnTo>
                    <a:pt x="465774" y="149440"/>
                  </a:lnTo>
                  <a:lnTo>
                    <a:pt x="479505" y="194639"/>
                  </a:lnTo>
                  <a:lnTo>
                    <a:pt x="484199" y="242099"/>
                  </a:lnTo>
                  <a:lnTo>
                    <a:pt x="479281" y="290888"/>
                  </a:lnTo>
                  <a:lnTo>
                    <a:pt x="465176" y="336332"/>
                  </a:lnTo>
                  <a:lnTo>
                    <a:pt x="442856" y="377456"/>
                  </a:lnTo>
                  <a:lnTo>
                    <a:pt x="413296" y="413286"/>
                  </a:lnTo>
                  <a:lnTo>
                    <a:pt x="377467" y="442850"/>
                  </a:lnTo>
                  <a:lnTo>
                    <a:pt x="336342" y="465172"/>
                  </a:lnTo>
                  <a:lnTo>
                    <a:pt x="290895" y="479280"/>
                  </a:lnTo>
                  <a:lnTo>
                    <a:pt x="242099" y="484199"/>
                  </a:lnTo>
                  <a:close/>
                </a:path>
              </a:pathLst>
            </a:custGeom>
            <a:solidFill>
              <a:srgbClr val="93C3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782290" y="3395718"/>
              <a:ext cx="484505" cy="484505"/>
            </a:xfrm>
            <a:custGeom>
              <a:avLst/>
              <a:gdLst/>
              <a:ahLst/>
              <a:cxnLst/>
              <a:rect l="l" t="t" r="r" b="b"/>
              <a:pathLst>
                <a:path w="484504" h="484504">
                  <a:moveTo>
                    <a:pt x="242099" y="484199"/>
                  </a:moveTo>
                  <a:lnTo>
                    <a:pt x="193310" y="479280"/>
                  </a:lnTo>
                  <a:lnTo>
                    <a:pt x="147866" y="465172"/>
                  </a:lnTo>
                  <a:lnTo>
                    <a:pt x="106742" y="442850"/>
                  </a:lnTo>
                  <a:lnTo>
                    <a:pt x="70912" y="413286"/>
                  </a:lnTo>
                  <a:lnTo>
                    <a:pt x="41348" y="377456"/>
                  </a:lnTo>
                  <a:lnTo>
                    <a:pt x="19026" y="336332"/>
                  </a:lnTo>
                  <a:lnTo>
                    <a:pt x="4918" y="290888"/>
                  </a:lnTo>
                  <a:lnTo>
                    <a:pt x="0" y="242099"/>
                  </a:lnTo>
                  <a:lnTo>
                    <a:pt x="4918" y="193310"/>
                  </a:lnTo>
                  <a:lnTo>
                    <a:pt x="19026" y="147866"/>
                  </a:lnTo>
                  <a:lnTo>
                    <a:pt x="41348" y="106742"/>
                  </a:lnTo>
                  <a:lnTo>
                    <a:pt x="70927" y="70899"/>
                  </a:lnTo>
                  <a:lnTo>
                    <a:pt x="106742" y="41348"/>
                  </a:lnTo>
                  <a:lnTo>
                    <a:pt x="147866" y="19026"/>
                  </a:lnTo>
                  <a:lnTo>
                    <a:pt x="193310" y="4918"/>
                  </a:lnTo>
                  <a:lnTo>
                    <a:pt x="242099" y="0"/>
                  </a:lnTo>
                  <a:lnTo>
                    <a:pt x="289559" y="4693"/>
                  </a:lnTo>
                  <a:lnTo>
                    <a:pt x="334758" y="18424"/>
                  </a:lnTo>
                  <a:lnTo>
                    <a:pt x="376427" y="40668"/>
                  </a:lnTo>
                  <a:lnTo>
                    <a:pt x="413309" y="70912"/>
                  </a:lnTo>
                  <a:lnTo>
                    <a:pt x="443530" y="107771"/>
                  </a:lnTo>
                  <a:lnTo>
                    <a:pt x="465774" y="149440"/>
                  </a:lnTo>
                  <a:lnTo>
                    <a:pt x="479505" y="194639"/>
                  </a:lnTo>
                  <a:lnTo>
                    <a:pt x="484199" y="242099"/>
                  </a:lnTo>
                  <a:lnTo>
                    <a:pt x="479281" y="290888"/>
                  </a:lnTo>
                  <a:lnTo>
                    <a:pt x="465176" y="336332"/>
                  </a:lnTo>
                  <a:lnTo>
                    <a:pt x="442856" y="377456"/>
                  </a:lnTo>
                  <a:lnTo>
                    <a:pt x="413296" y="413286"/>
                  </a:lnTo>
                  <a:lnTo>
                    <a:pt x="377467" y="442850"/>
                  </a:lnTo>
                  <a:lnTo>
                    <a:pt x="336342" y="465172"/>
                  </a:lnTo>
                  <a:lnTo>
                    <a:pt x="290895" y="479280"/>
                  </a:lnTo>
                  <a:lnTo>
                    <a:pt x="242099" y="484199"/>
                  </a:lnTo>
                  <a:close/>
                </a:path>
              </a:pathLst>
            </a:custGeom>
            <a:solidFill>
              <a:srgbClr val="FFAA3F">
                <a:alpha val="5372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4901569" y="3513229"/>
            <a:ext cx="245745" cy="831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endParaRPr sz="1350" baseline="-30864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endParaRPr sz="900">
              <a:latin typeface="Tahoma"/>
              <a:cs typeface="Tahoma"/>
            </a:endParaRPr>
          </a:p>
          <a:p>
            <a:pPr marL="94615">
              <a:lnSpc>
                <a:spcPct val="100000"/>
              </a:lnSpc>
              <a:spcBef>
                <a:spcPts val="5"/>
              </a:spcBef>
            </a:pP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5256964" y="3194368"/>
            <a:ext cx="1287145" cy="453390"/>
            <a:chOff x="5256964" y="3194368"/>
            <a:chExt cx="1287145" cy="453390"/>
          </a:xfrm>
        </p:grpSpPr>
        <p:sp>
          <p:nvSpPr>
            <p:cNvPr id="45" name="object 45"/>
            <p:cNvSpPr/>
            <p:nvPr/>
          </p:nvSpPr>
          <p:spPr>
            <a:xfrm>
              <a:off x="5266489" y="3233693"/>
              <a:ext cx="1186180" cy="404495"/>
            </a:xfrm>
            <a:custGeom>
              <a:avLst/>
              <a:gdLst/>
              <a:ahLst/>
              <a:cxnLst/>
              <a:rect l="l" t="t" r="r" b="b"/>
              <a:pathLst>
                <a:path w="1186179" h="404495">
                  <a:moveTo>
                    <a:pt x="0" y="404124"/>
                  </a:moveTo>
                  <a:lnTo>
                    <a:pt x="1185722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32537" y="3194368"/>
              <a:ext cx="111024" cy="78624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 rot="1020000">
            <a:off x="5587121" y="2318974"/>
            <a:ext cx="266749" cy="210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55"/>
              </a:lnSpc>
            </a:pPr>
            <a:r>
              <a:rPr sz="1400" b="1" spc="-185" dirty="0">
                <a:solidFill>
                  <a:srgbClr val="77909C"/>
                </a:solidFill>
                <a:latin typeface="Tahoma"/>
                <a:cs typeface="Tahoma"/>
              </a:rPr>
              <a:t>w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8" name="object 48"/>
          <p:cNvSpPr txBox="1"/>
          <p:nvPr/>
        </p:nvSpPr>
        <p:spPr>
          <a:xfrm rot="1020000">
            <a:off x="5707044" y="2481151"/>
            <a:ext cx="164093" cy="1143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900" b="1" spc="-110" dirty="0">
                <a:solidFill>
                  <a:srgbClr val="77909C"/>
                </a:solidFill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253707" y="2742203"/>
            <a:ext cx="5784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341C75"/>
                </a:solidFill>
                <a:latin typeface="Arial"/>
                <a:cs typeface="Arial"/>
              </a:rPr>
              <a:t>output</a:t>
            </a:r>
            <a:endParaRPr sz="1400">
              <a:latin typeface="Arial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6972761" y="1145697"/>
            <a:ext cx="1859914" cy="2852420"/>
          </a:xfrm>
          <a:custGeom>
            <a:avLst/>
            <a:gdLst/>
            <a:ahLst/>
            <a:cxnLst/>
            <a:rect l="l" t="t" r="r" b="b"/>
            <a:pathLst>
              <a:path w="1859915" h="2852420">
                <a:moveTo>
                  <a:pt x="1859696" y="2852094"/>
                </a:moveTo>
                <a:lnTo>
                  <a:pt x="0" y="2852094"/>
                </a:lnTo>
                <a:lnTo>
                  <a:pt x="0" y="0"/>
                </a:lnTo>
                <a:lnTo>
                  <a:pt x="1859696" y="0"/>
                </a:lnTo>
                <a:lnTo>
                  <a:pt x="1859696" y="2852094"/>
                </a:lnTo>
                <a:close/>
              </a:path>
            </a:pathLst>
          </a:custGeom>
          <a:solidFill>
            <a:srgbClr val="FFFFFF">
              <a:alpha val="7884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5566350" y="4636610"/>
            <a:ext cx="381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b="1" spc="-20" dirty="0">
                <a:solidFill>
                  <a:srgbClr val="93C37C"/>
                </a:solidFill>
                <a:latin typeface="Arial"/>
                <a:cs typeface="Arial"/>
              </a:rPr>
              <a:t>bias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5361" y="1780546"/>
            <a:ext cx="3543292" cy="8762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Perceptron</a:t>
            </a:r>
            <a:r>
              <a:rPr spc="-165" dirty="0"/>
              <a:t> </a:t>
            </a:r>
            <a:r>
              <a:rPr dirty="0"/>
              <a:t>Forward</a:t>
            </a:r>
            <a:r>
              <a:rPr spc="-165" dirty="0"/>
              <a:t> </a:t>
            </a:r>
            <a:r>
              <a:rPr spc="-20" dirty="0"/>
              <a:t>Pass</a:t>
            </a:r>
          </a:p>
        </p:txBody>
      </p:sp>
      <p:sp>
        <p:nvSpPr>
          <p:cNvPr id="4" name="object 4"/>
          <p:cNvSpPr/>
          <p:nvPr/>
        </p:nvSpPr>
        <p:spPr>
          <a:xfrm>
            <a:off x="4782286" y="1585239"/>
            <a:ext cx="516890" cy="1109345"/>
          </a:xfrm>
          <a:custGeom>
            <a:avLst/>
            <a:gdLst/>
            <a:ahLst/>
            <a:cxnLst/>
            <a:rect l="l" t="t" r="r" b="b"/>
            <a:pathLst>
              <a:path w="516889" h="1109345">
                <a:moveTo>
                  <a:pt x="500392" y="867194"/>
                </a:moveTo>
                <a:lnTo>
                  <a:pt x="495706" y="819734"/>
                </a:lnTo>
                <a:lnTo>
                  <a:pt x="481977" y="774547"/>
                </a:lnTo>
                <a:lnTo>
                  <a:pt x="459727" y="732878"/>
                </a:lnTo>
                <a:lnTo>
                  <a:pt x="429501" y="695998"/>
                </a:lnTo>
                <a:lnTo>
                  <a:pt x="392620" y="665772"/>
                </a:lnTo>
                <a:lnTo>
                  <a:pt x="350951" y="643521"/>
                </a:lnTo>
                <a:lnTo>
                  <a:pt x="305752" y="629780"/>
                </a:lnTo>
                <a:lnTo>
                  <a:pt x="258292" y="625094"/>
                </a:lnTo>
                <a:lnTo>
                  <a:pt x="209511" y="630008"/>
                </a:lnTo>
                <a:lnTo>
                  <a:pt x="164058" y="644118"/>
                </a:lnTo>
                <a:lnTo>
                  <a:pt x="122936" y="666432"/>
                </a:lnTo>
                <a:lnTo>
                  <a:pt x="87109" y="695998"/>
                </a:lnTo>
                <a:lnTo>
                  <a:pt x="57543" y="731824"/>
                </a:lnTo>
                <a:lnTo>
                  <a:pt x="35229" y="772960"/>
                </a:lnTo>
                <a:lnTo>
                  <a:pt x="21120" y="818400"/>
                </a:lnTo>
                <a:lnTo>
                  <a:pt x="16192" y="867194"/>
                </a:lnTo>
                <a:lnTo>
                  <a:pt x="21120" y="915974"/>
                </a:lnTo>
                <a:lnTo>
                  <a:pt x="35229" y="961415"/>
                </a:lnTo>
                <a:lnTo>
                  <a:pt x="57543" y="1002538"/>
                </a:lnTo>
                <a:lnTo>
                  <a:pt x="87109" y="1038377"/>
                </a:lnTo>
                <a:lnTo>
                  <a:pt x="122936" y="1067943"/>
                </a:lnTo>
                <a:lnTo>
                  <a:pt x="164058" y="1090256"/>
                </a:lnTo>
                <a:lnTo>
                  <a:pt x="209511" y="1104366"/>
                </a:lnTo>
                <a:lnTo>
                  <a:pt x="258292" y="1109281"/>
                </a:lnTo>
                <a:lnTo>
                  <a:pt x="307098" y="1104366"/>
                </a:lnTo>
                <a:lnTo>
                  <a:pt x="352539" y="1090256"/>
                </a:lnTo>
                <a:lnTo>
                  <a:pt x="393661" y="1067943"/>
                </a:lnTo>
                <a:lnTo>
                  <a:pt x="429488" y="1038377"/>
                </a:lnTo>
                <a:lnTo>
                  <a:pt x="459054" y="1002538"/>
                </a:lnTo>
                <a:lnTo>
                  <a:pt x="481368" y="961415"/>
                </a:lnTo>
                <a:lnTo>
                  <a:pt x="495477" y="915974"/>
                </a:lnTo>
                <a:lnTo>
                  <a:pt x="500392" y="867194"/>
                </a:lnTo>
                <a:close/>
              </a:path>
              <a:path w="516889" h="1109345">
                <a:moveTo>
                  <a:pt x="516597" y="258292"/>
                </a:moveTo>
                <a:lnTo>
                  <a:pt x="511594" y="207670"/>
                </a:lnTo>
                <a:lnTo>
                  <a:pt x="496938" y="159448"/>
                </a:lnTo>
                <a:lnTo>
                  <a:pt x="473202" y="114985"/>
                </a:lnTo>
                <a:lnTo>
                  <a:pt x="440944" y="75653"/>
                </a:lnTo>
                <a:lnTo>
                  <a:pt x="401599" y="43395"/>
                </a:lnTo>
                <a:lnTo>
                  <a:pt x="357136" y="19659"/>
                </a:lnTo>
                <a:lnTo>
                  <a:pt x="308927" y="5003"/>
                </a:lnTo>
                <a:lnTo>
                  <a:pt x="258292" y="0"/>
                </a:lnTo>
                <a:lnTo>
                  <a:pt x="211874" y="4152"/>
                </a:lnTo>
                <a:lnTo>
                  <a:pt x="168173" y="16154"/>
                </a:lnTo>
                <a:lnTo>
                  <a:pt x="127927" y="35255"/>
                </a:lnTo>
                <a:lnTo>
                  <a:pt x="91884" y="60744"/>
                </a:lnTo>
                <a:lnTo>
                  <a:pt x="60744" y="91871"/>
                </a:lnTo>
                <a:lnTo>
                  <a:pt x="35267" y="127927"/>
                </a:lnTo>
                <a:lnTo>
                  <a:pt x="16154" y="168160"/>
                </a:lnTo>
                <a:lnTo>
                  <a:pt x="4165" y="211861"/>
                </a:lnTo>
                <a:lnTo>
                  <a:pt x="0" y="258292"/>
                </a:lnTo>
                <a:lnTo>
                  <a:pt x="4165" y="304723"/>
                </a:lnTo>
                <a:lnTo>
                  <a:pt x="16154" y="348424"/>
                </a:lnTo>
                <a:lnTo>
                  <a:pt x="35267" y="388658"/>
                </a:lnTo>
                <a:lnTo>
                  <a:pt x="60744" y="424713"/>
                </a:lnTo>
                <a:lnTo>
                  <a:pt x="91884" y="455841"/>
                </a:lnTo>
                <a:lnTo>
                  <a:pt x="127927" y="481330"/>
                </a:lnTo>
                <a:lnTo>
                  <a:pt x="168173" y="500430"/>
                </a:lnTo>
                <a:lnTo>
                  <a:pt x="211874" y="512432"/>
                </a:lnTo>
                <a:lnTo>
                  <a:pt x="258292" y="516597"/>
                </a:lnTo>
                <a:lnTo>
                  <a:pt x="304723" y="512432"/>
                </a:lnTo>
                <a:lnTo>
                  <a:pt x="348424" y="500430"/>
                </a:lnTo>
                <a:lnTo>
                  <a:pt x="388658" y="481330"/>
                </a:lnTo>
                <a:lnTo>
                  <a:pt x="424713" y="455841"/>
                </a:lnTo>
                <a:lnTo>
                  <a:pt x="455841" y="424713"/>
                </a:lnTo>
                <a:lnTo>
                  <a:pt x="481330" y="388658"/>
                </a:lnTo>
                <a:lnTo>
                  <a:pt x="500430" y="348424"/>
                </a:lnTo>
                <a:lnTo>
                  <a:pt x="512432" y="304723"/>
                </a:lnTo>
                <a:lnTo>
                  <a:pt x="516597" y="258292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920729" y="1718938"/>
            <a:ext cx="240029" cy="847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350" baseline="-30864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40"/>
              </a:spcBef>
            </a:pPr>
            <a:endParaRPr sz="90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798490" y="2803019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10" y="479280"/>
                </a:lnTo>
                <a:lnTo>
                  <a:pt x="147866" y="465172"/>
                </a:lnTo>
                <a:lnTo>
                  <a:pt x="106742" y="442850"/>
                </a:lnTo>
                <a:lnTo>
                  <a:pt x="70912" y="413286"/>
                </a:lnTo>
                <a:lnTo>
                  <a:pt x="41348" y="377456"/>
                </a:lnTo>
                <a:lnTo>
                  <a:pt x="19026" y="336332"/>
                </a:lnTo>
                <a:lnTo>
                  <a:pt x="4918" y="290888"/>
                </a:lnTo>
                <a:lnTo>
                  <a:pt x="0" y="242099"/>
                </a:lnTo>
                <a:lnTo>
                  <a:pt x="4918" y="193310"/>
                </a:lnTo>
                <a:lnTo>
                  <a:pt x="19026" y="147866"/>
                </a:lnTo>
                <a:lnTo>
                  <a:pt x="41348" y="106742"/>
                </a:lnTo>
                <a:lnTo>
                  <a:pt x="70927" y="70899"/>
                </a:lnTo>
                <a:lnTo>
                  <a:pt x="106742" y="41348"/>
                </a:lnTo>
                <a:lnTo>
                  <a:pt x="147866" y="19026"/>
                </a:lnTo>
                <a:lnTo>
                  <a:pt x="193310" y="4918"/>
                </a:lnTo>
                <a:lnTo>
                  <a:pt x="242099" y="0"/>
                </a:lnTo>
                <a:lnTo>
                  <a:pt x="289559" y="4693"/>
                </a:lnTo>
                <a:lnTo>
                  <a:pt x="334758" y="18424"/>
                </a:lnTo>
                <a:lnTo>
                  <a:pt x="376427" y="40668"/>
                </a:lnTo>
                <a:lnTo>
                  <a:pt x="413309" y="70912"/>
                </a:lnTo>
                <a:lnTo>
                  <a:pt x="443530" y="107774"/>
                </a:lnTo>
                <a:lnTo>
                  <a:pt x="465774" y="149449"/>
                </a:lnTo>
                <a:lnTo>
                  <a:pt x="479505" y="194649"/>
                </a:lnTo>
                <a:lnTo>
                  <a:pt x="484199" y="242099"/>
                </a:lnTo>
                <a:lnTo>
                  <a:pt x="479281" y="290888"/>
                </a:lnTo>
                <a:lnTo>
                  <a:pt x="465176" y="336332"/>
                </a:lnTo>
                <a:lnTo>
                  <a:pt x="442856" y="377456"/>
                </a:lnTo>
                <a:lnTo>
                  <a:pt x="413296" y="413286"/>
                </a:lnTo>
                <a:lnTo>
                  <a:pt x="377467" y="442850"/>
                </a:lnTo>
                <a:lnTo>
                  <a:pt x="336342" y="465172"/>
                </a:lnTo>
                <a:lnTo>
                  <a:pt x="290895" y="479280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933432" y="2920528"/>
            <a:ext cx="21462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489587" y="2783669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10" y="479280"/>
                </a:lnTo>
                <a:lnTo>
                  <a:pt x="147866" y="465172"/>
                </a:lnTo>
                <a:lnTo>
                  <a:pt x="106742" y="442850"/>
                </a:lnTo>
                <a:lnTo>
                  <a:pt x="70912" y="413286"/>
                </a:lnTo>
                <a:lnTo>
                  <a:pt x="41348" y="377456"/>
                </a:lnTo>
                <a:lnTo>
                  <a:pt x="19026" y="336332"/>
                </a:lnTo>
                <a:lnTo>
                  <a:pt x="4918" y="290888"/>
                </a:lnTo>
                <a:lnTo>
                  <a:pt x="0" y="242099"/>
                </a:lnTo>
                <a:lnTo>
                  <a:pt x="4918" y="193310"/>
                </a:lnTo>
                <a:lnTo>
                  <a:pt x="19026" y="147866"/>
                </a:lnTo>
                <a:lnTo>
                  <a:pt x="41348" y="106742"/>
                </a:lnTo>
                <a:lnTo>
                  <a:pt x="70927" y="70899"/>
                </a:lnTo>
                <a:lnTo>
                  <a:pt x="106742" y="41348"/>
                </a:lnTo>
                <a:lnTo>
                  <a:pt x="147866" y="19026"/>
                </a:lnTo>
                <a:lnTo>
                  <a:pt x="193310" y="4918"/>
                </a:lnTo>
                <a:lnTo>
                  <a:pt x="242099" y="0"/>
                </a:lnTo>
                <a:lnTo>
                  <a:pt x="289559" y="4693"/>
                </a:lnTo>
                <a:lnTo>
                  <a:pt x="334758" y="18424"/>
                </a:lnTo>
                <a:lnTo>
                  <a:pt x="376427" y="40668"/>
                </a:lnTo>
                <a:lnTo>
                  <a:pt x="413309" y="70912"/>
                </a:lnTo>
                <a:lnTo>
                  <a:pt x="443530" y="107774"/>
                </a:lnTo>
                <a:lnTo>
                  <a:pt x="465774" y="149449"/>
                </a:lnTo>
                <a:lnTo>
                  <a:pt x="479505" y="194649"/>
                </a:lnTo>
                <a:lnTo>
                  <a:pt x="484199" y="242099"/>
                </a:lnTo>
                <a:lnTo>
                  <a:pt x="479281" y="290888"/>
                </a:lnTo>
                <a:lnTo>
                  <a:pt x="465176" y="336332"/>
                </a:lnTo>
                <a:lnTo>
                  <a:pt x="442856" y="377456"/>
                </a:lnTo>
                <a:lnTo>
                  <a:pt x="413296" y="413286"/>
                </a:lnTo>
                <a:lnTo>
                  <a:pt x="377467" y="442850"/>
                </a:lnTo>
                <a:lnTo>
                  <a:pt x="336342" y="465172"/>
                </a:lnTo>
                <a:lnTo>
                  <a:pt x="290895" y="479280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0097A7">
              <a:alpha val="4823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633526" y="2865814"/>
            <a:ext cx="1555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40" dirty="0">
                <a:solidFill>
                  <a:srgbClr val="FFFFFF"/>
                </a:solidFill>
                <a:latin typeface="Roboto"/>
                <a:cs typeface="Roboto"/>
              </a:rPr>
              <a:t>&gt;</a:t>
            </a:r>
            <a:endParaRPr sz="1800">
              <a:latin typeface="Roboto"/>
              <a:cs typeface="Roboto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273164" y="1834001"/>
            <a:ext cx="1445260" cy="1235075"/>
            <a:chOff x="5273164" y="1834001"/>
            <a:chExt cx="1445260" cy="1235075"/>
          </a:xfrm>
        </p:grpSpPr>
        <p:sp>
          <p:nvSpPr>
            <p:cNvPr id="11" name="object 11"/>
            <p:cNvSpPr/>
            <p:nvPr/>
          </p:nvSpPr>
          <p:spPr>
            <a:xfrm>
              <a:off x="5298889" y="1843526"/>
              <a:ext cx="1337310" cy="877569"/>
            </a:xfrm>
            <a:custGeom>
              <a:avLst/>
              <a:gdLst/>
              <a:ahLst/>
              <a:cxnLst/>
              <a:rect l="l" t="t" r="r" b="b"/>
              <a:pathLst>
                <a:path w="1337309" h="877569">
                  <a:moveTo>
                    <a:pt x="0" y="0"/>
                  </a:moveTo>
                  <a:lnTo>
                    <a:pt x="1337247" y="877493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09336" y="2685194"/>
              <a:ext cx="108599" cy="9277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282689" y="3027743"/>
              <a:ext cx="1092835" cy="17780"/>
            </a:xfrm>
            <a:custGeom>
              <a:avLst/>
              <a:gdLst/>
              <a:ahLst/>
              <a:cxnLst/>
              <a:rect l="l" t="t" r="r" b="b"/>
              <a:pathLst>
                <a:path w="1092835" h="17780">
                  <a:moveTo>
                    <a:pt x="0" y="17374"/>
                  </a:moveTo>
                  <a:lnTo>
                    <a:pt x="1092622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65286" y="2986743"/>
              <a:ext cx="105974" cy="8197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282689" y="2452422"/>
              <a:ext cx="1169035" cy="368300"/>
            </a:xfrm>
            <a:custGeom>
              <a:avLst/>
              <a:gdLst/>
              <a:ahLst/>
              <a:cxnLst/>
              <a:rect l="l" t="t" r="r" b="b"/>
              <a:pathLst>
                <a:path w="1169035" h="368300">
                  <a:moveTo>
                    <a:pt x="0" y="0"/>
                  </a:moveTo>
                  <a:lnTo>
                    <a:pt x="1168672" y="367971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32386" y="2780844"/>
              <a:ext cx="110974" cy="79099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4763896" y="1154189"/>
            <a:ext cx="5588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AA3F"/>
                </a:solidFill>
                <a:latin typeface="Arial"/>
                <a:cs typeface="Arial"/>
              </a:rPr>
              <a:t>inputs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501816" y="1154189"/>
            <a:ext cx="6877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77909C"/>
                </a:solidFill>
                <a:latin typeface="Arial"/>
                <a:cs typeface="Arial"/>
              </a:rPr>
              <a:t>weights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 rot="1980000">
            <a:off x="5678984" y="1913812"/>
            <a:ext cx="266211" cy="210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55"/>
              </a:lnSpc>
            </a:pPr>
            <a:r>
              <a:rPr sz="1400" b="1" spc="-185" dirty="0">
                <a:solidFill>
                  <a:srgbClr val="77909C"/>
                </a:solidFill>
                <a:latin typeface="Tahoma"/>
                <a:cs typeface="Tahoma"/>
              </a:rPr>
              <a:t>w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 rot="1980000">
            <a:off x="5764689" y="2090340"/>
            <a:ext cx="163257" cy="1143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900" b="1" spc="-114" dirty="0">
                <a:solidFill>
                  <a:srgbClr val="77909C"/>
                </a:solidFill>
                <a:latin typeface="Tahoma"/>
                <a:cs typeface="Tahoma"/>
              </a:rPr>
              <a:t>0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563484" y="2742803"/>
            <a:ext cx="276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77909C"/>
                </a:solidFill>
                <a:latin typeface="Tahoma"/>
                <a:cs typeface="Tahoma"/>
              </a:rPr>
              <a:t>w</a:t>
            </a:r>
            <a:r>
              <a:rPr sz="1350" b="1" spc="-37" baseline="-33950" dirty="0">
                <a:solidFill>
                  <a:srgbClr val="77909C"/>
                </a:solidFill>
                <a:latin typeface="Tahoma"/>
                <a:cs typeface="Tahoma"/>
              </a:rPr>
              <a:t>2</a:t>
            </a:r>
            <a:endParaRPr sz="1350" baseline="-3395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 rot="20700000">
            <a:off x="5547371" y="3190355"/>
            <a:ext cx="266749" cy="212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75"/>
              </a:lnSpc>
            </a:pPr>
            <a:r>
              <a:rPr sz="1400" b="1" spc="-185" dirty="0">
                <a:solidFill>
                  <a:srgbClr val="77909C"/>
                </a:solidFill>
                <a:latin typeface="Tahoma"/>
                <a:cs typeface="Tahoma"/>
              </a:rPr>
              <a:t>w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 rot="20700000">
            <a:off x="5720507" y="3295897"/>
            <a:ext cx="166183" cy="11430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900" b="1" spc="-70" dirty="0">
                <a:solidFill>
                  <a:srgbClr val="77909C"/>
                </a:solidFill>
                <a:latin typeface="Tahoma"/>
                <a:cs typeface="Tahoma"/>
              </a:rPr>
              <a:t>n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562622" y="1157332"/>
            <a:ext cx="3911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0097A7"/>
                </a:solidFill>
                <a:latin typeface="Arial"/>
                <a:cs typeface="Arial"/>
              </a:rPr>
              <a:t>sum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273164" y="2783669"/>
            <a:ext cx="3550920" cy="1456690"/>
            <a:chOff x="5273164" y="2783669"/>
            <a:chExt cx="3550920" cy="1456690"/>
          </a:xfrm>
        </p:grpSpPr>
        <p:sp>
          <p:nvSpPr>
            <p:cNvPr id="26" name="object 26"/>
            <p:cNvSpPr/>
            <p:nvPr/>
          </p:nvSpPr>
          <p:spPr>
            <a:xfrm>
              <a:off x="6973785" y="3025768"/>
              <a:ext cx="581660" cy="0"/>
            </a:xfrm>
            <a:custGeom>
              <a:avLst/>
              <a:gdLst/>
              <a:ahLst/>
              <a:cxnLst/>
              <a:rect l="l" t="t" r="r" b="b"/>
              <a:pathLst>
                <a:path w="581659">
                  <a:moveTo>
                    <a:pt x="0" y="0"/>
                  </a:moveTo>
                  <a:lnTo>
                    <a:pt x="5812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55034" y="301004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49"/>
                  </a:moveTo>
                  <a:lnTo>
                    <a:pt x="0" y="0"/>
                  </a:lnTo>
                  <a:lnTo>
                    <a:pt x="43224" y="15724"/>
                  </a:lnTo>
                  <a:lnTo>
                    <a:pt x="0" y="314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555034" y="301004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49"/>
                  </a:moveTo>
                  <a:lnTo>
                    <a:pt x="43224" y="15724"/>
                  </a:lnTo>
                  <a:lnTo>
                    <a:pt x="0" y="0"/>
                  </a:lnTo>
                  <a:lnTo>
                    <a:pt x="0" y="314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612184" y="2783669"/>
              <a:ext cx="484505" cy="484505"/>
            </a:xfrm>
            <a:custGeom>
              <a:avLst/>
              <a:gdLst/>
              <a:ahLst/>
              <a:cxnLst/>
              <a:rect l="l" t="t" r="r" b="b"/>
              <a:pathLst>
                <a:path w="484504" h="484504">
                  <a:moveTo>
                    <a:pt x="242099" y="484199"/>
                  </a:moveTo>
                  <a:lnTo>
                    <a:pt x="193310" y="479280"/>
                  </a:lnTo>
                  <a:lnTo>
                    <a:pt x="147866" y="465172"/>
                  </a:lnTo>
                  <a:lnTo>
                    <a:pt x="106742" y="442850"/>
                  </a:lnTo>
                  <a:lnTo>
                    <a:pt x="70912" y="413286"/>
                  </a:lnTo>
                  <a:lnTo>
                    <a:pt x="41348" y="377456"/>
                  </a:lnTo>
                  <a:lnTo>
                    <a:pt x="19026" y="336332"/>
                  </a:lnTo>
                  <a:lnTo>
                    <a:pt x="4918" y="290888"/>
                  </a:lnTo>
                  <a:lnTo>
                    <a:pt x="0" y="242099"/>
                  </a:lnTo>
                  <a:lnTo>
                    <a:pt x="4918" y="193310"/>
                  </a:lnTo>
                  <a:lnTo>
                    <a:pt x="19026" y="147866"/>
                  </a:lnTo>
                  <a:lnTo>
                    <a:pt x="41348" y="106742"/>
                  </a:lnTo>
                  <a:lnTo>
                    <a:pt x="70927" y="70899"/>
                  </a:lnTo>
                  <a:lnTo>
                    <a:pt x="106742" y="41348"/>
                  </a:lnTo>
                  <a:lnTo>
                    <a:pt x="147866" y="19026"/>
                  </a:lnTo>
                  <a:lnTo>
                    <a:pt x="193310" y="4918"/>
                  </a:lnTo>
                  <a:lnTo>
                    <a:pt x="242099" y="0"/>
                  </a:lnTo>
                  <a:lnTo>
                    <a:pt x="289559" y="4693"/>
                  </a:lnTo>
                  <a:lnTo>
                    <a:pt x="334758" y="18424"/>
                  </a:lnTo>
                  <a:lnTo>
                    <a:pt x="376427" y="40668"/>
                  </a:lnTo>
                  <a:lnTo>
                    <a:pt x="413309" y="70912"/>
                  </a:lnTo>
                  <a:lnTo>
                    <a:pt x="443530" y="107774"/>
                  </a:lnTo>
                  <a:lnTo>
                    <a:pt x="465774" y="149449"/>
                  </a:lnTo>
                  <a:lnTo>
                    <a:pt x="479505" y="194649"/>
                  </a:lnTo>
                  <a:lnTo>
                    <a:pt x="484199" y="242099"/>
                  </a:lnTo>
                  <a:lnTo>
                    <a:pt x="479281" y="290888"/>
                  </a:lnTo>
                  <a:lnTo>
                    <a:pt x="465176" y="336332"/>
                  </a:lnTo>
                  <a:lnTo>
                    <a:pt x="442856" y="377456"/>
                  </a:lnTo>
                  <a:lnTo>
                    <a:pt x="413296" y="413286"/>
                  </a:lnTo>
                  <a:lnTo>
                    <a:pt x="377467" y="442850"/>
                  </a:lnTo>
                  <a:lnTo>
                    <a:pt x="336342" y="465172"/>
                  </a:lnTo>
                  <a:lnTo>
                    <a:pt x="290895" y="479280"/>
                  </a:lnTo>
                  <a:lnTo>
                    <a:pt x="242099" y="484199"/>
                  </a:lnTo>
                  <a:close/>
                </a:path>
              </a:pathLst>
            </a:custGeom>
            <a:solidFill>
              <a:srgbClr val="0A2138">
                <a:alpha val="6807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096383" y="3025768"/>
              <a:ext cx="679450" cy="5715"/>
            </a:xfrm>
            <a:custGeom>
              <a:avLst/>
              <a:gdLst/>
              <a:ahLst/>
              <a:cxnLst/>
              <a:rect l="l" t="t" r="r" b="b"/>
              <a:pathLst>
                <a:path w="679450" h="5714">
                  <a:moveTo>
                    <a:pt x="0" y="0"/>
                  </a:moveTo>
                  <a:lnTo>
                    <a:pt x="679348" y="5524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775606" y="301556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74"/>
                  </a:moveTo>
                  <a:lnTo>
                    <a:pt x="249" y="0"/>
                  </a:lnTo>
                  <a:lnTo>
                    <a:pt x="43349" y="16074"/>
                  </a:lnTo>
                  <a:lnTo>
                    <a:pt x="0" y="3147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775606" y="301556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74"/>
                  </a:moveTo>
                  <a:lnTo>
                    <a:pt x="43349" y="16074"/>
                  </a:lnTo>
                  <a:lnTo>
                    <a:pt x="249" y="0"/>
                  </a:lnTo>
                  <a:lnTo>
                    <a:pt x="0" y="3147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732784" y="2907419"/>
              <a:ext cx="243204" cy="243204"/>
            </a:xfrm>
            <a:custGeom>
              <a:avLst/>
              <a:gdLst/>
              <a:ahLst/>
              <a:cxnLst/>
              <a:rect l="l" t="t" r="r" b="b"/>
              <a:pathLst>
                <a:path w="243204" h="243205">
                  <a:moveTo>
                    <a:pt x="242999" y="0"/>
                  </a:moveTo>
                  <a:lnTo>
                    <a:pt x="202657" y="10441"/>
                  </a:lnTo>
                  <a:lnTo>
                    <a:pt x="170859" y="37968"/>
                  </a:lnTo>
                  <a:lnTo>
                    <a:pt x="144755" y="76886"/>
                  </a:lnTo>
                  <a:lnTo>
                    <a:pt x="121499" y="121499"/>
                  </a:lnTo>
                  <a:lnTo>
                    <a:pt x="98243" y="166112"/>
                  </a:lnTo>
                  <a:lnTo>
                    <a:pt x="72140" y="205030"/>
                  </a:lnTo>
                  <a:lnTo>
                    <a:pt x="40341" y="232558"/>
                  </a:lnTo>
                  <a:lnTo>
                    <a:pt x="0" y="242999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282689" y="3331068"/>
              <a:ext cx="1353820" cy="899794"/>
            </a:xfrm>
            <a:custGeom>
              <a:avLst/>
              <a:gdLst/>
              <a:ahLst/>
              <a:cxnLst/>
              <a:rect l="l" t="t" r="r" b="b"/>
              <a:pathLst>
                <a:path w="1353820" h="899795">
                  <a:moveTo>
                    <a:pt x="0" y="899448"/>
                  </a:moveTo>
                  <a:lnTo>
                    <a:pt x="1353797" y="0"/>
                  </a:lnTo>
                </a:path>
              </a:pathLst>
            </a:custGeom>
            <a:ln w="19049">
              <a:solidFill>
                <a:srgbClr val="93C3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09561" y="3273693"/>
              <a:ext cx="108449" cy="93099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7453494" y="1157332"/>
            <a:ext cx="10922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0A2138"/>
                </a:solidFill>
                <a:latin typeface="Arial"/>
                <a:cs typeface="Arial"/>
              </a:rPr>
              <a:t>non-linearity</a:t>
            </a:r>
            <a:endParaRPr sz="14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 rot="19680000">
            <a:off x="5599447" y="3768957"/>
            <a:ext cx="206698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400" b="1" spc="-114" dirty="0">
                <a:solidFill>
                  <a:srgbClr val="93C37C"/>
                </a:solidFill>
                <a:latin typeface="Tahoma"/>
                <a:cs typeface="Tahoma"/>
              </a:rPr>
              <a:t>b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782290" y="3395718"/>
            <a:ext cx="501015" cy="1076960"/>
            <a:chOff x="4782290" y="3395718"/>
            <a:chExt cx="501015" cy="1076960"/>
          </a:xfrm>
        </p:grpSpPr>
        <p:sp>
          <p:nvSpPr>
            <p:cNvPr id="39" name="object 39"/>
            <p:cNvSpPr/>
            <p:nvPr/>
          </p:nvSpPr>
          <p:spPr>
            <a:xfrm>
              <a:off x="4798490" y="3988417"/>
              <a:ext cx="484505" cy="484505"/>
            </a:xfrm>
            <a:custGeom>
              <a:avLst/>
              <a:gdLst/>
              <a:ahLst/>
              <a:cxnLst/>
              <a:rect l="l" t="t" r="r" b="b"/>
              <a:pathLst>
                <a:path w="484504" h="484504">
                  <a:moveTo>
                    <a:pt x="242099" y="484199"/>
                  </a:moveTo>
                  <a:lnTo>
                    <a:pt x="193310" y="479280"/>
                  </a:lnTo>
                  <a:lnTo>
                    <a:pt x="147866" y="465172"/>
                  </a:lnTo>
                  <a:lnTo>
                    <a:pt x="106742" y="442850"/>
                  </a:lnTo>
                  <a:lnTo>
                    <a:pt x="70912" y="413286"/>
                  </a:lnTo>
                  <a:lnTo>
                    <a:pt x="41348" y="377456"/>
                  </a:lnTo>
                  <a:lnTo>
                    <a:pt x="19026" y="336332"/>
                  </a:lnTo>
                  <a:lnTo>
                    <a:pt x="4918" y="290888"/>
                  </a:lnTo>
                  <a:lnTo>
                    <a:pt x="0" y="242099"/>
                  </a:lnTo>
                  <a:lnTo>
                    <a:pt x="4918" y="193303"/>
                  </a:lnTo>
                  <a:lnTo>
                    <a:pt x="19026" y="147856"/>
                  </a:lnTo>
                  <a:lnTo>
                    <a:pt x="41348" y="106731"/>
                  </a:lnTo>
                  <a:lnTo>
                    <a:pt x="70916" y="70899"/>
                  </a:lnTo>
                  <a:lnTo>
                    <a:pt x="106742" y="41342"/>
                  </a:lnTo>
                  <a:lnTo>
                    <a:pt x="147866" y="19023"/>
                  </a:lnTo>
                  <a:lnTo>
                    <a:pt x="193310" y="4917"/>
                  </a:lnTo>
                  <a:lnTo>
                    <a:pt x="242099" y="0"/>
                  </a:lnTo>
                  <a:lnTo>
                    <a:pt x="289559" y="4693"/>
                  </a:lnTo>
                  <a:lnTo>
                    <a:pt x="334758" y="18424"/>
                  </a:lnTo>
                  <a:lnTo>
                    <a:pt x="376427" y="40668"/>
                  </a:lnTo>
                  <a:lnTo>
                    <a:pt x="413301" y="70902"/>
                  </a:lnTo>
                  <a:lnTo>
                    <a:pt x="443530" y="107771"/>
                  </a:lnTo>
                  <a:lnTo>
                    <a:pt x="465774" y="149440"/>
                  </a:lnTo>
                  <a:lnTo>
                    <a:pt x="479505" y="194639"/>
                  </a:lnTo>
                  <a:lnTo>
                    <a:pt x="484199" y="242099"/>
                  </a:lnTo>
                  <a:lnTo>
                    <a:pt x="479281" y="290888"/>
                  </a:lnTo>
                  <a:lnTo>
                    <a:pt x="465176" y="336332"/>
                  </a:lnTo>
                  <a:lnTo>
                    <a:pt x="442856" y="377456"/>
                  </a:lnTo>
                  <a:lnTo>
                    <a:pt x="413296" y="413286"/>
                  </a:lnTo>
                  <a:lnTo>
                    <a:pt x="377467" y="442850"/>
                  </a:lnTo>
                  <a:lnTo>
                    <a:pt x="336342" y="465172"/>
                  </a:lnTo>
                  <a:lnTo>
                    <a:pt x="290895" y="479280"/>
                  </a:lnTo>
                  <a:lnTo>
                    <a:pt x="242099" y="484199"/>
                  </a:lnTo>
                  <a:close/>
                </a:path>
              </a:pathLst>
            </a:custGeom>
            <a:solidFill>
              <a:srgbClr val="93C3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782290" y="3395718"/>
              <a:ext cx="484505" cy="484505"/>
            </a:xfrm>
            <a:custGeom>
              <a:avLst/>
              <a:gdLst/>
              <a:ahLst/>
              <a:cxnLst/>
              <a:rect l="l" t="t" r="r" b="b"/>
              <a:pathLst>
                <a:path w="484504" h="484504">
                  <a:moveTo>
                    <a:pt x="242099" y="484199"/>
                  </a:moveTo>
                  <a:lnTo>
                    <a:pt x="193310" y="479280"/>
                  </a:lnTo>
                  <a:lnTo>
                    <a:pt x="147866" y="465172"/>
                  </a:lnTo>
                  <a:lnTo>
                    <a:pt x="106742" y="442850"/>
                  </a:lnTo>
                  <a:lnTo>
                    <a:pt x="70912" y="413286"/>
                  </a:lnTo>
                  <a:lnTo>
                    <a:pt x="41348" y="377456"/>
                  </a:lnTo>
                  <a:lnTo>
                    <a:pt x="19026" y="336332"/>
                  </a:lnTo>
                  <a:lnTo>
                    <a:pt x="4918" y="290888"/>
                  </a:lnTo>
                  <a:lnTo>
                    <a:pt x="0" y="242099"/>
                  </a:lnTo>
                  <a:lnTo>
                    <a:pt x="4918" y="193310"/>
                  </a:lnTo>
                  <a:lnTo>
                    <a:pt x="19026" y="147866"/>
                  </a:lnTo>
                  <a:lnTo>
                    <a:pt x="41348" y="106742"/>
                  </a:lnTo>
                  <a:lnTo>
                    <a:pt x="70927" y="70899"/>
                  </a:lnTo>
                  <a:lnTo>
                    <a:pt x="106742" y="41348"/>
                  </a:lnTo>
                  <a:lnTo>
                    <a:pt x="147866" y="19026"/>
                  </a:lnTo>
                  <a:lnTo>
                    <a:pt x="193310" y="4918"/>
                  </a:lnTo>
                  <a:lnTo>
                    <a:pt x="242099" y="0"/>
                  </a:lnTo>
                  <a:lnTo>
                    <a:pt x="289559" y="4693"/>
                  </a:lnTo>
                  <a:lnTo>
                    <a:pt x="334758" y="18424"/>
                  </a:lnTo>
                  <a:lnTo>
                    <a:pt x="376427" y="40668"/>
                  </a:lnTo>
                  <a:lnTo>
                    <a:pt x="413309" y="70912"/>
                  </a:lnTo>
                  <a:lnTo>
                    <a:pt x="443530" y="107771"/>
                  </a:lnTo>
                  <a:lnTo>
                    <a:pt x="465774" y="149440"/>
                  </a:lnTo>
                  <a:lnTo>
                    <a:pt x="479505" y="194639"/>
                  </a:lnTo>
                  <a:lnTo>
                    <a:pt x="484199" y="242099"/>
                  </a:lnTo>
                  <a:lnTo>
                    <a:pt x="479281" y="290888"/>
                  </a:lnTo>
                  <a:lnTo>
                    <a:pt x="465176" y="336332"/>
                  </a:lnTo>
                  <a:lnTo>
                    <a:pt x="442856" y="377456"/>
                  </a:lnTo>
                  <a:lnTo>
                    <a:pt x="413296" y="413286"/>
                  </a:lnTo>
                  <a:lnTo>
                    <a:pt x="377467" y="442850"/>
                  </a:lnTo>
                  <a:lnTo>
                    <a:pt x="336342" y="465172"/>
                  </a:lnTo>
                  <a:lnTo>
                    <a:pt x="290895" y="479280"/>
                  </a:lnTo>
                  <a:lnTo>
                    <a:pt x="242099" y="484199"/>
                  </a:lnTo>
                  <a:close/>
                </a:path>
              </a:pathLst>
            </a:custGeom>
            <a:solidFill>
              <a:srgbClr val="FFAA3F">
                <a:alpha val="5372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4901569" y="3513229"/>
            <a:ext cx="245745" cy="831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endParaRPr sz="1350" baseline="-30864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endParaRPr sz="900">
              <a:latin typeface="Tahoma"/>
              <a:cs typeface="Tahoma"/>
            </a:endParaRPr>
          </a:p>
          <a:p>
            <a:pPr marL="94615">
              <a:lnSpc>
                <a:spcPct val="100000"/>
              </a:lnSpc>
              <a:spcBef>
                <a:spcPts val="5"/>
              </a:spcBef>
            </a:pP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5256964" y="3194368"/>
            <a:ext cx="1287145" cy="453390"/>
            <a:chOff x="5256964" y="3194368"/>
            <a:chExt cx="1287145" cy="453390"/>
          </a:xfrm>
        </p:grpSpPr>
        <p:sp>
          <p:nvSpPr>
            <p:cNvPr id="43" name="object 43"/>
            <p:cNvSpPr/>
            <p:nvPr/>
          </p:nvSpPr>
          <p:spPr>
            <a:xfrm>
              <a:off x="5266489" y="3233693"/>
              <a:ext cx="1186180" cy="404495"/>
            </a:xfrm>
            <a:custGeom>
              <a:avLst/>
              <a:gdLst/>
              <a:ahLst/>
              <a:cxnLst/>
              <a:rect l="l" t="t" r="r" b="b"/>
              <a:pathLst>
                <a:path w="1186179" h="404495">
                  <a:moveTo>
                    <a:pt x="0" y="404124"/>
                  </a:moveTo>
                  <a:lnTo>
                    <a:pt x="1185722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32537" y="3194368"/>
              <a:ext cx="111024" cy="78624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 rot="1020000">
            <a:off x="5587121" y="2318974"/>
            <a:ext cx="266749" cy="210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55"/>
              </a:lnSpc>
            </a:pPr>
            <a:r>
              <a:rPr sz="1400" b="1" spc="-185" dirty="0">
                <a:solidFill>
                  <a:srgbClr val="77909C"/>
                </a:solidFill>
                <a:latin typeface="Tahoma"/>
                <a:cs typeface="Tahoma"/>
              </a:rPr>
              <a:t>w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566350" y="4636610"/>
            <a:ext cx="381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b="1" spc="-20" dirty="0">
                <a:solidFill>
                  <a:srgbClr val="93C37C"/>
                </a:solidFill>
                <a:latin typeface="Arial"/>
                <a:cs typeface="Arial"/>
              </a:rPr>
              <a:t>bias</a:t>
            </a:r>
            <a:endParaRPr sz="14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 rot="1020000">
            <a:off x="5707044" y="2481151"/>
            <a:ext cx="164093" cy="1143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900" b="1" spc="-110" dirty="0">
                <a:solidFill>
                  <a:srgbClr val="77909C"/>
                </a:solidFill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253707" y="2742203"/>
            <a:ext cx="5784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341C75"/>
                </a:solidFill>
                <a:latin typeface="Arial"/>
                <a:cs typeface="Arial"/>
              </a:rPr>
              <a:t>output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Perceptron</a:t>
            </a:r>
            <a:r>
              <a:rPr spc="-165" dirty="0"/>
              <a:t> </a:t>
            </a:r>
            <a:r>
              <a:rPr dirty="0"/>
              <a:t>Forward</a:t>
            </a:r>
            <a:r>
              <a:rPr spc="-165" dirty="0"/>
              <a:t> </a:t>
            </a:r>
            <a:r>
              <a:rPr spc="-20" dirty="0"/>
              <a:t>Pass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5259" y="2905044"/>
            <a:ext cx="1850683" cy="2444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35259" y="3358693"/>
            <a:ext cx="2007820" cy="24442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4782286" y="1585239"/>
            <a:ext cx="516890" cy="1109345"/>
          </a:xfrm>
          <a:custGeom>
            <a:avLst/>
            <a:gdLst/>
            <a:ahLst/>
            <a:cxnLst/>
            <a:rect l="l" t="t" r="r" b="b"/>
            <a:pathLst>
              <a:path w="516889" h="1109345">
                <a:moveTo>
                  <a:pt x="500392" y="867194"/>
                </a:moveTo>
                <a:lnTo>
                  <a:pt x="495706" y="819734"/>
                </a:lnTo>
                <a:lnTo>
                  <a:pt x="481977" y="774547"/>
                </a:lnTo>
                <a:lnTo>
                  <a:pt x="459727" y="732878"/>
                </a:lnTo>
                <a:lnTo>
                  <a:pt x="429501" y="695998"/>
                </a:lnTo>
                <a:lnTo>
                  <a:pt x="392620" y="665772"/>
                </a:lnTo>
                <a:lnTo>
                  <a:pt x="350951" y="643521"/>
                </a:lnTo>
                <a:lnTo>
                  <a:pt x="305752" y="629780"/>
                </a:lnTo>
                <a:lnTo>
                  <a:pt x="258292" y="625094"/>
                </a:lnTo>
                <a:lnTo>
                  <a:pt x="209511" y="630008"/>
                </a:lnTo>
                <a:lnTo>
                  <a:pt x="164058" y="644118"/>
                </a:lnTo>
                <a:lnTo>
                  <a:pt x="122936" y="666432"/>
                </a:lnTo>
                <a:lnTo>
                  <a:pt x="87109" y="695998"/>
                </a:lnTo>
                <a:lnTo>
                  <a:pt x="57543" y="731824"/>
                </a:lnTo>
                <a:lnTo>
                  <a:pt x="35229" y="772960"/>
                </a:lnTo>
                <a:lnTo>
                  <a:pt x="21120" y="818400"/>
                </a:lnTo>
                <a:lnTo>
                  <a:pt x="16192" y="867194"/>
                </a:lnTo>
                <a:lnTo>
                  <a:pt x="21120" y="915974"/>
                </a:lnTo>
                <a:lnTo>
                  <a:pt x="35229" y="961415"/>
                </a:lnTo>
                <a:lnTo>
                  <a:pt x="57543" y="1002538"/>
                </a:lnTo>
                <a:lnTo>
                  <a:pt x="87109" y="1038377"/>
                </a:lnTo>
                <a:lnTo>
                  <a:pt x="122936" y="1067943"/>
                </a:lnTo>
                <a:lnTo>
                  <a:pt x="164058" y="1090256"/>
                </a:lnTo>
                <a:lnTo>
                  <a:pt x="209511" y="1104366"/>
                </a:lnTo>
                <a:lnTo>
                  <a:pt x="258292" y="1109281"/>
                </a:lnTo>
                <a:lnTo>
                  <a:pt x="307098" y="1104366"/>
                </a:lnTo>
                <a:lnTo>
                  <a:pt x="352539" y="1090256"/>
                </a:lnTo>
                <a:lnTo>
                  <a:pt x="393661" y="1067943"/>
                </a:lnTo>
                <a:lnTo>
                  <a:pt x="429488" y="1038377"/>
                </a:lnTo>
                <a:lnTo>
                  <a:pt x="459054" y="1002538"/>
                </a:lnTo>
                <a:lnTo>
                  <a:pt x="481368" y="961415"/>
                </a:lnTo>
                <a:lnTo>
                  <a:pt x="495477" y="915974"/>
                </a:lnTo>
                <a:lnTo>
                  <a:pt x="500392" y="867194"/>
                </a:lnTo>
                <a:close/>
              </a:path>
              <a:path w="516889" h="1109345">
                <a:moveTo>
                  <a:pt x="516597" y="258292"/>
                </a:moveTo>
                <a:lnTo>
                  <a:pt x="511594" y="207670"/>
                </a:lnTo>
                <a:lnTo>
                  <a:pt x="496938" y="159448"/>
                </a:lnTo>
                <a:lnTo>
                  <a:pt x="473202" y="114985"/>
                </a:lnTo>
                <a:lnTo>
                  <a:pt x="440944" y="75653"/>
                </a:lnTo>
                <a:lnTo>
                  <a:pt x="401599" y="43395"/>
                </a:lnTo>
                <a:lnTo>
                  <a:pt x="357136" y="19659"/>
                </a:lnTo>
                <a:lnTo>
                  <a:pt x="308927" y="5003"/>
                </a:lnTo>
                <a:lnTo>
                  <a:pt x="258292" y="0"/>
                </a:lnTo>
                <a:lnTo>
                  <a:pt x="211874" y="4152"/>
                </a:lnTo>
                <a:lnTo>
                  <a:pt x="168173" y="16154"/>
                </a:lnTo>
                <a:lnTo>
                  <a:pt x="127927" y="35255"/>
                </a:lnTo>
                <a:lnTo>
                  <a:pt x="91884" y="60744"/>
                </a:lnTo>
                <a:lnTo>
                  <a:pt x="60744" y="91871"/>
                </a:lnTo>
                <a:lnTo>
                  <a:pt x="35267" y="127927"/>
                </a:lnTo>
                <a:lnTo>
                  <a:pt x="16154" y="168160"/>
                </a:lnTo>
                <a:lnTo>
                  <a:pt x="4165" y="211861"/>
                </a:lnTo>
                <a:lnTo>
                  <a:pt x="0" y="258292"/>
                </a:lnTo>
                <a:lnTo>
                  <a:pt x="4165" y="304723"/>
                </a:lnTo>
                <a:lnTo>
                  <a:pt x="16154" y="348424"/>
                </a:lnTo>
                <a:lnTo>
                  <a:pt x="35267" y="388658"/>
                </a:lnTo>
                <a:lnTo>
                  <a:pt x="60744" y="424713"/>
                </a:lnTo>
                <a:lnTo>
                  <a:pt x="91884" y="455841"/>
                </a:lnTo>
                <a:lnTo>
                  <a:pt x="127927" y="481330"/>
                </a:lnTo>
                <a:lnTo>
                  <a:pt x="168173" y="500430"/>
                </a:lnTo>
                <a:lnTo>
                  <a:pt x="211874" y="512432"/>
                </a:lnTo>
                <a:lnTo>
                  <a:pt x="258292" y="516597"/>
                </a:lnTo>
                <a:lnTo>
                  <a:pt x="304723" y="512432"/>
                </a:lnTo>
                <a:lnTo>
                  <a:pt x="348424" y="500430"/>
                </a:lnTo>
                <a:lnTo>
                  <a:pt x="388658" y="481330"/>
                </a:lnTo>
                <a:lnTo>
                  <a:pt x="424713" y="455841"/>
                </a:lnTo>
                <a:lnTo>
                  <a:pt x="455841" y="424713"/>
                </a:lnTo>
                <a:lnTo>
                  <a:pt x="481330" y="388658"/>
                </a:lnTo>
                <a:lnTo>
                  <a:pt x="500430" y="348424"/>
                </a:lnTo>
                <a:lnTo>
                  <a:pt x="512432" y="304723"/>
                </a:lnTo>
                <a:lnTo>
                  <a:pt x="516597" y="258292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920729" y="1718938"/>
            <a:ext cx="240029" cy="847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350" baseline="-30864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40"/>
              </a:spcBef>
            </a:pPr>
            <a:endParaRPr sz="90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798490" y="2803019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10" y="479280"/>
                </a:lnTo>
                <a:lnTo>
                  <a:pt x="147866" y="465172"/>
                </a:lnTo>
                <a:lnTo>
                  <a:pt x="106742" y="442850"/>
                </a:lnTo>
                <a:lnTo>
                  <a:pt x="70912" y="413286"/>
                </a:lnTo>
                <a:lnTo>
                  <a:pt x="41348" y="377456"/>
                </a:lnTo>
                <a:lnTo>
                  <a:pt x="19026" y="336332"/>
                </a:lnTo>
                <a:lnTo>
                  <a:pt x="4918" y="290888"/>
                </a:lnTo>
                <a:lnTo>
                  <a:pt x="0" y="242099"/>
                </a:lnTo>
                <a:lnTo>
                  <a:pt x="4918" y="193310"/>
                </a:lnTo>
                <a:lnTo>
                  <a:pt x="19026" y="147866"/>
                </a:lnTo>
                <a:lnTo>
                  <a:pt x="41348" y="106742"/>
                </a:lnTo>
                <a:lnTo>
                  <a:pt x="70927" y="70899"/>
                </a:lnTo>
                <a:lnTo>
                  <a:pt x="106742" y="41348"/>
                </a:lnTo>
                <a:lnTo>
                  <a:pt x="147866" y="19026"/>
                </a:lnTo>
                <a:lnTo>
                  <a:pt x="193310" y="4918"/>
                </a:lnTo>
                <a:lnTo>
                  <a:pt x="242099" y="0"/>
                </a:lnTo>
                <a:lnTo>
                  <a:pt x="289559" y="4693"/>
                </a:lnTo>
                <a:lnTo>
                  <a:pt x="334758" y="18424"/>
                </a:lnTo>
                <a:lnTo>
                  <a:pt x="376427" y="40668"/>
                </a:lnTo>
                <a:lnTo>
                  <a:pt x="413309" y="70912"/>
                </a:lnTo>
                <a:lnTo>
                  <a:pt x="443530" y="107774"/>
                </a:lnTo>
                <a:lnTo>
                  <a:pt x="465774" y="149449"/>
                </a:lnTo>
                <a:lnTo>
                  <a:pt x="479505" y="194649"/>
                </a:lnTo>
                <a:lnTo>
                  <a:pt x="484199" y="242099"/>
                </a:lnTo>
                <a:lnTo>
                  <a:pt x="479281" y="290888"/>
                </a:lnTo>
                <a:lnTo>
                  <a:pt x="465176" y="336332"/>
                </a:lnTo>
                <a:lnTo>
                  <a:pt x="442856" y="377456"/>
                </a:lnTo>
                <a:lnTo>
                  <a:pt x="413296" y="413286"/>
                </a:lnTo>
                <a:lnTo>
                  <a:pt x="377467" y="442850"/>
                </a:lnTo>
                <a:lnTo>
                  <a:pt x="336342" y="465172"/>
                </a:lnTo>
                <a:lnTo>
                  <a:pt x="290895" y="479280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933432" y="2920528"/>
            <a:ext cx="21462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489587" y="2783669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10" y="479280"/>
                </a:lnTo>
                <a:lnTo>
                  <a:pt x="147866" y="465172"/>
                </a:lnTo>
                <a:lnTo>
                  <a:pt x="106742" y="442850"/>
                </a:lnTo>
                <a:lnTo>
                  <a:pt x="70912" y="413286"/>
                </a:lnTo>
                <a:lnTo>
                  <a:pt x="41348" y="377456"/>
                </a:lnTo>
                <a:lnTo>
                  <a:pt x="19026" y="336332"/>
                </a:lnTo>
                <a:lnTo>
                  <a:pt x="4918" y="290888"/>
                </a:lnTo>
                <a:lnTo>
                  <a:pt x="0" y="242099"/>
                </a:lnTo>
                <a:lnTo>
                  <a:pt x="4918" y="193310"/>
                </a:lnTo>
                <a:lnTo>
                  <a:pt x="19026" y="147866"/>
                </a:lnTo>
                <a:lnTo>
                  <a:pt x="41348" y="106742"/>
                </a:lnTo>
                <a:lnTo>
                  <a:pt x="70927" y="70899"/>
                </a:lnTo>
                <a:lnTo>
                  <a:pt x="106742" y="41348"/>
                </a:lnTo>
                <a:lnTo>
                  <a:pt x="147866" y="19026"/>
                </a:lnTo>
                <a:lnTo>
                  <a:pt x="193310" y="4918"/>
                </a:lnTo>
                <a:lnTo>
                  <a:pt x="242099" y="0"/>
                </a:lnTo>
                <a:lnTo>
                  <a:pt x="289559" y="4693"/>
                </a:lnTo>
                <a:lnTo>
                  <a:pt x="334758" y="18424"/>
                </a:lnTo>
                <a:lnTo>
                  <a:pt x="376427" y="40668"/>
                </a:lnTo>
                <a:lnTo>
                  <a:pt x="413309" y="70912"/>
                </a:lnTo>
                <a:lnTo>
                  <a:pt x="443530" y="107774"/>
                </a:lnTo>
                <a:lnTo>
                  <a:pt x="465774" y="149449"/>
                </a:lnTo>
                <a:lnTo>
                  <a:pt x="479505" y="194649"/>
                </a:lnTo>
                <a:lnTo>
                  <a:pt x="484199" y="242099"/>
                </a:lnTo>
                <a:lnTo>
                  <a:pt x="479281" y="290888"/>
                </a:lnTo>
                <a:lnTo>
                  <a:pt x="465176" y="336332"/>
                </a:lnTo>
                <a:lnTo>
                  <a:pt x="442856" y="377456"/>
                </a:lnTo>
                <a:lnTo>
                  <a:pt x="413296" y="413286"/>
                </a:lnTo>
                <a:lnTo>
                  <a:pt x="377467" y="442850"/>
                </a:lnTo>
                <a:lnTo>
                  <a:pt x="336342" y="465172"/>
                </a:lnTo>
                <a:lnTo>
                  <a:pt x="290895" y="479280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0097A7">
              <a:alpha val="4823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633526" y="2865814"/>
            <a:ext cx="1555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40" dirty="0">
                <a:solidFill>
                  <a:srgbClr val="FFFFFF"/>
                </a:solidFill>
                <a:latin typeface="Roboto"/>
                <a:cs typeface="Roboto"/>
              </a:rPr>
              <a:t>&gt;</a:t>
            </a:r>
            <a:endParaRPr sz="1800">
              <a:latin typeface="Roboto"/>
              <a:cs typeface="Roboto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273164" y="1834001"/>
            <a:ext cx="1445260" cy="1235075"/>
            <a:chOff x="5273164" y="1834001"/>
            <a:chExt cx="1445260" cy="1235075"/>
          </a:xfrm>
        </p:grpSpPr>
        <p:sp>
          <p:nvSpPr>
            <p:cNvPr id="12" name="object 12"/>
            <p:cNvSpPr/>
            <p:nvPr/>
          </p:nvSpPr>
          <p:spPr>
            <a:xfrm>
              <a:off x="5298889" y="1843526"/>
              <a:ext cx="1337310" cy="877569"/>
            </a:xfrm>
            <a:custGeom>
              <a:avLst/>
              <a:gdLst/>
              <a:ahLst/>
              <a:cxnLst/>
              <a:rect l="l" t="t" r="r" b="b"/>
              <a:pathLst>
                <a:path w="1337309" h="877569">
                  <a:moveTo>
                    <a:pt x="0" y="0"/>
                  </a:moveTo>
                  <a:lnTo>
                    <a:pt x="1337247" y="877493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09336" y="2685194"/>
              <a:ext cx="108599" cy="9277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282689" y="3027743"/>
              <a:ext cx="1092835" cy="17780"/>
            </a:xfrm>
            <a:custGeom>
              <a:avLst/>
              <a:gdLst/>
              <a:ahLst/>
              <a:cxnLst/>
              <a:rect l="l" t="t" r="r" b="b"/>
              <a:pathLst>
                <a:path w="1092835" h="17780">
                  <a:moveTo>
                    <a:pt x="0" y="17374"/>
                  </a:moveTo>
                  <a:lnTo>
                    <a:pt x="1092622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65286" y="2986743"/>
              <a:ext cx="105974" cy="8197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282689" y="2452422"/>
              <a:ext cx="1169035" cy="368300"/>
            </a:xfrm>
            <a:custGeom>
              <a:avLst/>
              <a:gdLst/>
              <a:ahLst/>
              <a:cxnLst/>
              <a:rect l="l" t="t" r="r" b="b"/>
              <a:pathLst>
                <a:path w="1169035" h="368300">
                  <a:moveTo>
                    <a:pt x="0" y="0"/>
                  </a:moveTo>
                  <a:lnTo>
                    <a:pt x="1168672" y="367971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32386" y="2780844"/>
              <a:ext cx="110974" cy="79099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4763896" y="1154189"/>
            <a:ext cx="5588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AA3F"/>
                </a:solidFill>
                <a:latin typeface="Arial"/>
                <a:cs typeface="Arial"/>
              </a:rPr>
              <a:t>inputs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501816" y="1154189"/>
            <a:ext cx="6877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77909C"/>
                </a:solidFill>
                <a:latin typeface="Arial"/>
                <a:cs typeface="Arial"/>
              </a:rPr>
              <a:t>weights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 rot="1980000">
            <a:off x="5678984" y="1913812"/>
            <a:ext cx="266211" cy="210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55"/>
              </a:lnSpc>
            </a:pPr>
            <a:r>
              <a:rPr sz="1400" b="1" spc="-185" dirty="0">
                <a:solidFill>
                  <a:srgbClr val="77909C"/>
                </a:solidFill>
                <a:latin typeface="Tahoma"/>
                <a:cs typeface="Tahoma"/>
              </a:rPr>
              <a:t>w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 rot="1980000">
            <a:off x="5764689" y="2090340"/>
            <a:ext cx="163257" cy="1143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900" b="1" spc="-114" dirty="0">
                <a:solidFill>
                  <a:srgbClr val="77909C"/>
                </a:solidFill>
                <a:latin typeface="Tahoma"/>
                <a:cs typeface="Tahoma"/>
              </a:rPr>
              <a:t>0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563484" y="2742803"/>
            <a:ext cx="276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77909C"/>
                </a:solidFill>
                <a:latin typeface="Tahoma"/>
                <a:cs typeface="Tahoma"/>
              </a:rPr>
              <a:t>w</a:t>
            </a:r>
            <a:r>
              <a:rPr sz="1350" b="1" spc="-37" baseline="-33950" dirty="0">
                <a:solidFill>
                  <a:srgbClr val="77909C"/>
                </a:solidFill>
                <a:latin typeface="Tahoma"/>
                <a:cs typeface="Tahoma"/>
              </a:rPr>
              <a:t>2</a:t>
            </a:r>
            <a:endParaRPr sz="1350" baseline="-3395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 rot="20700000">
            <a:off x="5547371" y="3190355"/>
            <a:ext cx="266749" cy="212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75"/>
              </a:lnSpc>
            </a:pPr>
            <a:r>
              <a:rPr sz="1400" b="1" spc="-185" dirty="0">
                <a:solidFill>
                  <a:srgbClr val="77909C"/>
                </a:solidFill>
                <a:latin typeface="Tahoma"/>
                <a:cs typeface="Tahoma"/>
              </a:rPr>
              <a:t>w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 rot="20700000">
            <a:off x="5720507" y="3295897"/>
            <a:ext cx="166183" cy="11430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900" b="1" spc="-70" dirty="0">
                <a:solidFill>
                  <a:srgbClr val="77909C"/>
                </a:solidFill>
                <a:latin typeface="Tahoma"/>
                <a:cs typeface="Tahoma"/>
              </a:rPr>
              <a:t>n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562622" y="1157332"/>
            <a:ext cx="3911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0097A7"/>
                </a:solidFill>
                <a:latin typeface="Arial"/>
                <a:cs typeface="Arial"/>
              </a:rPr>
              <a:t>sum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273164" y="2783669"/>
            <a:ext cx="3550920" cy="1456690"/>
            <a:chOff x="5273164" y="2783669"/>
            <a:chExt cx="3550920" cy="1456690"/>
          </a:xfrm>
        </p:grpSpPr>
        <p:sp>
          <p:nvSpPr>
            <p:cNvPr id="27" name="object 27"/>
            <p:cNvSpPr/>
            <p:nvPr/>
          </p:nvSpPr>
          <p:spPr>
            <a:xfrm>
              <a:off x="6973785" y="3025768"/>
              <a:ext cx="581660" cy="0"/>
            </a:xfrm>
            <a:custGeom>
              <a:avLst/>
              <a:gdLst/>
              <a:ahLst/>
              <a:cxnLst/>
              <a:rect l="l" t="t" r="r" b="b"/>
              <a:pathLst>
                <a:path w="581659">
                  <a:moveTo>
                    <a:pt x="0" y="0"/>
                  </a:moveTo>
                  <a:lnTo>
                    <a:pt x="5812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555034" y="301004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49"/>
                  </a:moveTo>
                  <a:lnTo>
                    <a:pt x="0" y="0"/>
                  </a:lnTo>
                  <a:lnTo>
                    <a:pt x="43224" y="15724"/>
                  </a:lnTo>
                  <a:lnTo>
                    <a:pt x="0" y="314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555034" y="301004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49"/>
                  </a:moveTo>
                  <a:lnTo>
                    <a:pt x="43224" y="15724"/>
                  </a:lnTo>
                  <a:lnTo>
                    <a:pt x="0" y="0"/>
                  </a:lnTo>
                  <a:lnTo>
                    <a:pt x="0" y="314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612184" y="2783669"/>
              <a:ext cx="484505" cy="484505"/>
            </a:xfrm>
            <a:custGeom>
              <a:avLst/>
              <a:gdLst/>
              <a:ahLst/>
              <a:cxnLst/>
              <a:rect l="l" t="t" r="r" b="b"/>
              <a:pathLst>
                <a:path w="484504" h="484504">
                  <a:moveTo>
                    <a:pt x="242099" y="484199"/>
                  </a:moveTo>
                  <a:lnTo>
                    <a:pt x="193310" y="479280"/>
                  </a:lnTo>
                  <a:lnTo>
                    <a:pt x="147866" y="465172"/>
                  </a:lnTo>
                  <a:lnTo>
                    <a:pt x="106742" y="442850"/>
                  </a:lnTo>
                  <a:lnTo>
                    <a:pt x="70912" y="413286"/>
                  </a:lnTo>
                  <a:lnTo>
                    <a:pt x="41348" y="377456"/>
                  </a:lnTo>
                  <a:lnTo>
                    <a:pt x="19026" y="336332"/>
                  </a:lnTo>
                  <a:lnTo>
                    <a:pt x="4918" y="290888"/>
                  </a:lnTo>
                  <a:lnTo>
                    <a:pt x="0" y="242099"/>
                  </a:lnTo>
                  <a:lnTo>
                    <a:pt x="4918" y="193310"/>
                  </a:lnTo>
                  <a:lnTo>
                    <a:pt x="19026" y="147866"/>
                  </a:lnTo>
                  <a:lnTo>
                    <a:pt x="41348" y="106742"/>
                  </a:lnTo>
                  <a:lnTo>
                    <a:pt x="70927" y="70899"/>
                  </a:lnTo>
                  <a:lnTo>
                    <a:pt x="106742" y="41348"/>
                  </a:lnTo>
                  <a:lnTo>
                    <a:pt x="147866" y="19026"/>
                  </a:lnTo>
                  <a:lnTo>
                    <a:pt x="193310" y="4918"/>
                  </a:lnTo>
                  <a:lnTo>
                    <a:pt x="242099" y="0"/>
                  </a:lnTo>
                  <a:lnTo>
                    <a:pt x="289559" y="4693"/>
                  </a:lnTo>
                  <a:lnTo>
                    <a:pt x="334758" y="18424"/>
                  </a:lnTo>
                  <a:lnTo>
                    <a:pt x="376427" y="40668"/>
                  </a:lnTo>
                  <a:lnTo>
                    <a:pt x="413309" y="70912"/>
                  </a:lnTo>
                  <a:lnTo>
                    <a:pt x="443530" y="107774"/>
                  </a:lnTo>
                  <a:lnTo>
                    <a:pt x="465774" y="149449"/>
                  </a:lnTo>
                  <a:lnTo>
                    <a:pt x="479505" y="194649"/>
                  </a:lnTo>
                  <a:lnTo>
                    <a:pt x="484199" y="242099"/>
                  </a:lnTo>
                  <a:lnTo>
                    <a:pt x="479281" y="290888"/>
                  </a:lnTo>
                  <a:lnTo>
                    <a:pt x="465176" y="336332"/>
                  </a:lnTo>
                  <a:lnTo>
                    <a:pt x="442856" y="377456"/>
                  </a:lnTo>
                  <a:lnTo>
                    <a:pt x="413296" y="413286"/>
                  </a:lnTo>
                  <a:lnTo>
                    <a:pt x="377467" y="442850"/>
                  </a:lnTo>
                  <a:lnTo>
                    <a:pt x="336342" y="465172"/>
                  </a:lnTo>
                  <a:lnTo>
                    <a:pt x="290895" y="479280"/>
                  </a:lnTo>
                  <a:lnTo>
                    <a:pt x="242099" y="484199"/>
                  </a:lnTo>
                  <a:close/>
                </a:path>
              </a:pathLst>
            </a:custGeom>
            <a:solidFill>
              <a:srgbClr val="0A2138">
                <a:alpha val="6807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096383" y="3025768"/>
              <a:ext cx="679450" cy="5715"/>
            </a:xfrm>
            <a:custGeom>
              <a:avLst/>
              <a:gdLst/>
              <a:ahLst/>
              <a:cxnLst/>
              <a:rect l="l" t="t" r="r" b="b"/>
              <a:pathLst>
                <a:path w="679450" h="5714">
                  <a:moveTo>
                    <a:pt x="0" y="0"/>
                  </a:moveTo>
                  <a:lnTo>
                    <a:pt x="679348" y="5524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775606" y="301556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74"/>
                  </a:moveTo>
                  <a:lnTo>
                    <a:pt x="249" y="0"/>
                  </a:lnTo>
                  <a:lnTo>
                    <a:pt x="43349" y="16074"/>
                  </a:lnTo>
                  <a:lnTo>
                    <a:pt x="0" y="3147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775606" y="301556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74"/>
                  </a:moveTo>
                  <a:lnTo>
                    <a:pt x="43349" y="16074"/>
                  </a:lnTo>
                  <a:lnTo>
                    <a:pt x="249" y="0"/>
                  </a:lnTo>
                  <a:lnTo>
                    <a:pt x="0" y="3147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732784" y="2907419"/>
              <a:ext cx="243204" cy="243204"/>
            </a:xfrm>
            <a:custGeom>
              <a:avLst/>
              <a:gdLst/>
              <a:ahLst/>
              <a:cxnLst/>
              <a:rect l="l" t="t" r="r" b="b"/>
              <a:pathLst>
                <a:path w="243204" h="243205">
                  <a:moveTo>
                    <a:pt x="242999" y="0"/>
                  </a:moveTo>
                  <a:lnTo>
                    <a:pt x="202657" y="10441"/>
                  </a:lnTo>
                  <a:lnTo>
                    <a:pt x="170859" y="37968"/>
                  </a:lnTo>
                  <a:lnTo>
                    <a:pt x="144755" y="76886"/>
                  </a:lnTo>
                  <a:lnTo>
                    <a:pt x="121499" y="121499"/>
                  </a:lnTo>
                  <a:lnTo>
                    <a:pt x="98243" y="166112"/>
                  </a:lnTo>
                  <a:lnTo>
                    <a:pt x="72140" y="205030"/>
                  </a:lnTo>
                  <a:lnTo>
                    <a:pt x="40341" y="232558"/>
                  </a:lnTo>
                  <a:lnTo>
                    <a:pt x="0" y="242999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282689" y="3331068"/>
              <a:ext cx="1353820" cy="899794"/>
            </a:xfrm>
            <a:custGeom>
              <a:avLst/>
              <a:gdLst/>
              <a:ahLst/>
              <a:cxnLst/>
              <a:rect l="l" t="t" r="r" b="b"/>
              <a:pathLst>
                <a:path w="1353820" h="899795">
                  <a:moveTo>
                    <a:pt x="0" y="899448"/>
                  </a:moveTo>
                  <a:lnTo>
                    <a:pt x="1353797" y="0"/>
                  </a:lnTo>
                </a:path>
              </a:pathLst>
            </a:custGeom>
            <a:ln w="19049">
              <a:solidFill>
                <a:srgbClr val="93C3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09561" y="3273693"/>
              <a:ext cx="108449" cy="93099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7453494" y="1157332"/>
            <a:ext cx="10922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0A2138"/>
                </a:solidFill>
                <a:latin typeface="Arial"/>
                <a:cs typeface="Arial"/>
              </a:rPr>
              <a:t>non-linearity</a:t>
            </a:r>
            <a:endParaRPr sz="14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 rot="19680000">
            <a:off x="5599447" y="3768957"/>
            <a:ext cx="206698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400" b="1" spc="-114" dirty="0">
                <a:solidFill>
                  <a:srgbClr val="93C37C"/>
                </a:solidFill>
                <a:latin typeface="Tahoma"/>
                <a:cs typeface="Tahoma"/>
              </a:rPr>
              <a:t>b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782290" y="3395718"/>
            <a:ext cx="501015" cy="1076960"/>
            <a:chOff x="4782290" y="3395718"/>
            <a:chExt cx="501015" cy="1076960"/>
          </a:xfrm>
        </p:grpSpPr>
        <p:sp>
          <p:nvSpPr>
            <p:cNvPr id="40" name="object 40"/>
            <p:cNvSpPr/>
            <p:nvPr/>
          </p:nvSpPr>
          <p:spPr>
            <a:xfrm>
              <a:off x="4798490" y="3988417"/>
              <a:ext cx="484505" cy="484505"/>
            </a:xfrm>
            <a:custGeom>
              <a:avLst/>
              <a:gdLst/>
              <a:ahLst/>
              <a:cxnLst/>
              <a:rect l="l" t="t" r="r" b="b"/>
              <a:pathLst>
                <a:path w="484504" h="484504">
                  <a:moveTo>
                    <a:pt x="242099" y="484199"/>
                  </a:moveTo>
                  <a:lnTo>
                    <a:pt x="193310" y="479280"/>
                  </a:lnTo>
                  <a:lnTo>
                    <a:pt x="147866" y="465172"/>
                  </a:lnTo>
                  <a:lnTo>
                    <a:pt x="106742" y="442850"/>
                  </a:lnTo>
                  <a:lnTo>
                    <a:pt x="70912" y="413286"/>
                  </a:lnTo>
                  <a:lnTo>
                    <a:pt x="41348" y="377456"/>
                  </a:lnTo>
                  <a:lnTo>
                    <a:pt x="19026" y="336332"/>
                  </a:lnTo>
                  <a:lnTo>
                    <a:pt x="4918" y="290888"/>
                  </a:lnTo>
                  <a:lnTo>
                    <a:pt x="0" y="242099"/>
                  </a:lnTo>
                  <a:lnTo>
                    <a:pt x="4918" y="193303"/>
                  </a:lnTo>
                  <a:lnTo>
                    <a:pt x="19026" y="147856"/>
                  </a:lnTo>
                  <a:lnTo>
                    <a:pt x="41348" y="106731"/>
                  </a:lnTo>
                  <a:lnTo>
                    <a:pt x="70916" y="70899"/>
                  </a:lnTo>
                  <a:lnTo>
                    <a:pt x="106742" y="41342"/>
                  </a:lnTo>
                  <a:lnTo>
                    <a:pt x="147866" y="19023"/>
                  </a:lnTo>
                  <a:lnTo>
                    <a:pt x="193310" y="4917"/>
                  </a:lnTo>
                  <a:lnTo>
                    <a:pt x="242099" y="0"/>
                  </a:lnTo>
                  <a:lnTo>
                    <a:pt x="289559" y="4693"/>
                  </a:lnTo>
                  <a:lnTo>
                    <a:pt x="334758" y="18424"/>
                  </a:lnTo>
                  <a:lnTo>
                    <a:pt x="376427" y="40668"/>
                  </a:lnTo>
                  <a:lnTo>
                    <a:pt x="413301" y="70902"/>
                  </a:lnTo>
                  <a:lnTo>
                    <a:pt x="443530" y="107771"/>
                  </a:lnTo>
                  <a:lnTo>
                    <a:pt x="465774" y="149440"/>
                  </a:lnTo>
                  <a:lnTo>
                    <a:pt x="479505" y="194639"/>
                  </a:lnTo>
                  <a:lnTo>
                    <a:pt x="484199" y="242099"/>
                  </a:lnTo>
                  <a:lnTo>
                    <a:pt x="479281" y="290888"/>
                  </a:lnTo>
                  <a:lnTo>
                    <a:pt x="465176" y="336332"/>
                  </a:lnTo>
                  <a:lnTo>
                    <a:pt x="442856" y="377456"/>
                  </a:lnTo>
                  <a:lnTo>
                    <a:pt x="413296" y="413286"/>
                  </a:lnTo>
                  <a:lnTo>
                    <a:pt x="377467" y="442850"/>
                  </a:lnTo>
                  <a:lnTo>
                    <a:pt x="336342" y="465172"/>
                  </a:lnTo>
                  <a:lnTo>
                    <a:pt x="290895" y="479280"/>
                  </a:lnTo>
                  <a:lnTo>
                    <a:pt x="242099" y="484199"/>
                  </a:lnTo>
                  <a:close/>
                </a:path>
              </a:pathLst>
            </a:custGeom>
            <a:solidFill>
              <a:srgbClr val="93C3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782290" y="3395718"/>
              <a:ext cx="484505" cy="484505"/>
            </a:xfrm>
            <a:custGeom>
              <a:avLst/>
              <a:gdLst/>
              <a:ahLst/>
              <a:cxnLst/>
              <a:rect l="l" t="t" r="r" b="b"/>
              <a:pathLst>
                <a:path w="484504" h="484504">
                  <a:moveTo>
                    <a:pt x="242099" y="484199"/>
                  </a:moveTo>
                  <a:lnTo>
                    <a:pt x="193310" y="479280"/>
                  </a:lnTo>
                  <a:lnTo>
                    <a:pt x="147866" y="465172"/>
                  </a:lnTo>
                  <a:lnTo>
                    <a:pt x="106742" y="442850"/>
                  </a:lnTo>
                  <a:lnTo>
                    <a:pt x="70912" y="413286"/>
                  </a:lnTo>
                  <a:lnTo>
                    <a:pt x="41348" y="377456"/>
                  </a:lnTo>
                  <a:lnTo>
                    <a:pt x="19026" y="336332"/>
                  </a:lnTo>
                  <a:lnTo>
                    <a:pt x="4918" y="290888"/>
                  </a:lnTo>
                  <a:lnTo>
                    <a:pt x="0" y="242099"/>
                  </a:lnTo>
                  <a:lnTo>
                    <a:pt x="4918" y="193310"/>
                  </a:lnTo>
                  <a:lnTo>
                    <a:pt x="19026" y="147866"/>
                  </a:lnTo>
                  <a:lnTo>
                    <a:pt x="41348" y="106742"/>
                  </a:lnTo>
                  <a:lnTo>
                    <a:pt x="70927" y="70899"/>
                  </a:lnTo>
                  <a:lnTo>
                    <a:pt x="106742" y="41348"/>
                  </a:lnTo>
                  <a:lnTo>
                    <a:pt x="147866" y="19026"/>
                  </a:lnTo>
                  <a:lnTo>
                    <a:pt x="193310" y="4918"/>
                  </a:lnTo>
                  <a:lnTo>
                    <a:pt x="242099" y="0"/>
                  </a:lnTo>
                  <a:lnTo>
                    <a:pt x="289559" y="4693"/>
                  </a:lnTo>
                  <a:lnTo>
                    <a:pt x="334758" y="18424"/>
                  </a:lnTo>
                  <a:lnTo>
                    <a:pt x="376427" y="40668"/>
                  </a:lnTo>
                  <a:lnTo>
                    <a:pt x="413309" y="70912"/>
                  </a:lnTo>
                  <a:lnTo>
                    <a:pt x="443530" y="107771"/>
                  </a:lnTo>
                  <a:lnTo>
                    <a:pt x="465774" y="149440"/>
                  </a:lnTo>
                  <a:lnTo>
                    <a:pt x="479505" y="194639"/>
                  </a:lnTo>
                  <a:lnTo>
                    <a:pt x="484199" y="242099"/>
                  </a:lnTo>
                  <a:lnTo>
                    <a:pt x="479281" y="290888"/>
                  </a:lnTo>
                  <a:lnTo>
                    <a:pt x="465176" y="336332"/>
                  </a:lnTo>
                  <a:lnTo>
                    <a:pt x="442856" y="377456"/>
                  </a:lnTo>
                  <a:lnTo>
                    <a:pt x="413296" y="413286"/>
                  </a:lnTo>
                  <a:lnTo>
                    <a:pt x="377467" y="442850"/>
                  </a:lnTo>
                  <a:lnTo>
                    <a:pt x="336342" y="465172"/>
                  </a:lnTo>
                  <a:lnTo>
                    <a:pt x="290895" y="479280"/>
                  </a:lnTo>
                  <a:lnTo>
                    <a:pt x="242099" y="484199"/>
                  </a:lnTo>
                  <a:close/>
                </a:path>
              </a:pathLst>
            </a:custGeom>
            <a:solidFill>
              <a:srgbClr val="FFAA3F">
                <a:alpha val="5372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4901569" y="3513229"/>
            <a:ext cx="245745" cy="831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endParaRPr sz="1350" baseline="-30864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endParaRPr sz="900">
              <a:latin typeface="Tahoma"/>
              <a:cs typeface="Tahoma"/>
            </a:endParaRPr>
          </a:p>
          <a:p>
            <a:pPr marL="94615">
              <a:lnSpc>
                <a:spcPct val="100000"/>
              </a:lnSpc>
              <a:spcBef>
                <a:spcPts val="5"/>
              </a:spcBef>
            </a:pP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5256964" y="3194368"/>
            <a:ext cx="1287145" cy="453390"/>
            <a:chOff x="5256964" y="3194368"/>
            <a:chExt cx="1287145" cy="453390"/>
          </a:xfrm>
        </p:grpSpPr>
        <p:sp>
          <p:nvSpPr>
            <p:cNvPr id="44" name="object 44"/>
            <p:cNvSpPr/>
            <p:nvPr/>
          </p:nvSpPr>
          <p:spPr>
            <a:xfrm>
              <a:off x="5266489" y="3233693"/>
              <a:ext cx="1186180" cy="404495"/>
            </a:xfrm>
            <a:custGeom>
              <a:avLst/>
              <a:gdLst/>
              <a:ahLst/>
              <a:cxnLst/>
              <a:rect l="l" t="t" r="r" b="b"/>
              <a:pathLst>
                <a:path w="1186179" h="404495">
                  <a:moveTo>
                    <a:pt x="0" y="404124"/>
                  </a:moveTo>
                  <a:lnTo>
                    <a:pt x="1185722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32537" y="3194368"/>
              <a:ext cx="111024" cy="78624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 rot="1020000">
            <a:off x="5587121" y="2318974"/>
            <a:ext cx="266749" cy="210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55"/>
              </a:lnSpc>
            </a:pPr>
            <a:r>
              <a:rPr sz="1400" b="1" spc="-185" dirty="0">
                <a:solidFill>
                  <a:srgbClr val="77909C"/>
                </a:solidFill>
                <a:latin typeface="Tahoma"/>
                <a:cs typeface="Tahoma"/>
              </a:rPr>
              <a:t>w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7" name="object 47"/>
          <p:cNvSpPr txBox="1"/>
          <p:nvPr/>
        </p:nvSpPr>
        <p:spPr>
          <a:xfrm rot="1020000">
            <a:off x="5707044" y="2481151"/>
            <a:ext cx="164093" cy="1143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900" b="1" spc="-110" dirty="0">
                <a:solidFill>
                  <a:srgbClr val="77909C"/>
                </a:solidFill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253707" y="2742203"/>
            <a:ext cx="5784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341C75"/>
                </a:solidFill>
                <a:latin typeface="Arial"/>
                <a:cs typeface="Arial"/>
              </a:rPr>
              <a:t>output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9" name="object 4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76323" y="2089308"/>
            <a:ext cx="2619369" cy="304799"/>
          </a:xfrm>
          <a:prstGeom prst="rect">
            <a:avLst/>
          </a:prstGeom>
        </p:spPr>
      </p:pic>
      <p:sp>
        <p:nvSpPr>
          <p:cNvPr id="50" name="object 50"/>
          <p:cNvSpPr txBox="1"/>
          <p:nvPr/>
        </p:nvSpPr>
        <p:spPr>
          <a:xfrm>
            <a:off x="5566350" y="4636610"/>
            <a:ext cx="381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b="1" spc="-20" dirty="0">
                <a:solidFill>
                  <a:srgbClr val="93C37C"/>
                </a:solidFill>
                <a:latin typeface="Arial"/>
                <a:cs typeface="Arial"/>
              </a:rPr>
              <a:t>bias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Perceptron</a:t>
            </a:r>
            <a:r>
              <a:rPr spc="-165" dirty="0"/>
              <a:t> </a:t>
            </a:r>
            <a:r>
              <a:rPr dirty="0"/>
              <a:t>Forward</a:t>
            </a:r>
            <a:r>
              <a:rPr spc="-165" dirty="0"/>
              <a:t> </a:t>
            </a:r>
            <a:r>
              <a:rPr spc="-20" dirty="0"/>
              <a:t>Pass</a:t>
            </a:r>
          </a:p>
        </p:txBody>
      </p:sp>
      <p:sp>
        <p:nvSpPr>
          <p:cNvPr id="3" name="object 3"/>
          <p:cNvSpPr/>
          <p:nvPr/>
        </p:nvSpPr>
        <p:spPr>
          <a:xfrm>
            <a:off x="1739569" y="2072804"/>
            <a:ext cx="267970" cy="304800"/>
          </a:xfrm>
          <a:custGeom>
            <a:avLst/>
            <a:gdLst/>
            <a:ahLst/>
            <a:cxnLst/>
            <a:rect l="l" t="t" r="r" b="b"/>
            <a:pathLst>
              <a:path w="267969" h="304800">
                <a:moveTo>
                  <a:pt x="267601" y="44602"/>
                </a:moveTo>
                <a:lnTo>
                  <a:pt x="247738" y="7493"/>
                </a:lnTo>
                <a:lnTo>
                  <a:pt x="222999" y="0"/>
                </a:lnTo>
                <a:lnTo>
                  <a:pt x="44602" y="0"/>
                </a:lnTo>
                <a:lnTo>
                  <a:pt x="27241" y="3505"/>
                </a:lnTo>
                <a:lnTo>
                  <a:pt x="13055" y="13055"/>
                </a:lnTo>
                <a:lnTo>
                  <a:pt x="3505" y="27241"/>
                </a:lnTo>
                <a:lnTo>
                  <a:pt x="0" y="44602"/>
                </a:lnTo>
                <a:lnTo>
                  <a:pt x="0" y="260197"/>
                </a:lnTo>
                <a:lnTo>
                  <a:pt x="3505" y="277558"/>
                </a:lnTo>
                <a:lnTo>
                  <a:pt x="13055" y="291731"/>
                </a:lnTo>
                <a:lnTo>
                  <a:pt x="27241" y="301294"/>
                </a:lnTo>
                <a:lnTo>
                  <a:pt x="44602" y="304800"/>
                </a:lnTo>
                <a:lnTo>
                  <a:pt x="222999" y="304800"/>
                </a:lnTo>
                <a:lnTo>
                  <a:pt x="240360" y="301294"/>
                </a:lnTo>
                <a:lnTo>
                  <a:pt x="254533" y="291731"/>
                </a:lnTo>
                <a:lnTo>
                  <a:pt x="264096" y="277558"/>
                </a:lnTo>
                <a:lnTo>
                  <a:pt x="267601" y="260197"/>
                </a:lnTo>
                <a:lnTo>
                  <a:pt x="267601" y="44602"/>
                </a:lnTo>
                <a:close/>
              </a:path>
            </a:pathLst>
          </a:custGeom>
          <a:solidFill>
            <a:srgbClr val="1D72FF">
              <a:alpha val="1884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782286" y="1584388"/>
            <a:ext cx="516890" cy="1109345"/>
          </a:xfrm>
          <a:custGeom>
            <a:avLst/>
            <a:gdLst/>
            <a:ahLst/>
            <a:cxnLst/>
            <a:rect l="l" t="t" r="r" b="b"/>
            <a:pathLst>
              <a:path w="516889" h="1109345">
                <a:moveTo>
                  <a:pt x="500392" y="867194"/>
                </a:moveTo>
                <a:lnTo>
                  <a:pt x="495706" y="819746"/>
                </a:lnTo>
                <a:lnTo>
                  <a:pt x="481977" y="774547"/>
                </a:lnTo>
                <a:lnTo>
                  <a:pt x="459727" y="732878"/>
                </a:lnTo>
                <a:lnTo>
                  <a:pt x="429501" y="696010"/>
                </a:lnTo>
                <a:lnTo>
                  <a:pt x="392620" y="665772"/>
                </a:lnTo>
                <a:lnTo>
                  <a:pt x="350951" y="643521"/>
                </a:lnTo>
                <a:lnTo>
                  <a:pt x="305752" y="629793"/>
                </a:lnTo>
                <a:lnTo>
                  <a:pt x="258292" y="625094"/>
                </a:lnTo>
                <a:lnTo>
                  <a:pt x="209511" y="630021"/>
                </a:lnTo>
                <a:lnTo>
                  <a:pt x="164058" y="644118"/>
                </a:lnTo>
                <a:lnTo>
                  <a:pt x="122936" y="666445"/>
                </a:lnTo>
                <a:lnTo>
                  <a:pt x="87109" y="696010"/>
                </a:lnTo>
                <a:lnTo>
                  <a:pt x="57543" y="731837"/>
                </a:lnTo>
                <a:lnTo>
                  <a:pt x="35229" y="772960"/>
                </a:lnTo>
                <a:lnTo>
                  <a:pt x="21120" y="818400"/>
                </a:lnTo>
                <a:lnTo>
                  <a:pt x="16192" y="867194"/>
                </a:lnTo>
                <a:lnTo>
                  <a:pt x="21120" y="915987"/>
                </a:lnTo>
                <a:lnTo>
                  <a:pt x="35229" y="961440"/>
                </a:lnTo>
                <a:lnTo>
                  <a:pt x="57543" y="1002563"/>
                </a:lnTo>
                <a:lnTo>
                  <a:pt x="87109" y="1038390"/>
                </a:lnTo>
                <a:lnTo>
                  <a:pt x="122936" y="1067943"/>
                </a:lnTo>
                <a:lnTo>
                  <a:pt x="164058" y="1090269"/>
                </a:lnTo>
                <a:lnTo>
                  <a:pt x="209511" y="1104366"/>
                </a:lnTo>
                <a:lnTo>
                  <a:pt x="258292" y="1109281"/>
                </a:lnTo>
                <a:lnTo>
                  <a:pt x="307098" y="1104366"/>
                </a:lnTo>
                <a:lnTo>
                  <a:pt x="352539" y="1090269"/>
                </a:lnTo>
                <a:lnTo>
                  <a:pt x="393661" y="1067943"/>
                </a:lnTo>
                <a:lnTo>
                  <a:pt x="429488" y="1038390"/>
                </a:lnTo>
                <a:lnTo>
                  <a:pt x="459054" y="1002563"/>
                </a:lnTo>
                <a:lnTo>
                  <a:pt x="481368" y="961440"/>
                </a:lnTo>
                <a:lnTo>
                  <a:pt x="495477" y="915987"/>
                </a:lnTo>
                <a:lnTo>
                  <a:pt x="500392" y="867194"/>
                </a:lnTo>
                <a:close/>
              </a:path>
              <a:path w="516889" h="1109345">
                <a:moveTo>
                  <a:pt x="516597" y="258305"/>
                </a:moveTo>
                <a:lnTo>
                  <a:pt x="511594" y="207670"/>
                </a:lnTo>
                <a:lnTo>
                  <a:pt x="496938" y="159461"/>
                </a:lnTo>
                <a:lnTo>
                  <a:pt x="473202" y="114998"/>
                </a:lnTo>
                <a:lnTo>
                  <a:pt x="440944" y="75653"/>
                </a:lnTo>
                <a:lnTo>
                  <a:pt x="401599" y="43395"/>
                </a:lnTo>
                <a:lnTo>
                  <a:pt x="357136" y="19659"/>
                </a:lnTo>
                <a:lnTo>
                  <a:pt x="308927" y="5016"/>
                </a:lnTo>
                <a:lnTo>
                  <a:pt x="258292" y="0"/>
                </a:lnTo>
                <a:lnTo>
                  <a:pt x="211874" y="4165"/>
                </a:lnTo>
                <a:lnTo>
                  <a:pt x="168173" y="16167"/>
                </a:lnTo>
                <a:lnTo>
                  <a:pt x="127927" y="35267"/>
                </a:lnTo>
                <a:lnTo>
                  <a:pt x="91884" y="60756"/>
                </a:lnTo>
                <a:lnTo>
                  <a:pt x="60744" y="91884"/>
                </a:lnTo>
                <a:lnTo>
                  <a:pt x="35267" y="127927"/>
                </a:lnTo>
                <a:lnTo>
                  <a:pt x="16154" y="168173"/>
                </a:lnTo>
                <a:lnTo>
                  <a:pt x="4165" y="211874"/>
                </a:lnTo>
                <a:lnTo>
                  <a:pt x="0" y="258305"/>
                </a:lnTo>
                <a:lnTo>
                  <a:pt x="4165" y="304736"/>
                </a:lnTo>
                <a:lnTo>
                  <a:pt x="16154" y="348424"/>
                </a:lnTo>
                <a:lnTo>
                  <a:pt x="35267" y="388670"/>
                </a:lnTo>
                <a:lnTo>
                  <a:pt x="60744" y="424726"/>
                </a:lnTo>
                <a:lnTo>
                  <a:pt x="91884" y="455853"/>
                </a:lnTo>
                <a:lnTo>
                  <a:pt x="127927" y="481330"/>
                </a:lnTo>
                <a:lnTo>
                  <a:pt x="168173" y="500443"/>
                </a:lnTo>
                <a:lnTo>
                  <a:pt x="211874" y="512445"/>
                </a:lnTo>
                <a:lnTo>
                  <a:pt x="258292" y="516597"/>
                </a:lnTo>
                <a:lnTo>
                  <a:pt x="304723" y="512445"/>
                </a:lnTo>
                <a:lnTo>
                  <a:pt x="348424" y="500443"/>
                </a:lnTo>
                <a:lnTo>
                  <a:pt x="388658" y="481330"/>
                </a:lnTo>
                <a:lnTo>
                  <a:pt x="424713" y="455853"/>
                </a:lnTo>
                <a:lnTo>
                  <a:pt x="455841" y="424726"/>
                </a:lnTo>
                <a:lnTo>
                  <a:pt x="481330" y="388670"/>
                </a:lnTo>
                <a:lnTo>
                  <a:pt x="500430" y="348424"/>
                </a:lnTo>
                <a:lnTo>
                  <a:pt x="512432" y="304736"/>
                </a:lnTo>
                <a:lnTo>
                  <a:pt x="516597" y="258305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920729" y="1718100"/>
            <a:ext cx="240029" cy="847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3950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350" baseline="-339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40"/>
              </a:spcBef>
            </a:pPr>
            <a:endParaRPr sz="90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798490" y="2802169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10" y="479281"/>
                </a:lnTo>
                <a:lnTo>
                  <a:pt x="147866" y="465176"/>
                </a:lnTo>
                <a:lnTo>
                  <a:pt x="106742" y="442856"/>
                </a:lnTo>
                <a:lnTo>
                  <a:pt x="70912" y="413296"/>
                </a:lnTo>
                <a:lnTo>
                  <a:pt x="41348" y="377467"/>
                </a:lnTo>
                <a:lnTo>
                  <a:pt x="19026" y="336342"/>
                </a:lnTo>
                <a:lnTo>
                  <a:pt x="4918" y="290895"/>
                </a:lnTo>
                <a:lnTo>
                  <a:pt x="0" y="242099"/>
                </a:lnTo>
                <a:lnTo>
                  <a:pt x="4918" y="193310"/>
                </a:lnTo>
                <a:lnTo>
                  <a:pt x="19026" y="147866"/>
                </a:lnTo>
                <a:lnTo>
                  <a:pt x="41348" y="106742"/>
                </a:lnTo>
                <a:lnTo>
                  <a:pt x="70912" y="70912"/>
                </a:lnTo>
                <a:lnTo>
                  <a:pt x="106742" y="41348"/>
                </a:lnTo>
                <a:lnTo>
                  <a:pt x="147866" y="19026"/>
                </a:lnTo>
                <a:lnTo>
                  <a:pt x="193310" y="4918"/>
                </a:lnTo>
                <a:lnTo>
                  <a:pt x="242099" y="0"/>
                </a:lnTo>
                <a:lnTo>
                  <a:pt x="289559" y="4697"/>
                </a:lnTo>
                <a:lnTo>
                  <a:pt x="334758" y="18437"/>
                </a:lnTo>
                <a:lnTo>
                  <a:pt x="376427" y="40689"/>
                </a:lnTo>
                <a:lnTo>
                  <a:pt x="413299" y="70924"/>
                </a:lnTo>
                <a:lnTo>
                  <a:pt x="443530" y="107795"/>
                </a:lnTo>
                <a:lnTo>
                  <a:pt x="465774" y="149462"/>
                </a:lnTo>
                <a:lnTo>
                  <a:pt x="479505" y="194653"/>
                </a:lnTo>
                <a:lnTo>
                  <a:pt x="484199" y="242099"/>
                </a:lnTo>
                <a:lnTo>
                  <a:pt x="479281" y="290895"/>
                </a:lnTo>
                <a:lnTo>
                  <a:pt x="465176" y="336342"/>
                </a:lnTo>
                <a:lnTo>
                  <a:pt x="442856" y="377467"/>
                </a:lnTo>
                <a:lnTo>
                  <a:pt x="413296" y="413296"/>
                </a:lnTo>
                <a:lnTo>
                  <a:pt x="377467" y="442856"/>
                </a:lnTo>
                <a:lnTo>
                  <a:pt x="336342" y="465176"/>
                </a:lnTo>
                <a:lnTo>
                  <a:pt x="290895" y="479281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933432" y="2919690"/>
            <a:ext cx="21462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489587" y="2782819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10" y="479281"/>
                </a:lnTo>
                <a:lnTo>
                  <a:pt x="147866" y="465176"/>
                </a:lnTo>
                <a:lnTo>
                  <a:pt x="106742" y="442856"/>
                </a:lnTo>
                <a:lnTo>
                  <a:pt x="70912" y="413296"/>
                </a:lnTo>
                <a:lnTo>
                  <a:pt x="41348" y="377467"/>
                </a:lnTo>
                <a:lnTo>
                  <a:pt x="19026" y="336342"/>
                </a:lnTo>
                <a:lnTo>
                  <a:pt x="4918" y="290895"/>
                </a:lnTo>
                <a:lnTo>
                  <a:pt x="0" y="242099"/>
                </a:lnTo>
                <a:lnTo>
                  <a:pt x="4918" y="193310"/>
                </a:lnTo>
                <a:lnTo>
                  <a:pt x="19026" y="147866"/>
                </a:lnTo>
                <a:lnTo>
                  <a:pt x="41348" y="106742"/>
                </a:lnTo>
                <a:lnTo>
                  <a:pt x="70912" y="70912"/>
                </a:lnTo>
                <a:lnTo>
                  <a:pt x="106742" y="41348"/>
                </a:lnTo>
                <a:lnTo>
                  <a:pt x="147866" y="19026"/>
                </a:lnTo>
                <a:lnTo>
                  <a:pt x="193310" y="4918"/>
                </a:lnTo>
                <a:lnTo>
                  <a:pt x="242099" y="0"/>
                </a:lnTo>
                <a:lnTo>
                  <a:pt x="289559" y="4697"/>
                </a:lnTo>
                <a:lnTo>
                  <a:pt x="334758" y="18437"/>
                </a:lnTo>
                <a:lnTo>
                  <a:pt x="376427" y="40689"/>
                </a:lnTo>
                <a:lnTo>
                  <a:pt x="413299" y="70924"/>
                </a:lnTo>
                <a:lnTo>
                  <a:pt x="443530" y="107795"/>
                </a:lnTo>
                <a:lnTo>
                  <a:pt x="465774" y="149462"/>
                </a:lnTo>
                <a:lnTo>
                  <a:pt x="479505" y="194653"/>
                </a:lnTo>
                <a:lnTo>
                  <a:pt x="484199" y="242099"/>
                </a:lnTo>
                <a:lnTo>
                  <a:pt x="479281" y="290895"/>
                </a:lnTo>
                <a:lnTo>
                  <a:pt x="465176" y="336342"/>
                </a:lnTo>
                <a:lnTo>
                  <a:pt x="442856" y="377467"/>
                </a:lnTo>
                <a:lnTo>
                  <a:pt x="413296" y="413296"/>
                </a:lnTo>
                <a:lnTo>
                  <a:pt x="377467" y="442856"/>
                </a:lnTo>
                <a:lnTo>
                  <a:pt x="336342" y="465176"/>
                </a:lnTo>
                <a:lnTo>
                  <a:pt x="290895" y="479281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0097A7">
              <a:alpha val="4823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633526" y="2864975"/>
            <a:ext cx="1555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40" dirty="0">
                <a:solidFill>
                  <a:srgbClr val="FFFFFF"/>
                </a:solidFill>
                <a:latin typeface="Roboto"/>
                <a:cs typeface="Roboto"/>
              </a:rPr>
              <a:t>&gt;</a:t>
            </a:r>
            <a:endParaRPr sz="1800">
              <a:latin typeface="Roboto"/>
              <a:cs typeface="Roboto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273164" y="1833158"/>
            <a:ext cx="1445260" cy="1235075"/>
            <a:chOff x="5273164" y="1833158"/>
            <a:chExt cx="1445260" cy="1235075"/>
          </a:xfrm>
        </p:grpSpPr>
        <p:sp>
          <p:nvSpPr>
            <p:cNvPr id="11" name="object 11"/>
            <p:cNvSpPr/>
            <p:nvPr/>
          </p:nvSpPr>
          <p:spPr>
            <a:xfrm>
              <a:off x="5298889" y="1842683"/>
              <a:ext cx="1337310" cy="877569"/>
            </a:xfrm>
            <a:custGeom>
              <a:avLst/>
              <a:gdLst/>
              <a:ahLst/>
              <a:cxnLst/>
              <a:rect l="l" t="t" r="r" b="b"/>
              <a:pathLst>
                <a:path w="1337309" h="877569">
                  <a:moveTo>
                    <a:pt x="0" y="0"/>
                  </a:moveTo>
                  <a:lnTo>
                    <a:pt x="1337247" y="877485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09336" y="2684344"/>
              <a:ext cx="108599" cy="9277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282689" y="3026893"/>
              <a:ext cx="1092835" cy="17780"/>
            </a:xfrm>
            <a:custGeom>
              <a:avLst/>
              <a:gdLst/>
              <a:ahLst/>
              <a:cxnLst/>
              <a:rect l="l" t="t" r="r" b="b"/>
              <a:pathLst>
                <a:path w="1092835" h="17780">
                  <a:moveTo>
                    <a:pt x="0" y="17374"/>
                  </a:moveTo>
                  <a:lnTo>
                    <a:pt x="1092622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65286" y="2985919"/>
              <a:ext cx="105974" cy="8194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282689" y="2451580"/>
              <a:ext cx="1169035" cy="368300"/>
            </a:xfrm>
            <a:custGeom>
              <a:avLst/>
              <a:gdLst/>
              <a:ahLst/>
              <a:cxnLst/>
              <a:rect l="l" t="t" r="r" b="b"/>
              <a:pathLst>
                <a:path w="1169035" h="368300">
                  <a:moveTo>
                    <a:pt x="0" y="0"/>
                  </a:moveTo>
                  <a:lnTo>
                    <a:pt x="1168672" y="367964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32386" y="2780019"/>
              <a:ext cx="110974" cy="79074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4763896" y="1153341"/>
            <a:ext cx="5588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AA3F"/>
                </a:solidFill>
                <a:latin typeface="Arial"/>
                <a:cs typeface="Arial"/>
              </a:rPr>
              <a:t>inputs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501816" y="1153341"/>
            <a:ext cx="6877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77909C"/>
                </a:solidFill>
                <a:latin typeface="Arial"/>
                <a:cs typeface="Arial"/>
              </a:rPr>
              <a:t>weights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 rot="1980000">
            <a:off x="5678984" y="1912974"/>
            <a:ext cx="266211" cy="210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55"/>
              </a:lnSpc>
            </a:pPr>
            <a:r>
              <a:rPr sz="1400" b="1" spc="-185" dirty="0">
                <a:solidFill>
                  <a:srgbClr val="77909C"/>
                </a:solidFill>
                <a:latin typeface="Tahoma"/>
                <a:cs typeface="Tahoma"/>
              </a:rPr>
              <a:t>w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 rot="1980000">
            <a:off x="5764689" y="2089502"/>
            <a:ext cx="163257" cy="1143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900" b="1" spc="-114" dirty="0">
                <a:solidFill>
                  <a:srgbClr val="77909C"/>
                </a:solidFill>
                <a:latin typeface="Tahoma"/>
                <a:cs typeface="Tahoma"/>
              </a:rPr>
              <a:t>0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563484" y="2741965"/>
            <a:ext cx="276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77909C"/>
                </a:solidFill>
                <a:latin typeface="Tahoma"/>
                <a:cs typeface="Tahoma"/>
              </a:rPr>
              <a:t>w</a:t>
            </a:r>
            <a:r>
              <a:rPr sz="1350" b="1" spc="-37" baseline="-30864" dirty="0">
                <a:solidFill>
                  <a:srgbClr val="77909C"/>
                </a:solidFill>
                <a:latin typeface="Tahoma"/>
                <a:cs typeface="Tahoma"/>
              </a:rPr>
              <a:t>2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 rot="20700000">
            <a:off x="5547371" y="3189507"/>
            <a:ext cx="266749" cy="212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75"/>
              </a:lnSpc>
            </a:pPr>
            <a:r>
              <a:rPr sz="1400" b="1" spc="-185" dirty="0">
                <a:solidFill>
                  <a:srgbClr val="77909C"/>
                </a:solidFill>
                <a:latin typeface="Tahoma"/>
                <a:cs typeface="Tahoma"/>
              </a:rPr>
              <a:t>w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 rot="20700000">
            <a:off x="5720507" y="3295049"/>
            <a:ext cx="166183" cy="11430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900" b="1" spc="-70" dirty="0">
                <a:solidFill>
                  <a:srgbClr val="77909C"/>
                </a:solidFill>
                <a:latin typeface="Tahoma"/>
                <a:cs typeface="Tahoma"/>
              </a:rPr>
              <a:t>n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562622" y="1156494"/>
            <a:ext cx="3911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0097A7"/>
                </a:solidFill>
                <a:latin typeface="Arial"/>
                <a:cs typeface="Arial"/>
              </a:rPr>
              <a:t>sum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273164" y="2782819"/>
            <a:ext cx="3550285" cy="1456690"/>
            <a:chOff x="5273164" y="2782819"/>
            <a:chExt cx="3550285" cy="1456690"/>
          </a:xfrm>
        </p:grpSpPr>
        <p:sp>
          <p:nvSpPr>
            <p:cNvPr id="26" name="object 26"/>
            <p:cNvSpPr/>
            <p:nvPr/>
          </p:nvSpPr>
          <p:spPr>
            <a:xfrm>
              <a:off x="6973785" y="3024918"/>
              <a:ext cx="581660" cy="0"/>
            </a:xfrm>
            <a:custGeom>
              <a:avLst/>
              <a:gdLst/>
              <a:ahLst/>
              <a:cxnLst/>
              <a:rect l="l" t="t" r="r" b="b"/>
              <a:pathLst>
                <a:path w="581659">
                  <a:moveTo>
                    <a:pt x="0" y="0"/>
                  </a:moveTo>
                  <a:lnTo>
                    <a:pt x="5812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55034" y="30091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74"/>
                  </a:moveTo>
                  <a:lnTo>
                    <a:pt x="0" y="0"/>
                  </a:lnTo>
                  <a:lnTo>
                    <a:pt x="43224" y="15724"/>
                  </a:lnTo>
                  <a:lnTo>
                    <a:pt x="0" y="3147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555034" y="30091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74"/>
                  </a:moveTo>
                  <a:lnTo>
                    <a:pt x="43224" y="15724"/>
                  </a:lnTo>
                  <a:lnTo>
                    <a:pt x="0" y="0"/>
                  </a:lnTo>
                  <a:lnTo>
                    <a:pt x="0" y="3147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612184" y="2782819"/>
              <a:ext cx="484505" cy="484505"/>
            </a:xfrm>
            <a:custGeom>
              <a:avLst/>
              <a:gdLst/>
              <a:ahLst/>
              <a:cxnLst/>
              <a:rect l="l" t="t" r="r" b="b"/>
              <a:pathLst>
                <a:path w="484504" h="484504">
                  <a:moveTo>
                    <a:pt x="242099" y="484199"/>
                  </a:moveTo>
                  <a:lnTo>
                    <a:pt x="193310" y="479281"/>
                  </a:lnTo>
                  <a:lnTo>
                    <a:pt x="147866" y="465176"/>
                  </a:lnTo>
                  <a:lnTo>
                    <a:pt x="106742" y="442856"/>
                  </a:lnTo>
                  <a:lnTo>
                    <a:pt x="70912" y="413296"/>
                  </a:lnTo>
                  <a:lnTo>
                    <a:pt x="41348" y="377467"/>
                  </a:lnTo>
                  <a:lnTo>
                    <a:pt x="19026" y="336342"/>
                  </a:lnTo>
                  <a:lnTo>
                    <a:pt x="4918" y="290895"/>
                  </a:lnTo>
                  <a:lnTo>
                    <a:pt x="0" y="242099"/>
                  </a:lnTo>
                  <a:lnTo>
                    <a:pt x="4918" y="193310"/>
                  </a:lnTo>
                  <a:lnTo>
                    <a:pt x="19026" y="147866"/>
                  </a:lnTo>
                  <a:lnTo>
                    <a:pt x="41348" y="106742"/>
                  </a:lnTo>
                  <a:lnTo>
                    <a:pt x="70912" y="70912"/>
                  </a:lnTo>
                  <a:lnTo>
                    <a:pt x="106742" y="41348"/>
                  </a:lnTo>
                  <a:lnTo>
                    <a:pt x="147866" y="19026"/>
                  </a:lnTo>
                  <a:lnTo>
                    <a:pt x="193310" y="4918"/>
                  </a:lnTo>
                  <a:lnTo>
                    <a:pt x="242099" y="0"/>
                  </a:lnTo>
                  <a:lnTo>
                    <a:pt x="289559" y="4697"/>
                  </a:lnTo>
                  <a:lnTo>
                    <a:pt x="334758" y="18437"/>
                  </a:lnTo>
                  <a:lnTo>
                    <a:pt x="376427" y="40689"/>
                  </a:lnTo>
                  <a:lnTo>
                    <a:pt x="413299" y="70924"/>
                  </a:lnTo>
                  <a:lnTo>
                    <a:pt x="443530" y="107795"/>
                  </a:lnTo>
                  <a:lnTo>
                    <a:pt x="465774" y="149462"/>
                  </a:lnTo>
                  <a:lnTo>
                    <a:pt x="479505" y="194653"/>
                  </a:lnTo>
                  <a:lnTo>
                    <a:pt x="484199" y="242099"/>
                  </a:lnTo>
                  <a:lnTo>
                    <a:pt x="479281" y="290895"/>
                  </a:lnTo>
                  <a:lnTo>
                    <a:pt x="465176" y="336342"/>
                  </a:lnTo>
                  <a:lnTo>
                    <a:pt x="442856" y="377467"/>
                  </a:lnTo>
                  <a:lnTo>
                    <a:pt x="413296" y="413296"/>
                  </a:lnTo>
                  <a:lnTo>
                    <a:pt x="377467" y="442856"/>
                  </a:lnTo>
                  <a:lnTo>
                    <a:pt x="336342" y="465176"/>
                  </a:lnTo>
                  <a:lnTo>
                    <a:pt x="290895" y="479281"/>
                  </a:lnTo>
                  <a:lnTo>
                    <a:pt x="242099" y="484199"/>
                  </a:lnTo>
                  <a:close/>
                </a:path>
              </a:pathLst>
            </a:custGeom>
            <a:solidFill>
              <a:srgbClr val="0A2138">
                <a:alpha val="6807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096383" y="3024918"/>
              <a:ext cx="678815" cy="6350"/>
            </a:xfrm>
            <a:custGeom>
              <a:avLst/>
              <a:gdLst/>
              <a:ahLst/>
              <a:cxnLst/>
              <a:rect l="l" t="t" r="r" b="b"/>
              <a:pathLst>
                <a:path w="678815" h="6350">
                  <a:moveTo>
                    <a:pt x="0" y="0"/>
                  </a:moveTo>
                  <a:lnTo>
                    <a:pt x="678748" y="5824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775007" y="30149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74"/>
                  </a:moveTo>
                  <a:lnTo>
                    <a:pt x="274" y="0"/>
                  </a:lnTo>
                  <a:lnTo>
                    <a:pt x="43349" y="16124"/>
                  </a:lnTo>
                  <a:lnTo>
                    <a:pt x="0" y="3147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775007" y="30149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74"/>
                  </a:moveTo>
                  <a:lnTo>
                    <a:pt x="43349" y="16124"/>
                  </a:lnTo>
                  <a:lnTo>
                    <a:pt x="274" y="0"/>
                  </a:lnTo>
                  <a:lnTo>
                    <a:pt x="0" y="3147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732784" y="2906569"/>
              <a:ext cx="243204" cy="243204"/>
            </a:xfrm>
            <a:custGeom>
              <a:avLst/>
              <a:gdLst/>
              <a:ahLst/>
              <a:cxnLst/>
              <a:rect l="l" t="t" r="r" b="b"/>
              <a:pathLst>
                <a:path w="243204" h="243205">
                  <a:moveTo>
                    <a:pt x="242999" y="0"/>
                  </a:moveTo>
                  <a:lnTo>
                    <a:pt x="202657" y="10441"/>
                  </a:lnTo>
                  <a:lnTo>
                    <a:pt x="170859" y="37968"/>
                  </a:lnTo>
                  <a:lnTo>
                    <a:pt x="144755" y="76886"/>
                  </a:lnTo>
                  <a:lnTo>
                    <a:pt x="121499" y="121499"/>
                  </a:lnTo>
                  <a:lnTo>
                    <a:pt x="98243" y="166112"/>
                  </a:lnTo>
                  <a:lnTo>
                    <a:pt x="72140" y="205030"/>
                  </a:lnTo>
                  <a:lnTo>
                    <a:pt x="40341" y="232558"/>
                  </a:lnTo>
                  <a:lnTo>
                    <a:pt x="0" y="242999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282689" y="3330218"/>
              <a:ext cx="1353820" cy="899794"/>
            </a:xfrm>
            <a:custGeom>
              <a:avLst/>
              <a:gdLst/>
              <a:ahLst/>
              <a:cxnLst/>
              <a:rect l="l" t="t" r="r" b="b"/>
              <a:pathLst>
                <a:path w="1353820" h="899795">
                  <a:moveTo>
                    <a:pt x="0" y="899448"/>
                  </a:moveTo>
                  <a:lnTo>
                    <a:pt x="1353797" y="0"/>
                  </a:lnTo>
                </a:path>
              </a:pathLst>
            </a:custGeom>
            <a:ln w="19049">
              <a:solidFill>
                <a:srgbClr val="93C3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09561" y="3272843"/>
              <a:ext cx="108449" cy="93099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7453494" y="1156494"/>
            <a:ext cx="10922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0A2138"/>
                </a:solidFill>
                <a:latin typeface="Arial"/>
                <a:cs typeface="Arial"/>
              </a:rPr>
              <a:t>non-linearity</a:t>
            </a:r>
            <a:endParaRPr sz="14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 rot="19680000">
            <a:off x="5599447" y="3768119"/>
            <a:ext cx="206698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400" b="1" spc="-114" dirty="0">
                <a:solidFill>
                  <a:srgbClr val="93C37C"/>
                </a:solidFill>
                <a:latin typeface="Tahoma"/>
                <a:cs typeface="Tahoma"/>
              </a:rPr>
              <a:t>b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782290" y="3394868"/>
            <a:ext cx="501015" cy="1076960"/>
            <a:chOff x="4782290" y="3394868"/>
            <a:chExt cx="501015" cy="1076960"/>
          </a:xfrm>
        </p:grpSpPr>
        <p:sp>
          <p:nvSpPr>
            <p:cNvPr id="39" name="object 39"/>
            <p:cNvSpPr/>
            <p:nvPr/>
          </p:nvSpPr>
          <p:spPr>
            <a:xfrm>
              <a:off x="4798490" y="3987567"/>
              <a:ext cx="484505" cy="484505"/>
            </a:xfrm>
            <a:custGeom>
              <a:avLst/>
              <a:gdLst/>
              <a:ahLst/>
              <a:cxnLst/>
              <a:rect l="l" t="t" r="r" b="b"/>
              <a:pathLst>
                <a:path w="484504" h="484504">
                  <a:moveTo>
                    <a:pt x="242099" y="484199"/>
                  </a:moveTo>
                  <a:lnTo>
                    <a:pt x="193310" y="479280"/>
                  </a:lnTo>
                  <a:lnTo>
                    <a:pt x="147866" y="465172"/>
                  </a:lnTo>
                  <a:lnTo>
                    <a:pt x="106742" y="442850"/>
                  </a:lnTo>
                  <a:lnTo>
                    <a:pt x="70912" y="413286"/>
                  </a:lnTo>
                  <a:lnTo>
                    <a:pt x="41348" y="377456"/>
                  </a:lnTo>
                  <a:lnTo>
                    <a:pt x="19026" y="336332"/>
                  </a:lnTo>
                  <a:lnTo>
                    <a:pt x="4918" y="290888"/>
                  </a:lnTo>
                  <a:lnTo>
                    <a:pt x="0" y="242099"/>
                  </a:lnTo>
                  <a:lnTo>
                    <a:pt x="4918" y="193310"/>
                  </a:lnTo>
                  <a:lnTo>
                    <a:pt x="19026" y="147866"/>
                  </a:lnTo>
                  <a:lnTo>
                    <a:pt x="41348" y="106742"/>
                  </a:lnTo>
                  <a:lnTo>
                    <a:pt x="70927" y="70899"/>
                  </a:lnTo>
                  <a:lnTo>
                    <a:pt x="106742" y="41348"/>
                  </a:lnTo>
                  <a:lnTo>
                    <a:pt x="147866" y="19026"/>
                  </a:lnTo>
                  <a:lnTo>
                    <a:pt x="193310" y="4918"/>
                  </a:lnTo>
                  <a:lnTo>
                    <a:pt x="242099" y="0"/>
                  </a:lnTo>
                  <a:lnTo>
                    <a:pt x="289559" y="4693"/>
                  </a:lnTo>
                  <a:lnTo>
                    <a:pt x="334758" y="18424"/>
                  </a:lnTo>
                  <a:lnTo>
                    <a:pt x="376427" y="40668"/>
                  </a:lnTo>
                  <a:lnTo>
                    <a:pt x="413309" y="70912"/>
                  </a:lnTo>
                  <a:lnTo>
                    <a:pt x="443530" y="107785"/>
                  </a:lnTo>
                  <a:lnTo>
                    <a:pt x="465774" y="149459"/>
                  </a:lnTo>
                  <a:lnTo>
                    <a:pt x="479505" y="194653"/>
                  </a:lnTo>
                  <a:lnTo>
                    <a:pt x="484199" y="242099"/>
                  </a:lnTo>
                  <a:lnTo>
                    <a:pt x="479281" y="290888"/>
                  </a:lnTo>
                  <a:lnTo>
                    <a:pt x="465176" y="336332"/>
                  </a:lnTo>
                  <a:lnTo>
                    <a:pt x="442856" y="377456"/>
                  </a:lnTo>
                  <a:lnTo>
                    <a:pt x="413296" y="413286"/>
                  </a:lnTo>
                  <a:lnTo>
                    <a:pt x="377467" y="442850"/>
                  </a:lnTo>
                  <a:lnTo>
                    <a:pt x="336342" y="465172"/>
                  </a:lnTo>
                  <a:lnTo>
                    <a:pt x="290895" y="479280"/>
                  </a:lnTo>
                  <a:lnTo>
                    <a:pt x="242099" y="484199"/>
                  </a:lnTo>
                  <a:close/>
                </a:path>
              </a:pathLst>
            </a:custGeom>
            <a:solidFill>
              <a:srgbClr val="93C3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782290" y="3394868"/>
              <a:ext cx="484505" cy="484505"/>
            </a:xfrm>
            <a:custGeom>
              <a:avLst/>
              <a:gdLst/>
              <a:ahLst/>
              <a:cxnLst/>
              <a:rect l="l" t="t" r="r" b="b"/>
              <a:pathLst>
                <a:path w="484504" h="484504">
                  <a:moveTo>
                    <a:pt x="242099" y="484199"/>
                  </a:moveTo>
                  <a:lnTo>
                    <a:pt x="193310" y="479280"/>
                  </a:lnTo>
                  <a:lnTo>
                    <a:pt x="147866" y="465172"/>
                  </a:lnTo>
                  <a:lnTo>
                    <a:pt x="106742" y="442850"/>
                  </a:lnTo>
                  <a:lnTo>
                    <a:pt x="70912" y="413286"/>
                  </a:lnTo>
                  <a:lnTo>
                    <a:pt x="41348" y="377456"/>
                  </a:lnTo>
                  <a:lnTo>
                    <a:pt x="19026" y="336332"/>
                  </a:lnTo>
                  <a:lnTo>
                    <a:pt x="4918" y="290888"/>
                  </a:lnTo>
                  <a:lnTo>
                    <a:pt x="0" y="242099"/>
                  </a:lnTo>
                  <a:lnTo>
                    <a:pt x="4918" y="193310"/>
                  </a:lnTo>
                  <a:lnTo>
                    <a:pt x="19026" y="147866"/>
                  </a:lnTo>
                  <a:lnTo>
                    <a:pt x="41348" y="106742"/>
                  </a:lnTo>
                  <a:lnTo>
                    <a:pt x="70912" y="70912"/>
                  </a:lnTo>
                  <a:lnTo>
                    <a:pt x="106742" y="41348"/>
                  </a:lnTo>
                  <a:lnTo>
                    <a:pt x="147866" y="19026"/>
                  </a:lnTo>
                  <a:lnTo>
                    <a:pt x="193310" y="4918"/>
                  </a:lnTo>
                  <a:lnTo>
                    <a:pt x="242099" y="0"/>
                  </a:lnTo>
                  <a:lnTo>
                    <a:pt x="289559" y="4694"/>
                  </a:lnTo>
                  <a:lnTo>
                    <a:pt x="334758" y="18428"/>
                  </a:lnTo>
                  <a:lnTo>
                    <a:pt x="376427" y="40679"/>
                  </a:lnTo>
                  <a:lnTo>
                    <a:pt x="413299" y="70924"/>
                  </a:lnTo>
                  <a:lnTo>
                    <a:pt x="443530" y="107795"/>
                  </a:lnTo>
                  <a:lnTo>
                    <a:pt x="465774" y="149462"/>
                  </a:lnTo>
                  <a:lnTo>
                    <a:pt x="479505" y="194653"/>
                  </a:lnTo>
                  <a:lnTo>
                    <a:pt x="484199" y="242099"/>
                  </a:lnTo>
                  <a:lnTo>
                    <a:pt x="479281" y="290888"/>
                  </a:lnTo>
                  <a:lnTo>
                    <a:pt x="465176" y="336332"/>
                  </a:lnTo>
                  <a:lnTo>
                    <a:pt x="442856" y="377456"/>
                  </a:lnTo>
                  <a:lnTo>
                    <a:pt x="413296" y="413286"/>
                  </a:lnTo>
                  <a:lnTo>
                    <a:pt x="377467" y="442850"/>
                  </a:lnTo>
                  <a:lnTo>
                    <a:pt x="336342" y="465172"/>
                  </a:lnTo>
                  <a:lnTo>
                    <a:pt x="290895" y="479280"/>
                  </a:lnTo>
                  <a:lnTo>
                    <a:pt x="242099" y="484199"/>
                  </a:lnTo>
                  <a:close/>
                </a:path>
              </a:pathLst>
            </a:custGeom>
            <a:solidFill>
              <a:srgbClr val="FFAA3F">
                <a:alpha val="5372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4901569" y="3512382"/>
            <a:ext cx="245745" cy="831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endParaRPr sz="1350" baseline="-30864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endParaRPr sz="900">
              <a:latin typeface="Tahoma"/>
              <a:cs typeface="Tahoma"/>
            </a:endParaRPr>
          </a:p>
          <a:p>
            <a:pPr marL="94615">
              <a:lnSpc>
                <a:spcPct val="100000"/>
              </a:lnSpc>
              <a:spcBef>
                <a:spcPts val="5"/>
              </a:spcBef>
            </a:pP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5256964" y="3193543"/>
            <a:ext cx="1287145" cy="453390"/>
            <a:chOff x="5256964" y="3193543"/>
            <a:chExt cx="1287145" cy="453390"/>
          </a:xfrm>
        </p:grpSpPr>
        <p:sp>
          <p:nvSpPr>
            <p:cNvPr id="43" name="object 43"/>
            <p:cNvSpPr/>
            <p:nvPr/>
          </p:nvSpPr>
          <p:spPr>
            <a:xfrm>
              <a:off x="5266489" y="3232843"/>
              <a:ext cx="1186180" cy="404495"/>
            </a:xfrm>
            <a:custGeom>
              <a:avLst/>
              <a:gdLst/>
              <a:ahLst/>
              <a:cxnLst/>
              <a:rect l="l" t="t" r="r" b="b"/>
              <a:pathLst>
                <a:path w="1186179" h="404495">
                  <a:moveTo>
                    <a:pt x="0" y="404124"/>
                  </a:moveTo>
                  <a:lnTo>
                    <a:pt x="1185722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32537" y="3193543"/>
              <a:ext cx="111024" cy="78599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 rot="1020000">
            <a:off x="5587121" y="2318136"/>
            <a:ext cx="266749" cy="210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55"/>
              </a:lnSpc>
            </a:pPr>
            <a:r>
              <a:rPr sz="1400" b="1" spc="-185" dirty="0">
                <a:solidFill>
                  <a:srgbClr val="77909C"/>
                </a:solidFill>
                <a:latin typeface="Tahoma"/>
                <a:cs typeface="Tahoma"/>
              </a:rPr>
              <a:t>w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6" name="object 46"/>
          <p:cNvSpPr txBox="1"/>
          <p:nvPr/>
        </p:nvSpPr>
        <p:spPr>
          <a:xfrm rot="1020000">
            <a:off x="5707044" y="2480313"/>
            <a:ext cx="164093" cy="1143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900" b="1" spc="-110" dirty="0">
                <a:solidFill>
                  <a:srgbClr val="77909C"/>
                </a:solidFill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47" name="object 4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35259" y="2905044"/>
            <a:ext cx="1850683" cy="244424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35259" y="3358693"/>
            <a:ext cx="2007820" cy="244424"/>
          </a:xfrm>
          <a:prstGeom prst="rect">
            <a:avLst/>
          </a:prstGeom>
        </p:spPr>
      </p:pic>
      <p:sp>
        <p:nvSpPr>
          <p:cNvPr id="49" name="object 49"/>
          <p:cNvSpPr txBox="1"/>
          <p:nvPr/>
        </p:nvSpPr>
        <p:spPr>
          <a:xfrm>
            <a:off x="1923919" y="1331055"/>
            <a:ext cx="2155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8CB3FF"/>
                </a:solidFill>
                <a:latin typeface="Arial"/>
                <a:cs typeface="Arial"/>
              </a:rPr>
              <a:t>Activation</a:t>
            </a:r>
            <a:r>
              <a:rPr sz="1800" b="1" spc="-50" dirty="0">
                <a:solidFill>
                  <a:srgbClr val="8CB3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8CB3FF"/>
                </a:solidFill>
                <a:latin typeface="Arial"/>
                <a:cs typeface="Arial"/>
              </a:rPr>
              <a:t>Function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576323" y="1604929"/>
            <a:ext cx="2619375" cy="789305"/>
            <a:chOff x="576323" y="1604929"/>
            <a:chExt cx="2619375" cy="789305"/>
          </a:xfrm>
        </p:grpSpPr>
        <p:sp>
          <p:nvSpPr>
            <p:cNvPr id="51" name="object 51"/>
            <p:cNvSpPr/>
            <p:nvPr/>
          </p:nvSpPr>
          <p:spPr>
            <a:xfrm>
              <a:off x="2177660" y="1619216"/>
              <a:ext cx="672465" cy="385445"/>
            </a:xfrm>
            <a:custGeom>
              <a:avLst/>
              <a:gdLst/>
              <a:ahLst/>
              <a:cxnLst/>
              <a:rect l="l" t="t" r="r" b="b"/>
              <a:pathLst>
                <a:path w="672464" h="385444">
                  <a:moveTo>
                    <a:pt x="672308" y="0"/>
                  </a:moveTo>
                  <a:lnTo>
                    <a:pt x="0" y="384914"/>
                  </a:lnTo>
                </a:path>
              </a:pathLst>
            </a:custGeom>
            <a:ln w="2857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50835" y="1948883"/>
              <a:ext cx="164562" cy="133964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76323" y="2089308"/>
              <a:ext cx="2619369" cy="304799"/>
            </a:xfrm>
            <a:prstGeom prst="rect">
              <a:avLst/>
            </a:prstGeom>
          </p:spPr>
        </p:pic>
      </p:grpSp>
      <p:sp>
        <p:nvSpPr>
          <p:cNvPr id="54" name="object 54"/>
          <p:cNvSpPr txBox="1"/>
          <p:nvPr/>
        </p:nvSpPr>
        <p:spPr>
          <a:xfrm>
            <a:off x="8253707" y="2742203"/>
            <a:ext cx="5784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341C75"/>
                </a:solidFill>
                <a:latin typeface="Arial"/>
                <a:cs typeface="Arial"/>
              </a:rPr>
              <a:t>output</a:t>
            </a:r>
            <a:endParaRPr sz="14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566350" y="4636610"/>
            <a:ext cx="381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b="1" spc="-20" dirty="0">
                <a:solidFill>
                  <a:srgbClr val="93C37C"/>
                </a:solidFill>
                <a:latin typeface="Arial"/>
                <a:cs typeface="Arial"/>
              </a:rPr>
              <a:t>bias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Sigmoid</a:t>
            </a:r>
            <a:r>
              <a:rPr spc="-140" dirty="0"/>
              <a:t> </a:t>
            </a:r>
            <a:r>
              <a:rPr spc="-10" dirty="0"/>
              <a:t>Activation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2423" y="3072618"/>
            <a:ext cx="3046168" cy="203079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2423" y="2223695"/>
            <a:ext cx="2752719" cy="62864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4782286" y="1584388"/>
            <a:ext cx="516890" cy="1109345"/>
          </a:xfrm>
          <a:custGeom>
            <a:avLst/>
            <a:gdLst/>
            <a:ahLst/>
            <a:cxnLst/>
            <a:rect l="l" t="t" r="r" b="b"/>
            <a:pathLst>
              <a:path w="516889" h="1109345">
                <a:moveTo>
                  <a:pt x="500392" y="867194"/>
                </a:moveTo>
                <a:lnTo>
                  <a:pt x="495706" y="819746"/>
                </a:lnTo>
                <a:lnTo>
                  <a:pt x="481977" y="774547"/>
                </a:lnTo>
                <a:lnTo>
                  <a:pt x="459727" y="732878"/>
                </a:lnTo>
                <a:lnTo>
                  <a:pt x="429501" y="696010"/>
                </a:lnTo>
                <a:lnTo>
                  <a:pt x="392620" y="665772"/>
                </a:lnTo>
                <a:lnTo>
                  <a:pt x="350951" y="643521"/>
                </a:lnTo>
                <a:lnTo>
                  <a:pt x="305752" y="629793"/>
                </a:lnTo>
                <a:lnTo>
                  <a:pt x="258292" y="625094"/>
                </a:lnTo>
                <a:lnTo>
                  <a:pt x="209511" y="630021"/>
                </a:lnTo>
                <a:lnTo>
                  <a:pt x="164058" y="644118"/>
                </a:lnTo>
                <a:lnTo>
                  <a:pt x="122936" y="666445"/>
                </a:lnTo>
                <a:lnTo>
                  <a:pt x="87109" y="696010"/>
                </a:lnTo>
                <a:lnTo>
                  <a:pt x="57543" y="731837"/>
                </a:lnTo>
                <a:lnTo>
                  <a:pt x="35229" y="772960"/>
                </a:lnTo>
                <a:lnTo>
                  <a:pt x="21120" y="818400"/>
                </a:lnTo>
                <a:lnTo>
                  <a:pt x="16192" y="867194"/>
                </a:lnTo>
                <a:lnTo>
                  <a:pt x="21120" y="915987"/>
                </a:lnTo>
                <a:lnTo>
                  <a:pt x="35229" y="961440"/>
                </a:lnTo>
                <a:lnTo>
                  <a:pt x="57543" y="1002563"/>
                </a:lnTo>
                <a:lnTo>
                  <a:pt x="87109" y="1038390"/>
                </a:lnTo>
                <a:lnTo>
                  <a:pt x="122936" y="1067943"/>
                </a:lnTo>
                <a:lnTo>
                  <a:pt x="164058" y="1090269"/>
                </a:lnTo>
                <a:lnTo>
                  <a:pt x="209511" y="1104366"/>
                </a:lnTo>
                <a:lnTo>
                  <a:pt x="258292" y="1109281"/>
                </a:lnTo>
                <a:lnTo>
                  <a:pt x="307098" y="1104366"/>
                </a:lnTo>
                <a:lnTo>
                  <a:pt x="352539" y="1090269"/>
                </a:lnTo>
                <a:lnTo>
                  <a:pt x="393661" y="1067943"/>
                </a:lnTo>
                <a:lnTo>
                  <a:pt x="429488" y="1038390"/>
                </a:lnTo>
                <a:lnTo>
                  <a:pt x="459054" y="1002563"/>
                </a:lnTo>
                <a:lnTo>
                  <a:pt x="481368" y="961440"/>
                </a:lnTo>
                <a:lnTo>
                  <a:pt x="495477" y="915987"/>
                </a:lnTo>
                <a:lnTo>
                  <a:pt x="500392" y="867194"/>
                </a:lnTo>
                <a:close/>
              </a:path>
              <a:path w="516889" h="1109345">
                <a:moveTo>
                  <a:pt x="516597" y="258305"/>
                </a:moveTo>
                <a:lnTo>
                  <a:pt x="511594" y="207670"/>
                </a:lnTo>
                <a:lnTo>
                  <a:pt x="496938" y="159461"/>
                </a:lnTo>
                <a:lnTo>
                  <a:pt x="473202" y="114998"/>
                </a:lnTo>
                <a:lnTo>
                  <a:pt x="440944" y="75653"/>
                </a:lnTo>
                <a:lnTo>
                  <a:pt x="401599" y="43395"/>
                </a:lnTo>
                <a:lnTo>
                  <a:pt x="357136" y="19659"/>
                </a:lnTo>
                <a:lnTo>
                  <a:pt x="308927" y="5016"/>
                </a:lnTo>
                <a:lnTo>
                  <a:pt x="258292" y="0"/>
                </a:lnTo>
                <a:lnTo>
                  <a:pt x="211874" y="4165"/>
                </a:lnTo>
                <a:lnTo>
                  <a:pt x="168173" y="16167"/>
                </a:lnTo>
                <a:lnTo>
                  <a:pt x="127927" y="35267"/>
                </a:lnTo>
                <a:lnTo>
                  <a:pt x="91884" y="60756"/>
                </a:lnTo>
                <a:lnTo>
                  <a:pt x="60744" y="91884"/>
                </a:lnTo>
                <a:lnTo>
                  <a:pt x="35267" y="127927"/>
                </a:lnTo>
                <a:lnTo>
                  <a:pt x="16154" y="168173"/>
                </a:lnTo>
                <a:lnTo>
                  <a:pt x="4165" y="211874"/>
                </a:lnTo>
                <a:lnTo>
                  <a:pt x="0" y="258305"/>
                </a:lnTo>
                <a:lnTo>
                  <a:pt x="4165" y="304736"/>
                </a:lnTo>
                <a:lnTo>
                  <a:pt x="16154" y="348424"/>
                </a:lnTo>
                <a:lnTo>
                  <a:pt x="35267" y="388670"/>
                </a:lnTo>
                <a:lnTo>
                  <a:pt x="60744" y="424726"/>
                </a:lnTo>
                <a:lnTo>
                  <a:pt x="91884" y="455853"/>
                </a:lnTo>
                <a:lnTo>
                  <a:pt x="127927" y="481330"/>
                </a:lnTo>
                <a:lnTo>
                  <a:pt x="168173" y="500443"/>
                </a:lnTo>
                <a:lnTo>
                  <a:pt x="211874" y="512445"/>
                </a:lnTo>
                <a:lnTo>
                  <a:pt x="258292" y="516597"/>
                </a:lnTo>
                <a:lnTo>
                  <a:pt x="304723" y="512445"/>
                </a:lnTo>
                <a:lnTo>
                  <a:pt x="348424" y="500443"/>
                </a:lnTo>
                <a:lnTo>
                  <a:pt x="388658" y="481330"/>
                </a:lnTo>
                <a:lnTo>
                  <a:pt x="424713" y="455853"/>
                </a:lnTo>
                <a:lnTo>
                  <a:pt x="455841" y="424726"/>
                </a:lnTo>
                <a:lnTo>
                  <a:pt x="481330" y="388670"/>
                </a:lnTo>
                <a:lnTo>
                  <a:pt x="500430" y="348424"/>
                </a:lnTo>
                <a:lnTo>
                  <a:pt x="512432" y="304736"/>
                </a:lnTo>
                <a:lnTo>
                  <a:pt x="516597" y="258305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920729" y="1718100"/>
            <a:ext cx="240029" cy="847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3950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350" baseline="-339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40"/>
              </a:spcBef>
            </a:pPr>
            <a:endParaRPr sz="90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798490" y="2802169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10" y="479281"/>
                </a:lnTo>
                <a:lnTo>
                  <a:pt x="147866" y="465176"/>
                </a:lnTo>
                <a:lnTo>
                  <a:pt x="106742" y="442856"/>
                </a:lnTo>
                <a:lnTo>
                  <a:pt x="70912" y="413296"/>
                </a:lnTo>
                <a:lnTo>
                  <a:pt x="41348" y="377467"/>
                </a:lnTo>
                <a:lnTo>
                  <a:pt x="19026" y="336342"/>
                </a:lnTo>
                <a:lnTo>
                  <a:pt x="4918" y="290895"/>
                </a:lnTo>
                <a:lnTo>
                  <a:pt x="0" y="242099"/>
                </a:lnTo>
                <a:lnTo>
                  <a:pt x="4918" y="193310"/>
                </a:lnTo>
                <a:lnTo>
                  <a:pt x="19026" y="147866"/>
                </a:lnTo>
                <a:lnTo>
                  <a:pt x="41348" y="106742"/>
                </a:lnTo>
                <a:lnTo>
                  <a:pt x="70912" y="70912"/>
                </a:lnTo>
                <a:lnTo>
                  <a:pt x="106742" y="41348"/>
                </a:lnTo>
                <a:lnTo>
                  <a:pt x="147866" y="19026"/>
                </a:lnTo>
                <a:lnTo>
                  <a:pt x="193310" y="4918"/>
                </a:lnTo>
                <a:lnTo>
                  <a:pt x="242099" y="0"/>
                </a:lnTo>
                <a:lnTo>
                  <a:pt x="289559" y="4697"/>
                </a:lnTo>
                <a:lnTo>
                  <a:pt x="334758" y="18437"/>
                </a:lnTo>
                <a:lnTo>
                  <a:pt x="376427" y="40689"/>
                </a:lnTo>
                <a:lnTo>
                  <a:pt x="413299" y="70924"/>
                </a:lnTo>
                <a:lnTo>
                  <a:pt x="443530" y="107795"/>
                </a:lnTo>
                <a:lnTo>
                  <a:pt x="465774" y="149462"/>
                </a:lnTo>
                <a:lnTo>
                  <a:pt x="479505" y="194653"/>
                </a:lnTo>
                <a:lnTo>
                  <a:pt x="484199" y="242099"/>
                </a:lnTo>
                <a:lnTo>
                  <a:pt x="479281" y="290895"/>
                </a:lnTo>
                <a:lnTo>
                  <a:pt x="465176" y="336342"/>
                </a:lnTo>
                <a:lnTo>
                  <a:pt x="442856" y="377467"/>
                </a:lnTo>
                <a:lnTo>
                  <a:pt x="413296" y="413296"/>
                </a:lnTo>
                <a:lnTo>
                  <a:pt x="377467" y="442856"/>
                </a:lnTo>
                <a:lnTo>
                  <a:pt x="336342" y="465176"/>
                </a:lnTo>
                <a:lnTo>
                  <a:pt x="290895" y="479281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933432" y="2919690"/>
            <a:ext cx="21462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489587" y="2782819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10" y="479281"/>
                </a:lnTo>
                <a:lnTo>
                  <a:pt x="147866" y="465176"/>
                </a:lnTo>
                <a:lnTo>
                  <a:pt x="106742" y="442856"/>
                </a:lnTo>
                <a:lnTo>
                  <a:pt x="70912" y="413296"/>
                </a:lnTo>
                <a:lnTo>
                  <a:pt x="41348" y="377467"/>
                </a:lnTo>
                <a:lnTo>
                  <a:pt x="19026" y="336342"/>
                </a:lnTo>
                <a:lnTo>
                  <a:pt x="4918" y="290895"/>
                </a:lnTo>
                <a:lnTo>
                  <a:pt x="0" y="242099"/>
                </a:lnTo>
                <a:lnTo>
                  <a:pt x="4918" y="193310"/>
                </a:lnTo>
                <a:lnTo>
                  <a:pt x="19026" y="147866"/>
                </a:lnTo>
                <a:lnTo>
                  <a:pt x="41348" y="106742"/>
                </a:lnTo>
                <a:lnTo>
                  <a:pt x="70912" y="70912"/>
                </a:lnTo>
                <a:lnTo>
                  <a:pt x="106742" y="41348"/>
                </a:lnTo>
                <a:lnTo>
                  <a:pt x="147866" y="19026"/>
                </a:lnTo>
                <a:lnTo>
                  <a:pt x="193310" y="4918"/>
                </a:lnTo>
                <a:lnTo>
                  <a:pt x="242099" y="0"/>
                </a:lnTo>
                <a:lnTo>
                  <a:pt x="289559" y="4697"/>
                </a:lnTo>
                <a:lnTo>
                  <a:pt x="334758" y="18437"/>
                </a:lnTo>
                <a:lnTo>
                  <a:pt x="376427" y="40689"/>
                </a:lnTo>
                <a:lnTo>
                  <a:pt x="413299" y="70924"/>
                </a:lnTo>
                <a:lnTo>
                  <a:pt x="443530" y="107795"/>
                </a:lnTo>
                <a:lnTo>
                  <a:pt x="465774" y="149462"/>
                </a:lnTo>
                <a:lnTo>
                  <a:pt x="479505" y="194653"/>
                </a:lnTo>
                <a:lnTo>
                  <a:pt x="484199" y="242099"/>
                </a:lnTo>
                <a:lnTo>
                  <a:pt x="479281" y="290895"/>
                </a:lnTo>
                <a:lnTo>
                  <a:pt x="465176" y="336342"/>
                </a:lnTo>
                <a:lnTo>
                  <a:pt x="442856" y="377467"/>
                </a:lnTo>
                <a:lnTo>
                  <a:pt x="413296" y="413296"/>
                </a:lnTo>
                <a:lnTo>
                  <a:pt x="377467" y="442856"/>
                </a:lnTo>
                <a:lnTo>
                  <a:pt x="336342" y="465176"/>
                </a:lnTo>
                <a:lnTo>
                  <a:pt x="290895" y="479281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0097A7">
              <a:alpha val="4823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633526" y="2864975"/>
            <a:ext cx="1555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40" dirty="0">
                <a:solidFill>
                  <a:srgbClr val="FFFFFF"/>
                </a:solidFill>
                <a:latin typeface="Roboto"/>
                <a:cs typeface="Roboto"/>
              </a:rPr>
              <a:t>&gt;</a:t>
            </a:r>
            <a:endParaRPr sz="1800">
              <a:latin typeface="Roboto"/>
              <a:cs typeface="Roboto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273164" y="1833158"/>
            <a:ext cx="1445260" cy="1235075"/>
            <a:chOff x="5273164" y="1833158"/>
            <a:chExt cx="1445260" cy="1235075"/>
          </a:xfrm>
        </p:grpSpPr>
        <p:sp>
          <p:nvSpPr>
            <p:cNvPr id="12" name="object 12"/>
            <p:cNvSpPr/>
            <p:nvPr/>
          </p:nvSpPr>
          <p:spPr>
            <a:xfrm>
              <a:off x="5298889" y="1842683"/>
              <a:ext cx="1337310" cy="877569"/>
            </a:xfrm>
            <a:custGeom>
              <a:avLst/>
              <a:gdLst/>
              <a:ahLst/>
              <a:cxnLst/>
              <a:rect l="l" t="t" r="r" b="b"/>
              <a:pathLst>
                <a:path w="1337309" h="877569">
                  <a:moveTo>
                    <a:pt x="0" y="0"/>
                  </a:moveTo>
                  <a:lnTo>
                    <a:pt x="1337247" y="877485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09336" y="2684344"/>
              <a:ext cx="108599" cy="9277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282689" y="3026893"/>
              <a:ext cx="1092835" cy="17780"/>
            </a:xfrm>
            <a:custGeom>
              <a:avLst/>
              <a:gdLst/>
              <a:ahLst/>
              <a:cxnLst/>
              <a:rect l="l" t="t" r="r" b="b"/>
              <a:pathLst>
                <a:path w="1092835" h="17780">
                  <a:moveTo>
                    <a:pt x="0" y="17374"/>
                  </a:moveTo>
                  <a:lnTo>
                    <a:pt x="1092622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65286" y="2985919"/>
              <a:ext cx="105974" cy="8194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282689" y="2451580"/>
              <a:ext cx="1169035" cy="368300"/>
            </a:xfrm>
            <a:custGeom>
              <a:avLst/>
              <a:gdLst/>
              <a:ahLst/>
              <a:cxnLst/>
              <a:rect l="l" t="t" r="r" b="b"/>
              <a:pathLst>
                <a:path w="1169035" h="368300">
                  <a:moveTo>
                    <a:pt x="0" y="0"/>
                  </a:moveTo>
                  <a:lnTo>
                    <a:pt x="1168672" y="367964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32386" y="2780019"/>
              <a:ext cx="110974" cy="79074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4763896" y="1153341"/>
            <a:ext cx="5588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AA3F"/>
                </a:solidFill>
                <a:latin typeface="Arial"/>
                <a:cs typeface="Arial"/>
              </a:rPr>
              <a:t>inputs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501816" y="1153341"/>
            <a:ext cx="6877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77909C"/>
                </a:solidFill>
                <a:latin typeface="Arial"/>
                <a:cs typeface="Arial"/>
              </a:rPr>
              <a:t>weights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 rot="1980000">
            <a:off x="5678984" y="1912974"/>
            <a:ext cx="266211" cy="210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55"/>
              </a:lnSpc>
            </a:pPr>
            <a:r>
              <a:rPr sz="1400" b="1" spc="-185" dirty="0">
                <a:solidFill>
                  <a:srgbClr val="77909C"/>
                </a:solidFill>
                <a:latin typeface="Tahoma"/>
                <a:cs typeface="Tahoma"/>
              </a:rPr>
              <a:t>w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 rot="1980000">
            <a:off x="5764689" y="2089502"/>
            <a:ext cx="163257" cy="1143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900" b="1" spc="-114" dirty="0">
                <a:solidFill>
                  <a:srgbClr val="77909C"/>
                </a:solidFill>
                <a:latin typeface="Tahoma"/>
                <a:cs typeface="Tahoma"/>
              </a:rPr>
              <a:t>0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563484" y="2741965"/>
            <a:ext cx="276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77909C"/>
                </a:solidFill>
                <a:latin typeface="Tahoma"/>
                <a:cs typeface="Tahoma"/>
              </a:rPr>
              <a:t>w</a:t>
            </a:r>
            <a:r>
              <a:rPr sz="1350" b="1" spc="-37" baseline="-30864" dirty="0">
                <a:solidFill>
                  <a:srgbClr val="77909C"/>
                </a:solidFill>
                <a:latin typeface="Tahoma"/>
                <a:cs typeface="Tahoma"/>
              </a:rPr>
              <a:t>2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 rot="20700000">
            <a:off x="5547371" y="3189507"/>
            <a:ext cx="266749" cy="212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75"/>
              </a:lnSpc>
            </a:pPr>
            <a:r>
              <a:rPr sz="1400" b="1" spc="-185" dirty="0">
                <a:solidFill>
                  <a:srgbClr val="77909C"/>
                </a:solidFill>
                <a:latin typeface="Tahoma"/>
                <a:cs typeface="Tahoma"/>
              </a:rPr>
              <a:t>w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 rot="20700000">
            <a:off x="5720507" y="3295049"/>
            <a:ext cx="166183" cy="11430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900" b="1" spc="-70" dirty="0">
                <a:solidFill>
                  <a:srgbClr val="77909C"/>
                </a:solidFill>
                <a:latin typeface="Tahoma"/>
                <a:cs typeface="Tahoma"/>
              </a:rPr>
              <a:t>n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562622" y="1156494"/>
            <a:ext cx="3911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0097A7"/>
                </a:solidFill>
                <a:latin typeface="Arial"/>
                <a:cs typeface="Arial"/>
              </a:rPr>
              <a:t>sum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273164" y="2782819"/>
            <a:ext cx="3550285" cy="1456690"/>
            <a:chOff x="5273164" y="2782819"/>
            <a:chExt cx="3550285" cy="1456690"/>
          </a:xfrm>
        </p:grpSpPr>
        <p:sp>
          <p:nvSpPr>
            <p:cNvPr id="27" name="object 27"/>
            <p:cNvSpPr/>
            <p:nvPr/>
          </p:nvSpPr>
          <p:spPr>
            <a:xfrm>
              <a:off x="6973785" y="3024918"/>
              <a:ext cx="581660" cy="0"/>
            </a:xfrm>
            <a:custGeom>
              <a:avLst/>
              <a:gdLst/>
              <a:ahLst/>
              <a:cxnLst/>
              <a:rect l="l" t="t" r="r" b="b"/>
              <a:pathLst>
                <a:path w="581659">
                  <a:moveTo>
                    <a:pt x="0" y="0"/>
                  </a:moveTo>
                  <a:lnTo>
                    <a:pt x="5812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555034" y="30091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74"/>
                  </a:moveTo>
                  <a:lnTo>
                    <a:pt x="0" y="0"/>
                  </a:lnTo>
                  <a:lnTo>
                    <a:pt x="43224" y="15724"/>
                  </a:lnTo>
                  <a:lnTo>
                    <a:pt x="0" y="3147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555034" y="30091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74"/>
                  </a:moveTo>
                  <a:lnTo>
                    <a:pt x="43224" y="15724"/>
                  </a:lnTo>
                  <a:lnTo>
                    <a:pt x="0" y="0"/>
                  </a:lnTo>
                  <a:lnTo>
                    <a:pt x="0" y="3147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612184" y="2782819"/>
              <a:ext cx="484505" cy="484505"/>
            </a:xfrm>
            <a:custGeom>
              <a:avLst/>
              <a:gdLst/>
              <a:ahLst/>
              <a:cxnLst/>
              <a:rect l="l" t="t" r="r" b="b"/>
              <a:pathLst>
                <a:path w="484504" h="484504">
                  <a:moveTo>
                    <a:pt x="242099" y="484199"/>
                  </a:moveTo>
                  <a:lnTo>
                    <a:pt x="193310" y="479281"/>
                  </a:lnTo>
                  <a:lnTo>
                    <a:pt x="147866" y="465176"/>
                  </a:lnTo>
                  <a:lnTo>
                    <a:pt x="106742" y="442856"/>
                  </a:lnTo>
                  <a:lnTo>
                    <a:pt x="70912" y="413296"/>
                  </a:lnTo>
                  <a:lnTo>
                    <a:pt x="41348" y="377467"/>
                  </a:lnTo>
                  <a:lnTo>
                    <a:pt x="19026" y="336342"/>
                  </a:lnTo>
                  <a:lnTo>
                    <a:pt x="4918" y="290895"/>
                  </a:lnTo>
                  <a:lnTo>
                    <a:pt x="0" y="242099"/>
                  </a:lnTo>
                  <a:lnTo>
                    <a:pt x="4918" y="193310"/>
                  </a:lnTo>
                  <a:lnTo>
                    <a:pt x="19026" y="147866"/>
                  </a:lnTo>
                  <a:lnTo>
                    <a:pt x="41348" y="106742"/>
                  </a:lnTo>
                  <a:lnTo>
                    <a:pt x="70912" y="70912"/>
                  </a:lnTo>
                  <a:lnTo>
                    <a:pt x="106742" y="41348"/>
                  </a:lnTo>
                  <a:lnTo>
                    <a:pt x="147866" y="19026"/>
                  </a:lnTo>
                  <a:lnTo>
                    <a:pt x="193310" y="4918"/>
                  </a:lnTo>
                  <a:lnTo>
                    <a:pt x="242099" y="0"/>
                  </a:lnTo>
                  <a:lnTo>
                    <a:pt x="289559" y="4697"/>
                  </a:lnTo>
                  <a:lnTo>
                    <a:pt x="334758" y="18437"/>
                  </a:lnTo>
                  <a:lnTo>
                    <a:pt x="376427" y="40689"/>
                  </a:lnTo>
                  <a:lnTo>
                    <a:pt x="413299" y="70924"/>
                  </a:lnTo>
                  <a:lnTo>
                    <a:pt x="443530" y="107795"/>
                  </a:lnTo>
                  <a:lnTo>
                    <a:pt x="465774" y="149462"/>
                  </a:lnTo>
                  <a:lnTo>
                    <a:pt x="479505" y="194653"/>
                  </a:lnTo>
                  <a:lnTo>
                    <a:pt x="484199" y="242099"/>
                  </a:lnTo>
                  <a:lnTo>
                    <a:pt x="479281" y="290895"/>
                  </a:lnTo>
                  <a:lnTo>
                    <a:pt x="465176" y="336342"/>
                  </a:lnTo>
                  <a:lnTo>
                    <a:pt x="442856" y="377467"/>
                  </a:lnTo>
                  <a:lnTo>
                    <a:pt x="413296" y="413296"/>
                  </a:lnTo>
                  <a:lnTo>
                    <a:pt x="377467" y="442856"/>
                  </a:lnTo>
                  <a:lnTo>
                    <a:pt x="336342" y="465176"/>
                  </a:lnTo>
                  <a:lnTo>
                    <a:pt x="290895" y="479281"/>
                  </a:lnTo>
                  <a:lnTo>
                    <a:pt x="242099" y="484199"/>
                  </a:lnTo>
                  <a:close/>
                </a:path>
              </a:pathLst>
            </a:custGeom>
            <a:solidFill>
              <a:srgbClr val="0A2138">
                <a:alpha val="6807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096383" y="3024918"/>
              <a:ext cx="678815" cy="6350"/>
            </a:xfrm>
            <a:custGeom>
              <a:avLst/>
              <a:gdLst/>
              <a:ahLst/>
              <a:cxnLst/>
              <a:rect l="l" t="t" r="r" b="b"/>
              <a:pathLst>
                <a:path w="678815" h="6350">
                  <a:moveTo>
                    <a:pt x="0" y="0"/>
                  </a:moveTo>
                  <a:lnTo>
                    <a:pt x="678748" y="5824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775007" y="30149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74"/>
                  </a:moveTo>
                  <a:lnTo>
                    <a:pt x="274" y="0"/>
                  </a:lnTo>
                  <a:lnTo>
                    <a:pt x="43349" y="16124"/>
                  </a:lnTo>
                  <a:lnTo>
                    <a:pt x="0" y="3147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775007" y="30149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74"/>
                  </a:moveTo>
                  <a:lnTo>
                    <a:pt x="43349" y="16124"/>
                  </a:lnTo>
                  <a:lnTo>
                    <a:pt x="274" y="0"/>
                  </a:lnTo>
                  <a:lnTo>
                    <a:pt x="0" y="3147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732784" y="2906569"/>
              <a:ext cx="243204" cy="243204"/>
            </a:xfrm>
            <a:custGeom>
              <a:avLst/>
              <a:gdLst/>
              <a:ahLst/>
              <a:cxnLst/>
              <a:rect l="l" t="t" r="r" b="b"/>
              <a:pathLst>
                <a:path w="243204" h="243205">
                  <a:moveTo>
                    <a:pt x="242999" y="0"/>
                  </a:moveTo>
                  <a:lnTo>
                    <a:pt x="202657" y="10441"/>
                  </a:lnTo>
                  <a:lnTo>
                    <a:pt x="170859" y="37968"/>
                  </a:lnTo>
                  <a:lnTo>
                    <a:pt x="144755" y="76886"/>
                  </a:lnTo>
                  <a:lnTo>
                    <a:pt x="121499" y="121499"/>
                  </a:lnTo>
                  <a:lnTo>
                    <a:pt x="98243" y="166112"/>
                  </a:lnTo>
                  <a:lnTo>
                    <a:pt x="72140" y="205030"/>
                  </a:lnTo>
                  <a:lnTo>
                    <a:pt x="40341" y="232558"/>
                  </a:lnTo>
                  <a:lnTo>
                    <a:pt x="0" y="242999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282689" y="3330218"/>
              <a:ext cx="1353820" cy="899794"/>
            </a:xfrm>
            <a:custGeom>
              <a:avLst/>
              <a:gdLst/>
              <a:ahLst/>
              <a:cxnLst/>
              <a:rect l="l" t="t" r="r" b="b"/>
              <a:pathLst>
                <a:path w="1353820" h="899795">
                  <a:moveTo>
                    <a:pt x="0" y="899448"/>
                  </a:moveTo>
                  <a:lnTo>
                    <a:pt x="1353797" y="0"/>
                  </a:lnTo>
                </a:path>
              </a:pathLst>
            </a:custGeom>
            <a:ln w="19049">
              <a:solidFill>
                <a:srgbClr val="93C3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09561" y="3272843"/>
              <a:ext cx="108449" cy="93099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7453494" y="1156494"/>
            <a:ext cx="10922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0A2138"/>
                </a:solidFill>
                <a:latin typeface="Arial"/>
                <a:cs typeface="Arial"/>
              </a:rPr>
              <a:t>non-linearity</a:t>
            </a:r>
            <a:endParaRPr sz="14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 rot="19680000">
            <a:off x="5599447" y="3768119"/>
            <a:ext cx="206698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400" b="1" spc="-114" dirty="0">
                <a:solidFill>
                  <a:srgbClr val="93C37C"/>
                </a:solidFill>
                <a:latin typeface="Tahoma"/>
                <a:cs typeface="Tahoma"/>
              </a:rPr>
              <a:t>b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782290" y="3394868"/>
            <a:ext cx="501015" cy="1076960"/>
            <a:chOff x="4782290" y="3394868"/>
            <a:chExt cx="501015" cy="1076960"/>
          </a:xfrm>
        </p:grpSpPr>
        <p:sp>
          <p:nvSpPr>
            <p:cNvPr id="40" name="object 40"/>
            <p:cNvSpPr/>
            <p:nvPr/>
          </p:nvSpPr>
          <p:spPr>
            <a:xfrm>
              <a:off x="4798490" y="3987567"/>
              <a:ext cx="484505" cy="484505"/>
            </a:xfrm>
            <a:custGeom>
              <a:avLst/>
              <a:gdLst/>
              <a:ahLst/>
              <a:cxnLst/>
              <a:rect l="l" t="t" r="r" b="b"/>
              <a:pathLst>
                <a:path w="484504" h="484504">
                  <a:moveTo>
                    <a:pt x="242099" y="484199"/>
                  </a:moveTo>
                  <a:lnTo>
                    <a:pt x="193310" y="479280"/>
                  </a:lnTo>
                  <a:lnTo>
                    <a:pt x="147866" y="465172"/>
                  </a:lnTo>
                  <a:lnTo>
                    <a:pt x="106742" y="442850"/>
                  </a:lnTo>
                  <a:lnTo>
                    <a:pt x="70912" y="413286"/>
                  </a:lnTo>
                  <a:lnTo>
                    <a:pt x="41348" y="377456"/>
                  </a:lnTo>
                  <a:lnTo>
                    <a:pt x="19026" y="336332"/>
                  </a:lnTo>
                  <a:lnTo>
                    <a:pt x="4918" y="290888"/>
                  </a:lnTo>
                  <a:lnTo>
                    <a:pt x="0" y="242099"/>
                  </a:lnTo>
                  <a:lnTo>
                    <a:pt x="4918" y="193310"/>
                  </a:lnTo>
                  <a:lnTo>
                    <a:pt x="19026" y="147866"/>
                  </a:lnTo>
                  <a:lnTo>
                    <a:pt x="41348" y="106742"/>
                  </a:lnTo>
                  <a:lnTo>
                    <a:pt x="70927" y="70899"/>
                  </a:lnTo>
                  <a:lnTo>
                    <a:pt x="106742" y="41348"/>
                  </a:lnTo>
                  <a:lnTo>
                    <a:pt x="147866" y="19026"/>
                  </a:lnTo>
                  <a:lnTo>
                    <a:pt x="193310" y="4918"/>
                  </a:lnTo>
                  <a:lnTo>
                    <a:pt x="242099" y="0"/>
                  </a:lnTo>
                  <a:lnTo>
                    <a:pt x="289559" y="4693"/>
                  </a:lnTo>
                  <a:lnTo>
                    <a:pt x="334758" y="18424"/>
                  </a:lnTo>
                  <a:lnTo>
                    <a:pt x="376427" y="40668"/>
                  </a:lnTo>
                  <a:lnTo>
                    <a:pt x="413309" y="70912"/>
                  </a:lnTo>
                  <a:lnTo>
                    <a:pt x="443530" y="107785"/>
                  </a:lnTo>
                  <a:lnTo>
                    <a:pt x="465774" y="149459"/>
                  </a:lnTo>
                  <a:lnTo>
                    <a:pt x="479505" y="194653"/>
                  </a:lnTo>
                  <a:lnTo>
                    <a:pt x="484199" y="242099"/>
                  </a:lnTo>
                  <a:lnTo>
                    <a:pt x="479281" y="290888"/>
                  </a:lnTo>
                  <a:lnTo>
                    <a:pt x="465176" y="336332"/>
                  </a:lnTo>
                  <a:lnTo>
                    <a:pt x="442856" y="377456"/>
                  </a:lnTo>
                  <a:lnTo>
                    <a:pt x="413296" y="413286"/>
                  </a:lnTo>
                  <a:lnTo>
                    <a:pt x="377467" y="442850"/>
                  </a:lnTo>
                  <a:lnTo>
                    <a:pt x="336342" y="465172"/>
                  </a:lnTo>
                  <a:lnTo>
                    <a:pt x="290895" y="479280"/>
                  </a:lnTo>
                  <a:lnTo>
                    <a:pt x="242099" y="484199"/>
                  </a:lnTo>
                  <a:close/>
                </a:path>
              </a:pathLst>
            </a:custGeom>
            <a:solidFill>
              <a:srgbClr val="93C3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782290" y="3394868"/>
              <a:ext cx="484505" cy="484505"/>
            </a:xfrm>
            <a:custGeom>
              <a:avLst/>
              <a:gdLst/>
              <a:ahLst/>
              <a:cxnLst/>
              <a:rect l="l" t="t" r="r" b="b"/>
              <a:pathLst>
                <a:path w="484504" h="484504">
                  <a:moveTo>
                    <a:pt x="242099" y="484199"/>
                  </a:moveTo>
                  <a:lnTo>
                    <a:pt x="193310" y="479280"/>
                  </a:lnTo>
                  <a:lnTo>
                    <a:pt x="147866" y="465172"/>
                  </a:lnTo>
                  <a:lnTo>
                    <a:pt x="106742" y="442850"/>
                  </a:lnTo>
                  <a:lnTo>
                    <a:pt x="70912" y="413286"/>
                  </a:lnTo>
                  <a:lnTo>
                    <a:pt x="41348" y="377456"/>
                  </a:lnTo>
                  <a:lnTo>
                    <a:pt x="19026" y="336332"/>
                  </a:lnTo>
                  <a:lnTo>
                    <a:pt x="4918" y="290888"/>
                  </a:lnTo>
                  <a:lnTo>
                    <a:pt x="0" y="242099"/>
                  </a:lnTo>
                  <a:lnTo>
                    <a:pt x="4918" y="193310"/>
                  </a:lnTo>
                  <a:lnTo>
                    <a:pt x="19026" y="147866"/>
                  </a:lnTo>
                  <a:lnTo>
                    <a:pt x="41348" y="106742"/>
                  </a:lnTo>
                  <a:lnTo>
                    <a:pt x="70912" y="70912"/>
                  </a:lnTo>
                  <a:lnTo>
                    <a:pt x="106742" y="41348"/>
                  </a:lnTo>
                  <a:lnTo>
                    <a:pt x="147866" y="19026"/>
                  </a:lnTo>
                  <a:lnTo>
                    <a:pt x="193310" y="4918"/>
                  </a:lnTo>
                  <a:lnTo>
                    <a:pt x="242099" y="0"/>
                  </a:lnTo>
                  <a:lnTo>
                    <a:pt x="289559" y="4694"/>
                  </a:lnTo>
                  <a:lnTo>
                    <a:pt x="334758" y="18428"/>
                  </a:lnTo>
                  <a:lnTo>
                    <a:pt x="376427" y="40679"/>
                  </a:lnTo>
                  <a:lnTo>
                    <a:pt x="413299" y="70924"/>
                  </a:lnTo>
                  <a:lnTo>
                    <a:pt x="443530" y="107795"/>
                  </a:lnTo>
                  <a:lnTo>
                    <a:pt x="465774" y="149462"/>
                  </a:lnTo>
                  <a:lnTo>
                    <a:pt x="479505" y="194653"/>
                  </a:lnTo>
                  <a:lnTo>
                    <a:pt x="484199" y="242099"/>
                  </a:lnTo>
                  <a:lnTo>
                    <a:pt x="479281" y="290888"/>
                  </a:lnTo>
                  <a:lnTo>
                    <a:pt x="465176" y="336332"/>
                  </a:lnTo>
                  <a:lnTo>
                    <a:pt x="442856" y="377456"/>
                  </a:lnTo>
                  <a:lnTo>
                    <a:pt x="413296" y="413286"/>
                  </a:lnTo>
                  <a:lnTo>
                    <a:pt x="377467" y="442850"/>
                  </a:lnTo>
                  <a:lnTo>
                    <a:pt x="336342" y="465172"/>
                  </a:lnTo>
                  <a:lnTo>
                    <a:pt x="290895" y="479280"/>
                  </a:lnTo>
                  <a:lnTo>
                    <a:pt x="242099" y="484199"/>
                  </a:lnTo>
                  <a:close/>
                </a:path>
              </a:pathLst>
            </a:custGeom>
            <a:solidFill>
              <a:srgbClr val="FFAA3F">
                <a:alpha val="5372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4901569" y="3512382"/>
            <a:ext cx="245745" cy="831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endParaRPr sz="1350" baseline="-30864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endParaRPr sz="900">
              <a:latin typeface="Tahoma"/>
              <a:cs typeface="Tahoma"/>
            </a:endParaRPr>
          </a:p>
          <a:p>
            <a:pPr marL="94615">
              <a:lnSpc>
                <a:spcPct val="100000"/>
              </a:lnSpc>
              <a:spcBef>
                <a:spcPts val="5"/>
              </a:spcBef>
            </a:pP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43" name="object 4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76323" y="1539396"/>
            <a:ext cx="2619369" cy="321311"/>
          </a:xfrm>
          <a:prstGeom prst="rect">
            <a:avLst/>
          </a:prstGeom>
        </p:spPr>
      </p:pic>
      <p:grpSp>
        <p:nvGrpSpPr>
          <p:cNvPr id="44" name="object 44"/>
          <p:cNvGrpSpPr/>
          <p:nvPr/>
        </p:nvGrpSpPr>
        <p:grpSpPr>
          <a:xfrm>
            <a:off x="5256964" y="3193543"/>
            <a:ext cx="1287145" cy="453390"/>
            <a:chOff x="5256964" y="3193543"/>
            <a:chExt cx="1287145" cy="453390"/>
          </a:xfrm>
        </p:grpSpPr>
        <p:sp>
          <p:nvSpPr>
            <p:cNvPr id="45" name="object 45"/>
            <p:cNvSpPr/>
            <p:nvPr/>
          </p:nvSpPr>
          <p:spPr>
            <a:xfrm>
              <a:off x="5266489" y="3232843"/>
              <a:ext cx="1186180" cy="404495"/>
            </a:xfrm>
            <a:custGeom>
              <a:avLst/>
              <a:gdLst/>
              <a:ahLst/>
              <a:cxnLst/>
              <a:rect l="l" t="t" r="r" b="b"/>
              <a:pathLst>
                <a:path w="1186179" h="404495">
                  <a:moveTo>
                    <a:pt x="0" y="404124"/>
                  </a:moveTo>
                  <a:lnTo>
                    <a:pt x="1185722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32537" y="3193543"/>
              <a:ext cx="111024" cy="78599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 rot="1020000">
            <a:off x="5587121" y="2318136"/>
            <a:ext cx="266749" cy="210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55"/>
              </a:lnSpc>
            </a:pPr>
            <a:r>
              <a:rPr sz="1400" b="1" spc="-185" dirty="0">
                <a:solidFill>
                  <a:srgbClr val="77909C"/>
                </a:solidFill>
                <a:latin typeface="Tahoma"/>
                <a:cs typeface="Tahoma"/>
              </a:rPr>
              <a:t>w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566350" y="4636610"/>
            <a:ext cx="381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b="1" spc="-20" dirty="0">
                <a:solidFill>
                  <a:srgbClr val="93C37C"/>
                </a:solidFill>
                <a:latin typeface="Arial"/>
                <a:cs typeface="Arial"/>
              </a:rPr>
              <a:t>bias</a:t>
            </a:r>
            <a:endParaRPr sz="14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 rot="1020000">
            <a:off x="5707044" y="2480313"/>
            <a:ext cx="164093" cy="1143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900" b="1" spc="-110" dirty="0">
                <a:solidFill>
                  <a:srgbClr val="77909C"/>
                </a:solidFill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253707" y="2742203"/>
            <a:ext cx="5784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341C75"/>
                </a:solidFill>
                <a:latin typeface="Arial"/>
                <a:cs typeface="Arial"/>
              </a:rPr>
              <a:t>output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Roboto"/>
                <a:cs typeface="Roboto"/>
              </a:rPr>
              <a:t>Common</a:t>
            </a:r>
            <a:r>
              <a:rPr spc="-75" dirty="0">
                <a:latin typeface="Roboto"/>
                <a:cs typeface="Roboto"/>
              </a:rPr>
              <a:t> </a:t>
            </a:r>
            <a:r>
              <a:rPr spc="-20" dirty="0">
                <a:latin typeface="Roboto"/>
                <a:cs typeface="Roboto"/>
              </a:rPr>
              <a:t>Activation</a:t>
            </a:r>
            <a:r>
              <a:rPr spc="-70" dirty="0">
                <a:latin typeface="Roboto"/>
                <a:cs typeface="Roboto"/>
              </a:rPr>
              <a:t> </a:t>
            </a:r>
            <a:r>
              <a:rPr spc="-10" dirty="0">
                <a:latin typeface="Roboto"/>
                <a:cs typeface="Roboto"/>
              </a:rPr>
              <a:t>Functions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1313" y="1615765"/>
            <a:ext cx="8188513" cy="2119359"/>
          </a:xfrm>
          <a:prstGeom prst="rect">
            <a:avLst/>
          </a:prstGeom>
        </p:spPr>
      </p:pic>
      <p:sp>
        <p:nvSpPr>
          <p:cNvPr id="5" name="object 8">
            <a:extLst>
              <a:ext uri="{FF2B5EF4-FFF2-40B4-BE49-F238E27FC236}">
                <a16:creationId xmlns:a16="http://schemas.microsoft.com/office/drawing/2014/main" id="{9D07E9D4-0DAB-E7A3-A2B7-02039F699B27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590800" y="4716893"/>
            <a:ext cx="3657600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05"/>
              </a:lnSpc>
            </a:pPr>
            <a:r>
              <a:rPr lang="fr-FR" spc="-50" dirty="0"/>
              <a:t>ESILV</a:t>
            </a:r>
            <a:r>
              <a:rPr spc="-50" dirty="0"/>
              <a:t> </a:t>
            </a:r>
            <a:r>
              <a:rPr spc="-45" dirty="0"/>
              <a:t> </a:t>
            </a:r>
            <a:r>
              <a:rPr dirty="0">
                <a:solidFill>
                  <a:srgbClr val="0097A7"/>
                </a:solidFill>
              </a:rPr>
              <a:t>|</a:t>
            </a:r>
            <a:r>
              <a:rPr spc="-45" dirty="0">
                <a:solidFill>
                  <a:srgbClr val="0097A7"/>
                </a:solidFill>
              </a:rPr>
              <a:t> </a:t>
            </a:r>
            <a:r>
              <a:rPr spc="-10" dirty="0"/>
              <a:t>Intro</a:t>
            </a:r>
            <a:r>
              <a:rPr spc="-50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Deep</a:t>
            </a:r>
            <a:r>
              <a:rPr spc="-50" dirty="0"/>
              <a:t> </a:t>
            </a:r>
            <a:r>
              <a:rPr spc="-10" dirty="0"/>
              <a:t>Learning</a:t>
            </a:r>
            <a:r>
              <a:rPr spc="-40" dirty="0"/>
              <a:t> </a:t>
            </a:r>
            <a:r>
              <a:rPr dirty="0">
                <a:solidFill>
                  <a:srgbClr val="0097A7"/>
                </a:solidFill>
              </a:rPr>
              <a:t>|</a:t>
            </a:r>
            <a:r>
              <a:rPr spc="-50" dirty="0">
                <a:solidFill>
                  <a:srgbClr val="0097A7"/>
                </a:solidFill>
              </a:rPr>
              <a:t> </a:t>
            </a:r>
            <a:r>
              <a:rPr lang="fr-FR" spc="-50" dirty="0">
                <a:solidFill>
                  <a:srgbClr val="0097A7"/>
                </a:solidFill>
              </a:rPr>
              <a:t> </a:t>
            </a:r>
            <a:r>
              <a:rPr lang="fr-FR" spc="-50" dirty="0" err="1">
                <a:solidFill>
                  <a:srgbClr val="0097A7"/>
                </a:solidFill>
              </a:rPr>
              <a:t>K.Kadri</a:t>
            </a:r>
            <a:endParaRPr spc="-2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Roboto"/>
                <a:cs typeface="Roboto"/>
              </a:rPr>
              <a:t>Importance</a:t>
            </a:r>
            <a:r>
              <a:rPr spc="-60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of</a:t>
            </a:r>
            <a:r>
              <a:rPr spc="-50" dirty="0">
                <a:latin typeface="Roboto"/>
                <a:cs typeface="Roboto"/>
              </a:rPr>
              <a:t> </a:t>
            </a:r>
            <a:r>
              <a:rPr spc="-20" dirty="0">
                <a:latin typeface="Roboto"/>
                <a:cs typeface="Roboto"/>
              </a:rPr>
              <a:t>Activation</a:t>
            </a:r>
            <a:r>
              <a:rPr spc="-60" dirty="0">
                <a:latin typeface="Roboto"/>
                <a:cs typeface="Roboto"/>
              </a:rPr>
              <a:t> </a:t>
            </a:r>
            <a:r>
              <a:rPr spc="-10" dirty="0">
                <a:latin typeface="Roboto"/>
                <a:cs typeface="Roboto"/>
              </a:rPr>
              <a:t>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8" y="1176351"/>
            <a:ext cx="6740525" cy="65405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14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spc="-20" dirty="0">
                <a:solidFill>
                  <a:srgbClr val="595959"/>
                </a:solidFill>
                <a:latin typeface="Roboto"/>
                <a:cs typeface="Roboto"/>
              </a:rPr>
              <a:t>Activation</a:t>
            </a:r>
            <a:r>
              <a:rPr sz="18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Roboto"/>
                <a:cs typeface="Roboto"/>
              </a:rPr>
              <a:t>functions</a:t>
            </a:r>
            <a:r>
              <a:rPr sz="18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add</a:t>
            </a:r>
            <a:r>
              <a:rPr sz="18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70" dirty="0">
                <a:solidFill>
                  <a:srgbClr val="595959"/>
                </a:solidFill>
                <a:latin typeface="Roboto"/>
                <a:cs typeface="Roboto"/>
              </a:rPr>
              <a:t>non-</a:t>
            </a:r>
            <a:r>
              <a:rPr sz="1800" spc="-45" dirty="0">
                <a:solidFill>
                  <a:srgbClr val="595959"/>
                </a:solidFill>
                <a:latin typeface="Roboto"/>
                <a:cs typeface="Roboto"/>
              </a:rPr>
              <a:t>linearity</a:t>
            </a:r>
            <a:r>
              <a:rPr sz="18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to</a:t>
            </a:r>
            <a:r>
              <a:rPr sz="18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our</a:t>
            </a:r>
            <a:r>
              <a:rPr sz="18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Roboto"/>
                <a:cs typeface="Roboto"/>
              </a:rPr>
              <a:t>network’s</a:t>
            </a:r>
            <a:r>
              <a:rPr sz="18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function</a:t>
            </a:r>
            <a:endParaRPr sz="1800">
              <a:latin typeface="Roboto"/>
              <a:cs typeface="Roboto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Most</a:t>
            </a:r>
            <a:r>
              <a:rPr sz="18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50" dirty="0">
                <a:solidFill>
                  <a:srgbClr val="595959"/>
                </a:solidFill>
                <a:latin typeface="Roboto"/>
                <a:cs typeface="Roboto"/>
              </a:rPr>
              <a:t>real-</a:t>
            </a:r>
            <a:r>
              <a:rPr sz="1800" spc="-35" dirty="0">
                <a:solidFill>
                  <a:srgbClr val="595959"/>
                </a:solidFill>
                <a:latin typeface="Roboto"/>
                <a:cs typeface="Roboto"/>
              </a:rPr>
              <a:t>world</a:t>
            </a:r>
            <a:r>
              <a:rPr sz="18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problems</a:t>
            </a:r>
            <a:r>
              <a:rPr sz="18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+</a:t>
            </a:r>
            <a:r>
              <a:rPr sz="18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data</a:t>
            </a:r>
            <a:r>
              <a:rPr sz="18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are</a:t>
            </a:r>
            <a:r>
              <a:rPr sz="1800" spc="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b="1" spc="-20" dirty="0">
                <a:solidFill>
                  <a:srgbClr val="595959"/>
                </a:solidFill>
                <a:latin typeface="Roboto"/>
                <a:cs typeface="Roboto"/>
              </a:rPr>
              <a:t>non-</a:t>
            </a:r>
            <a:r>
              <a:rPr sz="1800" b="1" spc="-10" dirty="0">
                <a:solidFill>
                  <a:srgbClr val="595959"/>
                </a:solidFill>
                <a:latin typeface="Roboto"/>
                <a:cs typeface="Roboto"/>
              </a:rPr>
              <a:t>linear</a:t>
            </a:r>
            <a:endParaRPr sz="1800">
              <a:latin typeface="Roboto"/>
              <a:cs typeface="Roboto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87389" y="2326467"/>
            <a:ext cx="1800190" cy="18536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08988" y="2399969"/>
            <a:ext cx="1685477" cy="1760390"/>
          </a:xfrm>
          <a:prstGeom prst="rect">
            <a:avLst/>
          </a:prstGeom>
        </p:spPr>
      </p:pic>
      <p:sp>
        <p:nvSpPr>
          <p:cNvPr id="7" name="object 8">
            <a:extLst>
              <a:ext uri="{FF2B5EF4-FFF2-40B4-BE49-F238E27FC236}">
                <a16:creationId xmlns:a16="http://schemas.microsoft.com/office/drawing/2014/main" id="{F96D9884-8153-9FEB-6669-764831261A5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590800" y="4716893"/>
            <a:ext cx="4179570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05"/>
              </a:lnSpc>
            </a:pPr>
            <a:r>
              <a:rPr lang="fr-FR" spc="-50" dirty="0"/>
              <a:t>ESILV</a:t>
            </a:r>
            <a:r>
              <a:rPr spc="-50" dirty="0"/>
              <a:t> </a:t>
            </a:r>
            <a:r>
              <a:rPr spc="-45" dirty="0"/>
              <a:t> </a:t>
            </a:r>
            <a:r>
              <a:rPr dirty="0">
                <a:solidFill>
                  <a:srgbClr val="0097A7"/>
                </a:solidFill>
              </a:rPr>
              <a:t>|</a:t>
            </a:r>
            <a:r>
              <a:rPr spc="-45" dirty="0">
                <a:solidFill>
                  <a:srgbClr val="0097A7"/>
                </a:solidFill>
              </a:rPr>
              <a:t> </a:t>
            </a:r>
            <a:r>
              <a:rPr spc="-10" dirty="0"/>
              <a:t>Intro</a:t>
            </a:r>
            <a:r>
              <a:rPr spc="-50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Deep</a:t>
            </a:r>
            <a:r>
              <a:rPr spc="-50" dirty="0"/>
              <a:t> </a:t>
            </a:r>
            <a:r>
              <a:rPr spc="-10" dirty="0"/>
              <a:t>Learning</a:t>
            </a:r>
            <a:r>
              <a:rPr spc="-40" dirty="0"/>
              <a:t> </a:t>
            </a:r>
            <a:r>
              <a:rPr dirty="0">
                <a:solidFill>
                  <a:srgbClr val="0097A7"/>
                </a:solidFill>
              </a:rPr>
              <a:t>|</a:t>
            </a:r>
            <a:r>
              <a:rPr spc="-50" dirty="0">
                <a:solidFill>
                  <a:srgbClr val="0097A7"/>
                </a:solidFill>
              </a:rPr>
              <a:t> </a:t>
            </a:r>
            <a:r>
              <a:rPr lang="fr-FR" spc="-50" dirty="0">
                <a:solidFill>
                  <a:srgbClr val="0097A7"/>
                </a:solidFill>
              </a:rPr>
              <a:t> </a:t>
            </a:r>
            <a:r>
              <a:rPr lang="fr-FR" spc="-50" dirty="0" err="1">
                <a:solidFill>
                  <a:srgbClr val="0097A7"/>
                </a:solidFill>
              </a:rPr>
              <a:t>K.Kadri</a:t>
            </a:r>
            <a:endParaRPr spc="-2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Perceptron</a:t>
            </a:r>
            <a:r>
              <a:rPr spc="-165" dirty="0"/>
              <a:t> </a:t>
            </a:r>
            <a:r>
              <a:rPr dirty="0"/>
              <a:t>Forward</a:t>
            </a:r>
            <a:r>
              <a:rPr spc="-165" dirty="0"/>
              <a:t> </a:t>
            </a:r>
            <a:r>
              <a:rPr spc="-20" dirty="0"/>
              <a:t>Pass</a:t>
            </a:r>
          </a:p>
        </p:txBody>
      </p:sp>
      <p:sp>
        <p:nvSpPr>
          <p:cNvPr id="3" name="object 3"/>
          <p:cNvSpPr/>
          <p:nvPr/>
        </p:nvSpPr>
        <p:spPr>
          <a:xfrm>
            <a:off x="4782286" y="1585239"/>
            <a:ext cx="516890" cy="1109345"/>
          </a:xfrm>
          <a:custGeom>
            <a:avLst/>
            <a:gdLst/>
            <a:ahLst/>
            <a:cxnLst/>
            <a:rect l="l" t="t" r="r" b="b"/>
            <a:pathLst>
              <a:path w="516889" h="1109345">
                <a:moveTo>
                  <a:pt x="500392" y="867194"/>
                </a:moveTo>
                <a:lnTo>
                  <a:pt x="495706" y="819734"/>
                </a:lnTo>
                <a:lnTo>
                  <a:pt x="481977" y="774547"/>
                </a:lnTo>
                <a:lnTo>
                  <a:pt x="459727" y="732878"/>
                </a:lnTo>
                <a:lnTo>
                  <a:pt x="429501" y="695998"/>
                </a:lnTo>
                <a:lnTo>
                  <a:pt x="392620" y="665772"/>
                </a:lnTo>
                <a:lnTo>
                  <a:pt x="350951" y="643521"/>
                </a:lnTo>
                <a:lnTo>
                  <a:pt x="305752" y="629780"/>
                </a:lnTo>
                <a:lnTo>
                  <a:pt x="258292" y="625094"/>
                </a:lnTo>
                <a:lnTo>
                  <a:pt x="209511" y="630008"/>
                </a:lnTo>
                <a:lnTo>
                  <a:pt x="164058" y="644118"/>
                </a:lnTo>
                <a:lnTo>
                  <a:pt x="122936" y="666432"/>
                </a:lnTo>
                <a:lnTo>
                  <a:pt x="87109" y="695998"/>
                </a:lnTo>
                <a:lnTo>
                  <a:pt x="57543" y="731824"/>
                </a:lnTo>
                <a:lnTo>
                  <a:pt x="35229" y="772960"/>
                </a:lnTo>
                <a:lnTo>
                  <a:pt x="21120" y="818400"/>
                </a:lnTo>
                <a:lnTo>
                  <a:pt x="16192" y="867194"/>
                </a:lnTo>
                <a:lnTo>
                  <a:pt x="21120" y="915974"/>
                </a:lnTo>
                <a:lnTo>
                  <a:pt x="35229" y="961415"/>
                </a:lnTo>
                <a:lnTo>
                  <a:pt x="57543" y="1002538"/>
                </a:lnTo>
                <a:lnTo>
                  <a:pt x="87109" y="1038377"/>
                </a:lnTo>
                <a:lnTo>
                  <a:pt x="122936" y="1067943"/>
                </a:lnTo>
                <a:lnTo>
                  <a:pt x="164058" y="1090256"/>
                </a:lnTo>
                <a:lnTo>
                  <a:pt x="209511" y="1104366"/>
                </a:lnTo>
                <a:lnTo>
                  <a:pt x="258292" y="1109281"/>
                </a:lnTo>
                <a:lnTo>
                  <a:pt x="307098" y="1104366"/>
                </a:lnTo>
                <a:lnTo>
                  <a:pt x="352539" y="1090256"/>
                </a:lnTo>
                <a:lnTo>
                  <a:pt x="393661" y="1067943"/>
                </a:lnTo>
                <a:lnTo>
                  <a:pt x="429488" y="1038377"/>
                </a:lnTo>
                <a:lnTo>
                  <a:pt x="459054" y="1002538"/>
                </a:lnTo>
                <a:lnTo>
                  <a:pt x="481368" y="961415"/>
                </a:lnTo>
                <a:lnTo>
                  <a:pt x="495477" y="915974"/>
                </a:lnTo>
                <a:lnTo>
                  <a:pt x="500392" y="867194"/>
                </a:lnTo>
                <a:close/>
              </a:path>
              <a:path w="516889" h="1109345">
                <a:moveTo>
                  <a:pt x="516597" y="258292"/>
                </a:moveTo>
                <a:lnTo>
                  <a:pt x="511594" y="207670"/>
                </a:lnTo>
                <a:lnTo>
                  <a:pt x="496938" y="159448"/>
                </a:lnTo>
                <a:lnTo>
                  <a:pt x="473202" y="114985"/>
                </a:lnTo>
                <a:lnTo>
                  <a:pt x="440944" y="75653"/>
                </a:lnTo>
                <a:lnTo>
                  <a:pt x="401599" y="43395"/>
                </a:lnTo>
                <a:lnTo>
                  <a:pt x="357136" y="19659"/>
                </a:lnTo>
                <a:lnTo>
                  <a:pt x="308927" y="5003"/>
                </a:lnTo>
                <a:lnTo>
                  <a:pt x="258292" y="0"/>
                </a:lnTo>
                <a:lnTo>
                  <a:pt x="211874" y="4152"/>
                </a:lnTo>
                <a:lnTo>
                  <a:pt x="168173" y="16154"/>
                </a:lnTo>
                <a:lnTo>
                  <a:pt x="127927" y="35255"/>
                </a:lnTo>
                <a:lnTo>
                  <a:pt x="91884" y="60744"/>
                </a:lnTo>
                <a:lnTo>
                  <a:pt x="60744" y="91871"/>
                </a:lnTo>
                <a:lnTo>
                  <a:pt x="35267" y="127927"/>
                </a:lnTo>
                <a:lnTo>
                  <a:pt x="16154" y="168160"/>
                </a:lnTo>
                <a:lnTo>
                  <a:pt x="4165" y="211861"/>
                </a:lnTo>
                <a:lnTo>
                  <a:pt x="0" y="258292"/>
                </a:lnTo>
                <a:lnTo>
                  <a:pt x="4165" y="304723"/>
                </a:lnTo>
                <a:lnTo>
                  <a:pt x="16154" y="348424"/>
                </a:lnTo>
                <a:lnTo>
                  <a:pt x="35267" y="388658"/>
                </a:lnTo>
                <a:lnTo>
                  <a:pt x="60744" y="424713"/>
                </a:lnTo>
                <a:lnTo>
                  <a:pt x="91884" y="455841"/>
                </a:lnTo>
                <a:lnTo>
                  <a:pt x="127927" y="481330"/>
                </a:lnTo>
                <a:lnTo>
                  <a:pt x="168173" y="500430"/>
                </a:lnTo>
                <a:lnTo>
                  <a:pt x="211874" y="512432"/>
                </a:lnTo>
                <a:lnTo>
                  <a:pt x="258292" y="516597"/>
                </a:lnTo>
                <a:lnTo>
                  <a:pt x="304723" y="512432"/>
                </a:lnTo>
                <a:lnTo>
                  <a:pt x="348424" y="500430"/>
                </a:lnTo>
                <a:lnTo>
                  <a:pt x="388658" y="481330"/>
                </a:lnTo>
                <a:lnTo>
                  <a:pt x="424713" y="455841"/>
                </a:lnTo>
                <a:lnTo>
                  <a:pt x="455841" y="424713"/>
                </a:lnTo>
                <a:lnTo>
                  <a:pt x="481330" y="388658"/>
                </a:lnTo>
                <a:lnTo>
                  <a:pt x="500430" y="348424"/>
                </a:lnTo>
                <a:lnTo>
                  <a:pt x="512432" y="304723"/>
                </a:lnTo>
                <a:lnTo>
                  <a:pt x="516597" y="258292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983736" y="1718938"/>
            <a:ext cx="114300" cy="847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420"/>
              </a:spcBef>
            </a:pP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798490" y="2803019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10" y="479280"/>
                </a:lnTo>
                <a:lnTo>
                  <a:pt x="147866" y="465172"/>
                </a:lnTo>
                <a:lnTo>
                  <a:pt x="106742" y="442850"/>
                </a:lnTo>
                <a:lnTo>
                  <a:pt x="70912" y="413286"/>
                </a:lnTo>
                <a:lnTo>
                  <a:pt x="41348" y="377456"/>
                </a:lnTo>
                <a:lnTo>
                  <a:pt x="19026" y="336332"/>
                </a:lnTo>
                <a:lnTo>
                  <a:pt x="4918" y="290888"/>
                </a:lnTo>
                <a:lnTo>
                  <a:pt x="0" y="242099"/>
                </a:lnTo>
                <a:lnTo>
                  <a:pt x="4918" y="193310"/>
                </a:lnTo>
                <a:lnTo>
                  <a:pt x="19026" y="147866"/>
                </a:lnTo>
                <a:lnTo>
                  <a:pt x="41348" y="106742"/>
                </a:lnTo>
                <a:lnTo>
                  <a:pt x="70927" y="70899"/>
                </a:lnTo>
                <a:lnTo>
                  <a:pt x="106742" y="41348"/>
                </a:lnTo>
                <a:lnTo>
                  <a:pt x="147866" y="19026"/>
                </a:lnTo>
                <a:lnTo>
                  <a:pt x="193310" y="4918"/>
                </a:lnTo>
                <a:lnTo>
                  <a:pt x="242099" y="0"/>
                </a:lnTo>
                <a:lnTo>
                  <a:pt x="289559" y="4693"/>
                </a:lnTo>
                <a:lnTo>
                  <a:pt x="334758" y="18424"/>
                </a:lnTo>
                <a:lnTo>
                  <a:pt x="376427" y="40668"/>
                </a:lnTo>
                <a:lnTo>
                  <a:pt x="413309" y="70912"/>
                </a:lnTo>
                <a:lnTo>
                  <a:pt x="443530" y="107774"/>
                </a:lnTo>
                <a:lnTo>
                  <a:pt x="465774" y="149449"/>
                </a:lnTo>
                <a:lnTo>
                  <a:pt x="479505" y="194649"/>
                </a:lnTo>
                <a:lnTo>
                  <a:pt x="484199" y="242099"/>
                </a:lnTo>
                <a:lnTo>
                  <a:pt x="479281" y="290888"/>
                </a:lnTo>
                <a:lnTo>
                  <a:pt x="465176" y="336332"/>
                </a:lnTo>
                <a:lnTo>
                  <a:pt x="442856" y="377456"/>
                </a:lnTo>
                <a:lnTo>
                  <a:pt x="413296" y="413286"/>
                </a:lnTo>
                <a:lnTo>
                  <a:pt x="377467" y="442850"/>
                </a:lnTo>
                <a:lnTo>
                  <a:pt x="336342" y="465172"/>
                </a:lnTo>
                <a:lnTo>
                  <a:pt x="290895" y="479280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956107" y="2920528"/>
            <a:ext cx="1695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7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sz="1400" spc="-6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489587" y="2783669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10" y="479280"/>
                </a:lnTo>
                <a:lnTo>
                  <a:pt x="147866" y="465172"/>
                </a:lnTo>
                <a:lnTo>
                  <a:pt x="106742" y="442850"/>
                </a:lnTo>
                <a:lnTo>
                  <a:pt x="70912" y="413286"/>
                </a:lnTo>
                <a:lnTo>
                  <a:pt x="41348" y="377456"/>
                </a:lnTo>
                <a:lnTo>
                  <a:pt x="19026" y="336332"/>
                </a:lnTo>
                <a:lnTo>
                  <a:pt x="4918" y="290888"/>
                </a:lnTo>
                <a:lnTo>
                  <a:pt x="0" y="242099"/>
                </a:lnTo>
                <a:lnTo>
                  <a:pt x="4918" y="193310"/>
                </a:lnTo>
                <a:lnTo>
                  <a:pt x="19026" y="147866"/>
                </a:lnTo>
                <a:lnTo>
                  <a:pt x="41348" y="106742"/>
                </a:lnTo>
                <a:lnTo>
                  <a:pt x="70927" y="70899"/>
                </a:lnTo>
                <a:lnTo>
                  <a:pt x="106742" y="41348"/>
                </a:lnTo>
                <a:lnTo>
                  <a:pt x="147866" y="19026"/>
                </a:lnTo>
                <a:lnTo>
                  <a:pt x="193310" y="4918"/>
                </a:lnTo>
                <a:lnTo>
                  <a:pt x="242099" y="0"/>
                </a:lnTo>
                <a:lnTo>
                  <a:pt x="289559" y="4693"/>
                </a:lnTo>
                <a:lnTo>
                  <a:pt x="334758" y="18424"/>
                </a:lnTo>
                <a:lnTo>
                  <a:pt x="376427" y="40668"/>
                </a:lnTo>
                <a:lnTo>
                  <a:pt x="413309" y="70912"/>
                </a:lnTo>
                <a:lnTo>
                  <a:pt x="443530" y="107774"/>
                </a:lnTo>
                <a:lnTo>
                  <a:pt x="465774" y="149449"/>
                </a:lnTo>
                <a:lnTo>
                  <a:pt x="479505" y="194649"/>
                </a:lnTo>
                <a:lnTo>
                  <a:pt x="484199" y="242099"/>
                </a:lnTo>
                <a:lnTo>
                  <a:pt x="479281" y="290888"/>
                </a:lnTo>
                <a:lnTo>
                  <a:pt x="465176" y="336332"/>
                </a:lnTo>
                <a:lnTo>
                  <a:pt x="442856" y="377456"/>
                </a:lnTo>
                <a:lnTo>
                  <a:pt x="413296" y="413286"/>
                </a:lnTo>
                <a:lnTo>
                  <a:pt x="377467" y="442850"/>
                </a:lnTo>
                <a:lnTo>
                  <a:pt x="336342" y="465172"/>
                </a:lnTo>
                <a:lnTo>
                  <a:pt x="290895" y="479280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0097A7">
              <a:alpha val="4823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633526" y="2865814"/>
            <a:ext cx="1555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40" dirty="0">
                <a:solidFill>
                  <a:srgbClr val="FFFFFF"/>
                </a:solidFill>
                <a:latin typeface="Roboto"/>
                <a:cs typeface="Roboto"/>
              </a:rPr>
              <a:t>&gt;</a:t>
            </a:r>
            <a:endParaRPr sz="1800">
              <a:latin typeface="Roboto"/>
              <a:cs typeface="Robo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273164" y="1834001"/>
            <a:ext cx="1445260" cy="1235075"/>
            <a:chOff x="5273164" y="1834001"/>
            <a:chExt cx="1445260" cy="1235075"/>
          </a:xfrm>
        </p:grpSpPr>
        <p:sp>
          <p:nvSpPr>
            <p:cNvPr id="10" name="object 10"/>
            <p:cNvSpPr/>
            <p:nvPr/>
          </p:nvSpPr>
          <p:spPr>
            <a:xfrm>
              <a:off x="5298889" y="1843526"/>
              <a:ext cx="1337310" cy="877569"/>
            </a:xfrm>
            <a:custGeom>
              <a:avLst/>
              <a:gdLst/>
              <a:ahLst/>
              <a:cxnLst/>
              <a:rect l="l" t="t" r="r" b="b"/>
              <a:pathLst>
                <a:path w="1337309" h="877569">
                  <a:moveTo>
                    <a:pt x="0" y="0"/>
                  </a:moveTo>
                  <a:lnTo>
                    <a:pt x="1337247" y="877493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09336" y="2685194"/>
              <a:ext cx="108599" cy="9277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282689" y="3027743"/>
              <a:ext cx="1092835" cy="17780"/>
            </a:xfrm>
            <a:custGeom>
              <a:avLst/>
              <a:gdLst/>
              <a:ahLst/>
              <a:cxnLst/>
              <a:rect l="l" t="t" r="r" b="b"/>
              <a:pathLst>
                <a:path w="1092835" h="17780">
                  <a:moveTo>
                    <a:pt x="0" y="17374"/>
                  </a:moveTo>
                  <a:lnTo>
                    <a:pt x="1092622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65286" y="2986743"/>
              <a:ext cx="105974" cy="8197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282689" y="2452422"/>
              <a:ext cx="1169035" cy="368300"/>
            </a:xfrm>
            <a:custGeom>
              <a:avLst/>
              <a:gdLst/>
              <a:ahLst/>
              <a:cxnLst/>
              <a:rect l="l" t="t" r="r" b="b"/>
              <a:pathLst>
                <a:path w="1169035" h="368300">
                  <a:moveTo>
                    <a:pt x="0" y="0"/>
                  </a:moveTo>
                  <a:lnTo>
                    <a:pt x="1168672" y="367971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32386" y="2780844"/>
              <a:ext cx="110974" cy="79099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4763896" y="1154189"/>
            <a:ext cx="5588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AA3F"/>
                </a:solidFill>
                <a:latin typeface="Arial"/>
                <a:cs typeface="Arial"/>
              </a:rPr>
              <a:t>inputs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01816" y="1154189"/>
            <a:ext cx="6877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77909C"/>
                </a:solidFill>
                <a:latin typeface="Arial"/>
                <a:cs typeface="Arial"/>
              </a:rPr>
              <a:t>weights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 rot="1980000">
            <a:off x="5697002" y="1968927"/>
            <a:ext cx="302292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70"/>
              </a:lnSpc>
            </a:pPr>
            <a:r>
              <a:rPr sz="1400" b="1" spc="-120" dirty="0">
                <a:solidFill>
                  <a:srgbClr val="77909C"/>
                </a:solidFill>
                <a:latin typeface="Tahoma"/>
                <a:cs typeface="Tahoma"/>
              </a:rPr>
              <a:t>0.1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588884" y="2742803"/>
            <a:ext cx="2667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95" dirty="0">
                <a:solidFill>
                  <a:srgbClr val="77909C"/>
                </a:solidFill>
                <a:latin typeface="Tahoma"/>
                <a:cs typeface="Tahoma"/>
              </a:rPr>
              <a:t>2.5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 rot="20700000">
            <a:off x="5582266" y="3205358"/>
            <a:ext cx="302292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5"/>
              </a:lnSpc>
            </a:pPr>
            <a:r>
              <a:rPr sz="1400" b="1" spc="-120" dirty="0">
                <a:solidFill>
                  <a:srgbClr val="77909C"/>
                </a:solidFill>
                <a:latin typeface="Tahoma"/>
                <a:cs typeface="Tahoma"/>
              </a:rPr>
              <a:t>0.2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562622" y="1157332"/>
            <a:ext cx="3911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0097A7"/>
                </a:solidFill>
                <a:latin typeface="Arial"/>
                <a:cs typeface="Arial"/>
              </a:rPr>
              <a:t>sum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273164" y="2783669"/>
            <a:ext cx="3550920" cy="1456690"/>
            <a:chOff x="5273164" y="2783669"/>
            <a:chExt cx="3550920" cy="1456690"/>
          </a:xfrm>
        </p:grpSpPr>
        <p:sp>
          <p:nvSpPr>
            <p:cNvPr id="23" name="object 23"/>
            <p:cNvSpPr/>
            <p:nvPr/>
          </p:nvSpPr>
          <p:spPr>
            <a:xfrm>
              <a:off x="6973785" y="3025768"/>
              <a:ext cx="581660" cy="0"/>
            </a:xfrm>
            <a:custGeom>
              <a:avLst/>
              <a:gdLst/>
              <a:ahLst/>
              <a:cxnLst/>
              <a:rect l="l" t="t" r="r" b="b"/>
              <a:pathLst>
                <a:path w="581659">
                  <a:moveTo>
                    <a:pt x="0" y="0"/>
                  </a:moveTo>
                  <a:lnTo>
                    <a:pt x="5812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555034" y="301004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49"/>
                  </a:moveTo>
                  <a:lnTo>
                    <a:pt x="0" y="0"/>
                  </a:lnTo>
                  <a:lnTo>
                    <a:pt x="43224" y="15724"/>
                  </a:lnTo>
                  <a:lnTo>
                    <a:pt x="0" y="314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555034" y="301004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49"/>
                  </a:moveTo>
                  <a:lnTo>
                    <a:pt x="43224" y="15724"/>
                  </a:lnTo>
                  <a:lnTo>
                    <a:pt x="0" y="0"/>
                  </a:lnTo>
                  <a:lnTo>
                    <a:pt x="0" y="314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612184" y="2783669"/>
              <a:ext cx="484505" cy="484505"/>
            </a:xfrm>
            <a:custGeom>
              <a:avLst/>
              <a:gdLst/>
              <a:ahLst/>
              <a:cxnLst/>
              <a:rect l="l" t="t" r="r" b="b"/>
              <a:pathLst>
                <a:path w="484504" h="484504">
                  <a:moveTo>
                    <a:pt x="242099" y="484199"/>
                  </a:moveTo>
                  <a:lnTo>
                    <a:pt x="193310" y="479280"/>
                  </a:lnTo>
                  <a:lnTo>
                    <a:pt x="147866" y="465172"/>
                  </a:lnTo>
                  <a:lnTo>
                    <a:pt x="106742" y="442850"/>
                  </a:lnTo>
                  <a:lnTo>
                    <a:pt x="70912" y="413286"/>
                  </a:lnTo>
                  <a:lnTo>
                    <a:pt x="41348" y="377456"/>
                  </a:lnTo>
                  <a:lnTo>
                    <a:pt x="19026" y="336332"/>
                  </a:lnTo>
                  <a:lnTo>
                    <a:pt x="4918" y="290888"/>
                  </a:lnTo>
                  <a:lnTo>
                    <a:pt x="0" y="242099"/>
                  </a:lnTo>
                  <a:lnTo>
                    <a:pt x="4918" y="193310"/>
                  </a:lnTo>
                  <a:lnTo>
                    <a:pt x="19026" y="147866"/>
                  </a:lnTo>
                  <a:lnTo>
                    <a:pt x="41348" y="106742"/>
                  </a:lnTo>
                  <a:lnTo>
                    <a:pt x="70927" y="70899"/>
                  </a:lnTo>
                  <a:lnTo>
                    <a:pt x="106742" y="41348"/>
                  </a:lnTo>
                  <a:lnTo>
                    <a:pt x="147866" y="19026"/>
                  </a:lnTo>
                  <a:lnTo>
                    <a:pt x="193310" y="4918"/>
                  </a:lnTo>
                  <a:lnTo>
                    <a:pt x="242099" y="0"/>
                  </a:lnTo>
                  <a:lnTo>
                    <a:pt x="289559" y="4693"/>
                  </a:lnTo>
                  <a:lnTo>
                    <a:pt x="334758" y="18424"/>
                  </a:lnTo>
                  <a:lnTo>
                    <a:pt x="376427" y="40668"/>
                  </a:lnTo>
                  <a:lnTo>
                    <a:pt x="413309" y="70912"/>
                  </a:lnTo>
                  <a:lnTo>
                    <a:pt x="443530" y="107774"/>
                  </a:lnTo>
                  <a:lnTo>
                    <a:pt x="465774" y="149449"/>
                  </a:lnTo>
                  <a:lnTo>
                    <a:pt x="479505" y="194649"/>
                  </a:lnTo>
                  <a:lnTo>
                    <a:pt x="484199" y="242099"/>
                  </a:lnTo>
                  <a:lnTo>
                    <a:pt x="479281" y="290888"/>
                  </a:lnTo>
                  <a:lnTo>
                    <a:pt x="465176" y="336332"/>
                  </a:lnTo>
                  <a:lnTo>
                    <a:pt x="442856" y="377456"/>
                  </a:lnTo>
                  <a:lnTo>
                    <a:pt x="413296" y="413286"/>
                  </a:lnTo>
                  <a:lnTo>
                    <a:pt x="377467" y="442850"/>
                  </a:lnTo>
                  <a:lnTo>
                    <a:pt x="336342" y="465172"/>
                  </a:lnTo>
                  <a:lnTo>
                    <a:pt x="290895" y="479280"/>
                  </a:lnTo>
                  <a:lnTo>
                    <a:pt x="242099" y="484199"/>
                  </a:lnTo>
                  <a:close/>
                </a:path>
              </a:pathLst>
            </a:custGeom>
            <a:solidFill>
              <a:srgbClr val="0A2138">
                <a:alpha val="6807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096383" y="3025768"/>
              <a:ext cx="679450" cy="5715"/>
            </a:xfrm>
            <a:custGeom>
              <a:avLst/>
              <a:gdLst/>
              <a:ahLst/>
              <a:cxnLst/>
              <a:rect l="l" t="t" r="r" b="b"/>
              <a:pathLst>
                <a:path w="679450" h="5714">
                  <a:moveTo>
                    <a:pt x="0" y="0"/>
                  </a:moveTo>
                  <a:lnTo>
                    <a:pt x="679348" y="5524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775606" y="301556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74"/>
                  </a:moveTo>
                  <a:lnTo>
                    <a:pt x="249" y="0"/>
                  </a:lnTo>
                  <a:lnTo>
                    <a:pt x="43349" y="16074"/>
                  </a:lnTo>
                  <a:lnTo>
                    <a:pt x="0" y="3147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775606" y="301556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74"/>
                  </a:moveTo>
                  <a:lnTo>
                    <a:pt x="43349" y="16074"/>
                  </a:lnTo>
                  <a:lnTo>
                    <a:pt x="249" y="0"/>
                  </a:lnTo>
                  <a:lnTo>
                    <a:pt x="0" y="3147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732784" y="2907419"/>
              <a:ext cx="243204" cy="243204"/>
            </a:xfrm>
            <a:custGeom>
              <a:avLst/>
              <a:gdLst/>
              <a:ahLst/>
              <a:cxnLst/>
              <a:rect l="l" t="t" r="r" b="b"/>
              <a:pathLst>
                <a:path w="243204" h="243205">
                  <a:moveTo>
                    <a:pt x="242999" y="0"/>
                  </a:moveTo>
                  <a:lnTo>
                    <a:pt x="202657" y="10441"/>
                  </a:lnTo>
                  <a:lnTo>
                    <a:pt x="170859" y="37968"/>
                  </a:lnTo>
                  <a:lnTo>
                    <a:pt x="144755" y="76886"/>
                  </a:lnTo>
                  <a:lnTo>
                    <a:pt x="121499" y="121499"/>
                  </a:lnTo>
                  <a:lnTo>
                    <a:pt x="98243" y="166112"/>
                  </a:lnTo>
                  <a:lnTo>
                    <a:pt x="72140" y="205030"/>
                  </a:lnTo>
                  <a:lnTo>
                    <a:pt x="40341" y="232558"/>
                  </a:lnTo>
                  <a:lnTo>
                    <a:pt x="0" y="242999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282689" y="3331068"/>
              <a:ext cx="1353820" cy="899794"/>
            </a:xfrm>
            <a:custGeom>
              <a:avLst/>
              <a:gdLst/>
              <a:ahLst/>
              <a:cxnLst/>
              <a:rect l="l" t="t" r="r" b="b"/>
              <a:pathLst>
                <a:path w="1353820" h="899795">
                  <a:moveTo>
                    <a:pt x="0" y="899448"/>
                  </a:moveTo>
                  <a:lnTo>
                    <a:pt x="1353797" y="0"/>
                  </a:lnTo>
                </a:path>
              </a:pathLst>
            </a:custGeom>
            <a:ln w="19049">
              <a:solidFill>
                <a:srgbClr val="93C3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09561" y="3273693"/>
              <a:ext cx="108449" cy="93099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7453494" y="1157332"/>
            <a:ext cx="10922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0A2138"/>
                </a:solidFill>
                <a:latin typeface="Arial"/>
                <a:cs typeface="Arial"/>
              </a:rPr>
              <a:t>non-linearity</a:t>
            </a:r>
            <a:endParaRPr sz="14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 rot="19680000">
            <a:off x="5610340" y="3731647"/>
            <a:ext cx="302292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5"/>
              </a:lnSpc>
            </a:pPr>
            <a:r>
              <a:rPr sz="1400" b="1" spc="-120" dirty="0">
                <a:solidFill>
                  <a:srgbClr val="93C37C"/>
                </a:solidFill>
                <a:latin typeface="Tahoma"/>
                <a:cs typeface="Tahoma"/>
              </a:rPr>
              <a:t>3.0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782290" y="3194368"/>
            <a:ext cx="1761489" cy="1278255"/>
            <a:chOff x="4782290" y="3194368"/>
            <a:chExt cx="1761489" cy="1278255"/>
          </a:xfrm>
        </p:grpSpPr>
        <p:sp>
          <p:nvSpPr>
            <p:cNvPr id="36" name="object 36"/>
            <p:cNvSpPr/>
            <p:nvPr/>
          </p:nvSpPr>
          <p:spPr>
            <a:xfrm>
              <a:off x="4798490" y="3988417"/>
              <a:ext cx="484505" cy="484505"/>
            </a:xfrm>
            <a:custGeom>
              <a:avLst/>
              <a:gdLst/>
              <a:ahLst/>
              <a:cxnLst/>
              <a:rect l="l" t="t" r="r" b="b"/>
              <a:pathLst>
                <a:path w="484504" h="484504">
                  <a:moveTo>
                    <a:pt x="242099" y="484199"/>
                  </a:moveTo>
                  <a:lnTo>
                    <a:pt x="193310" y="479280"/>
                  </a:lnTo>
                  <a:lnTo>
                    <a:pt x="147866" y="465172"/>
                  </a:lnTo>
                  <a:lnTo>
                    <a:pt x="106742" y="442850"/>
                  </a:lnTo>
                  <a:lnTo>
                    <a:pt x="70912" y="413286"/>
                  </a:lnTo>
                  <a:lnTo>
                    <a:pt x="41348" y="377456"/>
                  </a:lnTo>
                  <a:lnTo>
                    <a:pt x="19026" y="336332"/>
                  </a:lnTo>
                  <a:lnTo>
                    <a:pt x="4918" y="290888"/>
                  </a:lnTo>
                  <a:lnTo>
                    <a:pt x="0" y="242099"/>
                  </a:lnTo>
                  <a:lnTo>
                    <a:pt x="4918" y="193303"/>
                  </a:lnTo>
                  <a:lnTo>
                    <a:pt x="19026" y="147856"/>
                  </a:lnTo>
                  <a:lnTo>
                    <a:pt x="41348" y="106731"/>
                  </a:lnTo>
                  <a:lnTo>
                    <a:pt x="70916" y="70899"/>
                  </a:lnTo>
                  <a:lnTo>
                    <a:pt x="106742" y="41342"/>
                  </a:lnTo>
                  <a:lnTo>
                    <a:pt x="147866" y="19023"/>
                  </a:lnTo>
                  <a:lnTo>
                    <a:pt x="193310" y="4917"/>
                  </a:lnTo>
                  <a:lnTo>
                    <a:pt x="242099" y="0"/>
                  </a:lnTo>
                  <a:lnTo>
                    <a:pt x="289559" y="4693"/>
                  </a:lnTo>
                  <a:lnTo>
                    <a:pt x="334758" y="18424"/>
                  </a:lnTo>
                  <a:lnTo>
                    <a:pt x="376427" y="40668"/>
                  </a:lnTo>
                  <a:lnTo>
                    <a:pt x="413301" y="70902"/>
                  </a:lnTo>
                  <a:lnTo>
                    <a:pt x="443530" y="107771"/>
                  </a:lnTo>
                  <a:lnTo>
                    <a:pt x="465774" y="149440"/>
                  </a:lnTo>
                  <a:lnTo>
                    <a:pt x="479505" y="194639"/>
                  </a:lnTo>
                  <a:lnTo>
                    <a:pt x="484199" y="242099"/>
                  </a:lnTo>
                  <a:lnTo>
                    <a:pt x="479281" y="290888"/>
                  </a:lnTo>
                  <a:lnTo>
                    <a:pt x="465176" y="336332"/>
                  </a:lnTo>
                  <a:lnTo>
                    <a:pt x="442856" y="377456"/>
                  </a:lnTo>
                  <a:lnTo>
                    <a:pt x="413296" y="413286"/>
                  </a:lnTo>
                  <a:lnTo>
                    <a:pt x="377467" y="442850"/>
                  </a:lnTo>
                  <a:lnTo>
                    <a:pt x="336342" y="465172"/>
                  </a:lnTo>
                  <a:lnTo>
                    <a:pt x="290895" y="479280"/>
                  </a:lnTo>
                  <a:lnTo>
                    <a:pt x="242099" y="484199"/>
                  </a:lnTo>
                  <a:close/>
                </a:path>
              </a:pathLst>
            </a:custGeom>
            <a:solidFill>
              <a:srgbClr val="93C3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782290" y="3395718"/>
              <a:ext cx="484505" cy="484505"/>
            </a:xfrm>
            <a:custGeom>
              <a:avLst/>
              <a:gdLst/>
              <a:ahLst/>
              <a:cxnLst/>
              <a:rect l="l" t="t" r="r" b="b"/>
              <a:pathLst>
                <a:path w="484504" h="484504">
                  <a:moveTo>
                    <a:pt x="242099" y="484199"/>
                  </a:moveTo>
                  <a:lnTo>
                    <a:pt x="193310" y="479280"/>
                  </a:lnTo>
                  <a:lnTo>
                    <a:pt x="147866" y="465172"/>
                  </a:lnTo>
                  <a:lnTo>
                    <a:pt x="106742" y="442850"/>
                  </a:lnTo>
                  <a:lnTo>
                    <a:pt x="70912" y="413286"/>
                  </a:lnTo>
                  <a:lnTo>
                    <a:pt x="41348" y="377456"/>
                  </a:lnTo>
                  <a:lnTo>
                    <a:pt x="19026" y="336332"/>
                  </a:lnTo>
                  <a:lnTo>
                    <a:pt x="4918" y="290888"/>
                  </a:lnTo>
                  <a:lnTo>
                    <a:pt x="0" y="242099"/>
                  </a:lnTo>
                  <a:lnTo>
                    <a:pt x="4918" y="193310"/>
                  </a:lnTo>
                  <a:lnTo>
                    <a:pt x="19026" y="147866"/>
                  </a:lnTo>
                  <a:lnTo>
                    <a:pt x="41348" y="106742"/>
                  </a:lnTo>
                  <a:lnTo>
                    <a:pt x="70927" y="70899"/>
                  </a:lnTo>
                  <a:lnTo>
                    <a:pt x="106742" y="41348"/>
                  </a:lnTo>
                  <a:lnTo>
                    <a:pt x="147866" y="19026"/>
                  </a:lnTo>
                  <a:lnTo>
                    <a:pt x="193310" y="4918"/>
                  </a:lnTo>
                  <a:lnTo>
                    <a:pt x="242099" y="0"/>
                  </a:lnTo>
                  <a:lnTo>
                    <a:pt x="289559" y="4693"/>
                  </a:lnTo>
                  <a:lnTo>
                    <a:pt x="334758" y="18424"/>
                  </a:lnTo>
                  <a:lnTo>
                    <a:pt x="376427" y="40668"/>
                  </a:lnTo>
                  <a:lnTo>
                    <a:pt x="413309" y="70912"/>
                  </a:lnTo>
                  <a:lnTo>
                    <a:pt x="443530" y="107771"/>
                  </a:lnTo>
                  <a:lnTo>
                    <a:pt x="465774" y="149440"/>
                  </a:lnTo>
                  <a:lnTo>
                    <a:pt x="479505" y="194639"/>
                  </a:lnTo>
                  <a:lnTo>
                    <a:pt x="484199" y="242099"/>
                  </a:lnTo>
                  <a:lnTo>
                    <a:pt x="479281" y="290888"/>
                  </a:lnTo>
                  <a:lnTo>
                    <a:pt x="465176" y="336332"/>
                  </a:lnTo>
                  <a:lnTo>
                    <a:pt x="442856" y="377456"/>
                  </a:lnTo>
                  <a:lnTo>
                    <a:pt x="413296" y="413286"/>
                  </a:lnTo>
                  <a:lnTo>
                    <a:pt x="377467" y="442850"/>
                  </a:lnTo>
                  <a:lnTo>
                    <a:pt x="336342" y="465172"/>
                  </a:lnTo>
                  <a:lnTo>
                    <a:pt x="290895" y="479280"/>
                  </a:lnTo>
                  <a:lnTo>
                    <a:pt x="242099" y="484199"/>
                  </a:lnTo>
                  <a:close/>
                </a:path>
              </a:pathLst>
            </a:custGeom>
            <a:solidFill>
              <a:srgbClr val="FFAA3F">
                <a:alpha val="5372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266489" y="3233693"/>
              <a:ext cx="1186180" cy="404495"/>
            </a:xfrm>
            <a:custGeom>
              <a:avLst/>
              <a:gdLst/>
              <a:ahLst/>
              <a:cxnLst/>
              <a:rect l="l" t="t" r="r" b="b"/>
              <a:pathLst>
                <a:path w="1186179" h="404495">
                  <a:moveTo>
                    <a:pt x="0" y="404124"/>
                  </a:moveTo>
                  <a:lnTo>
                    <a:pt x="1185722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32537" y="3194368"/>
              <a:ext cx="111024" cy="78624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 rot="1020000">
            <a:off x="5614770" y="2362467"/>
            <a:ext cx="302806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65"/>
              </a:lnSpc>
            </a:pPr>
            <a:r>
              <a:rPr sz="1400" b="1" spc="-120" dirty="0">
                <a:solidFill>
                  <a:srgbClr val="77909C"/>
                </a:solidFill>
                <a:latin typeface="Tahoma"/>
                <a:cs typeface="Tahoma"/>
              </a:rPr>
              <a:t>0.5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967538" y="3513229"/>
            <a:ext cx="980440" cy="1335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295"/>
              </a:spcBef>
            </a:pPr>
            <a:endParaRPr sz="1400">
              <a:latin typeface="Tahoma"/>
              <a:cs typeface="Tahoma"/>
            </a:endParaRPr>
          </a:p>
          <a:p>
            <a:pPr marL="28575">
              <a:lnSpc>
                <a:spcPct val="100000"/>
              </a:lnSpc>
            </a:pP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1400">
              <a:latin typeface="Tahoma"/>
              <a:cs typeface="Tahoma"/>
            </a:endParaRPr>
          </a:p>
          <a:p>
            <a:pPr marL="611505">
              <a:lnSpc>
                <a:spcPct val="100000"/>
              </a:lnSpc>
            </a:pPr>
            <a:r>
              <a:rPr sz="1400" b="1" spc="-20" dirty="0">
                <a:solidFill>
                  <a:srgbClr val="93C37C"/>
                </a:solidFill>
                <a:latin typeface="Arial"/>
                <a:cs typeface="Arial"/>
              </a:rPr>
              <a:t>bias</a:t>
            </a:r>
            <a:endParaRPr sz="14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253707" y="2742203"/>
            <a:ext cx="5784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341C75"/>
                </a:solidFill>
                <a:latin typeface="Arial"/>
                <a:cs typeface="Arial"/>
              </a:rPr>
              <a:t>output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3" name="object 4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6323" y="1251109"/>
            <a:ext cx="2619369" cy="30479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76323" y="1237772"/>
            <a:ext cx="3055620" cy="368300"/>
            <a:chOff x="576323" y="1237772"/>
            <a:chExt cx="3055620" cy="3683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6323" y="1251110"/>
              <a:ext cx="2619369" cy="3047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059245" y="1237772"/>
              <a:ext cx="1572895" cy="368300"/>
            </a:xfrm>
            <a:custGeom>
              <a:avLst/>
              <a:gdLst/>
              <a:ahLst/>
              <a:cxnLst/>
              <a:rect l="l" t="t" r="r" b="b"/>
              <a:pathLst>
                <a:path w="1572895" h="368300">
                  <a:moveTo>
                    <a:pt x="1572296" y="368099"/>
                  </a:moveTo>
                  <a:lnTo>
                    <a:pt x="0" y="368099"/>
                  </a:lnTo>
                  <a:lnTo>
                    <a:pt x="0" y="0"/>
                  </a:lnTo>
                  <a:lnTo>
                    <a:pt x="1572296" y="0"/>
                  </a:lnTo>
                  <a:lnTo>
                    <a:pt x="1572296" y="368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127918" y="1654419"/>
            <a:ext cx="9721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(2*0.1)</a:t>
            </a:r>
            <a:r>
              <a:rPr sz="1800" spc="495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+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27918" y="2283068"/>
            <a:ext cx="9721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(3*0.5)</a:t>
            </a:r>
            <a:r>
              <a:rPr sz="1800" spc="495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+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27918" y="2911716"/>
            <a:ext cx="9848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(-1*2.5)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+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27918" y="3540365"/>
            <a:ext cx="9721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(5*0.2)</a:t>
            </a:r>
            <a:r>
              <a:rPr sz="1800" spc="495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+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27918" y="4169014"/>
            <a:ext cx="711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69A84F"/>
                </a:solidFill>
                <a:latin typeface="Arial MT"/>
                <a:cs typeface="Arial MT"/>
              </a:rPr>
              <a:t>(1*3.0)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99122" y="4483338"/>
            <a:ext cx="101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)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Perceptron</a:t>
            </a:r>
            <a:r>
              <a:rPr spc="-165" dirty="0"/>
              <a:t> </a:t>
            </a:r>
            <a:r>
              <a:rPr dirty="0"/>
              <a:t>Forward</a:t>
            </a:r>
            <a:r>
              <a:rPr spc="-165" dirty="0"/>
              <a:t> </a:t>
            </a:r>
            <a:r>
              <a:rPr spc="-20" dirty="0"/>
              <a:t>Pass</a:t>
            </a:r>
          </a:p>
        </p:txBody>
      </p:sp>
      <p:sp>
        <p:nvSpPr>
          <p:cNvPr id="12" name="object 12"/>
          <p:cNvSpPr/>
          <p:nvPr/>
        </p:nvSpPr>
        <p:spPr>
          <a:xfrm>
            <a:off x="4782290" y="1585226"/>
            <a:ext cx="516890" cy="516890"/>
          </a:xfrm>
          <a:custGeom>
            <a:avLst/>
            <a:gdLst/>
            <a:ahLst/>
            <a:cxnLst/>
            <a:rect l="l" t="t" r="r" b="b"/>
            <a:pathLst>
              <a:path w="516889" h="516889">
                <a:moveTo>
                  <a:pt x="258299" y="516598"/>
                </a:moveTo>
                <a:lnTo>
                  <a:pt x="211871" y="512437"/>
                </a:lnTo>
                <a:lnTo>
                  <a:pt x="168172" y="500439"/>
                </a:lnTo>
                <a:lnTo>
                  <a:pt x="127933" y="481333"/>
                </a:lnTo>
                <a:lnTo>
                  <a:pt x="91882" y="455850"/>
                </a:lnTo>
                <a:lnTo>
                  <a:pt x="60750" y="424718"/>
                </a:lnTo>
                <a:lnTo>
                  <a:pt x="35266" y="388668"/>
                </a:lnTo>
                <a:lnTo>
                  <a:pt x="16160" y="348428"/>
                </a:lnTo>
                <a:lnTo>
                  <a:pt x="4161" y="304729"/>
                </a:lnTo>
                <a:lnTo>
                  <a:pt x="0" y="258299"/>
                </a:lnTo>
                <a:lnTo>
                  <a:pt x="4161" y="211869"/>
                </a:lnTo>
                <a:lnTo>
                  <a:pt x="16160" y="168170"/>
                </a:lnTo>
                <a:lnTo>
                  <a:pt x="35266" y="127930"/>
                </a:lnTo>
                <a:lnTo>
                  <a:pt x="60750" y="91880"/>
                </a:lnTo>
                <a:lnTo>
                  <a:pt x="91882" y="60748"/>
                </a:lnTo>
                <a:lnTo>
                  <a:pt x="127933" y="35265"/>
                </a:lnTo>
                <a:lnTo>
                  <a:pt x="168172" y="16159"/>
                </a:lnTo>
                <a:lnTo>
                  <a:pt x="211871" y="4161"/>
                </a:lnTo>
                <a:lnTo>
                  <a:pt x="258299" y="0"/>
                </a:lnTo>
                <a:lnTo>
                  <a:pt x="308923" y="5009"/>
                </a:lnTo>
                <a:lnTo>
                  <a:pt x="357143" y="19662"/>
                </a:lnTo>
                <a:lnTo>
                  <a:pt x="401603" y="43398"/>
                </a:lnTo>
                <a:lnTo>
                  <a:pt x="440949" y="75654"/>
                </a:lnTo>
                <a:lnTo>
                  <a:pt x="473209" y="114995"/>
                </a:lnTo>
                <a:lnTo>
                  <a:pt x="496942" y="159452"/>
                </a:lnTo>
                <a:lnTo>
                  <a:pt x="511591" y="207672"/>
                </a:lnTo>
                <a:lnTo>
                  <a:pt x="516598" y="258299"/>
                </a:lnTo>
                <a:lnTo>
                  <a:pt x="512437" y="304729"/>
                </a:lnTo>
                <a:lnTo>
                  <a:pt x="500438" y="348428"/>
                </a:lnTo>
                <a:lnTo>
                  <a:pt x="481332" y="388668"/>
                </a:lnTo>
                <a:lnTo>
                  <a:pt x="455848" y="424718"/>
                </a:lnTo>
                <a:lnTo>
                  <a:pt x="424716" y="455850"/>
                </a:lnTo>
                <a:lnTo>
                  <a:pt x="388665" y="481333"/>
                </a:lnTo>
                <a:lnTo>
                  <a:pt x="348426" y="500439"/>
                </a:lnTo>
                <a:lnTo>
                  <a:pt x="304727" y="512437"/>
                </a:lnTo>
                <a:lnTo>
                  <a:pt x="258299" y="516598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983736" y="1718938"/>
            <a:ext cx="114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798490" y="2210323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5">
                <a:moveTo>
                  <a:pt x="242099" y="484196"/>
                </a:moveTo>
                <a:lnTo>
                  <a:pt x="193310" y="479277"/>
                </a:lnTo>
                <a:lnTo>
                  <a:pt x="147866" y="465170"/>
                </a:lnTo>
                <a:lnTo>
                  <a:pt x="106742" y="442847"/>
                </a:lnTo>
                <a:lnTo>
                  <a:pt x="70912" y="413284"/>
                </a:lnTo>
                <a:lnTo>
                  <a:pt x="41348" y="377454"/>
                </a:lnTo>
                <a:lnTo>
                  <a:pt x="19026" y="336330"/>
                </a:lnTo>
                <a:lnTo>
                  <a:pt x="4918" y="290887"/>
                </a:lnTo>
                <a:lnTo>
                  <a:pt x="0" y="242099"/>
                </a:lnTo>
                <a:lnTo>
                  <a:pt x="4918" y="193308"/>
                </a:lnTo>
                <a:lnTo>
                  <a:pt x="19026" y="147863"/>
                </a:lnTo>
                <a:lnTo>
                  <a:pt x="41348" y="106739"/>
                </a:lnTo>
                <a:lnTo>
                  <a:pt x="70912" y="70909"/>
                </a:lnTo>
                <a:lnTo>
                  <a:pt x="106742" y="41346"/>
                </a:lnTo>
                <a:lnTo>
                  <a:pt x="147866" y="19025"/>
                </a:lnTo>
                <a:lnTo>
                  <a:pt x="193310" y="4918"/>
                </a:lnTo>
                <a:lnTo>
                  <a:pt x="242099" y="0"/>
                </a:lnTo>
                <a:lnTo>
                  <a:pt x="289559" y="4694"/>
                </a:lnTo>
                <a:lnTo>
                  <a:pt x="334758" y="18429"/>
                </a:lnTo>
                <a:lnTo>
                  <a:pt x="376427" y="40676"/>
                </a:lnTo>
                <a:lnTo>
                  <a:pt x="413299" y="70909"/>
                </a:lnTo>
                <a:lnTo>
                  <a:pt x="443530" y="107782"/>
                </a:lnTo>
                <a:lnTo>
                  <a:pt x="465774" y="149451"/>
                </a:lnTo>
                <a:lnTo>
                  <a:pt x="479505" y="194647"/>
                </a:lnTo>
                <a:lnTo>
                  <a:pt x="484199" y="242099"/>
                </a:lnTo>
                <a:lnTo>
                  <a:pt x="479281" y="290887"/>
                </a:lnTo>
                <a:lnTo>
                  <a:pt x="465176" y="336330"/>
                </a:lnTo>
                <a:lnTo>
                  <a:pt x="442856" y="377454"/>
                </a:lnTo>
                <a:lnTo>
                  <a:pt x="413296" y="413284"/>
                </a:lnTo>
                <a:lnTo>
                  <a:pt x="377467" y="442847"/>
                </a:lnTo>
                <a:lnTo>
                  <a:pt x="336342" y="465170"/>
                </a:lnTo>
                <a:lnTo>
                  <a:pt x="290895" y="479277"/>
                </a:lnTo>
                <a:lnTo>
                  <a:pt x="242099" y="484196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983740" y="2327836"/>
            <a:ext cx="114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798490" y="2803019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10" y="479280"/>
                </a:lnTo>
                <a:lnTo>
                  <a:pt x="147866" y="465172"/>
                </a:lnTo>
                <a:lnTo>
                  <a:pt x="106742" y="442850"/>
                </a:lnTo>
                <a:lnTo>
                  <a:pt x="70912" y="413286"/>
                </a:lnTo>
                <a:lnTo>
                  <a:pt x="41348" y="377456"/>
                </a:lnTo>
                <a:lnTo>
                  <a:pt x="19026" y="336332"/>
                </a:lnTo>
                <a:lnTo>
                  <a:pt x="4918" y="290888"/>
                </a:lnTo>
                <a:lnTo>
                  <a:pt x="0" y="242099"/>
                </a:lnTo>
                <a:lnTo>
                  <a:pt x="4918" y="193310"/>
                </a:lnTo>
                <a:lnTo>
                  <a:pt x="19026" y="147866"/>
                </a:lnTo>
                <a:lnTo>
                  <a:pt x="41348" y="106742"/>
                </a:lnTo>
                <a:lnTo>
                  <a:pt x="70927" y="70899"/>
                </a:lnTo>
                <a:lnTo>
                  <a:pt x="106742" y="41348"/>
                </a:lnTo>
                <a:lnTo>
                  <a:pt x="147866" y="19026"/>
                </a:lnTo>
                <a:lnTo>
                  <a:pt x="193310" y="4918"/>
                </a:lnTo>
                <a:lnTo>
                  <a:pt x="242099" y="0"/>
                </a:lnTo>
                <a:lnTo>
                  <a:pt x="289559" y="4693"/>
                </a:lnTo>
                <a:lnTo>
                  <a:pt x="334758" y="18424"/>
                </a:lnTo>
                <a:lnTo>
                  <a:pt x="376427" y="40668"/>
                </a:lnTo>
                <a:lnTo>
                  <a:pt x="413309" y="70912"/>
                </a:lnTo>
                <a:lnTo>
                  <a:pt x="443530" y="107774"/>
                </a:lnTo>
                <a:lnTo>
                  <a:pt x="465774" y="149449"/>
                </a:lnTo>
                <a:lnTo>
                  <a:pt x="479505" y="194649"/>
                </a:lnTo>
                <a:lnTo>
                  <a:pt x="484199" y="242099"/>
                </a:lnTo>
                <a:lnTo>
                  <a:pt x="479281" y="290888"/>
                </a:lnTo>
                <a:lnTo>
                  <a:pt x="465176" y="336332"/>
                </a:lnTo>
                <a:lnTo>
                  <a:pt x="442856" y="377456"/>
                </a:lnTo>
                <a:lnTo>
                  <a:pt x="413296" y="413286"/>
                </a:lnTo>
                <a:lnTo>
                  <a:pt x="377467" y="442850"/>
                </a:lnTo>
                <a:lnTo>
                  <a:pt x="336342" y="465172"/>
                </a:lnTo>
                <a:lnTo>
                  <a:pt x="290895" y="479280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956107" y="2920528"/>
            <a:ext cx="1695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7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sz="1400" spc="-6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489587" y="2783669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10" y="479280"/>
                </a:lnTo>
                <a:lnTo>
                  <a:pt x="147866" y="465172"/>
                </a:lnTo>
                <a:lnTo>
                  <a:pt x="106742" y="442850"/>
                </a:lnTo>
                <a:lnTo>
                  <a:pt x="70912" y="413286"/>
                </a:lnTo>
                <a:lnTo>
                  <a:pt x="41348" y="377456"/>
                </a:lnTo>
                <a:lnTo>
                  <a:pt x="19026" y="336332"/>
                </a:lnTo>
                <a:lnTo>
                  <a:pt x="4918" y="290888"/>
                </a:lnTo>
                <a:lnTo>
                  <a:pt x="0" y="242099"/>
                </a:lnTo>
                <a:lnTo>
                  <a:pt x="4918" y="193310"/>
                </a:lnTo>
                <a:lnTo>
                  <a:pt x="19026" y="147866"/>
                </a:lnTo>
                <a:lnTo>
                  <a:pt x="41348" y="106742"/>
                </a:lnTo>
                <a:lnTo>
                  <a:pt x="70927" y="70899"/>
                </a:lnTo>
                <a:lnTo>
                  <a:pt x="106742" y="41348"/>
                </a:lnTo>
                <a:lnTo>
                  <a:pt x="147866" y="19026"/>
                </a:lnTo>
                <a:lnTo>
                  <a:pt x="193310" y="4918"/>
                </a:lnTo>
                <a:lnTo>
                  <a:pt x="242099" y="0"/>
                </a:lnTo>
                <a:lnTo>
                  <a:pt x="289559" y="4693"/>
                </a:lnTo>
                <a:lnTo>
                  <a:pt x="334758" y="18424"/>
                </a:lnTo>
                <a:lnTo>
                  <a:pt x="376427" y="40668"/>
                </a:lnTo>
                <a:lnTo>
                  <a:pt x="413309" y="70912"/>
                </a:lnTo>
                <a:lnTo>
                  <a:pt x="443530" y="107774"/>
                </a:lnTo>
                <a:lnTo>
                  <a:pt x="465774" y="149449"/>
                </a:lnTo>
                <a:lnTo>
                  <a:pt x="479505" y="194649"/>
                </a:lnTo>
                <a:lnTo>
                  <a:pt x="484199" y="242099"/>
                </a:lnTo>
                <a:lnTo>
                  <a:pt x="479281" y="290888"/>
                </a:lnTo>
                <a:lnTo>
                  <a:pt x="465176" y="336332"/>
                </a:lnTo>
                <a:lnTo>
                  <a:pt x="442856" y="377456"/>
                </a:lnTo>
                <a:lnTo>
                  <a:pt x="413296" y="413286"/>
                </a:lnTo>
                <a:lnTo>
                  <a:pt x="377467" y="442850"/>
                </a:lnTo>
                <a:lnTo>
                  <a:pt x="336342" y="465172"/>
                </a:lnTo>
                <a:lnTo>
                  <a:pt x="290895" y="479280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0097A7">
              <a:alpha val="4823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633526" y="2865814"/>
            <a:ext cx="1555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40" dirty="0">
                <a:solidFill>
                  <a:srgbClr val="FFFFFF"/>
                </a:solidFill>
                <a:latin typeface="Roboto"/>
                <a:cs typeface="Roboto"/>
              </a:rPr>
              <a:t>&gt;</a:t>
            </a:r>
            <a:endParaRPr sz="1800">
              <a:latin typeface="Roboto"/>
              <a:cs typeface="Roboto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273164" y="1834001"/>
            <a:ext cx="1445260" cy="1235075"/>
            <a:chOff x="5273164" y="1834001"/>
            <a:chExt cx="1445260" cy="1235075"/>
          </a:xfrm>
        </p:grpSpPr>
        <p:sp>
          <p:nvSpPr>
            <p:cNvPr id="21" name="object 21"/>
            <p:cNvSpPr/>
            <p:nvPr/>
          </p:nvSpPr>
          <p:spPr>
            <a:xfrm>
              <a:off x="5298889" y="1843526"/>
              <a:ext cx="1337310" cy="877569"/>
            </a:xfrm>
            <a:custGeom>
              <a:avLst/>
              <a:gdLst/>
              <a:ahLst/>
              <a:cxnLst/>
              <a:rect l="l" t="t" r="r" b="b"/>
              <a:pathLst>
                <a:path w="1337309" h="877569">
                  <a:moveTo>
                    <a:pt x="0" y="0"/>
                  </a:moveTo>
                  <a:lnTo>
                    <a:pt x="1337247" y="877493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09336" y="2685194"/>
              <a:ext cx="108599" cy="92774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5282689" y="3027743"/>
              <a:ext cx="1092835" cy="17780"/>
            </a:xfrm>
            <a:custGeom>
              <a:avLst/>
              <a:gdLst/>
              <a:ahLst/>
              <a:cxnLst/>
              <a:rect l="l" t="t" r="r" b="b"/>
              <a:pathLst>
                <a:path w="1092835" h="17780">
                  <a:moveTo>
                    <a:pt x="0" y="17374"/>
                  </a:moveTo>
                  <a:lnTo>
                    <a:pt x="1092622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65286" y="2986743"/>
              <a:ext cx="105974" cy="81974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282689" y="2452422"/>
              <a:ext cx="1169035" cy="368300"/>
            </a:xfrm>
            <a:custGeom>
              <a:avLst/>
              <a:gdLst/>
              <a:ahLst/>
              <a:cxnLst/>
              <a:rect l="l" t="t" r="r" b="b"/>
              <a:pathLst>
                <a:path w="1169035" h="368300">
                  <a:moveTo>
                    <a:pt x="0" y="0"/>
                  </a:moveTo>
                  <a:lnTo>
                    <a:pt x="1168672" y="367971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32386" y="2780844"/>
              <a:ext cx="110974" cy="79099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4763896" y="1154189"/>
            <a:ext cx="5588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AA3F"/>
                </a:solidFill>
                <a:latin typeface="Arial"/>
                <a:cs typeface="Arial"/>
              </a:rPr>
              <a:t>inputs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501816" y="1154189"/>
            <a:ext cx="6877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77909C"/>
                </a:solidFill>
                <a:latin typeface="Arial"/>
                <a:cs typeface="Arial"/>
              </a:rPr>
              <a:t>weights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 rot="1980000">
            <a:off x="5697002" y="1968927"/>
            <a:ext cx="302292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70"/>
              </a:lnSpc>
            </a:pPr>
            <a:r>
              <a:rPr sz="1400" b="1" spc="-120" dirty="0">
                <a:solidFill>
                  <a:srgbClr val="77909C"/>
                </a:solidFill>
                <a:latin typeface="Tahoma"/>
                <a:cs typeface="Tahoma"/>
              </a:rPr>
              <a:t>0.1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588884" y="2742803"/>
            <a:ext cx="2667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95" dirty="0">
                <a:solidFill>
                  <a:srgbClr val="77909C"/>
                </a:solidFill>
                <a:latin typeface="Tahoma"/>
                <a:cs typeface="Tahoma"/>
              </a:rPr>
              <a:t>2.5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 rot="20700000">
            <a:off x="5582266" y="3205358"/>
            <a:ext cx="302292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5"/>
              </a:lnSpc>
            </a:pPr>
            <a:r>
              <a:rPr sz="1400" b="1" spc="-120" dirty="0">
                <a:solidFill>
                  <a:srgbClr val="77909C"/>
                </a:solidFill>
                <a:latin typeface="Tahoma"/>
                <a:cs typeface="Tahoma"/>
              </a:rPr>
              <a:t>0.2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562622" y="1157332"/>
            <a:ext cx="3911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0097A7"/>
                </a:solidFill>
                <a:latin typeface="Arial"/>
                <a:cs typeface="Arial"/>
              </a:rPr>
              <a:t>sum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5273164" y="2783669"/>
            <a:ext cx="3550920" cy="1456690"/>
            <a:chOff x="5273164" y="2783669"/>
            <a:chExt cx="3550920" cy="1456690"/>
          </a:xfrm>
        </p:grpSpPr>
        <p:sp>
          <p:nvSpPr>
            <p:cNvPr id="34" name="object 34"/>
            <p:cNvSpPr/>
            <p:nvPr/>
          </p:nvSpPr>
          <p:spPr>
            <a:xfrm>
              <a:off x="6973785" y="3025768"/>
              <a:ext cx="581660" cy="0"/>
            </a:xfrm>
            <a:custGeom>
              <a:avLst/>
              <a:gdLst/>
              <a:ahLst/>
              <a:cxnLst/>
              <a:rect l="l" t="t" r="r" b="b"/>
              <a:pathLst>
                <a:path w="581659">
                  <a:moveTo>
                    <a:pt x="0" y="0"/>
                  </a:moveTo>
                  <a:lnTo>
                    <a:pt x="5812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555034" y="301004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49"/>
                  </a:moveTo>
                  <a:lnTo>
                    <a:pt x="0" y="0"/>
                  </a:lnTo>
                  <a:lnTo>
                    <a:pt x="43224" y="15724"/>
                  </a:lnTo>
                  <a:lnTo>
                    <a:pt x="0" y="314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555034" y="301004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49"/>
                  </a:moveTo>
                  <a:lnTo>
                    <a:pt x="43224" y="15724"/>
                  </a:lnTo>
                  <a:lnTo>
                    <a:pt x="0" y="0"/>
                  </a:lnTo>
                  <a:lnTo>
                    <a:pt x="0" y="314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612184" y="2783669"/>
              <a:ext cx="484505" cy="484505"/>
            </a:xfrm>
            <a:custGeom>
              <a:avLst/>
              <a:gdLst/>
              <a:ahLst/>
              <a:cxnLst/>
              <a:rect l="l" t="t" r="r" b="b"/>
              <a:pathLst>
                <a:path w="484504" h="484504">
                  <a:moveTo>
                    <a:pt x="242099" y="484199"/>
                  </a:moveTo>
                  <a:lnTo>
                    <a:pt x="193310" y="479280"/>
                  </a:lnTo>
                  <a:lnTo>
                    <a:pt x="147866" y="465172"/>
                  </a:lnTo>
                  <a:lnTo>
                    <a:pt x="106742" y="442850"/>
                  </a:lnTo>
                  <a:lnTo>
                    <a:pt x="70912" y="413286"/>
                  </a:lnTo>
                  <a:lnTo>
                    <a:pt x="41348" y="377456"/>
                  </a:lnTo>
                  <a:lnTo>
                    <a:pt x="19026" y="336332"/>
                  </a:lnTo>
                  <a:lnTo>
                    <a:pt x="4918" y="290888"/>
                  </a:lnTo>
                  <a:lnTo>
                    <a:pt x="0" y="242099"/>
                  </a:lnTo>
                  <a:lnTo>
                    <a:pt x="4918" y="193310"/>
                  </a:lnTo>
                  <a:lnTo>
                    <a:pt x="19026" y="147866"/>
                  </a:lnTo>
                  <a:lnTo>
                    <a:pt x="41348" y="106742"/>
                  </a:lnTo>
                  <a:lnTo>
                    <a:pt x="70927" y="70899"/>
                  </a:lnTo>
                  <a:lnTo>
                    <a:pt x="106742" y="41348"/>
                  </a:lnTo>
                  <a:lnTo>
                    <a:pt x="147866" y="19026"/>
                  </a:lnTo>
                  <a:lnTo>
                    <a:pt x="193310" y="4918"/>
                  </a:lnTo>
                  <a:lnTo>
                    <a:pt x="242099" y="0"/>
                  </a:lnTo>
                  <a:lnTo>
                    <a:pt x="289559" y="4693"/>
                  </a:lnTo>
                  <a:lnTo>
                    <a:pt x="334758" y="18424"/>
                  </a:lnTo>
                  <a:lnTo>
                    <a:pt x="376427" y="40668"/>
                  </a:lnTo>
                  <a:lnTo>
                    <a:pt x="413309" y="70912"/>
                  </a:lnTo>
                  <a:lnTo>
                    <a:pt x="443530" y="107774"/>
                  </a:lnTo>
                  <a:lnTo>
                    <a:pt x="465774" y="149449"/>
                  </a:lnTo>
                  <a:lnTo>
                    <a:pt x="479505" y="194649"/>
                  </a:lnTo>
                  <a:lnTo>
                    <a:pt x="484199" y="242099"/>
                  </a:lnTo>
                  <a:lnTo>
                    <a:pt x="479281" y="290888"/>
                  </a:lnTo>
                  <a:lnTo>
                    <a:pt x="465176" y="336332"/>
                  </a:lnTo>
                  <a:lnTo>
                    <a:pt x="442856" y="377456"/>
                  </a:lnTo>
                  <a:lnTo>
                    <a:pt x="413296" y="413286"/>
                  </a:lnTo>
                  <a:lnTo>
                    <a:pt x="377467" y="442850"/>
                  </a:lnTo>
                  <a:lnTo>
                    <a:pt x="336342" y="465172"/>
                  </a:lnTo>
                  <a:lnTo>
                    <a:pt x="290895" y="479280"/>
                  </a:lnTo>
                  <a:lnTo>
                    <a:pt x="242099" y="484199"/>
                  </a:lnTo>
                  <a:close/>
                </a:path>
              </a:pathLst>
            </a:custGeom>
            <a:solidFill>
              <a:srgbClr val="0A2138">
                <a:alpha val="6807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096383" y="3025768"/>
              <a:ext cx="679450" cy="5715"/>
            </a:xfrm>
            <a:custGeom>
              <a:avLst/>
              <a:gdLst/>
              <a:ahLst/>
              <a:cxnLst/>
              <a:rect l="l" t="t" r="r" b="b"/>
              <a:pathLst>
                <a:path w="679450" h="5714">
                  <a:moveTo>
                    <a:pt x="0" y="0"/>
                  </a:moveTo>
                  <a:lnTo>
                    <a:pt x="679348" y="5524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775606" y="301556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74"/>
                  </a:moveTo>
                  <a:lnTo>
                    <a:pt x="249" y="0"/>
                  </a:lnTo>
                  <a:lnTo>
                    <a:pt x="43349" y="16074"/>
                  </a:lnTo>
                  <a:lnTo>
                    <a:pt x="0" y="3147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775606" y="301556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74"/>
                  </a:moveTo>
                  <a:lnTo>
                    <a:pt x="43349" y="16074"/>
                  </a:lnTo>
                  <a:lnTo>
                    <a:pt x="249" y="0"/>
                  </a:lnTo>
                  <a:lnTo>
                    <a:pt x="0" y="3147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732784" y="2907419"/>
              <a:ext cx="243204" cy="243204"/>
            </a:xfrm>
            <a:custGeom>
              <a:avLst/>
              <a:gdLst/>
              <a:ahLst/>
              <a:cxnLst/>
              <a:rect l="l" t="t" r="r" b="b"/>
              <a:pathLst>
                <a:path w="243204" h="243205">
                  <a:moveTo>
                    <a:pt x="242999" y="0"/>
                  </a:moveTo>
                  <a:lnTo>
                    <a:pt x="202657" y="10441"/>
                  </a:lnTo>
                  <a:lnTo>
                    <a:pt x="170859" y="37968"/>
                  </a:lnTo>
                  <a:lnTo>
                    <a:pt x="144755" y="76886"/>
                  </a:lnTo>
                  <a:lnTo>
                    <a:pt x="121499" y="121499"/>
                  </a:lnTo>
                  <a:lnTo>
                    <a:pt x="98243" y="166112"/>
                  </a:lnTo>
                  <a:lnTo>
                    <a:pt x="72140" y="205030"/>
                  </a:lnTo>
                  <a:lnTo>
                    <a:pt x="40341" y="232558"/>
                  </a:lnTo>
                  <a:lnTo>
                    <a:pt x="0" y="242999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282689" y="3331068"/>
              <a:ext cx="1353820" cy="899794"/>
            </a:xfrm>
            <a:custGeom>
              <a:avLst/>
              <a:gdLst/>
              <a:ahLst/>
              <a:cxnLst/>
              <a:rect l="l" t="t" r="r" b="b"/>
              <a:pathLst>
                <a:path w="1353820" h="899795">
                  <a:moveTo>
                    <a:pt x="0" y="899448"/>
                  </a:moveTo>
                  <a:lnTo>
                    <a:pt x="1353797" y="0"/>
                  </a:lnTo>
                </a:path>
              </a:pathLst>
            </a:custGeom>
            <a:ln w="19049">
              <a:solidFill>
                <a:srgbClr val="93C3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09561" y="3273693"/>
              <a:ext cx="108449" cy="93099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7453494" y="1157332"/>
            <a:ext cx="10922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0A2138"/>
                </a:solidFill>
                <a:latin typeface="Arial"/>
                <a:cs typeface="Arial"/>
              </a:rPr>
              <a:t>non-linearity</a:t>
            </a:r>
            <a:endParaRPr sz="14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 rot="19680000">
            <a:off x="5610340" y="3731647"/>
            <a:ext cx="302292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5"/>
              </a:lnSpc>
            </a:pPr>
            <a:r>
              <a:rPr sz="1400" b="1" spc="-120" dirty="0">
                <a:solidFill>
                  <a:srgbClr val="93C37C"/>
                </a:solidFill>
                <a:latin typeface="Tahoma"/>
                <a:cs typeface="Tahoma"/>
              </a:rPr>
              <a:t>3.0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4798490" y="3988417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10" y="479280"/>
                </a:lnTo>
                <a:lnTo>
                  <a:pt x="147866" y="465172"/>
                </a:lnTo>
                <a:lnTo>
                  <a:pt x="106742" y="442850"/>
                </a:lnTo>
                <a:lnTo>
                  <a:pt x="70912" y="413286"/>
                </a:lnTo>
                <a:lnTo>
                  <a:pt x="41348" y="377456"/>
                </a:lnTo>
                <a:lnTo>
                  <a:pt x="19026" y="336332"/>
                </a:lnTo>
                <a:lnTo>
                  <a:pt x="4918" y="290888"/>
                </a:lnTo>
                <a:lnTo>
                  <a:pt x="0" y="242099"/>
                </a:lnTo>
                <a:lnTo>
                  <a:pt x="4918" y="193303"/>
                </a:lnTo>
                <a:lnTo>
                  <a:pt x="19026" y="147856"/>
                </a:lnTo>
                <a:lnTo>
                  <a:pt x="41348" y="106731"/>
                </a:lnTo>
                <a:lnTo>
                  <a:pt x="70916" y="70899"/>
                </a:lnTo>
                <a:lnTo>
                  <a:pt x="106742" y="41342"/>
                </a:lnTo>
                <a:lnTo>
                  <a:pt x="147866" y="19023"/>
                </a:lnTo>
                <a:lnTo>
                  <a:pt x="193310" y="4917"/>
                </a:lnTo>
                <a:lnTo>
                  <a:pt x="242099" y="0"/>
                </a:lnTo>
                <a:lnTo>
                  <a:pt x="289559" y="4693"/>
                </a:lnTo>
                <a:lnTo>
                  <a:pt x="334758" y="18424"/>
                </a:lnTo>
                <a:lnTo>
                  <a:pt x="376427" y="40668"/>
                </a:lnTo>
                <a:lnTo>
                  <a:pt x="413301" y="70902"/>
                </a:lnTo>
                <a:lnTo>
                  <a:pt x="443530" y="107771"/>
                </a:lnTo>
                <a:lnTo>
                  <a:pt x="465774" y="149440"/>
                </a:lnTo>
                <a:lnTo>
                  <a:pt x="479505" y="194639"/>
                </a:lnTo>
                <a:lnTo>
                  <a:pt x="484199" y="242099"/>
                </a:lnTo>
                <a:lnTo>
                  <a:pt x="479281" y="290888"/>
                </a:lnTo>
                <a:lnTo>
                  <a:pt x="465176" y="336332"/>
                </a:lnTo>
                <a:lnTo>
                  <a:pt x="442856" y="377456"/>
                </a:lnTo>
                <a:lnTo>
                  <a:pt x="413296" y="413286"/>
                </a:lnTo>
                <a:lnTo>
                  <a:pt x="377467" y="442850"/>
                </a:lnTo>
                <a:lnTo>
                  <a:pt x="336342" y="465172"/>
                </a:lnTo>
                <a:lnTo>
                  <a:pt x="290895" y="479280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93C3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4983740" y="4105921"/>
            <a:ext cx="114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4782290" y="3395718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10" y="479280"/>
                </a:lnTo>
                <a:lnTo>
                  <a:pt x="147866" y="465172"/>
                </a:lnTo>
                <a:lnTo>
                  <a:pt x="106742" y="442850"/>
                </a:lnTo>
                <a:lnTo>
                  <a:pt x="70912" y="413286"/>
                </a:lnTo>
                <a:lnTo>
                  <a:pt x="41348" y="377456"/>
                </a:lnTo>
                <a:lnTo>
                  <a:pt x="19026" y="336332"/>
                </a:lnTo>
                <a:lnTo>
                  <a:pt x="4918" y="290888"/>
                </a:lnTo>
                <a:lnTo>
                  <a:pt x="0" y="242099"/>
                </a:lnTo>
                <a:lnTo>
                  <a:pt x="4918" y="193310"/>
                </a:lnTo>
                <a:lnTo>
                  <a:pt x="19026" y="147866"/>
                </a:lnTo>
                <a:lnTo>
                  <a:pt x="41348" y="106742"/>
                </a:lnTo>
                <a:lnTo>
                  <a:pt x="70927" y="70899"/>
                </a:lnTo>
                <a:lnTo>
                  <a:pt x="106742" y="41348"/>
                </a:lnTo>
                <a:lnTo>
                  <a:pt x="147866" y="19026"/>
                </a:lnTo>
                <a:lnTo>
                  <a:pt x="193310" y="4918"/>
                </a:lnTo>
                <a:lnTo>
                  <a:pt x="242099" y="0"/>
                </a:lnTo>
                <a:lnTo>
                  <a:pt x="289559" y="4693"/>
                </a:lnTo>
                <a:lnTo>
                  <a:pt x="334758" y="18424"/>
                </a:lnTo>
                <a:lnTo>
                  <a:pt x="376427" y="40668"/>
                </a:lnTo>
                <a:lnTo>
                  <a:pt x="413309" y="70912"/>
                </a:lnTo>
                <a:lnTo>
                  <a:pt x="443530" y="107771"/>
                </a:lnTo>
                <a:lnTo>
                  <a:pt x="465774" y="149440"/>
                </a:lnTo>
                <a:lnTo>
                  <a:pt x="479505" y="194639"/>
                </a:lnTo>
                <a:lnTo>
                  <a:pt x="484199" y="242099"/>
                </a:lnTo>
                <a:lnTo>
                  <a:pt x="479281" y="290888"/>
                </a:lnTo>
                <a:lnTo>
                  <a:pt x="465176" y="336332"/>
                </a:lnTo>
                <a:lnTo>
                  <a:pt x="442856" y="377456"/>
                </a:lnTo>
                <a:lnTo>
                  <a:pt x="413296" y="413286"/>
                </a:lnTo>
                <a:lnTo>
                  <a:pt x="377467" y="442850"/>
                </a:lnTo>
                <a:lnTo>
                  <a:pt x="336342" y="465172"/>
                </a:lnTo>
                <a:lnTo>
                  <a:pt x="290895" y="479280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4967538" y="3513229"/>
            <a:ext cx="114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5256964" y="3194368"/>
            <a:ext cx="1287145" cy="453390"/>
            <a:chOff x="5256964" y="3194368"/>
            <a:chExt cx="1287145" cy="453390"/>
          </a:xfrm>
        </p:grpSpPr>
        <p:sp>
          <p:nvSpPr>
            <p:cNvPr id="51" name="object 51"/>
            <p:cNvSpPr/>
            <p:nvPr/>
          </p:nvSpPr>
          <p:spPr>
            <a:xfrm>
              <a:off x="5266489" y="3233693"/>
              <a:ext cx="1186180" cy="404495"/>
            </a:xfrm>
            <a:custGeom>
              <a:avLst/>
              <a:gdLst/>
              <a:ahLst/>
              <a:cxnLst/>
              <a:rect l="l" t="t" r="r" b="b"/>
              <a:pathLst>
                <a:path w="1186179" h="404495">
                  <a:moveTo>
                    <a:pt x="0" y="404124"/>
                  </a:moveTo>
                  <a:lnTo>
                    <a:pt x="1185722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32537" y="3194368"/>
              <a:ext cx="111024" cy="78624"/>
            </a:xfrm>
            <a:prstGeom prst="rect">
              <a:avLst/>
            </a:prstGeom>
          </p:spPr>
        </p:pic>
      </p:grpSp>
      <p:sp>
        <p:nvSpPr>
          <p:cNvPr id="53" name="object 53"/>
          <p:cNvSpPr txBox="1"/>
          <p:nvPr/>
        </p:nvSpPr>
        <p:spPr>
          <a:xfrm rot="1020000">
            <a:off x="5614770" y="2362467"/>
            <a:ext cx="302806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65"/>
              </a:lnSpc>
            </a:pPr>
            <a:r>
              <a:rPr sz="1400" b="1" spc="-120" dirty="0">
                <a:solidFill>
                  <a:srgbClr val="77909C"/>
                </a:solidFill>
                <a:latin typeface="Tahoma"/>
                <a:cs typeface="Tahoma"/>
              </a:rPr>
              <a:t>0.5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566350" y="4609852"/>
            <a:ext cx="3816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solidFill>
                  <a:srgbClr val="93C37C"/>
                </a:solidFill>
                <a:latin typeface="Arial"/>
                <a:cs typeface="Arial"/>
              </a:rPr>
              <a:t>bias</a:t>
            </a:r>
            <a:endParaRPr sz="14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8253707" y="2742203"/>
            <a:ext cx="5784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341C75"/>
                </a:solidFill>
                <a:latin typeface="Arial"/>
                <a:cs typeface="Arial"/>
              </a:rPr>
              <a:t>output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Perceptron</a:t>
            </a:r>
            <a:r>
              <a:rPr spc="-165" dirty="0"/>
              <a:t> </a:t>
            </a:r>
            <a:r>
              <a:rPr dirty="0"/>
              <a:t>Forward</a:t>
            </a:r>
            <a:r>
              <a:rPr spc="-165" dirty="0"/>
              <a:t> </a:t>
            </a:r>
            <a:r>
              <a:rPr spc="-20" dirty="0"/>
              <a:t>Pass</a:t>
            </a:r>
          </a:p>
        </p:txBody>
      </p:sp>
      <p:sp>
        <p:nvSpPr>
          <p:cNvPr id="3" name="object 3"/>
          <p:cNvSpPr/>
          <p:nvPr/>
        </p:nvSpPr>
        <p:spPr>
          <a:xfrm>
            <a:off x="4782286" y="1585239"/>
            <a:ext cx="516890" cy="1109345"/>
          </a:xfrm>
          <a:custGeom>
            <a:avLst/>
            <a:gdLst/>
            <a:ahLst/>
            <a:cxnLst/>
            <a:rect l="l" t="t" r="r" b="b"/>
            <a:pathLst>
              <a:path w="516889" h="1109345">
                <a:moveTo>
                  <a:pt x="500392" y="867194"/>
                </a:moveTo>
                <a:lnTo>
                  <a:pt x="495706" y="819734"/>
                </a:lnTo>
                <a:lnTo>
                  <a:pt x="481977" y="774547"/>
                </a:lnTo>
                <a:lnTo>
                  <a:pt x="459727" y="732878"/>
                </a:lnTo>
                <a:lnTo>
                  <a:pt x="429501" y="695998"/>
                </a:lnTo>
                <a:lnTo>
                  <a:pt x="392620" y="665772"/>
                </a:lnTo>
                <a:lnTo>
                  <a:pt x="350951" y="643521"/>
                </a:lnTo>
                <a:lnTo>
                  <a:pt x="305752" y="629780"/>
                </a:lnTo>
                <a:lnTo>
                  <a:pt x="258292" y="625094"/>
                </a:lnTo>
                <a:lnTo>
                  <a:pt x="209511" y="630008"/>
                </a:lnTo>
                <a:lnTo>
                  <a:pt x="164058" y="644118"/>
                </a:lnTo>
                <a:lnTo>
                  <a:pt x="122936" y="666432"/>
                </a:lnTo>
                <a:lnTo>
                  <a:pt x="87109" y="695998"/>
                </a:lnTo>
                <a:lnTo>
                  <a:pt x="57543" y="731824"/>
                </a:lnTo>
                <a:lnTo>
                  <a:pt x="35229" y="772960"/>
                </a:lnTo>
                <a:lnTo>
                  <a:pt x="21120" y="818400"/>
                </a:lnTo>
                <a:lnTo>
                  <a:pt x="16192" y="867194"/>
                </a:lnTo>
                <a:lnTo>
                  <a:pt x="21120" y="915974"/>
                </a:lnTo>
                <a:lnTo>
                  <a:pt x="35229" y="961415"/>
                </a:lnTo>
                <a:lnTo>
                  <a:pt x="57543" y="1002538"/>
                </a:lnTo>
                <a:lnTo>
                  <a:pt x="87109" y="1038377"/>
                </a:lnTo>
                <a:lnTo>
                  <a:pt x="122936" y="1067943"/>
                </a:lnTo>
                <a:lnTo>
                  <a:pt x="164058" y="1090256"/>
                </a:lnTo>
                <a:lnTo>
                  <a:pt x="209511" y="1104366"/>
                </a:lnTo>
                <a:lnTo>
                  <a:pt x="258292" y="1109281"/>
                </a:lnTo>
                <a:lnTo>
                  <a:pt x="307098" y="1104366"/>
                </a:lnTo>
                <a:lnTo>
                  <a:pt x="352539" y="1090256"/>
                </a:lnTo>
                <a:lnTo>
                  <a:pt x="393661" y="1067943"/>
                </a:lnTo>
                <a:lnTo>
                  <a:pt x="429488" y="1038377"/>
                </a:lnTo>
                <a:lnTo>
                  <a:pt x="459054" y="1002538"/>
                </a:lnTo>
                <a:lnTo>
                  <a:pt x="481368" y="961415"/>
                </a:lnTo>
                <a:lnTo>
                  <a:pt x="495477" y="915974"/>
                </a:lnTo>
                <a:lnTo>
                  <a:pt x="500392" y="867194"/>
                </a:lnTo>
                <a:close/>
              </a:path>
              <a:path w="516889" h="1109345">
                <a:moveTo>
                  <a:pt x="516597" y="258292"/>
                </a:moveTo>
                <a:lnTo>
                  <a:pt x="511594" y="207670"/>
                </a:lnTo>
                <a:lnTo>
                  <a:pt x="496938" y="159448"/>
                </a:lnTo>
                <a:lnTo>
                  <a:pt x="473202" y="114985"/>
                </a:lnTo>
                <a:lnTo>
                  <a:pt x="440944" y="75653"/>
                </a:lnTo>
                <a:lnTo>
                  <a:pt x="401599" y="43395"/>
                </a:lnTo>
                <a:lnTo>
                  <a:pt x="357136" y="19659"/>
                </a:lnTo>
                <a:lnTo>
                  <a:pt x="308927" y="5003"/>
                </a:lnTo>
                <a:lnTo>
                  <a:pt x="258292" y="0"/>
                </a:lnTo>
                <a:lnTo>
                  <a:pt x="211874" y="4152"/>
                </a:lnTo>
                <a:lnTo>
                  <a:pt x="168173" y="16154"/>
                </a:lnTo>
                <a:lnTo>
                  <a:pt x="127927" y="35255"/>
                </a:lnTo>
                <a:lnTo>
                  <a:pt x="91884" y="60744"/>
                </a:lnTo>
                <a:lnTo>
                  <a:pt x="60744" y="91871"/>
                </a:lnTo>
                <a:lnTo>
                  <a:pt x="35267" y="127927"/>
                </a:lnTo>
                <a:lnTo>
                  <a:pt x="16154" y="168160"/>
                </a:lnTo>
                <a:lnTo>
                  <a:pt x="4165" y="211861"/>
                </a:lnTo>
                <a:lnTo>
                  <a:pt x="0" y="258292"/>
                </a:lnTo>
                <a:lnTo>
                  <a:pt x="4165" y="304723"/>
                </a:lnTo>
                <a:lnTo>
                  <a:pt x="16154" y="348424"/>
                </a:lnTo>
                <a:lnTo>
                  <a:pt x="35267" y="388658"/>
                </a:lnTo>
                <a:lnTo>
                  <a:pt x="60744" y="424713"/>
                </a:lnTo>
                <a:lnTo>
                  <a:pt x="91884" y="455841"/>
                </a:lnTo>
                <a:lnTo>
                  <a:pt x="127927" y="481330"/>
                </a:lnTo>
                <a:lnTo>
                  <a:pt x="168173" y="500430"/>
                </a:lnTo>
                <a:lnTo>
                  <a:pt x="211874" y="512432"/>
                </a:lnTo>
                <a:lnTo>
                  <a:pt x="258292" y="516597"/>
                </a:lnTo>
                <a:lnTo>
                  <a:pt x="304723" y="512432"/>
                </a:lnTo>
                <a:lnTo>
                  <a:pt x="348424" y="500430"/>
                </a:lnTo>
                <a:lnTo>
                  <a:pt x="388658" y="481330"/>
                </a:lnTo>
                <a:lnTo>
                  <a:pt x="424713" y="455841"/>
                </a:lnTo>
                <a:lnTo>
                  <a:pt x="455841" y="424713"/>
                </a:lnTo>
                <a:lnTo>
                  <a:pt x="481330" y="388658"/>
                </a:lnTo>
                <a:lnTo>
                  <a:pt x="500430" y="348424"/>
                </a:lnTo>
                <a:lnTo>
                  <a:pt x="512432" y="304723"/>
                </a:lnTo>
                <a:lnTo>
                  <a:pt x="516597" y="258292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983736" y="1718938"/>
            <a:ext cx="114300" cy="847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420"/>
              </a:spcBef>
            </a:pP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798490" y="2803019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10" y="479280"/>
                </a:lnTo>
                <a:lnTo>
                  <a:pt x="147866" y="465172"/>
                </a:lnTo>
                <a:lnTo>
                  <a:pt x="106742" y="442850"/>
                </a:lnTo>
                <a:lnTo>
                  <a:pt x="70912" y="413286"/>
                </a:lnTo>
                <a:lnTo>
                  <a:pt x="41348" y="377456"/>
                </a:lnTo>
                <a:lnTo>
                  <a:pt x="19026" y="336332"/>
                </a:lnTo>
                <a:lnTo>
                  <a:pt x="4918" y="290888"/>
                </a:lnTo>
                <a:lnTo>
                  <a:pt x="0" y="242099"/>
                </a:lnTo>
                <a:lnTo>
                  <a:pt x="4918" y="193310"/>
                </a:lnTo>
                <a:lnTo>
                  <a:pt x="19026" y="147866"/>
                </a:lnTo>
                <a:lnTo>
                  <a:pt x="41348" y="106742"/>
                </a:lnTo>
                <a:lnTo>
                  <a:pt x="70927" y="70899"/>
                </a:lnTo>
                <a:lnTo>
                  <a:pt x="106742" y="41348"/>
                </a:lnTo>
                <a:lnTo>
                  <a:pt x="147866" y="19026"/>
                </a:lnTo>
                <a:lnTo>
                  <a:pt x="193310" y="4918"/>
                </a:lnTo>
                <a:lnTo>
                  <a:pt x="242099" y="0"/>
                </a:lnTo>
                <a:lnTo>
                  <a:pt x="289559" y="4693"/>
                </a:lnTo>
                <a:lnTo>
                  <a:pt x="334758" y="18424"/>
                </a:lnTo>
                <a:lnTo>
                  <a:pt x="376427" y="40668"/>
                </a:lnTo>
                <a:lnTo>
                  <a:pt x="413309" y="70912"/>
                </a:lnTo>
                <a:lnTo>
                  <a:pt x="443530" y="107774"/>
                </a:lnTo>
                <a:lnTo>
                  <a:pt x="465774" y="149449"/>
                </a:lnTo>
                <a:lnTo>
                  <a:pt x="479505" y="194649"/>
                </a:lnTo>
                <a:lnTo>
                  <a:pt x="484199" y="242099"/>
                </a:lnTo>
                <a:lnTo>
                  <a:pt x="479281" y="290888"/>
                </a:lnTo>
                <a:lnTo>
                  <a:pt x="465176" y="336332"/>
                </a:lnTo>
                <a:lnTo>
                  <a:pt x="442856" y="377456"/>
                </a:lnTo>
                <a:lnTo>
                  <a:pt x="413296" y="413286"/>
                </a:lnTo>
                <a:lnTo>
                  <a:pt x="377467" y="442850"/>
                </a:lnTo>
                <a:lnTo>
                  <a:pt x="336342" y="465172"/>
                </a:lnTo>
                <a:lnTo>
                  <a:pt x="290895" y="479280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956107" y="2920528"/>
            <a:ext cx="1695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7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sz="1400" spc="-6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489587" y="2783669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10" y="479280"/>
                </a:lnTo>
                <a:lnTo>
                  <a:pt x="147866" y="465172"/>
                </a:lnTo>
                <a:lnTo>
                  <a:pt x="106742" y="442850"/>
                </a:lnTo>
                <a:lnTo>
                  <a:pt x="70912" y="413286"/>
                </a:lnTo>
                <a:lnTo>
                  <a:pt x="41348" y="377456"/>
                </a:lnTo>
                <a:lnTo>
                  <a:pt x="19026" y="336332"/>
                </a:lnTo>
                <a:lnTo>
                  <a:pt x="4918" y="290888"/>
                </a:lnTo>
                <a:lnTo>
                  <a:pt x="0" y="242099"/>
                </a:lnTo>
                <a:lnTo>
                  <a:pt x="4918" y="193310"/>
                </a:lnTo>
                <a:lnTo>
                  <a:pt x="19026" y="147866"/>
                </a:lnTo>
                <a:lnTo>
                  <a:pt x="41348" y="106742"/>
                </a:lnTo>
                <a:lnTo>
                  <a:pt x="70927" y="70899"/>
                </a:lnTo>
                <a:lnTo>
                  <a:pt x="106742" y="41348"/>
                </a:lnTo>
                <a:lnTo>
                  <a:pt x="147866" y="19026"/>
                </a:lnTo>
                <a:lnTo>
                  <a:pt x="193310" y="4918"/>
                </a:lnTo>
                <a:lnTo>
                  <a:pt x="242099" y="0"/>
                </a:lnTo>
                <a:lnTo>
                  <a:pt x="289559" y="4693"/>
                </a:lnTo>
                <a:lnTo>
                  <a:pt x="334758" y="18424"/>
                </a:lnTo>
                <a:lnTo>
                  <a:pt x="376427" y="40668"/>
                </a:lnTo>
                <a:lnTo>
                  <a:pt x="413309" y="70912"/>
                </a:lnTo>
                <a:lnTo>
                  <a:pt x="443530" y="107774"/>
                </a:lnTo>
                <a:lnTo>
                  <a:pt x="465774" y="149449"/>
                </a:lnTo>
                <a:lnTo>
                  <a:pt x="479505" y="194649"/>
                </a:lnTo>
                <a:lnTo>
                  <a:pt x="484199" y="242099"/>
                </a:lnTo>
                <a:lnTo>
                  <a:pt x="479281" y="290888"/>
                </a:lnTo>
                <a:lnTo>
                  <a:pt x="465176" y="336332"/>
                </a:lnTo>
                <a:lnTo>
                  <a:pt x="442856" y="377456"/>
                </a:lnTo>
                <a:lnTo>
                  <a:pt x="413296" y="413286"/>
                </a:lnTo>
                <a:lnTo>
                  <a:pt x="377467" y="442850"/>
                </a:lnTo>
                <a:lnTo>
                  <a:pt x="336342" y="465172"/>
                </a:lnTo>
                <a:lnTo>
                  <a:pt x="290895" y="479280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0097A7">
              <a:alpha val="4823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633526" y="2865814"/>
            <a:ext cx="1555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40" dirty="0">
                <a:solidFill>
                  <a:srgbClr val="FFFFFF"/>
                </a:solidFill>
                <a:latin typeface="Roboto"/>
                <a:cs typeface="Roboto"/>
              </a:rPr>
              <a:t>&gt;</a:t>
            </a:r>
            <a:endParaRPr sz="1800">
              <a:latin typeface="Roboto"/>
              <a:cs typeface="Robo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273164" y="1834001"/>
            <a:ext cx="1445260" cy="1235075"/>
            <a:chOff x="5273164" y="1834001"/>
            <a:chExt cx="1445260" cy="1235075"/>
          </a:xfrm>
        </p:grpSpPr>
        <p:sp>
          <p:nvSpPr>
            <p:cNvPr id="10" name="object 10"/>
            <p:cNvSpPr/>
            <p:nvPr/>
          </p:nvSpPr>
          <p:spPr>
            <a:xfrm>
              <a:off x="5298889" y="1843526"/>
              <a:ext cx="1337310" cy="877569"/>
            </a:xfrm>
            <a:custGeom>
              <a:avLst/>
              <a:gdLst/>
              <a:ahLst/>
              <a:cxnLst/>
              <a:rect l="l" t="t" r="r" b="b"/>
              <a:pathLst>
                <a:path w="1337309" h="877569">
                  <a:moveTo>
                    <a:pt x="0" y="0"/>
                  </a:moveTo>
                  <a:lnTo>
                    <a:pt x="1337247" y="877493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09336" y="2685194"/>
              <a:ext cx="108599" cy="9277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282689" y="3027743"/>
              <a:ext cx="1092835" cy="17780"/>
            </a:xfrm>
            <a:custGeom>
              <a:avLst/>
              <a:gdLst/>
              <a:ahLst/>
              <a:cxnLst/>
              <a:rect l="l" t="t" r="r" b="b"/>
              <a:pathLst>
                <a:path w="1092835" h="17780">
                  <a:moveTo>
                    <a:pt x="0" y="17374"/>
                  </a:moveTo>
                  <a:lnTo>
                    <a:pt x="1092622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65286" y="2986743"/>
              <a:ext cx="105974" cy="8197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282689" y="2452422"/>
              <a:ext cx="1169035" cy="368300"/>
            </a:xfrm>
            <a:custGeom>
              <a:avLst/>
              <a:gdLst/>
              <a:ahLst/>
              <a:cxnLst/>
              <a:rect l="l" t="t" r="r" b="b"/>
              <a:pathLst>
                <a:path w="1169035" h="368300">
                  <a:moveTo>
                    <a:pt x="0" y="0"/>
                  </a:moveTo>
                  <a:lnTo>
                    <a:pt x="1168672" y="367971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32386" y="2780844"/>
              <a:ext cx="110974" cy="79099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4763896" y="1154189"/>
            <a:ext cx="5588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AA3F"/>
                </a:solidFill>
                <a:latin typeface="Arial"/>
                <a:cs typeface="Arial"/>
              </a:rPr>
              <a:t>inputs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01816" y="1154189"/>
            <a:ext cx="6877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77909C"/>
                </a:solidFill>
                <a:latin typeface="Arial"/>
                <a:cs typeface="Arial"/>
              </a:rPr>
              <a:t>weights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 rot="1980000">
            <a:off x="5697002" y="1968927"/>
            <a:ext cx="302292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70"/>
              </a:lnSpc>
            </a:pPr>
            <a:r>
              <a:rPr sz="1400" b="1" spc="-120" dirty="0">
                <a:solidFill>
                  <a:srgbClr val="77909C"/>
                </a:solidFill>
                <a:latin typeface="Tahoma"/>
                <a:cs typeface="Tahoma"/>
              </a:rPr>
              <a:t>0.1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588884" y="2742803"/>
            <a:ext cx="2667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95" dirty="0">
                <a:solidFill>
                  <a:srgbClr val="77909C"/>
                </a:solidFill>
                <a:latin typeface="Tahoma"/>
                <a:cs typeface="Tahoma"/>
              </a:rPr>
              <a:t>2.5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 rot="20700000">
            <a:off x="5582266" y="3205358"/>
            <a:ext cx="302292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5"/>
              </a:lnSpc>
            </a:pPr>
            <a:r>
              <a:rPr sz="1400" b="1" spc="-120" dirty="0">
                <a:solidFill>
                  <a:srgbClr val="77909C"/>
                </a:solidFill>
                <a:latin typeface="Tahoma"/>
                <a:cs typeface="Tahoma"/>
              </a:rPr>
              <a:t>0.2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562622" y="1157332"/>
            <a:ext cx="3911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0097A7"/>
                </a:solidFill>
                <a:latin typeface="Arial"/>
                <a:cs typeface="Arial"/>
              </a:rPr>
              <a:t>sum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273164" y="2783669"/>
            <a:ext cx="3550920" cy="1456690"/>
            <a:chOff x="5273164" y="2783669"/>
            <a:chExt cx="3550920" cy="1456690"/>
          </a:xfrm>
        </p:grpSpPr>
        <p:sp>
          <p:nvSpPr>
            <p:cNvPr id="23" name="object 23"/>
            <p:cNvSpPr/>
            <p:nvPr/>
          </p:nvSpPr>
          <p:spPr>
            <a:xfrm>
              <a:off x="6973785" y="3025768"/>
              <a:ext cx="581660" cy="0"/>
            </a:xfrm>
            <a:custGeom>
              <a:avLst/>
              <a:gdLst/>
              <a:ahLst/>
              <a:cxnLst/>
              <a:rect l="l" t="t" r="r" b="b"/>
              <a:pathLst>
                <a:path w="581659">
                  <a:moveTo>
                    <a:pt x="0" y="0"/>
                  </a:moveTo>
                  <a:lnTo>
                    <a:pt x="5812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555034" y="301004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49"/>
                  </a:moveTo>
                  <a:lnTo>
                    <a:pt x="0" y="0"/>
                  </a:lnTo>
                  <a:lnTo>
                    <a:pt x="43224" y="15724"/>
                  </a:lnTo>
                  <a:lnTo>
                    <a:pt x="0" y="314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555034" y="301004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49"/>
                  </a:moveTo>
                  <a:lnTo>
                    <a:pt x="43224" y="15724"/>
                  </a:lnTo>
                  <a:lnTo>
                    <a:pt x="0" y="0"/>
                  </a:lnTo>
                  <a:lnTo>
                    <a:pt x="0" y="314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612184" y="2783669"/>
              <a:ext cx="484505" cy="484505"/>
            </a:xfrm>
            <a:custGeom>
              <a:avLst/>
              <a:gdLst/>
              <a:ahLst/>
              <a:cxnLst/>
              <a:rect l="l" t="t" r="r" b="b"/>
              <a:pathLst>
                <a:path w="484504" h="484504">
                  <a:moveTo>
                    <a:pt x="242099" y="484199"/>
                  </a:moveTo>
                  <a:lnTo>
                    <a:pt x="193310" y="479280"/>
                  </a:lnTo>
                  <a:lnTo>
                    <a:pt x="147866" y="465172"/>
                  </a:lnTo>
                  <a:lnTo>
                    <a:pt x="106742" y="442850"/>
                  </a:lnTo>
                  <a:lnTo>
                    <a:pt x="70912" y="413286"/>
                  </a:lnTo>
                  <a:lnTo>
                    <a:pt x="41348" y="377456"/>
                  </a:lnTo>
                  <a:lnTo>
                    <a:pt x="19026" y="336332"/>
                  </a:lnTo>
                  <a:lnTo>
                    <a:pt x="4918" y="290888"/>
                  </a:lnTo>
                  <a:lnTo>
                    <a:pt x="0" y="242099"/>
                  </a:lnTo>
                  <a:lnTo>
                    <a:pt x="4918" y="193310"/>
                  </a:lnTo>
                  <a:lnTo>
                    <a:pt x="19026" y="147866"/>
                  </a:lnTo>
                  <a:lnTo>
                    <a:pt x="41348" y="106742"/>
                  </a:lnTo>
                  <a:lnTo>
                    <a:pt x="70927" y="70899"/>
                  </a:lnTo>
                  <a:lnTo>
                    <a:pt x="106742" y="41348"/>
                  </a:lnTo>
                  <a:lnTo>
                    <a:pt x="147866" y="19026"/>
                  </a:lnTo>
                  <a:lnTo>
                    <a:pt x="193310" y="4918"/>
                  </a:lnTo>
                  <a:lnTo>
                    <a:pt x="242099" y="0"/>
                  </a:lnTo>
                  <a:lnTo>
                    <a:pt x="289559" y="4693"/>
                  </a:lnTo>
                  <a:lnTo>
                    <a:pt x="334758" y="18424"/>
                  </a:lnTo>
                  <a:lnTo>
                    <a:pt x="376427" y="40668"/>
                  </a:lnTo>
                  <a:lnTo>
                    <a:pt x="413309" y="70912"/>
                  </a:lnTo>
                  <a:lnTo>
                    <a:pt x="443530" y="107774"/>
                  </a:lnTo>
                  <a:lnTo>
                    <a:pt x="465774" y="149449"/>
                  </a:lnTo>
                  <a:lnTo>
                    <a:pt x="479505" y="194649"/>
                  </a:lnTo>
                  <a:lnTo>
                    <a:pt x="484199" y="242099"/>
                  </a:lnTo>
                  <a:lnTo>
                    <a:pt x="479281" y="290888"/>
                  </a:lnTo>
                  <a:lnTo>
                    <a:pt x="465176" y="336332"/>
                  </a:lnTo>
                  <a:lnTo>
                    <a:pt x="442856" y="377456"/>
                  </a:lnTo>
                  <a:lnTo>
                    <a:pt x="413296" y="413286"/>
                  </a:lnTo>
                  <a:lnTo>
                    <a:pt x="377467" y="442850"/>
                  </a:lnTo>
                  <a:lnTo>
                    <a:pt x="336342" y="465172"/>
                  </a:lnTo>
                  <a:lnTo>
                    <a:pt x="290895" y="479280"/>
                  </a:lnTo>
                  <a:lnTo>
                    <a:pt x="242099" y="484199"/>
                  </a:lnTo>
                  <a:close/>
                </a:path>
              </a:pathLst>
            </a:custGeom>
            <a:solidFill>
              <a:srgbClr val="0A2138">
                <a:alpha val="6807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096383" y="3025768"/>
              <a:ext cx="679450" cy="5715"/>
            </a:xfrm>
            <a:custGeom>
              <a:avLst/>
              <a:gdLst/>
              <a:ahLst/>
              <a:cxnLst/>
              <a:rect l="l" t="t" r="r" b="b"/>
              <a:pathLst>
                <a:path w="679450" h="5714">
                  <a:moveTo>
                    <a:pt x="0" y="0"/>
                  </a:moveTo>
                  <a:lnTo>
                    <a:pt x="679348" y="5524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775606" y="301556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74"/>
                  </a:moveTo>
                  <a:lnTo>
                    <a:pt x="249" y="0"/>
                  </a:lnTo>
                  <a:lnTo>
                    <a:pt x="43349" y="16074"/>
                  </a:lnTo>
                  <a:lnTo>
                    <a:pt x="0" y="3147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775606" y="301556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74"/>
                  </a:moveTo>
                  <a:lnTo>
                    <a:pt x="43349" y="16074"/>
                  </a:lnTo>
                  <a:lnTo>
                    <a:pt x="249" y="0"/>
                  </a:lnTo>
                  <a:lnTo>
                    <a:pt x="0" y="3147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732784" y="2907419"/>
              <a:ext cx="243204" cy="243204"/>
            </a:xfrm>
            <a:custGeom>
              <a:avLst/>
              <a:gdLst/>
              <a:ahLst/>
              <a:cxnLst/>
              <a:rect l="l" t="t" r="r" b="b"/>
              <a:pathLst>
                <a:path w="243204" h="243205">
                  <a:moveTo>
                    <a:pt x="242999" y="0"/>
                  </a:moveTo>
                  <a:lnTo>
                    <a:pt x="202657" y="10441"/>
                  </a:lnTo>
                  <a:lnTo>
                    <a:pt x="170859" y="37968"/>
                  </a:lnTo>
                  <a:lnTo>
                    <a:pt x="144755" y="76886"/>
                  </a:lnTo>
                  <a:lnTo>
                    <a:pt x="121499" y="121499"/>
                  </a:lnTo>
                  <a:lnTo>
                    <a:pt x="98243" y="166112"/>
                  </a:lnTo>
                  <a:lnTo>
                    <a:pt x="72140" y="205030"/>
                  </a:lnTo>
                  <a:lnTo>
                    <a:pt x="40341" y="232558"/>
                  </a:lnTo>
                  <a:lnTo>
                    <a:pt x="0" y="242999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282689" y="3331068"/>
              <a:ext cx="1353820" cy="899794"/>
            </a:xfrm>
            <a:custGeom>
              <a:avLst/>
              <a:gdLst/>
              <a:ahLst/>
              <a:cxnLst/>
              <a:rect l="l" t="t" r="r" b="b"/>
              <a:pathLst>
                <a:path w="1353820" h="899795">
                  <a:moveTo>
                    <a:pt x="0" y="899448"/>
                  </a:moveTo>
                  <a:lnTo>
                    <a:pt x="1353797" y="0"/>
                  </a:lnTo>
                </a:path>
              </a:pathLst>
            </a:custGeom>
            <a:ln w="19049">
              <a:solidFill>
                <a:srgbClr val="93C3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09561" y="3273693"/>
              <a:ext cx="108449" cy="93099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7453494" y="1157332"/>
            <a:ext cx="10922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0A2138"/>
                </a:solidFill>
                <a:latin typeface="Arial"/>
                <a:cs typeface="Arial"/>
              </a:rPr>
              <a:t>non-linearity</a:t>
            </a:r>
            <a:endParaRPr sz="14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 rot="19680000">
            <a:off x="5610340" y="3731647"/>
            <a:ext cx="302292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5"/>
              </a:lnSpc>
            </a:pPr>
            <a:r>
              <a:rPr sz="1400" b="1" spc="-120" dirty="0">
                <a:solidFill>
                  <a:srgbClr val="93C37C"/>
                </a:solidFill>
                <a:latin typeface="Tahoma"/>
                <a:cs typeface="Tahoma"/>
              </a:rPr>
              <a:t>3.0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782290" y="3395718"/>
            <a:ext cx="501015" cy="1076960"/>
            <a:chOff x="4782290" y="3395718"/>
            <a:chExt cx="501015" cy="1076960"/>
          </a:xfrm>
        </p:grpSpPr>
        <p:sp>
          <p:nvSpPr>
            <p:cNvPr id="36" name="object 36"/>
            <p:cNvSpPr/>
            <p:nvPr/>
          </p:nvSpPr>
          <p:spPr>
            <a:xfrm>
              <a:off x="4798490" y="3988417"/>
              <a:ext cx="484505" cy="484505"/>
            </a:xfrm>
            <a:custGeom>
              <a:avLst/>
              <a:gdLst/>
              <a:ahLst/>
              <a:cxnLst/>
              <a:rect l="l" t="t" r="r" b="b"/>
              <a:pathLst>
                <a:path w="484504" h="484504">
                  <a:moveTo>
                    <a:pt x="242099" y="484199"/>
                  </a:moveTo>
                  <a:lnTo>
                    <a:pt x="193310" y="479280"/>
                  </a:lnTo>
                  <a:lnTo>
                    <a:pt x="147866" y="465172"/>
                  </a:lnTo>
                  <a:lnTo>
                    <a:pt x="106742" y="442850"/>
                  </a:lnTo>
                  <a:lnTo>
                    <a:pt x="70912" y="413286"/>
                  </a:lnTo>
                  <a:lnTo>
                    <a:pt x="41348" y="377456"/>
                  </a:lnTo>
                  <a:lnTo>
                    <a:pt x="19026" y="336332"/>
                  </a:lnTo>
                  <a:lnTo>
                    <a:pt x="4918" y="290888"/>
                  </a:lnTo>
                  <a:lnTo>
                    <a:pt x="0" y="242099"/>
                  </a:lnTo>
                  <a:lnTo>
                    <a:pt x="4918" y="193303"/>
                  </a:lnTo>
                  <a:lnTo>
                    <a:pt x="19026" y="147856"/>
                  </a:lnTo>
                  <a:lnTo>
                    <a:pt x="41348" y="106731"/>
                  </a:lnTo>
                  <a:lnTo>
                    <a:pt x="70916" y="70899"/>
                  </a:lnTo>
                  <a:lnTo>
                    <a:pt x="106742" y="41342"/>
                  </a:lnTo>
                  <a:lnTo>
                    <a:pt x="147866" y="19023"/>
                  </a:lnTo>
                  <a:lnTo>
                    <a:pt x="193310" y="4917"/>
                  </a:lnTo>
                  <a:lnTo>
                    <a:pt x="242099" y="0"/>
                  </a:lnTo>
                  <a:lnTo>
                    <a:pt x="289559" y="4693"/>
                  </a:lnTo>
                  <a:lnTo>
                    <a:pt x="334758" y="18424"/>
                  </a:lnTo>
                  <a:lnTo>
                    <a:pt x="376427" y="40668"/>
                  </a:lnTo>
                  <a:lnTo>
                    <a:pt x="413301" y="70902"/>
                  </a:lnTo>
                  <a:lnTo>
                    <a:pt x="443530" y="107771"/>
                  </a:lnTo>
                  <a:lnTo>
                    <a:pt x="465774" y="149440"/>
                  </a:lnTo>
                  <a:lnTo>
                    <a:pt x="479505" y="194639"/>
                  </a:lnTo>
                  <a:lnTo>
                    <a:pt x="484199" y="242099"/>
                  </a:lnTo>
                  <a:lnTo>
                    <a:pt x="479281" y="290888"/>
                  </a:lnTo>
                  <a:lnTo>
                    <a:pt x="465176" y="336332"/>
                  </a:lnTo>
                  <a:lnTo>
                    <a:pt x="442856" y="377456"/>
                  </a:lnTo>
                  <a:lnTo>
                    <a:pt x="413296" y="413286"/>
                  </a:lnTo>
                  <a:lnTo>
                    <a:pt x="377467" y="442850"/>
                  </a:lnTo>
                  <a:lnTo>
                    <a:pt x="336342" y="465172"/>
                  </a:lnTo>
                  <a:lnTo>
                    <a:pt x="290895" y="479280"/>
                  </a:lnTo>
                  <a:lnTo>
                    <a:pt x="242099" y="484199"/>
                  </a:lnTo>
                  <a:close/>
                </a:path>
              </a:pathLst>
            </a:custGeom>
            <a:solidFill>
              <a:srgbClr val="93C3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782290" y="3395718"/>
              <a:ext cx="484505" cy="484505"/>
            </a:xfrm>
            <a:custGeom>
              <a:avLst/>
              <a:gdLst/>
              <a:ahLst/>
              <a:cxnLst/>
              <a:rect l="l" t="t" r="r" b="b"/>
              <a:pathLst>
                <a:path w="484504" h="484504">
                  <a:moveTo>
                    <a:pt x="242099" y="484199"/>
                  </a:moveTo>
                  <a:lnTo>
                    <a:pt x="193310" y="479280"/>
                  </a:lnTo>
                  <a:lnTo>
                    <a:pt x="147866" y="465172"/>
                  </a:lnTo>
                  <a:lnTo>
                    <a:pt x="106742" y="442850"/>
                  </a:lnTo>
                  <a:lnTo>
                    <a:pt x="70912" y="413286"/>
                  </a:lnTo>
                  <a:lnTo>
                    <a:pt x="41348" y="377456"/>
                  </a:lnTo>
                  <a:lnTo>
                    <a:pt x="19026" y="336332"/>
                  </a:lnTo>
                  <a:lnTo>
                    <a:pt x="4918" y="290888"/>
                  </a:lnTo>
                  <a:lnTo>
                    <a:pt x="0" y="242099"/>
                  </a:lnTo>
                  <a:lnTo>
                    <a:pt x="4918" y="193310"/>
                  </a:lnTo>
                  <a:lnTo>
                    <a:pt x="19026" y="147866"/>
                  </a:lnTo>
                  <a:lnTo>
                    <a:pt x="41348" y="106742"/>
                  </a:lnTo>
                  <a:lnTo>
                    <a:pt x="70927" y="70899"/>
                  </a:lnTo>
                  <a:lnTo>
                    <a:pt x="106742" y="41348"/>
                  </a:lnTo>
                  <a:lnTo>
                    <a:pt x="147866" y="19026"/>
                  </a:lnTo>
                  <a:lnTo>
                    <a:pt x="193310" y="4918"/>
                  </a:lnTo>
                  <a:lnTo>
                    <a:pt x="242099" y="0"/>
                  </a:lnTo>
                  <a:lnTo>
                    <a:pt x="289559" y="4693"/>
                  </a:lnTo>
                  <a:lnTo>
                    <a:pt x="334758" y="18424"/>
                  </a:lnTo>
                  <a:lnTo>
                    <a:pt x="376427" y="40668"/>
                  </a:lnTo>
                  <a:lnTo>
                    <a:pt x="413309" y="70912"/>
                  </a:lnTo>
                  <a:lnTo>
                    <a:pt x="443530" y="107771"/>
                  </a:lnTo>
                  <a:lnTo>
                    <a:pt x="465774" y="149440"/>
                  </a:lnTo>
                  <a:lnTo>
                    <a:pt x="479505" y="194639"/>
                  </a:lnTo>
                  <a:lnTo>
                    <a:pt x="484199" y="242099"/>
                  </a:lnTo>
                  <a:lnTo>
                    <a:pt x="479281" y="290888"/>
                  </a:lnTo>
                  <a:lnTo>
                    <a:pt x="465176" y="336332"/>
                  </a:lnTo>
                  <a:lnTo>
                    <a:pt x="442856" y="377456"/>
                  </a:lnTo>
                  <a:lnTo>
                    <a:pt x="413296" y="413286"/>
                  </a:lnTo>
                  <a:lnTo>
                    <a:pt x="377467" y="442850"/>
                  </a:lnTo>
                  <a:lnTo>
                    <a:pt x="336342" y="465172"/>
                  </a:lnTo>
                  <a:lnTo>
                    <a:pt x="290895" y="479280"/>
                  </a:lnTo>
                  <a:lnTo>
                    <a:pt x="242099" y="484199"/>
                  </a:lnTo>
                  <a:close/>
                </a:path>
              </a:pathLst>
            </a:custGeom>
            <a:solidFill>
              <a:srgbClr val="FFAA3F">
                <a:alpha val="5372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4967538" y="3513229"/>
            <a:ext cx="130175" cy="831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295"/>
              </a:spcBef>
            </a:pPr>
            <a:endParaRPr sz="1400">
              <a:latin typeface="Tahoma"/>
              <a:cs typeface="Tahoma"/>
            </a:endParaRPr>
          </a:p>
          <a:p>
            <a:pPr marL="28575">
              <a:lnSpc>
                <a:spcPct val="100000"/>
              </a:lnSpc>
            </a:pP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5256964" y="3194368"/>
            <a:ext cx="1287145" cy="453390"/>
            <a:chOff x="5256964" y="3194368"/>
            <a:chExt cx="1287145" cy="453390"/>
          </a:xfrm>
        </p:grpSpPr>
        <p:sp>
          <p:nvSpPr>
            <p:cNvPr id="40" name="object 40"/>
            <p:cNvSpPr/>
            <p:nvPr/>
          </p:nvSpPr>
          <p:spPr>
            <a:xfrm>
              <a:off x="5266489" y="3233693"/>
              <a:ext cx="1186180" cy="404495"/>
            </a:xfrm>
            <a:custGeom>
              <a:avLst/>
              <a:gdLst/>
              <a:ahLst/>
              <a:cxnLst/>
              <a:rect l="l" t="t" r="r" b="b"/>
              <a:pathLst>
                <a:path w="1186179" h="404495">
                  <a:moveTo>
                    <a:pt x="0" y="404124"/>
                  </a:moveTo>
                  <a:lnTo>
                    <a:pt x="1185722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32537" y="3194368"/>
              <a:ext cx="111024" cy="78624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 rot="1020000">
            <a:off x="5614770" y="2362467"/>
            <a:ext cx="302806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65"/>
              </a:lnSpc>
            </a:pPr>
            <a:r>
              <a:rPr sz="1400" b="1" spc="-120" dirty="0">
                <a:solidFill>
                  <a:srgbClr val="77909C"/>
                </a:solidFill>
                <a:latin typeface="Tahoma"/>
                <a:cs typeface="Tahoma"/>
              </a:rPr>
              <a:t>0.5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253707" y="2742203"/>
            <a:ext cx="5784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341C75"/>
                </a:solidFill>
                <a:latin typeface="Arial"/>
                <a:cs typeface="Arial"/>
              </a:rPr>
              <a:t>output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268641" y="2022820"/>
            <a:ext cx="3695700" cy="685800"/>
            <a:chOff x="268641" y="2022820"/>
            <a:chExt cx="3695700" cy="685800"/>
          </a:xfrm>
        </p:grpSpPr>
        <p:pic>
          <p:nvPicPr>
            <p:cNvPr id="45" name="object 4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2798" y="2022820"/>
              <a:ext cx="3381368" cy="685798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268641" y="2181670"/>
              <a:ext cx="1168400" cy="368300"/>
            </a:xfrm>
            <a:custGeom>
              <a:avLst/>
              <a:gdLst/>
              <a:ahLst/>
              <a:cxnLst/>
              <a:rect l="l" t="t" r="r" b="b"/>
              <a:pathLst>
                <a:path w="1168400" h="368300">
                  <a:moveTo>
                    <a:pt x="1167897" y="368099"/>
                  </a:moveTo>
                  <a:lnTo>
                    <a:pt x="0" y="368099"/>
                  </a:lnTo>
                  <a:lnTo>
                    <a:pt x="0" y="0"/>
                  </a:lnTo>
                  <a:lnTo>
                    <a:pt x="1167897" y="0"/>
                  </a:lnTo>
                  <a:lnTo>
                    <a:pt x="1167897" y="368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7" name="object 4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71181" y="1247329"/>
            <a:ext cx="3038461" cy="304799"/>
          </a:xfrm>
          <a:prstGeom prst="rect">
            <a:avLst/>
          </a:prstGeom>
        </p:spPr>
      </p:pic>
      <p:sp>
        <p:nvSpPr>
          <p:cNvPr id="48" name="object 48"/>
          <p:cNvSpPr txBox="1"/>
          <p:nvPr/>
        </p:nvSpPr>
        <p:spPr>
          <a:xfrm>
            <a:off x="5566350" y="4626694"/>
            <a:ext cx="381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b="1" spc="-20" dirty="0">
                <a:solidFill>
                  <a:srgbClr val="93C37C"/>
                </a:solidFill>
                <a:latin typeface="Arial"/>
                <a:cs typeface="Arial"/>
              </a:rPr>
              <a:t>bias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19227" y="1928524"/>
            <a:ext cx="5303520" cy="880744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16025" marR="5080" indent="-1203960">
              <a:lnSpc>
                <a:spcPct val="100400"/>
              </a:lnSpc>
              <a:spcBef>
                <a:spcPts val="85"/>
              </a:spcBef>
            </a:pPr>
            <a:r>
              <a:rPr b="1" dirty="0">
                <a:latin typeface="Roboto"/>
                <a:cs typeface="Roboto"/>
              </a:rPr>
              <a:t>How</a:t>
            </a:r>
            <a:r>
              <a:rPr b="1" spc="-25" dirty="0">
                <a:latin typeface="Roboto"/>
                <a:cs typeface="Roboto"/>
              </a:rPr>
              <a:t> </a:t>
            </a:r>
            <a:r>
              <a:rPr b="1" dirty="0">
                <a:latin typeface="Roboto"/>
                <a:cs typeface="Roboto"/>
              </a:rPr>
              <a:t>do</a:t>
            </a:r>
            <a:r>
              <a:rPr b="1" spc="-25" dirty="0">
                <a:latin typeface="Roboto"/>
                <a:cs typeface="Roboto"/>
              </a:rPr>
              <a:t> </a:t>
            </a:r>
            <a:r>
              <a:rPr b="1" dirty="0">
                <a:latin typeface="Roboto"/>
                <a:cs typeface="Roboto"/>
              </a:rPr>
              <a:t>we</a:t>
            </a:r>
            <a:r>
              <a:rPr b="1" spc="-25" dirty="0">
                <a:latin typeface="Roboto"/>
                <a:cs typeface="Roboto"/>
              </a:rPr>
              <a:t> </a:t>
            </a:r>
            <a:r>
              <a:rPr b="1" dirty="0">
                <a:latin typeface="Roboto"/>
                <a:cs typeface="Roboto"/>
              </a:rPr>
              <a:t>build</a:t>
            </a:r>
            <a:r>
              <a:rPr b="1" spc="-20" dirty="0">
                <a:latin typeface="Roboto"/>
                <a:cs typeface="Roboto"/>
              </a:rPr>
              <a:t> </a:t>
            </a:r>
            <a:r>
              <a:rPr b="1" dirty="0">
                <a:latin typeface="Roboto"/>
                <a:cs typeface="Roboto"/>
              </a:rPr>
              <a:t>neural</a:t>
            </a:r>
            <a:r>
              <a:rPr b="1" spc="-25" dirty="0">
                <a:latin typeface="Roboto"/>
                <a:cs typeface="Roboto"/>
              </a:rPr>
              <a:t> </a:t>
            </a:r>
            <a:r>
              <a:rPr b="1" spc="-10" dirty="0">
                <a:latin typeface="Roboto"/>
                <a:cs typeface="Roboto"/>
              </a:rPr>
              <a:t>networks </a:t>
            </a:r>
            <a:r>
              <a:rPr b="1" dirty="0">
                <a:latin typeface="Roboto"/>
                <a:cs typeface="Roboto"/>
              </a:rPr>
              <a:t>with</a:t>
            </a:r>
            <a:r>
              <a:rPr b="1" spc="-75" dirty="0">
                <a:latin typeface="Roboto"/>
                <a:cs typeface="Roboto"/>
              </a:rPr>
              <a:t> </a:t>
            </a:r>
            <a:r>
              <a:rPr b="1" spc="-10" dirty="0">
                <a:latin typeface="Roboto"/>
                <a:cs typeface="Roboto"/>
              </a:rPr>
              <a:t>perceptrons?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Perceptron</a:t>
            </a:r>
            <a:r>
              <a:rPr spc="-150" dirty="0"/>
              <a:t> </a:t>
            </a:r>
            <a:r>
              <a:rPr dirty="0"/>
              <a:t>Diagram</a:t>
            </a:r>
            <a:r>
              <a:rPr spc="-150" dirty="0"/>
              <a:t> </a:t>
            </a:r>
            <a:r>
              <a:rPr spc="-10" dirty="0"/>
              <a:t>Simplified</a:t>
            </a:r>
          </a:p>
        </p:txBody>
      </p:sp>
      <p:sp>
        <p:nvSpPr>
          <p:cNvPr id="3" name="object 3"/>
          <p:cNvSpPr/>
          <p:nvPr/>
        </p:nvSpPr>
        <p:spPr>
          <a:xfrm>
            <a:off x="4782286" y="1585239"/>
            <a:ext cx="516890" cy="1109345"/>
          </a:xfrm>
          <a:custGeom>
            <a:avLst/>
            <a:gdLst/>
            <a:ahLst/>
            <a:cxnLst/>
            <a:rect l="l" t="t" r="r" b="b"/>
            <a:pathLst>
              <a:path w="516889" h="1109345">
                <a:moveTo>
                  <a:pt x="500392" y="867194"/>
                </a:moveTo>
                <a:lnTo>
                  <a:pt x="495706" y="819734"/>
                </a:lnTo>
                <a:lnTo>
                  <a:pt x="481977" y="774547"/>
                </a:lnTo>
                <a:lnTo>
                  <a:pt x="459727" y="732878"/>
                </a:lnTo>
                <a:lnTo>
                  <a:pt x="429501" y="695998"/>
                </a:lnTo>
                <a:lnTo>
                  <a:pt x="392620" y="665772"/>
                </a:lnTo>
                <a:lnTo>
                  <a:pt x="350951" y="643521"/>
                </a:lnTo>
                <a:lnTo>
                  <a:pt x="305752" y="629780"/>
                </a:lnTo>
                <a:lnTo>
                  <a:pt x="258292" y="625094"/>
                </a:lnTo>
                <a:lnTo>
                  <a:pt x="209511" y="630008"/>
                </a:lnTo>
                <a:lnTo>
                  <a:pt x="164058" y="644118"/>
                </a:lnTo>
                <a:lnTo>
                  <a:pt x="122936" y="666432"/>
                </a:lnTo>
                <a:lnTo>
                  <a:pt x="87109" y="695998"/>
                </a:lnTo>
                <a:lnTo>
                  <a:pt x="57543" y="731824"/>
                </a:lnTo>
                <a:lnTo>
                  <a:pt x="35229" y="772960"/>
                </a:lnTo>
                <a:lnTo>
                  <a:pt x="21120" y="818400"/>
                </a:lnTo>
                <a:lnTo>
                  <a:pt x="16192" y="867194"/>
                </a:lnTo>
                <a:lnTo>
                  <a:pt x="21120" y="915974"/>
                </a:lnTo>
                <a:lnTo>
                  <a:pt x="35229" y="961415"/>
                </a:lnTo>
                <a:lnTo>
                  <a:pt x="57543" y="1002538"/>
                </a:lnTo>
                <a:lnTo>
                  <a:pt x="87109" y="1038377"/>
                </a:lnTo>
                <a:lnTo>
                  <a:pt x="122936" y="1067943"/>
                </a:lnTo>
                <a:lnTo>
                  <a:pt x="164058" y="1090256"/>
                </a:lnTo>
                <a:lnTo>
                  <a:pt x="209511" y="1104366"/>
                </a:lnTo>
                <a:lnTo>
                  <a:pt x="258292" y="1109281"/>
                </a:lnTo>
                <a:lnTo>
                  <a:pt x="307098" y="1104366"/>
                </a:lnTo>
                <a:lnTo>
                  <a:pt x="352539" y="1090256"/>
                </a:lnTo>
                <a:lnTo>
                  <a:pt x="393661" y="1067943"/>
                </a:lnTo>
                <a:lnTo>
                  <a:pt x="429488" y="1038377"/>
                </a:lnTo>
                <a:lnTo>
                  <a:pt x="459054" y="1002538"/>
                </a:lnTo>
                <a:lnTo>
                  <a:pt x="481368" y="961415"/>
                </a:lnTo>
                <a:lnTo>
                  <a:pt x="495477" y="915974"/>
                </a:lnTo>
                <a:lnTo>
                  <a:pt x="500392" y="867194"/>
                </a:lnTo>
                <a:close/>
              </a:path>
              <a:path w="516889" h="1109345">
                <a:moveTo>
                  <a:pt x="516597" y="258292"/>
                </a:moveTo>
                <a:lnTo>
                  <a:pt x="511594" y="207670"/>
                </a:lnTo>
                <a:lnTo>
                  <a:pt x="496938" y="159448"/>
                </a:lnTo>
                <a:lnTo>
                  <a:pt x="473202" y="114985"/>
                </a:lnTo>
                <a:lnTo>
                  <a:pt x="440944" y="75653"/>
                </a:lnTo>
                <a:lnTo>
                  <a:pt x="401599" y="43395"/>
                </a:lnTo>
                <a:lnTo>
                  <a:pt x="357136" y="19659"/>
                </a:lnTo>
                <a:lnTo>
                  <a:pt x="308927" y="5003"/>
                </a:lnTo>
                <a:lnTo>
                  <a:pt x="258292" y="0"/>
                </a:lnTo>
                <a:lnTo>
                  <a:pt x="211874" y="4152"/>
                </a:lnTo>
                <a:lnTo>
                  <a:pt x="168173" y="16154"/>
                </a:lnTo>
                <a:lnTo>
                  <a:pt x="127927" y="35255"/>
                </a:lnTo>
                <a:lnTo>
                  <a:pt x="91884" y="60744"/>
                </a:lnTo>
                <a:lnTo>
                  <a:pt x="60744" y="91871"/>
                </a:lnTo>
                <a:lnTo>
                  <a:pt x="35267" y="127927"/>
                </a:lnTo>
                <a:lnTo>
                  <a:pt x="16154" y="168160"/>
                </a:lnTo>
                <a:lnTo>
                  <a:pt x="4165" y="211861"/>
                </a:lnTo>
                <a:lnTo>
                  <a:pt x="0" y="258292"/>
                </a:lnTo>
                <a:lnTo>
                  <a:pt x="4165" y="304723"/>
                </a:lnTo>
                <a:lnTo>
                  <a:pt x="16154" y="348424"/>
                </a:lnTo>
                <a:lnTo>
                  <a:pt x="35267" y="388658"/>
                </a:lnTo>
                <a:lnTo>
                  <a:pt x="60744" y="424713"/>
                </a:lnTo>
                <a:lnTo>
                  <a:pt x="91884" y="455841"/>
                </a:lnTo>
                <a:lnTo>
                  <a:pt x="127927" y="481330"/>
                </a:lnTo>
                <a:lnTo>
                  <a:pt x="168173" y="500430"/>
                </a:lnTo>
                <a:lnTo>
                  <a:pt x="211874" y="512432"/>
                </a:lnTo>
                <a:lnTo>
                  <a:pt x="258292" y="516597"/>
                </a:lnTo>
                <a:lnTo>
                  <a:pt x="304723" y="512432"/>
                </a:lnTo>
                <a:lnTo>
                  <a:pt x="348424" y="500430"/>
                </a:lnTo>
                <a:lnTo>
                  <a:pt x="388658" y="481330"/>
                </a:lnTo>
                <a:lnTo>
                  <a:pt x="424713" y="455841"/>
                </a:lnTo>
                <a:lnTo>
                  <a:pt x="455841" y="424713"/>
                </a:lnTo>
                <a:lnTo>
                  <a:pt x="481330" y="388658"/>
                </a:lnTo>
                <a:lnTo>
                  <a:pt x="500430" y="348424"/>
                </a:lnTo>
                <a:lnTo>
                  <a:pt x="512432" y="304723"/>
                </a:lnTo>
                <a:lnTo>
                  <a:pt x="516597" y="258292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920729" y="1718938"/>
            <a:ext cx="240029" cy="847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350" baseline="-30864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40"/>
              </a:spcBef>
            </a:pPr>
            <a:endParaRPr sz="90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798490" y="2803019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10" y="479280"/>
                </a:lnTo>
                <a:lnTo>
                  <a:pt x="147866" y="465172"/>
                </a:lnTo>
                <a:lnTo>
                  <a:pt x="106742" y="442850"/>
                </a:lnTo>
                <a:lnTo>
                  <a:pt x="70912" y="413286"/>
                </a:lnTo>
                <a:lnTo>
                  <a:pt x="41348" y="377456"/>
                </a:lnTo>
                <a:lnTo>
                  <a:pt x="19026" y="336332"/>
                </a:lnTo>
                <a:lnTo>
                  <a:pt x="4918" y="290888"/>
                </a:lnTo>
                <a:lnTo>
                  <a:pt x="0" y="242099"/>
                </a:lnTo>
                <a:lnTo>
                  <a:pt x="4918" y="193310"/>
                </a:lnTo>
                <a:lnTo>
                  <a:pt x="19026" y="147866"/>
                </a:lnTo>
                <a:lnTo>
                  <a:pt x="41348" y="106742"/>
                </a:lnTo>
                <a:lnTo>
                  <a:pt x="70927" y="70899"/>
                </a:lnTo>
                <a:lnTo>
                  <a:pt x="106742" y="41348"/>
                </a:lnTo>
                <a:lnTo>
                  <a:pt x="147866" y="19026"/>
                </a:lnTo>
                <a:lnTo>
                  <a:pt x="193310" y="4918"/>
                </a:lnTo>
                <a:lnTo>
                  <a:pt x="242099" y="0"/>
                </a:lnTo>
                <a:lnTo>
                  <a:pt x="289559" y="4693"/>
                </a:lnTo>
                <a:lnTo>
                  <a:pt x="334758" y="18424"/>
                </a:lnTo>
                <a:lnTo>
                  <a:pt x="376427" y="40668"/>
                </a:lnTo>
                <a:lnTo>
                  <a:pt x="413309" y="70912"/>
                </a:lnTo>
                <a:lnTo>
                  <a:pt x="443530" y="107774"/>
                </a:lnTo>
                <a:lnTo>
                  <a:pt x="465774" y="149449"/>
                </a:lnTo>
                <a:lnTo>
                  <a:pt x="479505" y="194649"/>
                </a:lnTo>
                <a:lnTo>
                  <a:pt x="484199" y="242099"/>
                </a:lnTo>
                <a:lnTo>
                  <a:pt x="479281" y="290888"/>
                </a:lnTo>
                <a:lnTo>
                  <a:pt x="465176" y="336332"/>
                </a:lnTo>
                <a:lnTo>
                  <a:pt x="442856" y="377456"/>
                </a:lnTo>
                <a:lnTo>
                  <a:pt x="413296" y="413286"/>
                </a:lnTo>
                <a:lnTo>
                  <a:pt x="377467" y="442850"/>
                </a:lnTo>
                <a:lnTo>
                  <a:pt x="336342" y="465172"/>
                </a:lnTo>
                <a:lnTo>
                  <a:pt x="290895" y="479280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933432" y="2920528"/>
            <a:ext cx="21462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489587" y="2783669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10" y="479280"/>
                </a:lnTo>
                <a:lnTo>
                  <a:pt x="147866" y="465172"/>
                </a:lnTo>
                <a:lnTo>
                  <a:pt x="106742" y="442850"/>
                </a:lnTo>
                <a:lnTo>
                  <a:pt x="70912" y="413286"/>
                </a:lnTo>
                <a:lnTo>
                  <a:pt x="41348" y="377456"/>
                </a:lnTo>
                <a:lnTo>
                  <a:pt x="19026" y="336332"/>
                </a:lnTo>
                <a:lnTo>
                  <a:pt x="4918" y="290888"/>
                </a:lnTo>
                <a:lnTo>
                  <a:pt x="0" y="242099"/>
                </a:lnTo>
                <a:lnTo>
                  <a:pt x="4918" y="193310"/>
                </a:lnTo>
                <a:lnTo>
                  <a:pt x="19026" y="147866"/>
                </a:lnTo>
                <a:lnTo>
                  <a:pt x="41348" y="106742"/>
                </a:lnTo>
                <a:lnTo>
                  <a:pt x="70927" y="70899"/>
                </a:lnTo>
                <a:lnTo>
                  <a:pt x="106742" y="41348"/>
                </a:lnTo>
                <a:lnTo>
                  <a:pt x="147866" y="19026"/>
                </a:lnTo>
                <a:lnTo>
                  <a:pt x="193310" y="4918"/>
                </a:lnTo>
                <a:lnTo>
                  <a:pt x="242099" y="0"/>
                </a:lnTo>
                <a:lnTo>
                  <a:pt x="289559" y="4693"/>
                </a:lnTo>
                <a:lnTo>
                  <a:pt x="334758" y="18424"/>
                </a:lnTo>
                <a:lnTo>
                  <a:pt x="376427" y="40668"/>
                </a:lnTo>
                <a:lnTo>
                  <a:pt x="413309" y="70912"/>
                </a:lnTo>
                <a:lnTo>
                  <a:pt x="443530" y="107774"/>
                </a:lnTo>
                <a:lnTo>
                  <a:pt x="465774" y="149449"/>
                </a:lnTo>
                <a:lnTo>
                  <a:pt x="479505" y="194649"/>
                </a:lnTo>
                <a:lnTo>
                  <a:pt x="484199" y="242099"/>
                </a:lnTo>
                <a:lnTo>
                  <a:pt x="479281" y="290888"/>
                </a:lnTo>
                <a:lnTo>
                  <a:pt x="465176" y="336332"/>
                </a:lnTo>
                <a:lnTo>
                  <a:pt x="442856" y="377456"/>
                </a:lnTo>
                <a:lnTo>
                  <a:pt x="413296" y="413286"/>
                </a:lnTo>
                <a:lnTo>
                  <a:pt x="377467" y="442850"/>
                </a:lnTo>
                <a:lnTo>
                  <a:pt x="336342" y="465172"/>
                </a:lnTo>
                <a:lnTo>
                  <a:pt x="290895" y="479280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0097A7">
              <a:alpha val="4823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633526" y="2865814"/>
            <a:ext cx="1555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40" dirty="0">
                <a:solidFill>
                  <a:srgbClr val="FFFFFF"/>
                </a:solidFill>
                <a:latin typeface="Roboto"/>
                <a:cs typeface="Roboto"/>
              </a:rPr>
              <a:t>&gt;</a:t>
            </a:r>
            <a:endParaRPr sz="1800">
              <a:latin typeface="Roboto"/>
              <a:cs typeface="Robo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273164" y="1834001"/>
            <a:ext cx="1445260" cy="1235075"/>
            <a:chOff x="5273164" y="1834001"/>
            <a:chExt cx="1445260" cy="1235075"/>
          </a:xfrm>
        </p:grpSpPr>
        <p:sp>
          <p:nvSpPr>
            <p:cNvPr id="10" name="object 10"/>
            <p:cNvSpPr/>
            <p:nvPr/>
          </p:nvSpPr>
          <p:spPr>
            <a:xfrm>
              <a:off x="5298889" y="1843526"/>
              <a:ext cx="1337310" cy="877569"/>
            </a:xfrm>
            <a:custGeom>
              <a:avLst/>
              <a:gdLst/>
              <a:ahLst/>
              <a:cxnLst/>
              <a:rect l="l" t="t" r="r" b="b"/>
              <a:pathLst>
                <a:path w="1337309" h="877569">
                  <a:moveTo>
                    <a:pt x="0" y="0"/>
                  </a:moveTo>
                  <a:lnTo>
                    <a:pt x="1337247" y="877493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09336" y="2685194"/>
              <a:ext cx="108599" cy="9277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282689" y="3027743"/>
              <a:ext cx="1092835" cy="17780"/>
            </a:xfrm>
            <a:custGeom>
              <a:avLst/>
              <a:gdLst/>
              <a:ahLst/>
              <a:cxnLst/>
              <a:rect l="l" t="t" r="r" b="b"/>
              <a:pathLst>
                <a:path w="1092835" h="17780">
                  <a:moveTo>
                    <a:pt x="0" y="17374"/>
                  </a:moveTo>
                  <a:lnTo>
                    <a:pt x="1092622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65286" y="2986743"/>
              <a:ext cx="105974" cy="8197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282689" y="2452422"/>
              <a:ext cx="1169035" cy="368300"/>
            </a:xfrm>
            <a:custGeom>
              <a:avLst/>
              <a:gdLst/>
              <a:ahLst/>
              <a:cxnLst/>
              <a:rect l="l" t="t" r="r" b="b"/>
              <a:pathLst>
                <a:path w="1169035" h="368300">
                  <a:moveTo>
                    <a:pt x="0" y="0"/>
                  </a:moveTo>
                  <a:lnTo>
                    <a:pt x="1168672" y="367971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32386" y="2780844"/>
              <a:ext cx="110974" cy="79099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4763896" y="1154189"/>
            <a:ext cx="5588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AA3F"/>
                </a:solidFill>
                <a:latin typeface="Arial"/>
                <a:cs typeface="Arial"/>
              </a:rPr>
              <a:t>inputs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01816" y="1154189"/>
            <a:ext cx="6877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77909C"/>
                </a:solidFill>
                <a:latin typeface="Arial"/>
                <a:cs typeface="Arial"/>
              </a:rPr>
              <a:t>weights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 rot="1980000">
            <a:off x="5678984" y="1913812"/>
            <a:ext cx="266211" cy="210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55"/>
              </a:lnSpc>
            </a:pPr>
            <a:r>
              <a:rPr sz="1400" b="1" spc="-185" dirty="0">
                <a:solidFill>
                  <a:srgbClr val="77909C"/>
                </a:solidFill>
                <a:latin typeface="Tahoma"/>
                <a:cs typeface="Tahoma"/>
              </a:rPr>
              <a:t>w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 rot="1980000">
            <a:off x="5764689" y="2090340"/>
            <a:ext cx="163257" cy="1143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900" b="1" spc="-114" dirty="0">
                <a:solidFill>
                  <a:srgbClr val="77909C"/>
                </a:solidFill>
                <a:latin typeface="Tahoma"/>
                <a:cs typeface="Tahoma"/>
              </a:rPr>
              <a:t>0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563484" y="2742803"/>
            <a:ext cx="276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77909C"/>
                </a:solidFill>
                <a:latin typeface="Tahoma"/>
                <a:cs typeface="Tahoma"/>
              </a:rPr>
              <a:t>w</a:t>
            </a:r>
            <a:r>
              <a:rPr sz="1350" b="1" spc="-37" baseline="-33950" dirty="0">
                <a:solidFill>
                  <a:srgbClr val="77909C"/>
                </a:solidFill>
                <a:latin typeface="Tahoma"/>
                <a:cs typeface="Tahoma"/>
              </a:rPr>
              <a:t>2</a:t>
            </a:r>
            <a:endParaRPr sz="1350" baseline="-3395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 rot="20700000">
            <a:off x="5547371" y="3190355"/>
            <a:ext cx="266749" cy="212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75"/>
              </a:lnSpc>
            </a:pPr>
            <a:r>
              <a:rPr sz="1400" b="1" spc="-185" dirty="0">
                <a:solidFill>
                  <a:srgbClr val="77909C"/>
                </a:solidFill>
                <a:latin typeface="Tahoma"/>
                <a:cs typeface="Tahoma"/>
              </a:rPr>
              <a:t>w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 rot="20700000">
            <a:off x="5720507" y="3295897"/>
            <a:ext cx="166183" cy="11430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900" b="1" spc="-70" dirty="0">
                <a:solidFill>
                  <a:srgbClr val="77909C"/>
                </a:solidFill>
                <a:latin typeface="Tahoma"/>
                <a:cs typeface="Tahoma"/>
              </a:rPr>
              <a:t>n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562622" y="1157332"/>
            <a:ext cx="3911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0097A7"/>
                </a:solidFill>
                <a:latin typeface="Arial"/>
                <a:cs typeface="Arial"/>
              </a:rPr>
              <a:t>sum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273164" y="2783669"/>
            <a:ext cx="3550920" cy="1456690"/>
            <a:chOff x="5273164" y="2783669"/>
            <a:chExt cx="3550920" cy="1456690"/>
          </a:xfrm>
        </p:grpSpPr>
        <p:sp>
          <p:nvSpPr>
            <p:cNvPr id="25" name="object 25"/>
            <p:cNvSpPr/>
            <p:nvPr/>
          </p:nvSpPr>
          <p:spPr>
            <a:xfrm>
              <a:off x="6973785" y="3025768"/>
              <a:ext cx="581660" cy="0"/>
            </a:xfrm>
            <a:custGeom>
              <a:avLst/>
              <a:gdLst/>
              <a:ahLst/>
              <a:cxnLst/>
              <a:rect l="l" t="t" r="r" b="b"/>
              <a:pathLst>
                <a:path w="581659">
                  <a:moveTo>
                    <a:pt x="0" y="0"/>
                  </a:moveTo>
                  <a:lnTo>
                    <a:pt x="5812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555034" y="301004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49"/>
                  </a:moveTo>
                  <a:lnTo>
                    <a:pt x="0" y="0"/>
                  </a:lnTo>
                  <a:lnTo>
                    <a:pt x="43224" y="15724"/>
                  </a:lnTo>
                  <a:lnTo>
                    <a:pt x="0" y="314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55034" y="301004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49"/>
                  </a:moveTo>
                  <a:lnTo>
                    <a:pt x="43224" y="15724"/>
                  </a:lnTo>
                  <a:lnTo>
                    <a:pt x="0" y="0"/>
                  </a:lnTo>
                  <a:lnTo>
                    <a:pt x="0" y="314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612184" y="2783669"/>
              <a:ext cx="484505" cy="484505"/>
            </a:xfrm>
            <a:custGeom>
              <a:avLst/>
              <a:gdLst/>
              <a:ahLst/>
              <a:cxnLst/>
              <a:rect l="l" t="t" r="r" b="b"/>
              <a:pathLst>
                <a:path w="484504" h="484504">
                  <a:moveTo>
                    <a:pt x="242099" y="484199"/>
                  </a:moveTo>
                  <a:lnTo>
                    <a:pt x="193310" y="479280"/>
                  </a:lnTo>
                  <a:lnTo>
                    <a:pt x="147866" y="465172"/>
                  </a:lnTo>
                  <a:lnTo>
                    <a:pt x="106742" y="442850"/>
                  </a:lnTo>
                  <a:lnTo>
                    <a:pt x="70912" y="413286"/>
                  </a:lnTo>
                  <a:lnTo>
                    <a:pt x="41348" y="377456"/>
                  </a:lnTo>
                  <a:lnTo>
                    <a:pt x="19026" y="336332"/>
                  </a:lnTo>
                  <a:lnTo>
                    <a:pt x="4918" y="290888"/>
                  </a:lnTo>
                  <a:lnTo>
                    <a:pt x="0" y="242099"/>
                  </a:lnTo>
                  <a:lnTo>
                    <a:pt x="4918" y="193310"/>
                  </a:lnTo>
                  <a:lnTo>
                    <a:pt x="19026" y="147866"/>
                  </a:lnTo>
                  <a:lnTo>
                    <a:pt x="41348" y="106742"/>
                  </a:lnTo>
                  <a:lnTo>
                    <a:pt x="70927" y="70899"/>
                  </a:lnTo>
                  <a:lnTo>
                    <a:pt x="106742" y="41348"/>
                  </a:lnTo>
                  <a:lnTo>
                    <a:pt x="147866" y="19026"/>
                  </a:lnTo>
                  <a:lnTo>
                    <a:pt x="193310" y="4918"/>
                  </a:lnTo>
                  <a:lnTo>
                    <a:pt x="242099" y="0"/>
                  </a:lnTo>
                  <a:lnTo>
                    <a:pt x="289559" y="4693"/>
                  </a:lnTo>
                  <a:lnTo>
                    <a:pt x="334758" y="18424"/>
                  </a:lnTo>
                  <a:lnTo>
                    <a:pt x="376427" y="40668"/>
                  </a:lnTo>
                  <a:lnTo>
                    <a:pt x="413309" y="70912"/>
                  </a:lnTo>
                  <a:lnTo>
                    <a:pt x="443530" y="107774"/>
                  </a:lnTo>
                  <a:lnTo>
                    <a:pt x="465774" y="149449"/>
                  </a:lnTo>
                  <a:lnTo>
                    <a:pt x="479505" y="194649"/>
                  </a:lnTo>
                  <a:lnTo>
                    <a:pt x="484199" y="242099"/>
                  </a:lnTo>
                  <a:lnTo>
                    <a:pt x="479281" y="290888"/>
                  </a:lnTo>
                  <a:lnTo>
                    <a:pt x="465176" y="336332"/>
                  </a:lnTo>
                  <a:lnTo>
                    <a:pt x="442856" y="377456"/>
                  </a:lnTo>
                  <a:lnTo>
                    <a:pt x="413296" y="413286"/>
                  </a:lnTo>
                  <a:lnTo>
                    <a:pt x="377467" y="442850"/>
                  </a:lnTo>
                  <a:lnTo>
                    <a:pt x="336342" y="465172"/>
                  </a:lnTo>
                  <a:lnTo>
                    <a:pt x="290895" y="479280"/>
                  </a:lnTo>
                  <a:lnTo>
                    <a:pt x="242099" y="484199"/>
                  </a:lnTo>
                  <a:close/>
                </a:path>
              </a:pathLst>
            </a:custGeom>
            <a:solidFill>
              <a:srgbClr val="0A2138">
                <a:alpha val="6807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096383" y="3025768"/>
              <a:ext cx="679450" cy="5715"/>
            </a:xfrm>
            <a:custGeom>
              <a:avLst/>
              <a:gdLst/>
              <a:ahLst/>
              <a:cxnLst/>
              <a:rect l="l" t="t" r="r" b="b"/>
              <a:pathLst>
                <a:path w="679450" h="5714">
                  <a:moveTo>
                    <a:pt x="0" y="0"/>
                  </a:moveTo>
                  <a:lnTo>
                    <a:pt x="679348" y="5524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775606" y="301556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74"/>
                  </a:moveTo>
                  <a:lnTo>
                    <a:pt x="249" y="0"/>
                  </a:lnTo>
                  <a:lnTo>
                    <a:pt x="43349" y="16074"/>
                  </a:lnTo>
                  <a:lnTo>
                    <a:pt x="0" y="3147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775606" y="301556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74"/>
                  </a:moveTo>
                  <a:lnTo>
                    <a:pt x="43349" y="16074"/>
                  </a:lnTo>
                  <a:lnTo>
                    <a:pt x="249" y="0"/>
                  </a:lnTo>
                  <a:lnTo>
                    <a:pt x="0" y="3147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732784" y="2907419"/>
              <a:ext cx="243204" cy="243204"/>
            </a:xfrm>
            <a:custGeom>
              <a:avLst/>
              <a:gdLst/>
              <a:ahLst/>
              <a:cxnLst/>
              <a:rect l="l" t="t" r="r" b="b"/>
              <a:pathLst>
                <a:path w="243204" h="243205">
                  <a:moveTo>
                    <a:pt x="242999" y="0"/>
                  </a:moveTo>
                  <a:lnTo>
                    <a:pt x="202657" y="10441"/>
                  </a:lnTo>
                  <a:lnTo>
                    <a:pt x="170859" y="37968"/>
                  </a:lnTo>
                  <a:lnTo>
                    <a:pt x="144755" y="76886"/>
                  </a:lnTo>
                  <a:lnTo>
                    <a:pt x="121499" y="121499"/>
                  </a:lnTo>
                  <a:lnTo>
                    <a:pt x="98243" y="166112"/>
                  </a:lnTo>
                  <a:lnTo>
                    <a:pt x="72140" y="205030"/>
                  </a:lnTo>
                  <a:lnTo>
                    <a:pt x="40341" y="232558"/>
                  </a:lnTo>
                  <a:lnTo>
                    <a:pt x="0" y="242999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282689" y="3331068"/>
              <a:ext cx="1353820" cy="899794"/>
            </a:xfrm>
            <a:custGeom>
              <a:avLst/>
              <a:gdLst/>
              <a:ahLst/>
              <a:cxnLst/>
              <a:rect l="l" t="t" r="r" b="b"/>
              <a:pathLst>
                <a:path w="1353820" h="899795">
                  <a:moveTo>
                    <a:pt x="0" y="899448"/>
                  </a:moveTo>
                  <a:lnTo>
                    <a:pt x="1353797" y="0"/>
                  </a:lnTo>
                </a:path>
              </a:pathLst>
            </a:custGeom>
            <a:ln w="19049">
              <a:solidFill>
                <a:srgbClr val="93C3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09561" y="3273693"/>
              <a:ext cx="108449" cy="93099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7453494" y="1157332"/>
            <a:ext cx="10922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0A2138"/>
                </a:solidFill>
                <a:latin typeface="Arial"/>
                <a:cs typeface="Arial"/>
              </a:rPr>
              <a:t>non-linearity</a:t>
            </a:r>
            <a:endParaRPr sz="14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 rot="19680000">
            <a:off x="5599447" y="3768957"/>
            <a:ext cx="206698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400" b="1" spc="-114" dirty="0">
                <a:solidFill>
                  <a:srgbClr val="93C37C"/>
                </a:solidFill>
                <a:latin typeface="Tahoma"/>
                <a:cs typeface="Tahoma"/>
              </a:rPr>
              <a:t>b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4782290" y="3395718"/>
            <a:ext cx="501015" cy="1076960"/>
            <a:chOff x="4782290" y="3395718"/>
            <a:chExt cx="501015" cy="1076960"/>
          </a:xfrm>
        </p:grpSpPr>
        <p:sp>
          <p:nvSpPr>
            <p:cNvPr id="38" name="object 38"/>
            <p:cNvSpPr/>
            <p:nvPr/>
          </p:nvSpPr>
          <p:spPr>
            <a:xfrm>
              <a:off x="4798490" y="3988417"/>
              <a:ext cx="484505" cy="484505"/>
            </a:xfrm>
            <a:custGeom>
              <a:avLst/>
              <a:gdLst/>
              <a:ahLst/>
              <a:cxnLst/>
              <a:rect l="l" t="t" r="r" b="b"/>
              <a:pathLst>
                <a:path w="484504" h="484504">
                  <a:moveTo>
                    <a:pt x="242099" y="484199"/>
                  </a:moveTo>
                  <a:lnTo>
                    <a:pt x="193310" y="479280"/>
                  </a:lnTo>
                  <a:lnTo>
                    <a:pt x="147866" y="465172"/>
                  </a:lnTo>
                  <a:lnTo>
                    <a:pt x="106742" y="442850"/>
                  </a:lnTo>
                  <a:lnTo>
                    <a:pt x="70912" y="413286"/>
                  </a:lnTo>
                  <a:lnTo>
                    <a:pt x="41348" y="377456"/>
                  </a:lnTo>
                  <a:lnTo>
                    <a:pt x="19026" y="336332"/>
                  </a:lnTo>
                  <a:lnTo>
                    <a:pt x="4918" y="290888"/>
                  </a:lnTo>
                  <a:lnTo>
                    <a:pt x="0" y="242099"/>
                  </a:lnTo>
                  <a:lnTo>
                    <a:pt x="4918" y="193303"/>
                  </a:lnTo>
                  <a:lnTo>
                    <a:pt x="19026" y="147856"/>
                  </a:lnTo>
                  <a:lnTo>
                    <a:pt x="41348" y="106731"/>
                  </a:lnTo>
                  <a:lnTo>
                    <a:pt x="70916" y="70899"/>
                  </a:lnTo>
                  <a:lnTo>
                    <a:pt x="106742" y="41342"/>
                  </a:lnTo>
                  <a:lnTo>
                    <a:pt x="147866" y="19023"/>
                  </a:lnTo>
                  <a:lnTo>
                    <a:pt x="193310" y="4917"/>
                  </a:lnTo>
                  <a:lnTo>
                    <a:pt x="242099" y="0"/>
                  </a:lnTo>
                  <a:lnTo>
                    <a:pt x="289559" y="4693"/>
                  </a:lnTo>
                  <a:lnTo>
                    <a:pt x="334758" y="18424"/>
                  </a:lnTo>
                  <a:lnTo>
                    <a:pt x="376427" y="40668"/>
                  </a:lnTo>
                  <a:lnTo>
                    <a:pt x="413301" y="70902"/>
                  </a:lnTo>
                  <a:lnTo>
                    <a:pt x="443530" y="107771"/>
                  </a:lnTo>
                  <a:lnTo>
                    <a:pt x="465774" y="149440"/>
                  </a:lnTo>
                  <a:lnTo>
                    <a:pt x="479505" y="194639"/>
                  </a:lnTo>
                  <a:lnTo>
                    <a:pt x="484199" y="242099"/>
                  </a:lnTo>
                  <a:lnTo>
                    <a:pt x="479281" y="290888"/>
                  </a:lnTo>
                  <a:lnTo>
                    <a:pt x="465176" y="336332"/>
                  </a:lnTo>
                  <a:lnTo>
                    <a:pt x="442856" y="377456"/>
                  </a:lnTo>
                  <a:lnTo>
                    <a:pt x="413296" y="413286"/>
                  </a:lnTo>
                  <a:lnTo>
                    <a:pt x="377467" y="442850"/>
                  </a:lnTo>
                  <a:lnTo>
                    <a:pt x="336342" y="465172"/>
                  </a:lnTo>
                  <a:lnTo>
                    <a:pt x="290895" y="479280"/>
                  </a:lnTo>
                  <a:lnTo>
                    <a:pt x="242099" y="484199"/>
                  </a:lnTo>
                  <a:close/>
                </a:path>
              </a:pathLst>
            </a:custGeom>
            <a:solidFill>
              <a:srgbClr val="93C3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782290" y="3395718"/>
              <a:ext cx="484505" cy="484505"/>
            </a:xfrm>
            <a:custGeom>
              <a:avLst/>
              <a:gdLst/>
              <a:ahLst/>
              <a:cxnLst/>
              <a:rect l="l" t="t" r="r" b="b"/>
              <a:pathLst>
                <a:path w="484504" h="484504">
                  <a:moveTo>
                    <a:pt x="242099" y="484199"/>
                  </a:moveTo>
                  <a:lnTo>
                    <a:pt x="193310" y="479280"/>
                  </a:lnTo>
                  <a:lnTo>
                    <a:pt x="147866" y="465172"/>
                  </a:lnTo>
                  <a:lnTo>
                    <a:pt x="106742" y="442850"/>
                  </a:lnTo>
                  <a:lnTo>
                    <a:pt x="70912" y="413286"/>
                  </a:lnTo>
                  <a:lnTo>
                    <a:pt x="41348" y="377456"/>
                  </a:lnTo>
                  <a:lnTo>
                    <a:pt x="19026" y="336332"/>
                  </a:lnTo>
                  <a:lnTo>
                    <a:pt x="4918" y="290888"/>
                  </a:lnTo>
                  <a:lnTo>
                    <a:pt x="0" y="242099"/>
                  </a:lnTo>
                  <a:lnTo>
                    <a:pt x="4918" y="193310"/>
                  </a:lnTo>
                  <a:lnTo>
                    <a:pt x="19026" y="147866"/>
                  </a:lnTo>
                  <a:lnTo>
                    <a:pt x="41348" y="106742"/>
                  </a:lnTo>
                  <a:lnTo>
                    <a:pt x="70927" y="70899"/>
                  </a:lnTo>
                  <a:lnTo>
                    <a:pt x="106742" y="41348"/>
                  </a:lnTo>
                  <a:lnTo>
                    <a:pt x="147866" y="19026"/>
                  </a:lnTo>
                  <a:lnTo>
                    <a:pt x="193310" y="4918"/>
                  </a:lnTo>
                  <a:lnTo>
                    <a:pt x="242099" y="0"/>
                  </a:lnTo>
                  <a:lnTo>
                    <a:pt x="289559" y="4693"/>
                  </a:lnTo>
                  <a:lnTo>
                    <a:pt x="334758" y="18424"/>
                  </a:lnTo>
                  <a:lnTo>
                    <a:pt x="376427" y="40668"/>
                  </a:lnTo>
                  <a:lnTo>
                    <a:pt x="413309" y="70912"/>
                  </a:lnTo>
                  <a:lnTo>
                    <a:pt x="443530" y="107771"/>
                  </a:lnTo>
                  <a:lnTo>
                    <a:pt x="465774" y="149440"/>
                  </a:lnTo>
                  <a:lnTo>
                    <a:pt x="479505" y="194639"/>
                  </a:lnTo>
                  <a:lnTo>
                    <a:pt x="484199" y="242099"/>
                  </a:lnTo>
                  <a:lnTo>
                    <a:pt x="479281" y="290888"/>
                  </a:lnTo>
                  <a:lnTo>
                    <a:pt x="465176" y="336332"/>
                  </a:lnTo>
                  <a:lnTo>
                    <a:pt x="442856" y="377456"/>
                  </a:lnTo>
                  <a:lnTo>
                    <a:pt x="413296" y="413286"/>
                  </a:lnTo>
                  <a:lnTo>
                    <a:pt x="377467" y="442850"/>
                  </a:lnTo>
                  <a:lnTo>
                    <a:pt x="336342" y="465172"/>
                  </a:lnTo>
                  <a:lnTo>
                    <a:pt x="290895" y="479280"/>
                  </a:lnTo>
                  <a:lnTo>
                    <a:pt x="242099" y="484199"/>
                  </a:lnTo>
                  <a:close/>
                </a:path>
              </a:pathLst>
            </a:custGeom>
            <a:solidFill>
              <a:srgbClr val="FFAA3F">
                <a:alpha val="5372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4901569" y="3513229"/>
            <a:ext cx="245745" cy="831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endParaRPr sz="1350" baseline="-30864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endParaRPr sz="900">
              <a:latin typeface="Tahoma"/>
              <a:cs typeface="Tahoma"/>
            </a:endParaRPr>
          </a:p>
          <a:p>
            <a:pPr marL="94615">
              <a:lnSpc>
                <a:spcPct val="100000"/>
              </a:lnSpc>
              <a:spcBef>
                <a:spcPts val="5"/>
              </a:spcBef>
            </a:pP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5256964" y="3194368"/>
            <a:ext cx="1287145" cy="453390"/>
            <a:chOff x="5256964" y="3194368"/>
            <a:chExt cx="1287145" cy="453390"/>
          </a:xfrm>
        </p:grpSpPr>
        <p:sp>
          <p:nvSpPr>
            <p:cNvPr id="42" name="object 42"/>
            <p:cNvSpPr/>
            <p:nvPr/>
          </p:nvSpPr>
          <p:spPr>
            <a:xfrm>
              <a:off x="5266489" y="3233693"/>
              <a:ext cx="1186180" cy="404495"/>
            </a:xfrm>
            <a:custGeom>
              <a:avLst/>
              <a:gdLst/>
              <a:ahLst/>
              <a:cxnLst/>
              <a:rect l="l" t="t" r="r" b="b"/>
              <a:pathLst>
                <a:path w="1186179" h="404495">
                  <a:moveTo>
                    <a:pt x="0" y="404124"/>
                  </a:moveTo>
                  <a:lnTo>
                    <a:pt x="1185722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32537" y="3194368"/>
              <a:ext cx="111024" cy="78624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 rot="1020000">
            <a:off x="5587121" y="2318974"/>
            <a:ext cx="266749" cy="210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55"/>
              </a:lnSpc>
            </a:pPr>
            <a:r>
              <a:rPr sz="1400" b="1" spc="-185" dirty="0">
                <a:solidFill>
                  <a:srgbClr val="77909C"/>
                </a:solidFill>
                <a:latin typeface="Tahoma"/>
                <a:cs typeface="Tahoma"/>
              </a:rPr>
              <a:t>w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566350" y="4626694"/>
            <a:ext cx="3816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b="1" spc="-20" dirty="0">
                <a:solidFill>
                  <a:srgbClr val="93C37C"/>
                </a:solidFill>
                <a:latin typeface="Arial"/>
                <a:cs typeface="Arial"/>
              </a:rPr>
              <a:t>bias</a:t>
            </a:r>
            <a:endParaRPr sz="14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 rot="1020000">
            <a:off x="5707044" y="2481151"/>
            <a:ext cx="164093" cy="1143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900" b="1" spc="-110" dirty="0">
                <a:solidFill>
                  <a:srgbClr val="77909C"/>
                </a:solidFill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253707" y="2742203"/>
            <a:ext cx="5784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341C75"/>
                </a:solidFill>
                <a:latin typeface="Arial"/>
                <a:cs typeface="Arial"/>
              </a:rPr>
              <a:t>output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Perceptron</a:t>
            </a:r>
            <a:r>
              <a:rPr spc="-150" dirty="0"/>
              <a:t> </a:t>
            </a:r>
            <a:r>
              <a:rPr dirty="0"/>
              <a:t>Diagram</a:t>
            </a:r>
            <a:r>
              <a:rPr spc="-150" dirty="0"/>
              <a:t> </a:t>
            </a:r>
            <a:r>
              <a:rPr spc="-10" dirty="0"/>
              <a:t>Simplified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88367" y="1159837"/>
            <a:ext cx="5784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6EA8DB"/>
                </a:solidFill>
                <a:latin typeface="Arial"/>
                <a:cs typeface="Arial"/>
              </a:rPr>
              <a:t>output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535236" y="2627419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5">
                <a:moveTo>
                  <a:pt x="242099" y="484199"/>
                </a:moveTo>
                <a:lnTo>
                  <a:pt x="193310" y="479280"/>
                </a:lnTo>
                <a:lnTo>
                  <a:pt x="147866" y="465172"/>
                </a:lnTo>
                <a:lnTo>
                  <a:pt x="106742" y="442850"/>
                </a:lnTo>
                <a:lnTo>
                  <a:pt x="70912" y="413286"/>
                </a:lnTo>
                <a:lnTo>
                  <a:pt x="41348" y="377456"/>
                </a:lnTo>
                <a:lnTo>
                  <a:pt x="19026" y="336332"/>
                </a:lnTo>
                <a:lnTo>
                  <a:pt x="4918" y="290888"/>
                </a:lnTo>
                <a:lnTo>
                  <a:pt x="0" y="242099"/>
                </a:lnTo>
                <a:lnTo>
                  <a:pt x="4918" y="193310"/>
                </a:lnTo>
                <a:lnTo>
                  <a:pt x="19026" y="147866"/>
                </a:lnTo>
                <a:lnTo>
                  <a:pt x="41348" y="106742"/>
                </a:lnTo>
                <a:lnTo>
                  <a:pt x="70927" y="70899"/>
                </a:lnTo>
                <a:lnTo>
                  <a:pt x="106742" y="41348"/>
                </a:lnTo>
                <a:lnTo>
                  <a:pt x="147866" y="19026"/>
                </a:lnTo>
                <a:lnTo>
                  <a:pt x="193310" y="4918"/>
                </a:lnTo>
                <a:lnTo>
                  <a:pt x="242099" y="0"/>
                </a:lnTo>
                <a:lnTo>
                  <a:pt x="289559" y="4693"/>
                </a:lnTo>
                <a:lnTo>
                  <a:pt x="334758" y="18424"/>
                </a:lnTo>
                <a:lnTo>
                  <a:pt x="376427" y="40668"/>
                </a:lnTo>
                <a:lnTo>
                  <a:pt x="413309" y="70912"/>
                </a:lnTo>
                <a:lnTo>
                  <a:pt x="443530" y="107774"/>
                </a:lnTo>
                <a:lnTo>
                  <a:pt x="465774" y="149449"/>
                </a:lnTo>
                <a:lnTo>
                  <a:pt x="479505" y="194649"/>
                </a:lnTo>
                <a:lnTo>
                  <a:pt x="484199" y="242099"/>
                </a:lnTo>
                <a:lnTo>
                  <a:pt x="479280" y="290888"/>
                </a:lnTo>
                <a:lnTo>
                  <a:pt x="465172" y="336332"/>
                </a:lnTo>
                <a:lnTo>
                  <a:pt x="442850" y="377456"/>
                </a:lnTo>
                <a:lnTo>
                  <a:pt x="413286" y="413286"/>
                </a:lnTo>
                <a:lnTo>
                  <a:pt x="377456" y="442850"/>
                </a:lnTo>
                <a:lnTo>
                  <a:pt x="336332" y="465172"/>
                </a:lnTo>
                <a:lnTo>
                  <a:pt x="290888" y="479280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6EA8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653779" y="2744935"/>
            <a:ext cx="231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782290" y="1661426"/>
            <a:ext cx="516890" cy="516890"/>
          </a:xfrm>
          <a:custGeom>
            <a:avLst/>
            <a:gdLst/>
            <a:ahLst/>
            <a:cxnLst/>
            <a:rect l="l" t="t" r="r" b="b"/>
            <a:pathLst>
              <a:path w="516889" h="516889">
                <a:moveTo>
                  <a:pt x="258299" y="516598"/>
                </a:moveTo>
                <a:lnTo>
                  <a:pt x="211871" y="512437"/>
                </a:lnTo>
                <a:lnTo>
                  <a:pt x="168172" y="500439"/>
                </a:lnTo>
                <a:lnTo>
                  <a:pt x="127933" y="481333"/>
                </a:lnTo>
                <a:lnTo>
                  <a:pt x="91882" y="455850"/>
                </a:lnTo>
                <a:lnTo>
                  <a:pt x="60750" y="424718"/>
                </a:lnTo>
                <a:lnTo>
                  <a:pt x="35266" y="388668"/>
                </a:lnTo>
                <a:lnTo>
                  <a:pt x="16160" y="348428"/>
                </a:lnTo>
                <a:lnTo>
                  <a:pt x="4161" y="304729"/>
                </a:lnTo>
                <a:lnTo>
                  <a:pt x="0" y="258299"/>
                </a:lnTo>
                <a:lnTo>
                  <a:pt x="4161" y="211869"/>
                </a:lnTo>
                <a:lnTo>
                  <a:pt x="16160" y="168170"/>
                </a:lnTo>
                <a:lnTo>
                  <a:pt x="35266" y="127930"/>
                </a:lnTo>
                <a:lnTo>
                  <a:pt x="60750" y="91880"/>
                </a:lnTo>
                <a:lnTo>
                  <a:pt x="91882" y="60748"/>
                </a:lnTo>
                <a:lnTo>
                  <a:pt x="127933" y="35265"/>
                </a:lnTo>
                <a:lnTo>
                  <a:pt x="168172" y="16159"/>
                </a:lnTo>
                <a:lnTo>
                  <a:pt x="211871" y="4161"/>
                </a:lnTo>
                <a:lnTo>
                  <a:pt x="258299" y="0"/>
                </a:lnTo>
                <a:lnTo>
                  <a:pt x="308923" y="5009"/>
                </a:lnTo>
                <a:lnTo>
                  <a:pt x="357143" y="19662"/>
                </a:lnTo>
                <a:lnTo>
                  <a:pt x="401603" y="43398"/>
                </a:lnTo>
                <a:lnTo>
                  <a:pt x="440949" y="75654"/>
                </a:lnTo>
                <a:lnTo>
                  <a:pt x="473209" y="114995"/>
                </a:lnTo>
                <a:lnTo>
                  <a:pt x="496942" y="159452"/>
                </a:lnTo>
                <a:lnTo>
                  <a:pt x="511591" y="207672"/>
                </a:lnTo>
                <a:lnTo>
                  <a:pt x="516598" y="258299"/>
                </a:lnTo>
                <a:lnTo>
                  <a:pt x="512437" y="304729"/>
                </a:lnTo>
                <a:lnTo>
                  <a:pt x="500438" y="348428"/>
                </a:lnTo>
                <a:lnTo>
                  <a:pt x="481332" y="388668"/>
                </a:lnTo>
                <a:lnTo>
                  <a:pt x="455848" y="424718"/>
                </a:lnTo>
                <a:lnTo>
                  <a:pt x="424716" y="455850"/>
                </a:lnTo>
                <a:lnTo>
                  <a:pt x="388665" y="481333"/>
                </a:lnTo>
                <a:lnTo>
                  <a:pt x="348426" y="500439"/>
                </a:lnTo>
                <a:lnTo>
                  <a:pt x="304727" y="512437"/>
                </a:lnTo>
                <a:lnTo>
                  <a:pt x="258299" y="516598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933429" y="1795138"/>
            <a:ext cx="21462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798490" y="2286523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5">
                <a:moveTo>
                  <a:pt x="242099" y="484196"/>
                </a:moveTo>
                <a:lnTo>
                  <a:pt x="193310" y="479277"/>
                </a:lnTo>
                <a:lnTo>
                  <a:pt x="147866" y="465170"/>
                </a:lnTo>
                <a:lnTo>
                  <a:pt x="106742" y="442847"/>
                </a:lnTo>
                <a:lnTo>
                  <a:pt x="70912" y="413284"/>
                </a:lnTo>
                <a:lnTo>
                  <a:pt x="41348" y="377453"/>
                </a:lnTo>
                <a:lnTo>
                  <a:pt x="19026" y="336329"/>
                </a:lnTo>
                <a:lnTo>
                  <a:pt x="4918" y="290886"/>
                </a:lnTo>
                <a:lnTo>
                  <a:pt x="0" y="242097"/>
                </a:lnTo>
                <a:lnTo>
                  <a:pt x="4918" y="193306"/>
                </a:lnTo>
                <a:lnTo>
                  <a:pt x="19026" y="147862"/>
                </a:lnTo>
                <a:lnTo>
                  <a:pt x="41348" y="106739"/>
                </a:lnTo>
                <a:lnTo>
                  <a:pt x="70912" y="70909"/>
                </a:lnTo>
                <a:lnTo>
                  <a:pt x="106742" y="41346"/>
                </a:lnTo>
                <a:lnTo>
                  <a:pt x="147866" y="19025"/>
                </a:lnTo>
                <a:lnTo>
                  <a:pt x="193310" y="4918"/>
                </a:lnTo>
                <a:lnTo>
                  <a:pt x="242099" y="0"/>
                </a:lnTo>
                <a:lnTo>
                  <a:pt x="289559" y="4694"/>
                </a:lnTo>
                <a:lnTo>
                  <a:pt x="334758" y="18429"/>
                </a:lnTo>
                <a:lnTo>
                  <a:pt x="376427" y="40676"/>
                </a:lnTo>
                <a:lnTo>
                  <a:pt x="413299" y="70909"/>
                </a:lnTo>
                <a:lnTo>
                  <a:pt x="443530" y="107782"/>
                </a:lnTo>
                <a:lnTo>
                  <a:pt x="465774" y="149451"/>
                </a:lnTo>
                <a:lnTo>
                  <a:pt x="479505" y="194646"/>
                </a:lnTo>
                <a:lnTo>
                  <a:pt x="484199" y="242097"/>
                </a:lnTo>
                <a:lnTo>
                  <a:pt x="479281" y="290886"/>
                </a:lnTo>
                <a:lnTo>
                  <a:pt x="465176" y="336329"/>
                </a:lnTo>
                <a:lnTo>
                  <a:pt x="442856" y="377453"/>
                </a:lnTo>
                <a:lnTo>
                  <a:pt x="413296" y="413284"/>
                </a:lnTo>
                <a:lnTo>
                  <a:pt x="377467" y="442847"/>
                </a:lnTo>
                <a:lnTo>
                  <a:pt x="336342" y="465170"/>
                </a:lnTo>
                <a:lnTo>
                  <a:pt x="290895" y="479277"/>
                </a:lnTo>
                <a:lnTo>
                  <a:pt x="242099" y="484196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933432" y="2404036"/>
            <a:ext cx="21462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798490" y="2879219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10" y="479280"/>
                </a:lnTo>
                <a:lnTo>
                  <a:pt x="147866" y="465172"/>
                </a:lnTo>
                <a:lnTo>
                  <a:pt x="106742" y="442850"/>
                </a:lnTo>
                <a:lnTo>
                  <a:pt x="70912" y="413286"/>
                </a:lnTo>
                <a:lnTo>
                  <a:pt x="41348" y="377456"/>
                </a:lnTo>
                <a:lnTo>
                  <a:pt x="19026" y="336332"/>
                </a:lnTo>
                <a:lnTo>
                  <a:pt x="4918" y="290888"/>
                </a:lnTo>
                <a:lnTo>
                  <a:pt x="0" y="242099"/>
                </a:lnTo>
                <a:lnTo>
                  <a:pt x="4918" y="193310"/>
                </a:lnTo>
                <a:lnTo>
                  <a:pt x="19026" y="147866"/>
                </a:lnTo>
                <a:lnTo>
                  <a:pt x="41348" y="106742"/>
                </a:lnTo>
                <a:lnTo>
                  <a:pt x="70927" y="70899"/>
                </a:lnTo>
                <a:lnTo>
                  <a:pt x="106742" y="41348"/>
                </a:lnTo>
                <a:lnTo>
                  <a:pt x="147866" y="19026"/>
                </a:lnTo>
                <a:lnTo>
                  <a:pt x="193310" y="4918"/>
                </a:lnTo>
                <a:lnTo>
                  <a:pt x="242099" y="0"/>
                </a:lnTo>
                <a:lnTo>
                  <a:pt x="289559" y="4693"/>
                </a:lnTo>
                <a:lnTo>
                  <a:pt x="334758" y="18424"/>
                </a:lnTo>
                <a:lnTo>
                  <a:pt x="376427" y="40668"/>
                </a:lnTo>
                <a:lnTo>
                  <a:pt x="413309" y="70912"/>
                </a:lnTo>
                <a:lnTo>
                  <a:pt x="443530" y="107774"/>
                </a:lnTo>
                <a:lnTo>
                  <a:pt x="465774" y="149449"/>
                </a:lnTo>
                <a:lnTo>
                  <a:pt x="479505" y="194649"/>
                </a:lnTo>
                <a:lnTo>
                  <a:pt x="484199" y="242099"/>
                </a:lnTo>
                <a:lnTo>
                  <a:pt x="479281" y="290888"/>
                </a:lnTo>
                <a:lnTo>
                  <a:pt x="465176" y="336332"/>
                </a:lnTo>
                <a:lnTo>
                  <a:pt x="442856" y="377456"/>
                </a:lnTo>
                <a:lnTo>
                  <a:pt x="413296" y="413286"/>
                </a:lnTo>
                <a:lnTo>
                  <a:pt x="377467" y="442850"/>
                </a:lnTo>
                <a:lnTo>
                  <a:pt x="336342" y="465172"/>
                </a:lnTo>
                <a:lnTo>
                  <a:pt x="290895" y="479280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933432" y="2996728"/>
            <a:ext cx="21462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395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1350" baseline="-3395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782290" y="1910201"/>
            <a:ext cx="1740535" cy="2045970"/>
            <a:chOff x="4782290" y="1910201"/>
            <a:chExt cx="1740535" cy="2045970"/>
          </a:xfrm>
        </p:grpSpPr>
        <p:sp>
          <p:nvSpPr>
            <p:cNvPr id="13" name="object 13"/>
            <p:cNvSpPr/>
            <p:nvPr/>
          </p:nvSpPr>
          <p:spPr>
            <a:xfrm>
              <a:off x="5298889" y="1919726"/>
              <a:ext cx="1146175" cy="880744"/>
            </a:xfrm>
            <a:custGeom>
              <a:avLst/>
              <a:gdLst/>
              <a:ahLst/>
              <a:cxnLst/>
              <a:rect l="l" t="t" r="r" b="b"/>
              <a:pathLst>
                <a:path w="1146175" h="880744">
                  <a:moveTo>
                    <a:pt x="0" y="0"/>
                  </a:moveTo>
                  <a:lnTo>
                    <a:pt x="1145672" y="880168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15862" y="2765419"/>
              <a:ext cx="106774" cy="9667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282689" y="2892144"/>
              <a:ext cx="1140460" cy="229235"/>
            </a:xfrm>
            <a:custGeom>
              <a:avLst/>
              <a:gdLst/>
              <a:ahLst/>
              <a:cxnLst/>
              <a:rect l="l" t="t" r="r" b="b"/>
              <a:pathLst>
                <a:path w="1140460" h="229235">
                  <a:moveTo>
                    <a:pt x="0" y="229174"/>
                  </a:moveTo>
                  <a:lnTo>
                    <a:pt x="1140447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07412" y="2851769"/>
              <a:ext cx="109999" cy="8074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282689" y="2528619"/>
              <a:ext cx="1142365" cy="311150"/>
            </a:xfrm>
            <a:custGeom>
              <a:avLst/>
              <a:gdLst/>
              <a:ahLst/>
              <a:cxnLst/>
              <a:rect l="l" t="t" r="r" b="b"/>
              <a:pathLst>
                <a:path w="1142364" h="311150">
                  <a:moveTo>
                    <a:pt x="0" y="0"/>
                  </a:moveTo>
                  <a:lnTo>
                    <a:pt x="1142222" y="310799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07112" y="2799519"/>
              <a:ext cx="110724" cy="79774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782290" y="3471918"/>
              <a:ext cx="484505" cy="484505"/>
            </a:xfrm>
            <a:custGeom>
              <a:avLst/>
              <a:gdLst/>
              <a:ahLst/>
              <a:cxnLst/>
              <a:rect l="l" t="t" r="r" b="b"/>
              <a:pathLst>
                <a:path w="484504" h="484504">
                  <a:moveTo>
                    <a:pt x="242099" y="484199"/>
                  </a:moveTo>
                  <a:lnTo>
                    <a:pt x="193310" y="479280"/>
                  </a:lnTo>
                  <a:lnTo>
                    <a:pt x="147866" y="465172"/>
                  </a:lnTo>
                  <a:lnTo>
                    <a:pt x="106742" y="442850"/>
                  </a:lnTo>
                  <a:lnTo>
                    <a:pt x="70912" y="413286"/>
                  </a:lnTo>
                  <a:lnTo>
                    <a:pt x="41348" y="377456"/>
                  </a:lnTo>
                  <a:lnTo>
                    <a:pt x="19026" y="336332"/>
                  </a:lnTo>
                  <a:lnTo>
                    <a:pt x="4918" y="290888"/>
                  </a:lnTo>
                  <a:lnTo>
                    <a:pt x="0" y="242099"/>
                  </a:lnTo>
                  <a:lnTo>
                    <a:pt x="4918" y="193310"/>
                  </a:lnTo>
                  <a:lnTo>
                    <a:pt x="19026" y="147866"/>
                  </a:lnTo>
                  <a:lnTo>
                    <a:pt x="41348" y="106742"/>
                  </a:lnTo>
                  <a:lnTo>
                    <a:pt x="70927" y="70899"/>
                  </a:lnTo>
                  <a:lnTo>
                    <a:pt x="106742" y="41348"/>
                  </a:lnTo>
                  <a:lnTo>
                    <a:pt x="147866" y="19026"/>
                  </a:lnTo>
                  <a:lnTo>
                    <a:pt x="193310" y="4918"/>
                  </a:lnTo>
                  <a:lnTo>
                    <a:pt x="242099" y="0"/>
                  </a:lnTo>
                  <a:lnTo>
                    <a:pt x="289559" y="4693"/>
                  </a:lnTo>
                  <a:lnTo>
                    <a:pt x="334758" y="18424"/>
                  </a:lnTo>
                  <a:lnTo>
                    <a:pt x="376427" y="40668"/>
                  </a:lnTo>
                  <a:lnTo>
                    <a:pt x="413309" y="70912"/>
                  </a:lnTo>
                  <a:lnTo>
                    <a:pt x="443530" y="107771"/>
                  </a:lnTo>
                  <a:lnTo>
                    <a:pt x="465774" y="149440"/>
                  </a:lnTo>
                  <a:lnTo>
                    <a:pt x="479505" y="194639"/>
                  </a:lnTo>
                  <a:lnTo>
                    <a:pt x="484199" y="242099"/>
                  </a:lnTo>
                  <a:lnTo>
                    <a:pt x="479281" y="290888"/>
                  </a:lnTo>
                  <a:lnTo>
                    <a:pt x="465176" y="336332"/>
                  </a:lnTo>
                  <a:lnTo>
                    <a:pt x="442856" y="377456"/>
                  </a:lnTo>
                  <a:lnTo>
                    <a:pt x="413296" y="413286"/>
                  </a:lnTo>
                  <a:lnTo>
                    <a:pt x="377467" y="442850"/>
                  </a:lnTo>
                  <a:lnTo>
                    <a:pt x="336342" y="465172"/>
                  </a:lnTo>
                  <a:lnTo>
                    <a:pt x="290895" y="479280"/>
                  </a:lnTo>
                  <a:lnTo>
                    <a:pt x="242099" y="484199"/>
                  </a:lnTo>
                  <a:close/>
                </a:path>
              </a:pathLst>
            </a:custGeom>
            <a:solidFill>
              <a:srgbClr val="FFAA3F">
                <a:alpha val="5372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914269" y="3589429"/>
            <a:ext cx="2203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endParaRPr sz="1350" baseline="-30864">
              <a:latin typeface="Tahoma"/>
              <a:cs typeface="Tahom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256964" y="2875419"/>
            <a:ext cx="1264920" cy="848360"/>
            <a:chOff x="5256964" y="2875419"/>
            <a:chExt cx="1264920" cy="848360"/>
          </a:xfrm>
        </p:grpSpPr>
        <p:sp>
          <p:nvSpPr>
            <p:cNvPr id="22" name="object 22"/>
            <p:cNvSpPr/>
            <p:nvPr/>
          </p:nvSpPr>
          <p:spPr>
            <a:xfrm>
              <a:off x="5266489" y="2932844"/>
              <a:ext cx="1174115" cy="781685"/>
            </a:xfrm>
            <a:custGeom>
              <a:avLst/>
              <a:gdLst/>
              <a:ahLst/>
              <a:cxnLst/>
              <a:rect l="l" t="t" r="r" b="b"/>
              <a:pathLst>
                <a:path w="1174114" h="781685">
                  <a:moveTo>
                    <a:pt x="0" y="781173"/>
                  </a:moveTo>
                  <a:lnTo>
                    <a:pt x="1173547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13087" y="2875419"/>
              <a:ext cx="108449" cy="93149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4761377" y="1152187"/>
            <a:ext cx="5588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AA3F"/>
                </a:solidFill>
                <a:latin typeface="Arial"/>
                <a:cs typeface="Arial"/>
              </a:rPr>
              <a:t>inputs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Multi-</a:t>
            </a:r>
            <a:r>
              <a:rPr dirty="0"/>
              <a:t>Output</a:t>
            </a:r>
            <a:r>
              <a:rPr spc="-65" dirty="0"/>
              <a:t> </a:t>
            </a:r>
            <a:r>
              <a:rPr spc="-10" dirty="0"/>
              <a:t>Perceptron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56176" y="1165981"/>
            <a:ext cx="104266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6EA8DB"/>
                </a:solidFill>
                <a:latin typeface="Arial"/>
                <a:cs typeface="Arial"/>
              </a:rPr>
              <a:t>output</a:t>
            </a:r>
            <a:r>
              <a:rPr sz="1400" b="1" spc="-5" dirty="0">
                <a:solidFill>
                  <a:srgbClr val="6EA8DB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6EA8DB"/>
                </a:solidFill>
                <a:latin typeface="Arial"/>
                <a:cs typeface="Arial"/>
              </a:rPr>
              <a:t>layer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535236" y="2310120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5">
                <a:moveTo>
                  <a:pt x="242099" y="484199"/>
                </a:moveTo>
                <a:lnTo>
                  <a:pt x="193310" y="479280"/>
                </a:lnTo>
                <a:lnTo>
                  <a:pt x="147866" y="465172"/>
                </a:lnTo>
                <a:lnTo>
                  <a:pt x="106742" y="442850"/>
                </a:lnTo>
                <a:lnTo>
                  <a:pt x="70912" y="413286"/>
                </a:lnTo>
                <a:lnTo>
                  <a:pt x="41348" y="377456"/>
                </a:lnTo>
                <a:lnTo>
                  <a:pt x="19026" y="336332"/>
                </a:lnTo>
                <a:lnTo>
                  <a:pt x="4918" y="290888"/>
                </a:lnTo>
                <a:lnTo>
                  <a:pt x="0" y="242099"/>
                </a:lnTo>
                <a:lnTo>
                  <a:pt x="4918" y="193308"/>
                </a:lnTo>
                <a:lnTo>
                  <a:pt x="19026" y="147863"/>
                </a:lnTo>
                <a:lnTo>
                  <a:pt x="41348" y="106739"/>
                </a:lnTo>
                <a:lnTo>
                  <a:pt x="70912" y="70909"/>
                </a:lnTo>
                <a:lnTo>
                  <a:pt x="106742" y="41346"/>
                </a:lnTo>
                <a:lnTo>
                  <a:pt x="147866" y="19025"/>
                </a:lnTo>
                <a:lnTo>
                  <a:pt x="193310" y="4918"/>
                </a:lnTo>
                <a:lnTo>
                  <a:pt x="242099" y="0"/>
                </a:lnTo>
                <a:lnTo>
                  <a:pt x="289559" y="4694"/>
                </a:lnTo>
                <a:lnTo>
                  <a:pt x="334758" y="18429"/>
                </a:lnTo>
                <a:lnTo>
                  <a:pt x="376427" y="40676"/>
                </a:lnTo>
                <a:lnTo>
                  <a:pt x="413299" y="70909"/>
                </a:lnTo>
                <a:lnTo>
                  <a:pt x="443530" y="107782"/>
                </a:lnTo>
                <a:lnTo>
                  <a:pt x="465774" y="149451"/>
                </a:lnTo>
                <a:lnTo>
                  <a:pt x="479505" y="194647"/>
                </a:lnTo>
                <a:lnTo>
                  <a:pt x="484199" y="242099"/>
                </a:lnTo>
                <a:lnTo>
                  <a:pt x="479280" y="290888"/>
                </a:lnTo>
                <a:lnTo>
                  <a:pt x="465172" y="336332"/>
                </a:lnTo>
                <a:lnTo>
                  <a:pt x="442850" y="377456"/>
                </a:lnTo>
                <a:lnTo>
                  <a:pt x="413286" y="413286"/>
                </a:lnTo>
                <a:lnTo>
                  <a:pt x="377456" y="442850"/>
                </a:lnTo>
                <a:lnTo>
                  <a:pt x="336332" y="465172"/>
                </a:lnTo>
                <a:lnTo>
                  <a:pt x="290888" y="479280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6EA8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653779" y="2427629"/>
            <a:ext cx="231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1350" spc="-37" baseline="-33950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350" baseline="-33950" dirty="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782290" y="1661426"/>
            <a:ext cx="516890" cy="516890"/>
          </a:xfrm>
          <a:custGeom>
            <a:avLst/>
            <a:gdLst/>
            <a:ahLst/>
            <a:cxnLst/>
            <a:rect l="l" t="t" r="r" b="b"/>
            <a:pathLst>
              <a:path w="516889" h="516889">
                <a:moveTo>
                  <a:pt x="258299" y="516598"/>
                </a:moveTo>
                <a:lnTo>
                  <a:pt x="211871" y="512437"/>
                </a:lnTo>
                <a:lnTo>
                  <a:pt x="168172" y="500439"/>
                </a:lnTo>
                <a:lnTo>
                  <a:pt x="127933" y="481333"/>
                </a:lnTo>
                <a:lnTo>
                  <a:pt x="91882" y="455850"/>
                </a:lnTo>
                <a:lnTo>
                  <a:pt x="60750" y="424718"/>
                </a:lnTo>
                <a:lnTo>
                  <a:pt x="35266" y="388668"/>
                </a:lnTo>
                <a:lnTo>
                  <a:pt x="16160" y="348428"/>
                </a:lnTo>
                <a:lnTo>
                  <a:pt x="4161" y="304729"/>
                </a:lnTo>
                <a:lnTo>
                  <a:pt x="0" y="258299"/>
                </a:lnTo>
                <a:lnTo>
                  <a:pt x="4161" y="211869"/>
                </a:lnTo>
                <a:lnTo>
                  <a:pt x="16160" y="168170"/>
                </a:lnTo>
                <a:lnTo>
                  <a:pt x="35266" y="127930"/>
                </a:lnTo>
                <a:lnTo>
                  <a:pt x="60750" y="91880"/>
                </a:lnTo>
                <a:lnTo>
                  <a:pt x="91882" y="60748"/>
                </a:lnTo>
                <a:lnTo>
                  <a:pt x="127933" y="35265"/>
                </a:lnTo>
                <a:lnTo>
                  <a:pt x="168172" y="16159"/>
                </a:lnTo>
                <a:lnTo>
                  <a:pt x="211871" y="4161"/>
                </a:lnTo>
                <a:lnTo>
                  <a:pt x="258299" y="0"/>
                </a:lnTo>
                <a:lnTo>
                  <a:pt x="308923" y="5009"/>
                </a:lnTo>
                <a:lnTo>
                  <a:pt x="357143" y="19662"/>
                </a:lnTo>
                <a:lnTo>
                  <a:pt x="401603" y="43398"/>
                </a:lnTo>
                <a:lnTo>
                  <a:pt x="440949" y="75654"/>
                </a:lnTo>
                <a:lnTo>
                  <a:pt x="473209" y="114995"/>
                </a:lnTo>
                <a:lnTo>
                  <a:pt x="496942" y="159452"/>
                </a:lnTo>
                <a:lnTo>
                  <a:pt x="511591" y="207672"/>
                </a:lnTo>
                <a:lnTo>
                  <a:pt x="516598" y="258299"/>
                </a:lnTo>
                <a:lnTo>
                  <a:pt x="512437" y="304729"/>
                </a:lnTo>
                <a:lnTo>
                  <a:pt x="500438" y="348428"/>
                </a:lnTo>
                <a:lnTo>
                  <a:pt x="481332" y="388668"/>
                </a:lnTo>
                <a:lnTo>
                  <a:pt x="455848" y="424718"/>
                </a:lnTo>
                <a:lnTo>
                  <a:pt x="424716" y="455850"/>
                </a:lnTo>
                <a:lnTo>
                  <a:pt x="388665" y="481333"/>
                </a:lnTo>
                <a:lnTo>
                  <a:pt x="348426" y="500439"/>
                </a:lnTo>
                <a:lnTo>
                  <a:pt x="304727" y="512437"/>
                </a:lnTo>
                <a:lnTo>
                  <a:pt x="258299" y="516598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933429" y="1795138"/>
            <a:ext cx="21462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798490" y="2286523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5">
                <a:moveTo>
                  <a:pt x="242099" y="484196"/>
                </a:moveTo>
                <a:lnTo>
                  <a:pt x="193310" y="479277"/>
                </a:lnTo>
                <a:lnTo>
                  <a:pt x="147866" y="465170"/>
                </a:lnTo>
                <a:lnTo>
                  <a:pt x="106742" y="442847"/>
                </a:lnTo>
                <a:lnTo>
                  <a:pt x="70912" y="413284"/>
                </a:lnTo>
                <a:lnTo>
                  <a:pt x="41348" y="377453"/>
                </a:lnTo>
                <a:lnTo>
                  <a:pt x="19026" y="336329"/>
                </a:lnTo>
                <a:lnTo>
                  <a:pt x="4918" y="290886"/>
                </a:lnTo>
                <a:lnTo>
                  <a:pt x="0" y="242097"/>
                </a:lnTo>
                <a:lnTo>
                  <a:pt x="4918" y="193306"/>
                </a:lnTo>
                <a:lnTo>
                  <a:pt x="19026" y="147862"/>
                </a:lnTo>
                <a:lnTo>
                  <a:pt x="41348" y="106739"/>
                </a:lnTo>
                <a:lnTo>
                  <a:pt x="70912" y="70909"/>
                </a:lnTo>
                <a:lnTo>
                  <a:pt x="106742" y="41346"/>
                </a:lnTo>
                <a:lnTo>
                  <a:pt x="147866" y="19025"/>
                </a:lnTo>
                <a:lnTo>
                  <a:pt x="193310" y="4918"/>
                </a:lnTo>
                <a:lnTo>
                  <a:pt x="242099" y="0"/>
                </a:lnTo>
                <a:lnTo>
                  <a:pt x="289559" y="4694"/>
                </a:lnTo>
                <a:lnTo>
                  <a:pt x="334758" y="18429"/>
                </a:lnTo>
                <a:lnTo>
                  <a:pt x="376427" y="40676"/>
                </a:lnTo>
                <a:lnTo>
                  <a:pt x="413299" y="70909"/>
                </a:lnTo>
                <a:lnTo>
                  <a:pt x="443530" y="107782"/>
                </a:lnTo>
                <a:lnTo>
                  <a:pt x="465774" y="149451"/>
                </a:lnTo>
                <a:lnTo>
                  <a:pt x="479505" y="194646"/>
                </a:lnTo>
                <a:lnTo>
                  <a:pt x="484199" y="242097"/>
                </a:lnTo>
                <a:lnTo>
                  <a:pt x="479281" y="290886"/>
                </a:lnTo>
                <a:lnTo>
                  <a:pt x="465176" y="336329"/>
                </a:lnTo>
                <a:lnTo>
                  <a:pt x="442856" y="377453"/>
                </a:lnTo>
                <a:lnTo>
                  <a:pt x="413296" y="413284"/>
                </a:lnTo>
                <a:lnTo>
                  <a:pt x="377467" y="442847"/>
                </a:lnTo>
                <a:lnTo>
                  <a:pt x="336342" y="465170"/>
                </a:lnTo>
                <a:lnTo>
                  <a:pt x="290895" y="479277"/>
                </a:lnTo>
                <a:lnTo>
                  <a:pt x="242099" y="484196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933432" y="2404036"/>
            <a:ext cx="21462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798490" y="2879219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10" y="479280"/>
                </a:lnTo>
                <a:lnTo>
                  <a:pt x="147866" y="465172"/>
                </a:lnTo>
                <a:lnTo>
                  <a:pt x="106742" y="442850"/>
                </a:lnTo>
                <a:lnTo>
                  <a:pt x="70912" y="413286"/>
                </a:lnTo>
                <a:lnTo>
                  <a:pt x="41348" y="377456"/>
                </a:lnTo>
                <a:lnTo>
                  <a:pt x="19026" y="336332"/>
                </a:lnTo>
                <a:lnTo>
                  <a:pt x="4918" y="290888"/>
                </a:lnTo>
                <a:lnTo>
                  <a:pt x="0" y="242099"/>
                </a:lnTo>
                <a:lnTo>
                  <a:pt x="4918" y="193310"/>
                </a:lnTo>
                <a:lnTo>
                  <a:pt x="19026" y="147866"/>
                </a:lnTo>
                <a:lnTo>
                  <a:pt x="41348" y="106742"/>
                </a:lnTo>
                <a:lnTo>
                  <a:pt x="70927" y="70899"/>
                </a:lnTo>
                <a:lnTo>
                  <a:pt x="106742" y="41348"/>
                </a:lnTo>
                <a:lnTo>
                  <a:pt x="147866" y="19026"/>
                </a:lnTo>
                <a:lnTo>
                  <a:pt x="193310" y="4918"/>
                </a:lnTo>
                <a:lnTo>
                  <a:pt x="242099" y="0"/>
                </a:lnTo>
                <a:lnTo>
                  <a:pt x="289559" y="4693"/>
                </a:lnTo>
                <a:lnTo>
                  <a:pt x="334758" y="18424"/>
                </a:lnTo>
                <a:lnTo>
                  <a:pt x="376427" y="40668"/>
                </a:lnTo>
                <a:lnTo>
                  <a:pt x="413309" y="70912"/>
                </a:lnTo>
                <a:lnTo>
                  <a:pt x="443530" y="107774"/>
                </a:lnTo>
                <a:lnTo>
                  <a:pt x="465774" y="149449"/>
                </a:lnTo>
                <a:lnTo>
                  <a:pt x="479505" y="194649"/>
                </a:lnTo>
                <a:lnTo>
                  <a:pt x="484199" y="242099"/>
                </a:lnTo>
                <a:lnTo>
                  <a:pt x="479281" y="290888"/>
                </a:lnTo>
                <a:lnTo>
                  <a:pt x="465176" y="336332"/>
                </a:lnTo>
                <a:lnTo>
                  <a:pt x="442856" y="377456"/>
                </a:lnTo>
                <a:lnTo>
                  <a:pt x="413296" y="413286"/>
                </a:lnTo>
                <a:lnTo>
                  <a:pt x="377467" y="442850"/>
                </a:lnTo>
                <a:lnTo>
                  <a:pt x="336342" y="465172"/>
                </a:lnTo>
                <a:lnTo>
                  <a:pt x="290895" y="479280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933432" y="2996728"/>
            <a:ext cx="21462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395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1350" baseline="-3395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782290" y="1910201"/>
            <a:ext cx="1737995" cy="2045970"/>
            <a:chOff x="4782290" y="1910201"/>
            <a:chExt cx="1737995" cy="2045970"/>
          </a:xfrm>
        </p:grpSpPr>
        <p:sp>
          <p:nvSpPr>
            <p:cNvPr id="13" name="object 13"/>
            <p:cNvSpPr/>
            <p:nvPr/>
          </p:nvSpPr>
          <p:spPr>
            <a:xfrm>
              <a:off x="5298889" y="1919726"/>
              <a:ext cx="1134745" cy="580390"/>
            </a:xfrm>
            <a:custGeom>
              <a:avLst/>
              <a:gdLst/>
              <a:ahLst/>
              <a:cxnLst/>
              <a:rect l="l" t="t" r="r" b="b"/>
              <a:pathLst>
                <a:path w="1134745" h="580389">
                  <a:moveTo>
                    <a:pt x="0" y="0"/>
                  </a:moveTo>
                  <a:lnTo>
                    <a:pt x="1134547" y="580343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09587" y="2462534"/>
              <a:ext cx="110349" cy="8643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282689" y="2599494"/>
              <a:ext cx="1148715" cy="521970"/>
            </a:xfrm>
            <a:custGeom>
              <a:avLst/>
              <a:gdLst/>
              <a:ahLst/>
              <a:cxnLst/>
              <a:rect l="l" t="t" r="r" b="b"/>
              <a:pathLst>
                <a:path w="1148714" h="521969">
                  <a:moveTo>
                    <a:pt x="0" y="521823"/>
                  </a:moveTo>
                  <a:lnTo>
                    <a:pt x="1148447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08587" y="2554219"/>
              <a:ext cx="110774" cy="8344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282689" y="2528619"/>
              <a:ext cx="1138555" cy="21590"/>
            </a:xfrm>
            <a:custGeom>
              <a:avLst/>
              <a:gdLst/>
              <a:ahLst/>
              <a:cxnLst/>
              <a:rect l="l" t="t" r="r" b="b"/>
              <a:pathLst>
                <a:path w="1138554" h="21589">
                  <a:moveTo>
                    <a:pt x="0" y="0"/>
                  </a:moveTo>
                  <a:lnTo>
                    <a:pt x="1138222" y="21549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0787" y="2509169"/>
              <a:ext cx="106074" cy="81974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782290" y="3471918"/>
              <a:ext cx="484505" cy="484505"/>
            </a:xfrm>
            <a:custGeom>
              <a:avLst/>
              <a:gdLst/>
              <a:ahLst/>
              <a:cxnLst/>
              <a:rect l="l" t="t" r="r" b="b"/>
              <a:pathLst>
                <a:path w="484504" h="484504">
                  <a:moveTo>
                    <a:pt x="242099" y="484199"/>
                  </a:moveTo>
                  <a:lnTo>
                    <a:pt x="193310" y="479280"/>
                  </a:lnTo>
                  <a:lnTo>
                    <a:pt x="147866" y="465172"/>
                  </a:lnTo>
                  <a:lnTo>
                    <a:pt x="106742" y="442850"/>
                  </a:lnTo>
                  <a:lnTo>
                    <a:pt x="70912" y="413286"/>
                  </a:lnTo>
                  <a:lnTo>
                    <a:pt x="41348" y="377456"/>
                  </a:lnTo>
                  <a:lnTo>
                    <a:pt x="19026" y="336332"/>
                  </a:lnTo>
                  <a:lnTo>
                    <a:pt x="4918" y="290888"/>
                  </a:lnTo>
                  <a:lnTo>
                    <a:pt x="0" y="242099"/>
                  </a:lnTo>
                  <a:lnTo>
                    <a:pt x="4918" y="193310"/>
                  </a:lnTo>
                  <a:lnTo>
                    <a:pt x="19026" y="147866"/>
                  </a:lnTo>
                  <a:lnTo>
                    <a:pt x="41348" y="106742"/>
                  </a:lnTo>
                  <a:lnTo>
                    <a:pt x="70927" y="70899"/>
                  </a:lnTo>
                  <a:lnTo>
                    <a:pt x="106742" y="41348"/>
                  </a:lnTo>
                  <a:lnTo>
                    <a:pt x="147866" y="19026"/>
                  </a:lnTo>
                  <a:lnTo>
                    <a:pt x="193310" y="4918"/>
                  </a:lnTo>
                  <a:lnTo>
                    <a:pt x="242099" y="0"/>
                  </a:lnTo>
                  <a:lnTo>
                    <a:pt x="289559" y="4693"/>
                  </a:lnTo>
                  <a:lnTo>
                    <a:pt x="334758" y="18424"/>
                  </a:lnTo>
                  <a:lnTo>
                    <a:pt x="376427" y="40668"/>
                  </a:lnTo>
                  <a:lnTo>
                    <a:pt x="413309" y="70912"/>
                  </a:lnTo>
                  <a:lnTo>
                    <a:pt x="443530" y="107771"/>
                  </a:lnTo>
                  <a:lnTo>
                    <a:pt x="465774" y="149440"/>
                  </a:lnTo>
                  <a:lnTo>
                    <a:pt x="479505" y="194639"/>
                  </a:lnTo>
                  <a:lnTo>
                    <a:pt x="484199" y="242099"/>
                  </a:lnTo>
                  <a:lnTo>
                    <a:pt x="479281" y="290888"/>
                  </a:lnTo>
                  <a:lnTo>
                    <a:pt x="465176" y="336332"/>
                  </a:lnTo>
                  <a:lnTo>
                    <a:pt x="442856" y="377456"/>
                  </a:lnTo>
                  <a:lnTo>
                    <a:pt x="413296" y="413286"/>
                  </a:lnTo>
                  <a:lnTo>
                    <a:pt x="377467" y="442850"/>
                  </a:lnTo>
                  <a:lnTo>
                    <a:pt x="336342" y="465172"/>
                  </a:lnTo>
                  <a:lnTo>
                    <a:pt x="290895" y="479280"/>
                  </a:lnTo>
                  <a:lnTo>
                    <a:pt x="242099" y="484199"/>
                  </a:lnTo>
                  <a:close/>
                </a:path>
              </a:pathLst>
            </a:custGeom>
            <a:solidFill>
              <a:srgbClr val="FFAA3F">
                <a:alpha val="5372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914269" y="3589429"/>
            <a:ext cx="2203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endParaRPr sz="1350" baseline="-30864">
              <a:latin typeface="Tahoma"/>
              <a:cs typeface="Tahom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256964" y="2561394"/>
            <a:ext cx="1762760" cy="1162685"/>
            <a:chOff x="5256964" y="2561394"/>
            <a:chExt cx="1762760" cy="1162685"/>
          </a:xfrm>
        </p:grpSpPr>
        <p:sp>
          <p:nvSpPr>
            <p:cNvPr id="22" name="object 22"/>
            <p:cNvSpPr/>
            <p:nvPr/>
          </p:nvSpPr>
          <p:spPr>
            <a:xfrm>
              <a:off x="5266489" y="2629319"/>
              <a:ext cx="1184910" cy="1085215"/>
            </a:xfrm>
            <a:custGeom>
              <a:avLst/>
              <a:gdLst/>
              <a:ahLst/>
              <a:cxnLst/>
              <a:rect l="l" t="t" r="r" b="b"/>
              <a:pathLst>
                <a:path w="1184910" h="1085214">
                  <a:moveTo>
                    <a:pt x="0" y="1084697"/>
                  </a:moveTo>
                  <a:lnTo>
                    <a:pt x="1184422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20137" y="2561394"/>
              <a:ext cx="104049" cy="10064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6535237" y="2890969"/>
              <a:ext cx="484505" cy="484505"/>
            </a:xfrm>
            <a:custGeom>
              <a:avLst/>
              <a:gdLst/>
              <a:ahLst/>
              <a:cxnLst/>
              <a:rect l="l" t="t" r="r" b="b"/>
              <a:pathLst>
                <a:path w="484504" h="484504">
                  <a:moveTo>
                    <a:pt x="242099" y="484199"/>
                  </a:moveTo>
                  <a:lnTo>
                    <a:pt x="193310" y="479280"/>
                  </a:lnTo>
                  <a:lnTo>
                    <a:pt x="147866" y="465172"/>
                  </a:lnTo>
                  <a:lnTo>
                    <a:pt x="106742" y="442850"/>
                  </a:lnTo>
                  <a:lnTo>
                    <a:pt x="70912" y="413286"/>
                  </a:lnTo>
                  <a:lnTo>
                    <a:pt x="41348" y="377456"/>
                  </a:lnTo>
                  <a:lnTo>
                    <a:pt x="19026" y="336332"/>
                  </a:lnTo>
                  <a:lnTo>
                    <a:pt x="4918" y="290888"/>
                  </a:lnTo>
                  <a:lnTo>
                    <a:pt x="0" y="242099"/>
                  </a:lnTo>
                  <a:lnTo>
                    <a:pt x="4918" y="193310"/>
                  </a:lnTo>
                  <a:lnTo>
                    <a:pt x="19026" y="147866"/>
                  </a:lnTo>
                  <a:lnTo>
                    <a:pt x="41348" y="106742"/>
                  </a:lnTo>
                  <a:lnTo>
                    <a:pt x="70927" y="70899"/>
                  </a:lnTo>
                  <a:lnTo>
                    <a:pt x="106742" y="41348"/>
                  </a:lnTo>
                  <a:lnTo>
                    <a:pt x="147866" y="19026"/>
                  </a:lnTo>
                  <a:lnTo>
                    <a:pt x="193310" y="4918"/>
                  </a:lnTo>
                  <a:lnTo>
                    <a:pt x="242099" y="0"/>
                  </a:lnTo>
                  <a:lnTo>
                    <a:pt x="289559" y="4693"/>
                  </a:lnTo>
                  <a:lnTo>
                    <a:pt x="334758" y="18424"/>
                  </a:lnTo>
                  <a:lnTo>
                    <a:pt x="376427" y="40668"/>
                  </a:lnTo>
                  <a:lnTo>
                    <a:pt x="413309" y="70912"/>
                  </a:lnTo>
                  <a:lnTo>
                    <a:pt x="443530" y="107774"/>
                  </a:lnTo>
                  <a:lnTo>
                    <a:pt x="465774" y="149449"/>
                  </a:lnTo>
                  <a:lnTo>
                    <a:pt x="479505" y="194649"/>
                  </a:lnTo>
                  <a:lnTo>
                    <a:pt x="484199" y="242099"/>
                  </a:lnTo>
                  <a:lnTo>
                    <a:pt x="479280" y="290888"/>
                  </a:lnTo>
                  <a:lnTo>
                    <a:pt x="465172" y="336332"/>
                  </a:lnTo>
                  <a:lnTo>
                    <a:pt x="442850" y="377456"/>
                  </a:lnTo>
                  <a:lnTo>
                    <a:pt x="413286" y="413286"/>
                  </a:lnTo>
                  <a:lnTo>
                    <a:pt x="377456" y="442850"/>
                  </a:lnTo>
                  <a:lnTo>
                    <a:pt x="336332" y="465172"/>
                  </a:lnTo>
                  <a:lnTo>
                    <a:pt x="290888" y="479280"/>
                  </a:lnTo>
                  <a:lnTo>
                    <a:pt x="242099" y="484199"/>
                  </a:lnTo>
                  <a:close/>
                </a:path>
              </a:pathLst>
            </a:custGeom>
            <a:solidFill>
              <a:srgbClr val="6EA8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653779" y="3008482"/>
            <a:ext cx="231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350" baseline="-30864">
              <a:latin typeface="Tahoma"/>
              <a:cs typeface="Tahom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256964" y="1910201"/>
            <a:ext cx="1263015" cy="1813560"/>
            <a:chOff x="5256964" y="1910201"/>
            <a:chExt cx="1263015" cy="1813560"/>
          </a:xfrm>
        </p:grpSpPr>
        <p:sp>
          <p:nvSpPr>
            <p:cNvPr id="27" name="object 27"/>
            <p:cNvSpPr/>
            <p:nvPr/>
          </p:nvSpPr>
          <p:spPr>
            <a:xfrm>
              <a:off x="5266489" y="3180793"/>
              <a:ext cx="1165225" cy="533400"/>
            </a:xfrm>
            <a:custGeom>
              <a:avLst/>
              <a:gdLst/>
              <a:ahLst/>
              <a:cxnLst/>
              <a:rect l="l" t="t" r="r" b="b"/>
              <a:pathLst>
                <a:path w="1165225" h="533400">
                  <a:moveTo>
                    <a:pt x="0" y="533223"/>
                  </a:moveTo>
                  <a:lnTo>
                    <a:pt x="1164772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08637" y="3135293"/>
              <a:ext cx="110749" cy="8362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5282689" y="3121318"/>
              <a:ext cx="1138555" cy="10795"/>
            </a:xfrm>
            <a:custGeom>
              <a:avLst/>
              <a:gdLst/>
              <a:ahLst/>
              <a:cxnLst/>
              <a:rect l="l" t="t" r="r" b="b"/>
              <a:pathLst>
                <a:path w="1138554" h="10794">
                  <a:moveTo>
                    <a:pt x="0" y="0"/>
                  </a:moveTo>
                  <a:lnTo>
                    <a:pt x="1138197" y="10624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11087" y="3090968"/>
              <a:ext cx="105774" cy="81974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5282689" y="2528619"/>
              <a:ext cx="1149985" cy="554990"/>
            </a:xfrm>
            <a:custGeom>
              <a:avLst/>
              <a:gdLst/>
              <a:ahLst/>
              <a:cxnLst/>
              <a:rect l="l" t="t" r="r" b="b"/>
              <a:pathLst>
                <a:path w="1149985" h="554989">
                  <a:moveTo>
                    <a:pt x="0" y="0"/>
                  </a:moveTo>
                  <a:lnTo>
                    <a:pt x="1149572" y="554823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09062" y="3045568"/>
              <a:ext cx="110574" cy="84974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5298889" y="1919726"/>
              <a:ext cx="1134745" cy="580390"/>
            </a:xfrm>
            <a:custGeom>
              <a:avLst/>
              <a:gdLst/>
              <a:ahLst/>
              <a:cxnLst/>
              <a:rect l="l" t="t" r="r" b="b"/>
              <a:pathLst>
                <a:path w="1134745" h="580389">
                  <a:moveTo>
                    <a:pt x="0" y="0"/>
                  </a:moveTo>
                  <a:lnTo>
                    <a:pt x="1134547" y="580343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09587" y="2462535"/>
              <a:ext cx="110349" cy="86434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4578584" y="1152187"/>
            <a:ext cx="9245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AA3F"/>
                </a:solidFill>
                <a:latin typeface="Arial"/>
                <a:cs typeface="Arial"/>
              </a:rPr>
              <a:t>Input</a:t>
            </a:r>
            <a:r>
              <a:rPr sz="1400" b="1" spc="-5" dirty="0">
                <a:solidFill>
                  <a:srgbClr val="FFAA3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AA3F"/>
                </a:solidFill>
                <a:latin typeface="Arial"/>
                <a:cs typeface="Arial"/>
              </a:rPr>
              <a:t>layer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Multi-</a:t>
            </a:r>
            <a:r>
              <a:rPr dirty="0"/>
              <a:t>Layer</a:t>
            </a:r>
            <a:r>
              <a:rPr spc="-110" dirty="0"/>
              <a:t> </a:t>
            </a:r>
            <a:r>
              <a:rPr dirty="0"/>
              <a:t>Perceptron</a:t>
            </a:r>
            <a:r>
              <a:rPr spc="-105" dirty="0"/>
              <a:t> </a:t>
            </a:r>
            <a:r>
              <a:rPr spc="-10" dirty="0"/>
              <a:t>(MLP)</a:t>
            </a:r>
          </a:p>
        </p:txBody>
      </p:sp>
      <p:sp>
        <p:nvSpPr>
          <p:cNvPr id="3" name="object 3"/>
          <p:cNvSpPr/>
          <p:nvPr/>
        </p:nvSpPr>
        <p:spPr>
          <a:xfrm>
            <a:off x="4827965" y="2434850"/>
            <a:ext cx="516890" cy="516890"/>
          </a:xfrm>
          <a:custGeom>
            <a:avLst/>
            <a:gdLst/>
            <a:ahLst/>
            <a:cxnLst/>
            <a:rect l="l" t="t" r="r" b="b"/>
            <a:pathLst>
              <a:path w="516889" h="516889">
                <a:moveTo>
                  <a:pt x="258299" y="516593"/>
                </a:moveTo>
                <a:lnTo>
                  <a:pt x="211871" y="512432"/>
                </a:lnTo>
                <a:lnTo>
                  <a:pt x="168172" y="500433"/>
                </a:lnTo>
                <a:lnTo>
                  <a:pt x="127933" y="481327"/>
                </a:lnTo>
                <a:lnTo>
                  <a:pt x="91882" y="455843"/>
                </a:lnTo>
                <a:lnTo>
                  <a:pt x="60750" y="424711"/>
                </a:lnTo>
                <a:lnTo>
                  <a:pt x="35266" y="388660"/>
                </a:lnTo>
                <a:lnTo>
                  <a:pt x="16160" y="348421"/>
                </a:lnTo>
                <a:lnTo>
                  <a:pt x="4161" y="304722"/>
                </a:lnTo>
                <a:lnTo>
                  <a:pt x="0" y="258294"/>
                </a:lnTo>
                <a:lnTo>
                  <a:pt x="4161" y="211866"/>
                </a:lnTo>
                <a:lnTo>
                  <a:pt x="16160" y="168168"/>
                </a:lnTo>
                <a:lnTo>
                  <a:pt x="35266" y="127929"/>
                </a:lnTo>
                <a:lnTo>
                  <a:pt x="60750" y="91879"/>
                </a:lnTo>
                <a:lnTo>
                  <a:pt x="91882" y="60748"/>
                </a:lnTo>
                <a:lnTo>
                  <a:pt x="127933" y="35265"/>
                </a:lnTo>
                <a:lnTo>
                  <a:pt x="168172" y="16159"/>
                </a:lnTo>
                <a:lnTo>
                  <a:pt x="211871" y="4161"/>
                </a:lnTo>
                <a:lnTo>
                  <a:pt x="258299" y="0"/>
                </a:lnTo>
                <a:lnTo>
                  <a:pt x="308923" y="5009"/>
                </a:lnTo>
                <a:lnTo>
                  <a:pt x="357143" y="19661"/>
                </a:lnTo>
                <a:lnTo>
                  <a:pt x="401603" y="43393"/>
                </a:lnTo>
                <a:lnTo>
                  <a:pt x="440949" y="75644"/>
                </a:lnTo>
                <a:lnTo>
                  <a:pt x="473198" y="114990"/>
                </a:lnTo>
                <a:lnTo>
                  <a:pt x="496933" y="159450"/>
                </a:lnTo>
                <a:lnTo>
                  <a:pt x="511588" y="207670"/>
                </a:lnTo>
                <a:lnTo>
                  <a:pt x="516598" y="258294"/>
                </a:lnTo>
                <a:lnTo>
                  <a:pt x="512437" y="304722"/>
                </a:lnTo>
                <a:lnTo>
                  <a:pt x="500438" y="348421"/>
                </a:lnTo>
                <a:lnTo>
                  <a:pt x="481332" y="388660"/>
                </a:lnTo>
                <a:lnTo>
                  <a:pt x="455848" y="424711"/>
                </a:lnTo>
                <a:lnTo>
                  <a:pt x="424716" y="455843"/>
                </a:lnTo>
                <a:lnTo>
                  <a:pt x="388665" y="481327"/>
                </a:lnTo>
                <a:lnTo>
                  <a:pt x="348426" y="500433"/>
                </a:lnTo>
                <a:lnTo>
                  <a:pt x="304727" y="512432"/>
                </a:lnTo>
                <a:lnTo>
                  <a:pt x="258299" y="516593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951237" y="2568566"/>
            <a:ext cx="21462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3950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350" baseline="-3395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844165" y="3024068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03" y="479281"/>
                </a:lnTo>
                <a:lnTo>
                  <a:pt x="147856" y="465176"/>
                </a:lnTo>
                <a:lnTo>
                  <a:pt x="106731" y="442856"/>
                </a:lnTo>
                <a:lnTo>
                  <a:pt x="70902" y="413296"/>
                </a:lnTo>
                <a:lnTo>
                  <a:pt x="41342" y="377467"/>
                </a:lnTo>
                <a:lnTo>
                  <a:pt x="19023" y="336342"/>
                </a:lnTo>
                <a:lnTo>
                  <a:pt x="4917" y="290895"/>
                </a:lnTo>
                <a:lnTo>
                  <a:pt x="0" y="242099"/>
                </a:lnTo>
                <a:lnTo>
                  <a:pt x="4917" y="193310"/>
                </a:lnTo>
                <a:lnTo>
                  <a:pt x="19023" y="147866"/>
                </a:lnTo>
                <a:lnTo>
                  <a:pt x="41342" y="106742"/>
                </a:lnTo>
                <a:lnTo>
                  <a:pt x="70902" y="70912"/>
                </a:lnTo>
                <a:lnTo>
                  <a:pt x="106731" y="41348"/>
                </a:lnTo>
                <a:lnTo>
                  <a:pt x="147856" y="19026"/>
                </a:lnTo>
                <a:lnTo>
                  <a:pt x="193303" y="4918"/>
                </a:lnTo>
                <a:lnTo>
                  <a:pt x="242099" y="0"/>
                </a:lnTo>
                <a:lnTo>
                  <a:pt x="289545" y="4697"/>
                </a:lnTo>
                <a:lnTo>
                  <a:pt x="334736" y="18437"/>
                </a:lnTo>
                <a:lnTo>
                  <a:pt x="376403" y="40689"/>
                </a:lnTo>
                <a:lnTo>
                  <a:pt x="413274" y="70924"/>
                </a:lnTo>
                <a:lnTo>
                  <a:pt x="443509" y="107795"/>
                </a:lnTo>
                <a:lnTo>
                  <a:pt x="465761" y="149462"/>
                </a:lnTo>
                <a:lnTo>
                  <a:pt x="479501" y="194653"/>
                </a:lnTo>
                <a:lnTo>
                  <a:pt x="484199" y="242099"/>
                </a:lnTo>
                <a:lnTo>
                  <a:pt x="479280" y="290895"/>
                </a:lnTo>
                <a:lnTo>
                  <a:pt x="465172" y="336342"/>
                </a:lnTo>
                <a:lnTo>
                  <a:pt x="442850" y="377467"/>
                </a:lnTo>
                <a:lnTo>
                  <a:pt x="413286" y="413296"/>
                </a:lnTo>
                <a:lnTo>
                  <a:pt x="377456" y="442856"/>
                </a:lnTo>
                <a:lnTo>
                  <a:pt x="336332" y="465176"/>
                </a:lnTo>
                <a:lnTo>
                  <a:pt x="290888" y="479281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962695" y="3141584"/>
            <a:ext cx="21462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39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350" baseline="-3395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844165" y="3580893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03" y="479281"/>
                </a:lnTo>
                <a:lnTo>
                  <a:pt x="147856" y="465176"/>
                </a:lnTo>
                <a:lnTo>
                  <a:pt x="106731" y="442856"/>
                </a:lnTo>
                <a:lnTo>
                  <a:pt x="70902" y="413296"/>
                </a:lnTo>
                <a:lnTo>
                  <a:pt x="41342" y="377467"/>
                </a:lnTo>
                <a:lnTo>
                  <a:pt x="19023" y="336342"/>
                </a:lnTo>
                <a:lnTo>
                  <a:pt x="4917" y="290895"/>
                </a:lnTo>
                <a:lnTo>
                  <a:pt x="0" y="242099"/>
                </a:lnTo>
                <a:lnTo>
                  <a:pt x="4917" y="193310"/>
                </a:lnTo>
                <a:lnTo>
                  <a:pt x="19023" y="147866"/>
                </a:lnTo>
                <a:lnTo>
                  <a:pt x="41342" y="106742"/>
                </a:lnTo>
                <a:lnTo>
                  <a:pt x="70902" y="70912"/>
                </a:lnTo>
                <a:lnTo>
                  <a:pt x="106731" y="41348"/>
                </a:lnTo>
                <a:lnTo>
                  <a:pt x="147856" y="19026"/>
                </a:lnTo>
                <a:lnTo>
                  <a:pt x="193303" y="4918"/>
                </a:lnTo>
                <a:lnTo>
                  <a:pt x="242099" y="0"/>
                </a:lnTo>
                <a:lnTo>
                  <a:pt x="289545" y="4697"/>
                </a:lnTo>
                <a:lnTo>
                  <a:pt x="334736" y="18437"/>
                </a:lnTo>
                <a:lnTo>
                  <a:pt x="376403" y="40689"/>
                </a:lnTo>
                <a:lnTo>
                  <a:pt x="413274" y="70924"/>
                </a:lnTo>
                <a:lnTo>
                  <a:pt x="443509" y="107795"/>
                </a:lnTo>
                <a:lnTo>
                  <a:pt x="465761" y="149462"/>
                </a:lnTo>
                <a:lnTo>
                  <a:pt x="479501" y="194653"/>
                </a:lnTo>
                <a:lnTo>
                  <a:pt x="484199" y="242099"/>
                </a:lnTo>
                <a:lnTo>
                  <a:pt x="479280" y="290895"/>
                </a:lnTo>
                <a:lnTo>
                  <a:pt x="465172" y="336342"/>
                </a:lnTo>
                <a:lnTo>
                  <a:pt x="442850" y="377467"/>
                </a:lnTo>
                <a:lnTo>
                  <a:pt x="413286" y="413296"/>
                </a:lnTo>
                <a:lnTo>
                  <a:pt x="377456" y="442856"/>
                </a:lnTo>
                <a:lnTo>
                  <a:pt x="336332" y="465176"/>
                </a:lnTo>
                <a:lnTo>
                  <a:pt x="290888" y="479281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962695" y="3698414"/>
            <a:ext cx="2203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537362" y="3301268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03" y="479281"/>
                </a:lnTo>
                <a:lnTo>
                  <a:pt x="147856" y="465176"/>
                </a:lnTo>
                <a:lnTo>
                  <a:pt x="106731" y="442856"/>
                </a:lnTo>
                <a:lnTo>
                  <a:pt x="70902" y="413296"/>
                </a:lnTo>
                <a:lnTo>
                  <a:pt x="41342" y="377467"/>
                </a:lnTo>
                <a:lnTo>
                  <a:pt x="19023" y="336342"/>
                </a:lnTo>
                <a:lnTo>
                  <a:pt x="4917" y="290895"/>
                </a:lnTo>
                <a:lnTo>
                  <a:pt x="0" y="242099"/>
                </a:lnTo>
                <a:lnTo>
                  <a:pt x="4917" y="193310"/>
                </a:lnTo>
                <a:lnTo>
                  <a:pt x="19023" y="147866"/>
                </a:lnTo>
                <a:lnTo>
                  <a:pt x="41342" y="106742"/>
                </a:lnTo>
                <a:lnTo>
                  <a:pt x="70902" y="70912"/>
                </a:lnTo>
                <a:lnTo>
                  <a:pt x="106731" y="41348"/>
                </a:lnTo>
                <a:lnTo>
                  <a:pt x="147856" y="19026"/>
                </a:lnTo>
                <a:lnTo>
                  <a:pt x="193303" y="4918"/>
                </a:lnTo>
                <a:lnTo>
                  <a:pt x="242099" y="0"/>
                </a:lnTo>
                <a:lnTo>
                  <a:pt x="289545" y="4697"/>
                </a:lnTo>
                <a:lnTo>
                  <a:pt x="334736" y="18437"/>
                </a:lnTo>
                <a:lnTo>
                  <a:pt x="376403" y="40689"/>
                </a:lnTo>
                <a:lnTo>
                  <a:pt x="413274" y="70924"/>
                </a:lnTo>
                <a:lnTo>
                  <a:pt x="443509" y="107795"/>
                </a:lnTo>
                <a:lnTo>
                  <a:pt x="465761" y="149462"/>
                </a:lnTo>
                <a:lnTo>
                  <a:pt x="479501" y="194653"/>
                </a:lnTo>
                <a:lnTo>
                  <a:pt x="484199" y="242099"/>
                </a:lnTo>
                <a:lnTo>
                  <a:pt x="479280" y="290895"/>
                </a:lnTo>
                <a:lnTo>
                  <a:pt x="465172" y="336342"/>
                </a:lnTo>
                <a:lnTo>
                  <a:pt x="442850" y="377467"/>
                </a:lnTo>
                <a:lnTo>
                  <a:pt x="413286" y="413296"/>
                </a:lnTo>
                <a:lnTo>
                  <a:pt x="377456" y="442856"/>
                </a:lnTo>
                <a:lnTo>
                  <a:pt x="336332" y="465176"/>
                </a:lnTo>
                <a:lnTo>
                  <a:pt x="290888" y="479281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8E7C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655894" y="3418789"/>
            <a:ext cx="231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1350" baseline="-30864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318839" y="2683619"/>
            <a:ext cx="1701164" cy="1149350"/>
            <a:chOff x="5318839" y="2683619"/>
            <a:chExt cx="1701164" cy="1149350"/>
          </a:xfrm>
        </p:grpSpPr>
        <p:sp>
          <p:nvSpPr>
            <p:cNvPr id="12" name="object 12"/>
            <p:cNvSpPr/>
            <p:nvPr/>
          </p:nvSpPr>
          <p:spPr>
            <a:xfrm>
              <a:off x="5344564" y="2693144"/>
              <a:ext cx="1099820" cy="784225"/>
            </a:xfrm>
            <a:custGeom>
              <a:avLst/>
              <a:gdLst/>
              <a:ahLst/>
              <a:cxnLst/>
              <a:rect l="l" t="t" r="r" b="b"/>
              <a:pathLst>
                <a:path w="1099820" h="784225">
                  <a:moveTo>
                    <a:pt x="0" y="0"/>
                  </a:moveTo>
                  <a:lnTo>
                    <a:pt x="1099722" y="783873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16487" y="3441868"/>
              <a:ext cx="107724" cy="9484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328364" y="3569142"/>
              <a:ext cx="1097915" cy="254000"/>
            </a:xfrm>
            <a:custGeom>
              <a:avLst/>
              <a:gdLst/>
              <a:ahLst/>
              <a:cxnLst/>
              <a:rect l="l" t="t" r="r" b="b"/>
              <a:pathLst>
                <a:path w="1097914" h="254000">
                  <a:moveTo>
                    <a:pt x="0" y="253849"/>
                  </a:moveTo>
                  <a:lnTo>
                    <a:pt x="1097622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09387" y="3528967"/>
              <a:ext cx="110349" cy="8037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328364" y="3266168"/>
              <a:ext cx="1097915" cy="252095"/>
            </a:xfrm>
            <a:custGeom>
              <a:avLst/>
              <a:gdLst/>
              <a:ahLst/>
              <a:cxnLst/>
              <a:rect l="l" t="t" r="r" b="b"/>
              <a:pathLst>
                <a:path w="1097914" h="252095">
                  <a:moveTo>
                    <a:pt x="0" y="0"/>
                  </a:moveTo>
                  <a:lnTo>
                    <a:pt x="1097572" y="251649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09387" y="3477642"/>
              <a:ext cx="110349" cy="80374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535262" y="2746869"/>
              <a:ext cx="484505" cy="484505"/>
            </a:xfrm>
            <a:custGeom>
              <a:avLst/>
              <a:gdLst/>
              <a:ahLst/>
              <a:cxnLst/>
              <a:rect l="l" t="t" r="r" b="b"/>
              <a:pathLst>
                <a:path w="484504" h="484505">
                  <a:moveTo>
                    <a:pt x="242099" y="484199"/>
                  </a:moveTo>
                  <a:lnTo>
                    <a:pt x="193310" y="479280"/>
                  </a:lnTo>
                  <a:lnTo>
                    <a:pt x="147866" y="465172"/>
                  </a:lnTo>
                  <a:lnTo>
                    <a:pt x="106742" y="442850"/>
                  </a:lnTo>
                  <a:lnTo>
                    <a:pt x="70912" y="413286"/>
                  </a:lnTo>
                  <a:lnTo>
                    <a:pt x="41348" y="377456"/>
                  </a:lnTo>
                  <a:lnTo>
                    <a:pt x="19026" y="336332"/>
                  </a:lnTo>
                  <a:lnTo>
                    <a:pt x="4918" y="290888"/>
                  </a:lnTo>
                  <a:lnTo>
                    <a:pt x="0" y="242099"/>
                  </a:lnTo>
                  <a:lnTo>
                    <a:pt x="4918" y="193303"/>
                  </a:lnTo>
                  <a:lnTo>
                    <a:pt x="19026" y="147856"/>
                  </a:lnTo>
                  <a:lnTo>
                    <a:pt x="41348" y="106731"/>
                  </a:lnTo>
                  <a:lnTo>
                    <a:pt x="70916" y="70899"/>
                  </a:lnTo>
                  <a:lnTo>
                    <a:pt x="106742" y="41342"/>
                  </a:lnTo>
                  <a:lnTo>
                    <a:pt x="147866" y="19023"/>
                  </a:lnTo>
                  <a:lnTo>
                    <a:pt x="193310" y="4917"/>
                  </a:lnTo>
                  <a:lnTo>
                    <a:pt x="242099" y="0"/>
                  </a:lnTo>
                  <a:lnTo>
                    <a:pt x="289559" y="4693"/>
                  </a:lnTo>
                  <a:lnTo>
                    <a:pt x="334758" y="18424"/>
                  </a:lnTo>
                  <a:lnTo>
                    <a:pt x="376427" y="40668"/>
                  </a:lnTo>
                  <a:lnTo>
                    <a:pt x="413301" y="70902"/>
                  </a:lnTo>
                  <a:lnTo>
                    <a:pt x="443530" y="107771"/>
                  </a:lnTo>
                  <a:lnTo>
                    <a:pt x="465774" y="149440"/>
                  </a:lnTo>
                  <a:lnTo>
                    <a:pt x="479505" y="194639"/>
                  </a:lnTo>
                  <a:lnTo>
                    <a:pt x="484199" y="242099"/>
                  </a:lnTo>
                  <a:lnTo>
                    <a:pt x="479281" y="290888"/>
                  </a:lnTo>
                  <a:lnTo>
                    <a:pt x="465176" y="336332"/>
                  </a:lnTo>
                  <a:lnTo>
                    <a:pt x="442856" y="377456"/>
                  </a:lnTo>
                  <a:lnTo>
                    <a:pt x="413296" y="413286"/>
                  </a:lnTo>
                  <a:lnTo>
                    <a:pt x="377467" y="442850"/>
                  </a:lnTo>
                  <a:lnTo>
                    <a:pt x="336342" y="465172"/>
                  </a:lnTo>
                  <a:lnTo>
                    <a:pt x="290895" y="479280"/>
                  </a:lnTo>
                  <a:lnTo>
                    <a:pt x="242099" y="484199"/>
                  </a:lnTo>
                  <a:close/>
                </a:path>
              </a:pathLst>
            </a:custGeom>
            <a:solidFill>
              <a:srgbClr val="8E7C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008041" y="1546980"/>
            <a:ext cx="460375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22225" marR="5080" indent="-10160">
              <a:lnSpc>
                <a:spcPts val="1650"/>
              </a:lnSpc>
              <a:spcBef>
                <a:spcPts val="180"/>
              </a:spcBef>
            </a:pPr>
            <a:r>
              <a:rPr sz="1400" b="1" spc="-10" dirty="0">
                <a:solidFill>
                  <a:srgbClr val="FFAA3F"/>
                </a:solidFill>
                <a:latin typeface="Arial"/>
                <a:cs typeface="Arial"/>
              </a:rPr>
              <a:t>input layer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42316" y="1550133"/>
            <a:ext cx="607695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95885" marR="5080" indent="-83820">
              <a:lnSpc>
                <a:spcPts val="1650"/>
              </a:lnSpc>
              <a:spcBef>
                <a:spcPts val="180"/>
              </a:spcBef>
            </a:pPr>
            <a:r>
              <a:rPr sz="1400" b="1" spc="-10" dirty="0">
                <a:solidFill>
                  <a:srgbClr val="8E7CC3"/>
                </a:solidFill>
                <a:latin typeface="Arial"/>
                <a:cs typeface="Arial"/>
              </a:rPr>
              <a:t>hidden layer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181584" y="1556610"/>
            <a:ext cx="578485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81280" marR="5080" indent="-69215">
              <a:lnSpc>
                <a:spcPts val="1650"/>
              </a:lnSpc>
              <a:spcBef>
                <a:spcPts val="180"/>
              </a:spcBef>
            </a:pPr>
            <a:r>
              <a:rPr sz="1400" b="1" spc="-10" dirty="0">
                <a:solidFill>
                  <a:srgbClr val="6EA8DB"/>
                </a:solidFill>
                <a:latin typeface="Arial"/>
                <a:cs typeface="Arial"/>
              </a:rPr>
              <a:t>output layer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653799" y="2864368"/>
            <a:ext cx="231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350" spc="-37" baseline="-339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350" baseline="-33950">
              <a:latin typeface="Tahoma"/>
              <a:cs typeface="Tahom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318839" y="2683619"/>
            <a:ext cx="1703070" cy="1656714"/>
            <a:chOff x="5318839" y="2683619"/>
            <a:chExt cx="1703070" cy="1656714"/>
          </a:xfrm>
        </p:grpSpPr>
        <p:sp>
          <p:nvSpPr>
            <p:cNvPr id="24" name="object 24"/>
            <p:cNvSpPr/>
            <p:nvPr/>
          </p:nvSpPr>
          <p:spPr>
            <a:xfrm>
              <a:off x="5328364" y="3053968"/>
              <a:ext cx="1113155" cy="769620"/>
            </a:xfrm>
            <a:custGeom>
              <a:avLst/>
              <a:gdLst/>
              <a:ahLst/>
              <a:cxnLst/>
              <a:rect l="l" t="t" r="r" b="b"/>
              <a:pathLst>
                <a:path w="1113154" h="769620">
                  <a:moveTo>
                    <a:pt x="0" y="769023"/>
                  </a:moveTo>
                  <a:lnTo>
                    <a:pt x="1112847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13812" y="2995318"/>
              <a:ext cx="108049" cy="9407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328364" y="3014568"/>
              <a:ext cx="1096010" cy="252095"/>
            </a:xfrm>
            <a:custGeom>
              <a:avLst/>
              <a:gdLst/>
              <a:ahLst/>
              <a:cxnLst/>
              <a:rect l="l" t="t" r="r" b="b"/>
              <a:pathLst>
                <a:path w="1096010" h="252095">
                  <a:moveTo>
                    <a:pt x="0" y="251599"/>
                  </a:moveTo>
                  <a:lnTo>
                    <a:pt x="1095497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07287" y="2974368"/>
              <a:ext cx="110349" cy="80374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5344564" y="2693144"/>
              <a:ext cx="1080135" cy="268605"/>
            </a:xfrm>
            <a:custGeom>
              <a:avLst/>
              <a:gdLst/>
              <a:ahLst/>
              <a:cxnLst/>
              <a:rect l="l" t="t" r="r" b="b"/>
              <a:pathLst>
                <a:path w="1080135" h="268605">
                  <a:moveTo>
                    <a:pt x="0" y="0"/>
                  </a:moveTo>
                  <a:lnTo>
                    <a:pt x="1079772" y="268249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07212" y="2921319"/>
              <a:ext cx="110549" cy="8012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537362" y="3855692"/>
              <a:ext cx="484505" cy="484505"/>
            </a:xfrm>
            <a:custGeom>
              <a:avLst/>
              <a:gdLst/>
              <a:ahLst/>
              <a:cxnLst/>
              <a:rect l="l" t="t" r="r" b="b"/>
              <a:pathLst>
                <a:path w="484504" h="484504">
                  <a:moveTo>
                    <a:pt x="242099" y="484199"/>
                  </a:moveTo>
                  <a:lnTo>
                    <a:pt x="193303" y="479280"/>
                  </a:lnTo>
                  <a:lnTo>
                    <a:pt x="147856" y="465172"/>
                  </a:lnTo>
                  <a:lnTo>
                    <a:pt x="106731" y="442850"/>
                  </a:lnTo>
                  <a:lnTo>
                    <a:pt x="70902" y="413286"/>
                  </a:lnTo>
                  <a:lnTo>
                    <a:pt x="41342" y="377456"/>
                  </a:lnTo>
                  <a:lnTo>
                    <a:pt x="19023" y="336332"/>
                  </a:lnTo>
                  <a:lnTo>
                    <a:pt x="4917" y="290888"/>
                  </a:lnTo>
                  <a:lnTo>
                    <a:pt x="0" y="242099"/>
                  </a:lnTo>
                  <a:lnTo>
                    <a:pt x="4917" y="193310"/>
                  </a:lnTo>
                  <a:lnTo>
                    <a:pt x="19023" y="147866"/>
                  </a:lnTo>
                  <a:lnTo>
                    <a:pt x="41342" y="106742"/>
                  </a:lnTo>
                  <a:lnTo>
                    <a:pt x="70918" y="70899"/>
                  </a:lnTo>
                  <a:lnTo>
                    <a:pt x="106731" y="41348"/>
                  </a:lnTo>
                  <a:lnTo>
                    <a:pt x="147856" y="19026"/>
                  </a:lnTo>
                  <a:lnTo>
                    <a:pt x="193303" y="4918"/>
                  </a:lnTo>
                  <a:lnTo>
                    <a:pt x="242099" y="0"/>
                  </a:lnTo>
                  <a:lnTo>
                    <a:pt x="289545" y="4693"/>
                  </a:lnTo>
                  <a:lnTo>
                    <a:pt x="334736" y="18424"/>
                  </a:lnTo>
                  <a:lnTo>
                    <a:pt x="376403" y="40668"/>
                  </a:lnTo>
                  <a:lnTo>
                    <a:pt x="413284" y="70912"/>
                  </a:lnTo>
                  <a:lnTo>
                    <a:pt x="443509" y="107774"/>
                  </a:lnTo>
                  <a:lnTo>
                    <a:pt x="465761" y="149449"/>
                  </a:lnTo>
                  <a:lnTo>
                    <a:pt x="479501" y="194649"/>
                  </a:lnTo>
                  <a:lnTo>
                    <a:pt x="484199" y="242099"/>
                  </a:lnTo>
                  <a:lnTo>
                    <a:pt x="479280" y="290888"/>
                  </a:lnTo>
                  <a:lnTo>
                    <a:pt x="465172" y="336332"/>
                  </a:lnTo>
                  <a:lnTo>
                    <a:pt x="442850" y="377456"/>
                  </a:lnTo>
                  <a:lnTo>
                    <a:pt x="413286" y="413286"/>
                  </a:lnTo>
                  <a:lnTo>
                    <a:pt x="377456" y="442850"/>
                  </a:lnTo>
                  <a:lnTo>
                    <a:pt x="336332" y="465172"/>
                  </a:lnTo>
                  <a:lnTo>
                    <a:pt x="290888" y="479280"/>
                  </a:lnTo>
                  <a:lnTo>
                    <a:pt x="242099" y="484199"/>
                  </a:lnTo>
                  <a:close/>
                </a:path>
              </a:pathLst>
            </a:custGeom>
            <a:solidFill>
              <a:srgbClr val="8E7C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6655894" y="3973200"/>
            <a:ext cx="2381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endParaRPr sz="1350" baseline="-30864">
              <a:latin typeface="Tahoma"/>
              <a:cs typeface="Tahom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5318839" y="2683619"/>
            <a:ext cx="3394075" cy="1429385"/>
            <a:chOff x="5318839" y="2683619"/>
            <a:chExt cx="3394075" cy="1429385"/>
          </a:xfrm>
        </p:grpSpPr>
        <p:sp>
          <p:nvSpPr>
            <p:cNvPr id="33" name="object 33"/>
            <p:cNvSpPr/>
            <p:nvPr/>
          </p:nvSpPr>
          <p:spPr>
            <a:xfrm>
              <a:off x="5328364" y="3266168"/>
              <a:ext cx="1115060" cy="767080"/>
            </a:xfrm>
            <a:custGeom>
              <a:avLst/>
              <a:gdLst/>
              <a:ahLst/>
              <a:cxnLst/>
              <a:rect l="l" t="t" r="r" b="b"/>
              <a:pathLst>
                <a:path w="1115060" h="767079">
                  <a:moveTo>
                    <a:pt x="0" y="0"/>
                  </a:moveTo>
                  <a:lnTo>
                    <a:pt x="1114822" y="766823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15837" y="3997541"/>
              <a:ext cx="108099" cy="93974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5344564" y="2693144"/>
              <a:ext cx="1118870" cy="1317625"/>
            </a:xfrm>
            <a:custGeom>
              <a:avLst/>
              <a:gdLst/>
              <a:ahLst/>
              <a:cxnLst/>
              <a:rect l="l" t="t" r="r" b="b"/>
              <a:pathLst>
                <a:path w="1118870" h="1317625">
                  <a:moveTo>
                    <a:pt x="0" y="0"/>
                  </a:moveTo>
                  <a:lnTo>
                    <a:pt x="1118797" y="1317472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29862" y="3980741"/>
              <a:ext cx="98999" cy="105299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5328364" y="3822992"/>
              <a:ext cx="1097915" cy="249554"/>
            </a:xfrm>
            <a:custGeom>
              <a:avLst/>
              <a:gdLst/>
              <a:ahLst/>
              <a:cxnLst/>
              <a:rect l="l" t="t" r="r" b="b"/>
              <a:pathLst>
                <a:path w="1097914" h="249554">
                  <a:moveTo>
                    <a:pt x="0" y="0"/>
                  </a:moveTo>
                  <a:lnTo>
                    <a:pt x="1097522" y="249474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09412" y="4032266"/>
              <a:ext cx="110299" cy="80399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8228458" y="2763944"/>
              <a:ext cx="484505" cy="484505"/>
            </a:xfrm>
            <a:custGeom>
              <a:avLst/>
              <a:gdLst/>
              <a:ahLst/>
              <a:cxnLst/>
              <a:rect l="l" t="t" r="r" b="b"/>
              <a:pathLst>
                <a:path w="484504" h="484505">
                  <a:moveTo>
                    <a:pt x="242099" y="484199"/>
                  </a:moveTo>
                  <a:lnTo>
                    <a:pt x="193310" y="479280"/>
                  </a:lnTo>
                  <a:lnTo>
                    <a:pt x="147866" y="465172"/>
                  </a:lnTo>
                  <a:lnTo>
                    <a:pt x="106742" y="442850"/>
                  </a:lnTo>
                  <a:lnTo>
                    <a:pt x="70912" y="413286"/>
                  </a:lnTo>
                  <a:lnTo>
                    <a:pt x="41348" y="377456"/>
                  </a:lnTo>
                  <a:lnTo>
                    <a:pt x="19026" y="336332"/>
                  </a:lnTo>
                  <a:lnTo>
                    <a:pt x="4918" y="290888"/>
                  </a:lnTo>
                  <a:lnTo>
                    <a:pt x="0" y="242099"/>
                  </a:lnTo>
                  <a:lnTo>
                    <a:pt x="4918" y="193310"/>
                  </a:lnTo>
                  <a:lnTo>
                    <a:pt x="19026" y="147866"/>
                  </a:lnTo>
                  <a:lnTo>
                    <a:pt x="41348" y="106742"/>
                  </a:lnTo>
                  <a:lnTo>
                    <a:pt x="70927" y="70899"/>
                  </a:lnTo>
                  <a:lnTo>
                    <a:pt x="106742" y="41348"/>
                  </a:lnTo>
                  <a:lnTo>
                    <a:pt x="147866" y="19026"/>
                  </a:lnTo>
                  <a:lnTo>
                    <a:pt x="193310" y="4918"/>
                  </a:lnTo>
                  <a:lnTo>
                    <a:pt x="242099" y="0"/>
                  </a:lnTo>
                  <a:lnTo>
                    <a:pt x="289559" y="4693"/>
                  </a:lnTo>
                  <a:lnTo>
                    <a:pt x="334758" y="18424"/>
                  </a:lnTo>
                  <a:lnTo>
                    <a:pt x="376427" y="40668"/>
                  </a:lnTo>
                  <a:lnTo>
                    <a:pt x="413309" y="70912"/>
                  </a:lnTo>
                  <a:lnTo>
                    <a:pt x="443530" y="107774"/>
                  </a:lnTo>
                  <a:lnTo>
                    <a:pt x="465774" y="149449"/>
                  </a:lnTo>
                  <a:lnTo>
                    <a:pt x="479505" y="194649"/>
                  </a:lnTo>
                  <a:lnTo>
                    <a:pt x="484199" y="242099"/>
                  </a:lnTo>
                  <a:lnTo>
                    <a:pt x="479280" y="290888"/>
                  </a:lnTo>
                  <a:lnTo>
                    <a:pt x="465172" y="336332"/>
                  </a:lnTo>
                  <a:lnTo>
                    <a:pt x="442850" y="377456"/>
                  </a:lnTo>
                  <a:lnTo>
                    <a:pt x="413286" y="413286"/>
                  </a:lnTo>
                  <a:lnTo>
                    <a:pt x="377456" y="442850"/>
                  </a:lnTo>
                  <a:lnTo>
                    <a:pt x="336332" y="465172"/>
                  </a:lnTo>
                  <a:lnTo>
                    <a:pt x="290888" y="479280"/>
                  </a:lnTo>
                  <a:lnTo>
                    <a:pt x="242099" y="484199"/>
                  </a:lnTo>
                  <a:close/>
                </a:path>
              </a:pathLst>
            </a:custGeom>
            <a:solidFill>
              <a:srgbClr val="6EA8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8346998" y="2881456"/>
            <a:ext cx="231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350" baseline="-30864">
              <a:latin typeface="Tahoma"/>
              <a:cs typeface="Tahoma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7009935" y="2963469"/>
            <a:ext cx="1704975" cy="1144270"/>
            <a:chOff x="7009935" y="2963469"/>
            <a:chExt cx="1704975" cy="1144270"/>
          </a:xfrm>
        </p:grpSpPr>
        <p:sp>
          <p:nvSpPr>
            <p:cNvPr id="42" name="object 42"/>
            <p:cNvSpPr/>
            <p:nvPr/>
          </p:nvSpPr>
          <p:spPr>
            <a:xfrm>
              <a:off x="7021560" y="3082768"/>
              <a:ext cx="1122680" cy="1015365"/>
            </a:xfrm>
            <a:custGeom>
              <a:avLst/>
              <a:gdLst/>
              <a:ahLst/>
              <a:cxnLst/>
              <a:rect l="l" t="t" r="r" b="b"/>
              <a:pathLst>
                <a:path w="1122679" h="1015364">
                  <a:moveTo>
                    <a:pt x="0" y="1015022"/>
                  </a:moveTo>
                  <a:lnTo>
                    <a:pt x="1122122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113058" y="3015244"/>
              <a:ext cx="104274" cy="100374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7021560" y="3052568"/>
              <a:ext cx="1102995" cy="490855"/>
            </a:xfrm>
            <a:custGeom>
              <a:avLst/>
              <a:gdLst/>
              <a:ahLst/>
              <a:cxnLst/>
              <a:rect l="l" t="t" r="r" b="b"/>
              <a:pathLst>
                <a:path w="1102995" h="490854">
                  <a:moveTo>
                    <a:pt x="0" y="490799"/>
                  </a:moveTo>
                  <a:lnTo>
                    <a:pt x="1102472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101708" y="3007869"/>
              <a:ext cx="110824" cy="82974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7019460" y="2988969"/>
              <a:ext cx="1094740" cy="15875"/>
            </a:xfrm>
            <a:custGeom>
              <a:avLst/>
              <a:gdLst/>
              <a:ahLst/>
              <a:cxnLst/>
              <a:rect l="l" t="t" r="r" b="b"/>
              <a:pathLst>
                <a:path w="1094740" h="15875">
                  <a:moveTo>
                    <a:pt x="0" y="0"/>
                  </a:moveTo>
                  <a:lnTo>
                    <a:pt x="1094722" y="15474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104208" y="2963469"/>
              <a:ext cx="105924" cy="81949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8230558" y="3360393"/>
              <a:ext cx="484505" cy="484505"/>
            </a:xfrm>
            <a:custGeom>
              <a:avLst/>
              <a:gdLst/>
              <a:ahLst/>
              <a:cxnLst/>
              <a:rect l="l" t="t" r="r" b="b"/>
              <a:pathLst>
                <a:path w="484504" h="484504">
                  <a:moveTo>
                    <a:pt x="242099" y="484199"/>
                  </a:moveTo>
                  <a:lnTo>
                    <a:pt x="193303" y="479280"/>
                  </a:lnTo>
                  <a:lnTo>
                    <a:pt x="147856" y="465172"/>
                  </a:lnTo>
                  <a:lnTo>
                    <a:pt x="106731" y="442850"/>
                  </a:lnTo>
                  <a:lnTo>
                    <a:pt x="70902" y="413286"/>
                  </a:lnTo>
                  <a:lnTo>
                    <a:pt x="41342" y="377456"/>
                  </a:lnTo>
                  <a:lnTo>
                    <a:pt x="19023" y="336332"/>
                  </a:lnTo>
                  <a:lnTo>
                    <a:pt x="4917" y="290888"/>
                  </a:lnTo>
                  <a:lnTo>
                    <a:pt x="0" y="242099"/>
                  </a:lnTo>
                  <a:lnTo>
                    <a:pt x="4917" y="193310"/>
                  </a:lnTo>
                  <a:lnTo>
                    <a:pt x="19023" y="147866"/>
                  </a:lnTo>
                  <a:lnTo>
                    <a:pt x="41342" y="106742"/>
                  </a:lnTo>
                  <a:lnTo>
                    <a:pt x="70918" y="70899"/>
                  </a:lnTo>
                  <a:lnTo>
                    <a:pt x="106731" y="41348"/>
                  </a:lnTo>
                  <a:lnTo>
                    <a:pt x="147856" y="19026"/>
                  </a:lnTo>
                  <a:lnTo>
                    <a:pt x="193303" y="4918"/>
                  </a:lnTo>
                  <a:lnTo>
                    <a:pt x="242099" y="0"/>
                  </a:lnTo>
                  <a:lnTo>
                    <a:pt x="289545" y="4693"/>
                  </a:lnTo>
                  <a:lnTo>
                    <a:pt x="334736" y="18424"/>
                  </a:lnTo>
                  <a:lnTo>
                    <a:pt x="376403" y="40668"/>
                  </a:lnTo>
                  <a:lnTo>
                    <a:pt x="413284" y="70912"/>
                  </a:lnTo>
                  <a:lnTo>
                    <a:pt x="443509" y="107774"/>
                  </a:lnTo>
                  <a:lnTo>
                    <a:pt x="465761" y="149449"/>
                  </a:lnTo>
                  <a:lnTo>
                    <a:pt x="479501" y="194649"/>
                  </a:lnTo>
                  <a:lnTo>
                    <a:pt x="484199" y="242099"/>
                  </a:lnTo>
                  <a:lnTo>
                    <a:pt x="479280" y="290888"/>
                  </a:lnTo>
                  <a:lnTo>
                    <a:pt x="465172" y="336332"/>
                  </a:lnTo>
                  <a:lnTo>
                    <a:pt x="442850" y="377456"/>
                  </a:lnTo>
                  <a:lnTo>
                    <a:pt x="413286" y="413286"/>
                  </a:lnTo>
                  <a:lnTo>
                    <a:pt x="377456" y="442850"/>
                  </a:lnTo>
                  <a:lnTo>
                    <a:pt x="336332" y="465172"/>
                  </a:lnTo>
                  <a:lnTo>
                    <a:pt x="290888" y="479280"/>
                  </a:lnTo>
                  <a:lnTo>
                    <a:pt x="242099" y="484199"/>
                  </a:lnTo>
                  <a:close/>
                </a:path>
              </a:pathLst>
            </a:custGeom>
            <a:solidFill>
              <a:srgbClr val="6EA8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8349084" y="3477901"/>
            <a:ext cx="2374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endParaRPr sz="1350" baseline="-30864">
              <a:latin typeface="Tahoma"/>
              <a:cs typeface="Tahoma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6535262" y="2192445"/>
            <a:ext cx="1680210" cy="1915160"/>
            <a:chOff x="6535262" y="2192445"/>
            <a:chExt cx="1680210" cy="1915160"/>
          </a:xfrm>
        </p:grpSpPr>
        <p:sp>
          <p:nvSpPr>
            <p:cNvPr id="51" name="object 51"/>
            <p:cNvSpPr/>
            <p:nvPr/>
          </p:nvSpPr>
          <p:spPr>
            <a:xfrm>
              <a:off x="7021561" y="3543367"/>
              <a:ext cx="1095375" cy="53975"/>
            </a:xfrm>
            <a:custGeom>
              <a:avLst/>
              <a:gdLst/>
              <a:ahLst/>
              <a:cxnLst/>
              <a:rect l="l" t="t" r="r" b="b"/>
              <a:pathLst>
                <a:path w="1095375" h="53975">
                  <a:moveTo>
                    <a:pt x="0" y="0"/>
                  </a:moveTo>
                  <a:lnTo>
                    <a:pt x="1094822" y="53524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105333" y="3555942"/>
              <a:ext cx="106924" cy="81899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7019461" y="2988968"/>
              <a:ext cx="1109345" cy="561975"/>
            </a:xfrm>
            <a:custGeom>
              <a:avLst/>
              <a:gdLst/>
              <a:ahLst/>
              <a:cxnLst/>
              <a:rect l="l" t="t" r="r" b="b"/>
              <a:pathLst>
                <a:path w="1109345" h="561975">
                  <a:moveTo>
                    <a:pt x="0" y="0"/>
                  </a:moveTo>
                  <a:lnTo>
                    <a:pt x="1109147" y="561848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104858" y="3513217"/>
              <a:ext cx="110374" cy="86174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7021561" y="3645817"/>
              <a:ext cx="1103630" cy="452120"/>
            </a:xfrm>
            <a:custGeom>
              <a:avLst/>
              <a:gdLst/>
              <a:ahLst/>
              <a:cxnLst/>
              <a:rect l="l" t="t" r="r" b="b"/>
              <a:pathLst>
                <a:path w="1103629" h="452120">
                  <a:moveTo>
                    <a:pt x="0" y="451974"/>
                  </a:moveTo>
                  <a:lnTo>
                    <a:pt x="1103222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103333" y="3603517"/>
              <a:ext cx="110974" cy="80949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6535262" y="2192445"/>
              <a:ext cx="484505" cy="484505"/>
            </a:xfrm>
            <a:custGeom>
              <a:avLst/>
              <a:gdLst/>
              <a:ahLst/>
              <a:cxnLst/>
              <a:rect l="l" t="t" r="r" b="b"/>
              <a:pathLst>
                <a:path w="484504" h="484505">
                  <a:moveTo>
                    <a:pt x="242099" y="484199"/>
                  </a:moveTo>
                  <a:lnTo>
                    <a:pt x="193310" y="479280"/>
                  </a:lnTo>
                  <a:lnTo>
                    <a:pt x="147866" y="465172"/>
                  </a:lnTo>
                  <a:lnTo>
                    <a:pt x="106742" y="442850"/>
                  </a:lnTo>
                  <a:lnTo>
                    <a:pt x="70912" y="413286"/>
                  </a:lnTo>
                  <a:lnTo>
                    <a:pt x="41348" y="377456"/>
                  </a:lnTo>
                  <a:lnTo>
                    <a:pt x="19026" y="336332"/>
                  </a:lnTo>
                  <a:lnTo>
                    <a:pt x="4918" y="290888"/>
                  </a:lnTo>
                  <a:lnTo>
                    <a:pt x="0" y="242099"/>
                  </a:lnTo>
                  <a:lnTo>
                    <a:pt x="4918" y="193308"/>
                  </a:lnTo>
                  <a:lnTo>
                    <a:pt x="19026" y="147863"/>
                  </a:lnTo>
                  <a:lnTo>
                    <a:pt x="41348" y="106739"/>
                  </a:lnTo>
                  <a:lnTo>
                    <a:pt x="70912" y="70909"/>
                  </a:lnTo>
                  <a:lnTo>
                    <a:pt x="106742" y="41346"/>
                  </a:lnTo>
                  <a:lnTo>
                    <a:pt x="147866" y="19025"/>
                  </a:lnTo>
                  <a:lnTo>
                    <a:pt x="193310" y="4918"/>
                  </a:lnTo>
                  <a:lnTo>
                    <a:pt x="242099" y="0"/>
                  </a:lnTo>
                  <a:lnTo>
                    <a:pt x="289559" y="4694"/>
                  </a:lnTo>
                  <a:lnTo>
                    <a:pt x="334758" y="18429"/>
                  </a:lnTo>
                  <a:lnTo>
                    <a:pt x="376427" y="40676"/>
                  </a:lnTo>
                  <a:lnTo>
                    <a:pt x="413299" y="70909"/>
                  </a:lnTo>
                  <a:lnTo>
                    <a:pt x="443530" y="107782"/>
                  </a:lnTo>
                  <a:lnTo>
                    <a:pt x="465774" y="149451"/>
                  </a:lnTo>
                  <a:lnTo>
                    <a:pt x="479505" y="194647"/>
                  </a:lnTo>
                  <a:lnTo>
                    <a:pt x="484199" y="242099"/>
                  </a:lnTo>
                  <a:lnTo>
                    <a:pt x="479281" y="290888"/>
                  </a:lnTo>
                  <a:lnTo>
                    <a:pt x="465176" y="336332"/>
                  </a:lnTo>
                  <a:lnTo>
                    <a:pt x="442856" y="377456"/>
                  </a:lnTo>
                  <a:lnTo>
                    <a:pt x="413296" y="413286"/>
                  </a:lnTo>
                  <a:lnTo>
                    <a:pt x="377467" y="442850"/>
                  </a:lnTo>
                  <a:lnTo>
                    <a:pt x="336342" y="465172"/>
                  </a:lnTo>
                  <a:lnTo>
                    <a:pt x="290895" y="479280"/>
                  </a:lnTo>
                  <a:lnTo>
                    <a:pt x="242099" y="484199"/>
                  </a:lnTo>
                  <a:close/>
                </a:path>
              </a:pathLst>
            </a:custGeom>
            <a:solidFill>
              <a:srgbClr val="8E7C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6653799" y="2309958"/>
            <a:ext cx="231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350" baseline="-30864">
              <a:latin typeface="Tahoma"/>
              <a:cs typeface="Tahoma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5318839" y="2418535"/>
            <a:ext cx="2901315" cy="1414145"/>
            <a:chOff x="5318839" y="2418535"/>
            <a:chExt cx="2901315" cy="1414145"/>
          </a:xfrm>
        </p:grpSpPr>
        <p:sp>
          <p:nvSpPr>
            <p:cNvPr id="60" name="object 60"/>
            <p:cNvSpPr/>
            <p:nvPr/>
          </p:nvSpPr>
          <p:spPr>
            <a:xfrm>
              <a:off x="5328364" y="2499427"/>
              <a:ext cx="1113155" cy="767080"/>
            </a:xfrm>
            <a:custGeom>
              <a:avLst/>
              <a:gdLst/>
              <a:ahLst/>
              <a:cxnLst/>
              <a:rect l="l" t="t" r="r" b="b"/>
              <a:pathLst>
                <a:path w="1113154" h="767079">
                  <a:moveTo>
                    <a:pt x="0" y="766740"/>
                  </a:moveTo>
                  <a:lnTo>
                    <a:pt x="1112772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413762" y="2440852"/>
              <a:ext cx="108074" cy="94017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5344564" y="2458810"/>
              <a:ext cx="1079500" cy="234950"/>
            </a:xfrm>
            <a:custGeom>
              <a:avLst/>
              <a:gdLst/>
              <a:ahLst/>
              <a:cxnLst/>
              <a:rect l="l" t="t" r="r" b="b"/>
              <a:pathLst>
                <a:path w="1079500" h="234950">
                  <a:moveTo>
                    <a:pt x="0" y="234334"/>
                  </a:moveTo>
                  <a:lnTo>
                    <a:pt x="1078997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407362" y="2418535"/>
              <a:ext cx="110199" cy="80547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5328364" y="2520869"/>
              <a:ext cx="1132205" cy="1302385"/>
            </a:xfrm>
            <a:custGeom>
              <a:avLst/>
              <a:gdLst/>
              <a:ahLst/>
              <a:cxnLst/>
              <a:rect l="l" t="t" r="r" b="b"/>
              <a:pathLst>
                <a:path w="1132204" h="1302385">
                  <a:moveTo>
                    <a:pt x="0" y="1302122"/>
                  </a:moveTo>
                  <a:lnTo>
                    <a:pt x="1131897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426987" y="2446095"/>
              <a:ext cx="99524" cy="104949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7019460" y="2434545"/>
              <a:ext cx="1106170" cy="523240"/>
            </a:xfrm>
            <a:custGeom>
              <a:avLst/>
              <a:gdLst/>
              <a:ahLst/>
              <a:cxnLst/>
              <a:rect l="l" t="t" r="r" b="b"/>
              <a:pathLst>
                <a:path w="1106170" h="523239">
                  <a:moveTo>
                    <a:pt x="0" y="0"/>
                  </a:moveTo>
                  <a:lnTo>
                    <a:pt x="1105672" y="522648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102158" y="2919219"/>
              <a:ext cx="110649" cy="84449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7019460" y="2434545"/>
              <a:ext cx="1129030" cy="1089025"/>
            </a:xfrm>
            <a:custGeom>
              <a:avLst/>
              <a:gdLst/>
              <a:ahLst/>
              <a:cxnLst/>
              <a:rect l="l" t="t" r="r" b="b"/>
              <a:pathLst>
                <a:path w="1129029" h="1089025">
                  <a:moveTo>
                    <a:pt x="0" y="0"/>
                  </a:moveTo>
                  <a:lnTo>
                    <a:pt x="1128822" y="1088547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116908" y="3490917"/>
              <a:ext cx="103124" cy="10172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Multi-</a:t>
            </a:r>
            <a:r>
              <a:rPr dirty="0"/>
              <a:t>Layer</a:t>
            </a:r>
            <a:r>
              <a:rPr spc="-110" dirty="0"/>
              <a:t> </a:t>
            </a:r>
            <a:r>
              <a:rPr dirty="0"/>
              <a:t>Perceptron</a:t>
            </a:r>
            <a:r>
              <a:rPr spc="-105" dirty="0"/>
              <a:t> </a:t>
            </a:r>
            <a:r>
              <a:rPr spc="-10" dirty="0"/>
              <a:t>(MLP)</a:t>
            </a:r>
          </a:p>
        </p:txBody>
      </p:sp>
      <p:sp>
        <p:nvSpPr>
          <p:cNvPr id="3" name="object 3"/>
          <p:cNvSpPr/>
          <p:nvPr/>
        </p:nvSpPr>
        <p:spPr>
          <a:xfrm>
            <a:off x="4827965" y="2434850"/>
            <a:ext cx="516890" cy="516890"/>
          </a:xfrm>
          <a:custGeom>
            <a:avLst/>
            <a:gdLst/>
            <a:ahLst/>
            <a:cxnLst/>
            <a:rect l="l" t="t" r="r" b="b"/>
            <a:pathLst>
              <a:path w="516889" h="516889">
                <a:moveTo>
                  <a:pt x="258299" y="516593"/>
                </a:moveTo>
                <a:lnTo>
                  <a:pt x="211871" y="512432"/>
                </a:lnTo>
                <a:lnTo>
                  <a:pt x="168172" y="500433"/>
                </a:lnTo>
                <a:lnTo>
                  <a:pt x="127933" y="481327"/>
                </a:lnTo>
                <a:lnTo>
                  <a:pt x="91882" y="455843"/>
                </a:lnTo>
                <a:lnTo>
                  <a:pt x="60750" y="424711"/>
                </a:lnTo>
                <a:lnTo>
                  <a:pt x="35266" y="388660"/>
                </a:lnTo>
                <a:lnTo>
                  <a:pt x="16160" y="348421"/>
                </a:lnTo>
                <a:lnTo>
                  <a:pt x="4161" y="304722"/>
                </a:lnTo>
                <a:lnTo>
                  <a:pt x="0" y="258294"/>
                </a:lnTo>
                <a:lnTo>
                  <a:pt x="4161" y="211866"/>
                </a:lnTo>
                <a:lnTo>
                  <a:pt x="16160" y="168168"/>
                </a:lnTo>
                <a:lnTo>
                  <a:pt x="35266" y="127929"/>
                </a:lnTo>
                <a:lnTo>
                  <a:pt x="60750" y="91879"/>
                </a:lnTo>
                <a:lnTo>
                  <a:pt x="91882" y="60748"/>
                </a:lnTo>
                <a:lnTo>
                  <a:pt x="127933" y="35265"/>
                </a:lnTo>
                <a:lnTo>
                  <a:pt x="168172" y="16159"/>
                </a:lnTo>
                <a:lnTo>
                  <a:pt x="211871" y="4161"/>
                </a:lnTo>
                <a:lnTo>
                  <a:pt x="258299" y="0"/>
                </a:lnTo>
                <a:lnTo>
                  <a:pt x="308923" y="5009"/>
                </a:lnTo>
                <a:lnTo>
                  <a:pt x="357143" y="19661"/>
                </a:lnTo>
                <a:lnTo>
                  <a:pt x="401603" y="43393"/>
                </a:lnTo>
                <a:lnTo>
                  <a:pt x="440949" y="75644"/>
                </a:lnTo>
                <a:lnTo>
                  <a:pt x="473198" y="114990"/>
                </a:lnTo>
                <a:lnTo>
                  <a:pt x="496933" y="159450"/>
                </a:lnTo>
                <a:lnTo>
                  <a:pt x="511588" y="207670"/>
                </a:lnTo>
                <a:lnTo>
                  <a:pt x="516598" y="258294"/>
                </a:lnTo>
                <a:lnTo>
                  <a:pt x="512437" y="304722"/>
                </a:lnTo>
                <a:lnTo>
                  <a:pt x="500438" y="348421"/>
                </a:lnTo>
                <a:lnTo>
                  <a:pt x="481332" y="388660"/>
                </a:lnTo>
                <a:lnTo>
                  <a:pt x="455848" y="424711"/>
                </a:lnTo>
                <a:lnTo>
                  <a:pt x="424716" y="455843"/>
                </a:lnTo>
                <a:lnTo>
                  <a:pt x="388665" y="481327"/>
                </a:lnTo>
                <a:lnTo>
                  <a:pt x="348426" y="500433"/>
                </a:lnTo>
                <a:lnTo>
                  <a:pt x="304727" y="512432"/>
                </a:lnTo>
                <a:lnTo>
                  <a:pt x="258299" y="516593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951237" y="2568566"/>
            <a:ext cx="21462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3950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350" baseline="-3395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844165" y="3024068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03" y="479281"/>
                </a:lnTo>
                <a:lnTo>
                  <a:pt x="147856" y="465176"/>
                </a:lnTo>
                <a:lnTo>
                  <a:pt x="106731" y="442856"/>
                </a:lnTo>
                <a:lnTo>
                  <a:pt x="70902" y="413296"/>
                </a:lnTo>
                <a:lnTo>
                  <a:pt x="41342" y="377467"/>
                </a:lnTo>
                <a:lnTo>
                  <a:pt x="19023" y="336342"/>
                </a:lnTo>
                <a:lnTo>
                  <a:pt x="4917" y="290895"/>
                </a:lnTo>
                <a:lnTo>
                  <a:pt x="0" y="242099"/>
                </a:lnTo>
                <a:lnTo>
                  <a:pt x="4917" y="193310"/>
                </a:lnTo>
                <a:lnTo>
                  <a:pt x="19023" y="147866"/>
                </a:lnTo>
                <a:lnTo>
                  <a:pt x="41342" y="106742"/>
                </a:lnTo>
                <a:lnTo>
                  <a:pt x="70902" y="70912"/>
                </a:lnTo>
                <a:lnTo>
                  <a:pt x="106731" y="41348"/>
                </a:lnTo>
                <a:lnTo>
                  <a:pt x="147856" y="19026"/>
                </a:lnTo>
                <a:lnTo>
                  <a:pt x="193303" y="4918"/>
                </a:lnTo>
                <a:lnTo>
                  <a:pt x="242099" y="0"/>
                </a:lnTo>
                <a:lnTo>
                  <a:pt x="289545" y="4697"/>
                </a:lnTo>
                <a:lnTo>
                  <a:pt x="334736" y="18437"/>
                </a:lnTo>
                <a:lnTo>
                  <a:pt x="376403" y="40689"/>
                </a:lnTo>
                <a:lnTo>
                  <a:pt x="413274" y="70924"/>
                </a:lnTo>
                <a:lnTo>
                  <a:pt x="443509" y="107795"/>
                </a:lnTo>
                <a:lnTo>
                  <a:pt x="465761" y="149462"/>
                </a:lnTo>
                <a:lnTo>
                  <a:pt x="479501" y="194653"/>
                </a:lnTo>
                <a:lnTo>
                  <a:pt x="484199" y="242099"/>
                </a:lnTo>
                <a:lnTo>
                  <a:pt x="479280" y="290895"/>
                </a:lnTo>
                <a:lnTo>
                  <a:pt x="465172" y="336342"/>
                </a:lnTo>
                <a:lnTo>
                  <a:pt x="442850" y="377467"/>
                </a:lnTo>
                <a:lnTo>
                  <a:pt x="413286" y="413296"/>
                </a:lnTo>
                <a:lnTo>
                  <a:pt x="377456" y="442856"/>
                </a:lnTo>
                <a:lnTo>
                  <a:pt x="336332" y="465176"/>
                </a:lnTo>
                <a:lnTo>
                  <a:pt x="290888" y="479281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962695" y="3141584"/>
            <a:ext cx="21462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39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350" baseline="-3395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844165" y="3580893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03" y="479281"/>
                </a:lnTo>
                <a:lnTo>
                  <a:pt x="147856" y="465176"/>
                </a:lnTo>
                <a:lnTo>
                  <a:pt x="106731" y="442856"/>
                </a:lnTo>
                <a:lnTo>
                  <a:pt x="70902" y="413296"/>
                </a:lnTo>
                <a:lnTo>
                  <a:pt x="41342" y="377467"/>
                </a:lnTo>
                <a:lnTo>
                  <a:pt x="19023" y="336342"/>
                </a:lnTo>
                <a:lnTo>
                  <a:pt x="4917" y="290895"/>
                </a:lnTo>
                <a:lnTo>
                  <a:pt x="0" y="242099"/>
                </a:lnTo>
                <a:lnTo>
                  <a:pt x="4917" y="193310"/>
                </a:lnTo>
                <a:lnTo>
                  <a:pt x="19023" y="147866"/>
                </a:lnTo>
                <a:lnTo>
                  <a:pt x="41342" y="106742"/>
                </a:lnTo>
                <a:lnTo>
                  <a:pt x="70902" y="70912"/>
                </a:lnTo>
                <a:lnTo>
                  <a:pt x="106731" y="41348"/>
                </a:lnTo>
                <a:lnTo>
                  <a:pt x="147856" y="19026"/>
                </a:lnTo>
                <a:lnTo>
                  <a:pt x="193303" y="4918"/>
                </a:lnTo>
                <a:lnTo>
                  <a:pt x="242099" y="0"/>
                </a:lnTo>
                <a:lnTo>
                  <a:pt x="289545" y="4697"/>
                </a:lnTo>
                <a:lnTo>
                  <a:pt x="334736" y="18437"/>
                </a:lnTo>
                <a:lnTo>
                  <a:pt x="376403" y="40689"/>
                </a:lnTo>
                <a:lnTo>
                  <a:pt x="413274" y="70924"/>
                </a:lnTo>
                <a:lnTo>
                  <a:pt x="443509" y="107795"/>
                </a:lnTo>
                <a:lnTo>
                  <a:pt x="465761" y="149462"/>
                </a:lnTo>
                <a:lnTo>
                  <a:pt x="479501" y="194653"/>
                </a:lnTo>
                <a:lnTo>
                  <a:pt x="484199" y="242099"/>
                </a:lnTo>
                <a:lnTo>
                  <a:pt x="479280" y="290895"/>
                </a:lnTo>
                <a:lnTo>
                  <a:pt x="465172" y="336342"/>
                </a:lnTo>
                <a:lnTo>
                  <a:pt x="442850" y="377467"/>
                </a:lnTo>
                <a:lnTo>
                  <a:pt x="413286" y="413296"/>
                </a:lnTo>
                <a:lnTo>
                  <a:pt x="377456" y="442856"/>
                </a:lnTo>
                <a:lnTo>
                  <a:pt x="336332" y="465176"/>
                </a:lnTo>
                <a:lnTo>
                  <a:pt x="290888" y="479281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962695" y="3698414"/>
            <a:ext cx="2203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537362" y="3301268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03" y="479281"/>
                </a:lnTo>
                <a:lnTo>
                  <a:pt x="147856" y="465176"/>
                </a:lnTo>
                <a:lnTo>
                  <a:pt x="106731" y="442856"/>
                </a:lnTo>
                <a:lnTo>
                  <a:pt x="70902" y="413296"/>
                </a:lnTo>
                <a:lnTo>
                  <a:pt x="41342" y="377467"/>
                </a:lnTo>
                <a:lnTo>
                  <a:pt x="19023" y="336342"/>
                </a:lnTo>
                <a:lnTo>
                  <a:pt x="4917" y="290895"/>
                </a:lnTo>
                <a:lnTo>
                  <a:pt x="0" y="242099"/>
                </a:lnTo>
                <a:lnTo>
                  <a:pt x="4917" y="193310"/>
                </a:lnTo>
                <a:lnTo>
                  <a:pt x="19023" y="147866"/>
                </a:lnTo>
                <a:lnTo>
                  <a:pt x="41342" y="106742"/>
                </a:lnTo>
                <a:lnTo>
                  <a:pt x="70902" y="70912"/>
                </a:lnTo>
                <a:lnTo>
                  <a:pt x="106731" y="41348"/>
                </a:lnTo>
                <a:lnTo>
                  <a:pt x="147856" y="19026"/>
                </a:lnTo>
                <a:lnTo>
                  <a:pt x="193303" y="4918"/>
                </a:lnTo>
                <a:lnTo>
                  <a:pt x="242099" y="0"/>
                </a:lnTo>
                <a:lnTo>
                  <a:pt x="289545" y="4697"/>
                </a:lnTo>
                <a:lnTo>
                  <a:pt x="334736" y="18437"/>
                </a:lnTo>
                <a:lnTo>
                  <a:pt x="376403" y="40689"/>
                </a:lnTo>
                <a:lnTo>
                  <a:pt x="413274" y="70924"/>
                </a:lnTo>
                <a:lnTo>
                  <a:pt x="443509" y="107795"/>
                </a:lnTo>
                <a:lnTo>
                  <a:pt x="465761" y="149462"/>
                </a:lnTo>
                <a:lnTo>
                  <a:pt x="479501" y="194653"/>
                </a:lnTo>
                <a:lnTo>
                  <a:pt x="484199" y="242099"/>
                </a:lnTo>
                <a:lnTo>
                  <a:pt x="479280" y="290895"/>
                </a:lnTo>
                <a:lnTo>
                  <a:pt x="465172" y="336342"/>
                </a:lnTo>
                <a:lnTo>
                  <a:pt x="442850" y="377467"/>
                </a:lnTo>
                <a:lnTo>
                  <a:pt x="413286" y="413296"/>
                </a:lnTo>
                <a:lnTo>
                  <a:pt x="377456" y="442856"/>
                </a:lnTo>
                <a:lnTo>
                  <a:pt x="336332" y="465176"/>
                </a:lnTo>
                <a:lnTo>
                  <a:pt x="290888" y="479281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8E7C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655894" y="3418789"/>
            <a:ext cx="231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08041" y="1546980"/>
            <a:ext cx="460375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22225" marR="5080" indent="-10160">
              <a:lnSpc>
                <a:spcPts val="1650"/>
              </a:lnSpc>
              <a:spcBef>
                <a:spcPts val="180"/>
              </a:spcBef>
            </a:pPr>
            <a:r>
              <a:rPr sz="1400" b="1" spc="-10" dirty="0">
                <a:solidFill>
                  <a:srgbClr val="FFAA3F"/>
                </a:solidFill>
                <a:latin typeface="Arial"/>
                <a:cs typeface="Arial"/>
              </a:rPr>
              <a:t>input layer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42316" y="1550133"/>
            <a:ext cx="607695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95885" marR="5080" indent="-83820">
              <a:lnSpc>
                <a:spcPts val="1650"/>
              </a:lnSpc>
              <a:spcBef>
                <a:spcPts val="180"/>
              </a:spcBef>
            </a:pPr>
            <a:r>
              <a:rPr sz="1400" b="1" spc="-10" dirty="0">
                <a:solidFill>
                  <a:srgbClr val="8E7CC3"/>
                </a:solidFill>
                <a:latin typeface="Arial"/>
                <a:cs typeface="Arial"/>
              </a:rPr>
              <a:t>hidden layer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181584" y="1556610"/>
            <a:ext cx="578485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81280" marR="5080" indent="-69215">
              <a:lnSpc>
                <a:spcPts val="1650"/>
              </a:lnSpc>
              <a:spcBef>
                <a:spcPts val="180"/>
              </a:spcBef>
            </a:pPr>
            <a:r>
              <a:rPr sz="1400" b="1" spc="-10" dirty="0">
                <a:solidFill>
                  <a:srgbClr val="6EA8DB"/>
                </a:solidFill>
                <a:latin typeface="Arial"/>
                <a:cs typeface="Arial"/>
              </a:rPr>
              <a:t>output layer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535262" y="2746869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5">
                <a:moveTo>
                  <a:pt x="242099" y="484199"/>
                </a:moveTo>
                <a:lnTo>
                  <a:pt x="193310" y="479280"/>
                </a:lnTo>
                <a:lnTo>
                  <a:pt x="147866" y="465172"/>
                </a:lnTo>
                <a:lnTo>
                  <a:pt x="106742" y="442850"/>
                </a:lnTo>
                <a:lnTo>
                  <a:pt x="70912" y="413286"/>
                </a:lnTo>
                <a:lnTo>
                  <a:pt x="41348" y="377456"/>
                </a:lnTo>
                <a:lnTo>
                  <a:pt x="19026" y="336332"/>
                </a:lnTo>
                <a:lnTo>
                  <a:pt x="4918" y="290888"/>
                </a:lnTo>
                <a:lnTo>
                  <a:pt x="0" y="242099"/>
                </a:lnTo>
                <a:lnTo>
                  <a:pt x="4918" y="193303"/>
                </a:lnTo>
                <a:lnTo>
                  <a:pt x="19026" y="147856"/>
                </a:lnTo>
                <a:lnTo>
                  <a:pt x="41348" y="106731"/>
                </a:lnTo>
                <a:lnTo>
                  <a:pt x="70916" y="70899"/>
                </a:lnTo>
                <a:lnTo>
                  <a:pt x="106742" y="41342"/>
                </a:lnTo>
                <a:lnTo>
                  <a:pt x="147866" y="19023"/>
                </a:lnTo>
                <a:lnTo>
                  <a:pt x="193310" y="4917"/>
                </a:lnTo>
                <a:lnTo>
                  <a:pt x="242099" y="0"/>
                </a:lnTo>
                <a:lnTo>
                  <a:pt x="289559" y="4693"/>
                </a:lnTo>
                <a:lnTo>
                  <a:pt x="334758" y="18424"/>
                </a:lnTo>
                <a:lnTo>
                  <a:pt x="376427" y="40668"/>
                </a:lnTo>
                <a:lnTo>
                  <a:pt x="413301" y="70902"/>
                </a:lnTo>
                <a:lnTo>
                  <a:pt x="443530" y="107771"/>
                </a:lnTo>
                <a:lnTo>
                  <a:pt x="465774" y="149440"/>
                </a:lnTo>
                <a:lnTo>
                  <a:pt x="479505" y="194639"/>
                </a:lnTo>
                <a:lnTo>
                  <a:pt x="484199" y="242099"/>
                </a:lnTo>
                <a:lnTo>
                  <a:pt x="479281" y="290888"/>
                </a:lnTo>
                <a:lnTo>
                  <a:pt x="465176" y="336332"/>
                </a:lnTo>
                <a:lnTo>
                  <a:pt x="442856" y="377456"/>
                </a:lnTo>
                <a:lnTo>
                  <a:pt x="413296" y="413286"/>
                </a:lnTo>
                <a:lnTo>
                  <a:pt x="377467" y="442850"/>
                </a:lnTo>
                <a:lnTo>
                  <a:pt x="336342" y="465172"/>
                </a:lnTo>
                <a:lnTo>
                  <a:pt x="290895" y="479280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8E7C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653799" y="2864368"/>
            <a:ext cx="231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350" spc="-37" baseline="-339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350" baseline="-3395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537362" y="3855692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03" y="479280"/>
                </a:lnTo>
                <a:lnTo>
                  <a:pt x="147856" y="465172"/>
                </a:lnTo>
                <a:lnTo>
                  <a:pt x="106731" y="442850"/>
                </a:lnTo>
                <a:lnTo>
                  <a:pt x="70902" y="413286"/>
                </a:lnTo>
                <a:lnTo>
                  <a:pt x="41342" y="377456"/>
                </a:lnTo>
                <a:lnTo>
                  <a:pt x="19023" y="336332"/>
                </a:lnTo>
                <a:lnTo>
                  <a:pt x="4917" y="290888"/>
                </a:lnTo>
                <a:lnTo>
                  <a:pt x="0" y="242099"/>
                </a:lnTo>
                <a:lnTo>
                  <a:pt x="4917" y="193310"/>
                </a:lnTo>
                <a:lnTo>
                  <a:pt x="19023" y="147866"/>
                </a:lnTo>
                <a:lnTo>
                  <a:pt x="41342" y="106742"/>
                </a:lnTo>
                <a:lnTo>
                  <a:pt x="70918" y="70899"/>
                </a:lnTo>
                <a:lnTo>
                  <a:pt x="106731" y="41348"/>
                </a:lnTo>
                <a:lnTo>
                  <a:pt x="147856" y="19026"/>
                </a:lnTo>
                <a:lnTo>
                  <a:pt x="193303" y="4918"/>
                </a:lnTo>
                <a:lnTo>
                  <a:pt x="242099" y="0"/>
                </a:lnTo>
                <a:lnTo>
                  <a:pt x="289545" y="4693"/>
                </a:lnTo>
                <a:lnTo>
                  <a:pt x="334736" y="18424"/>
                </a:lnTo>
                <a:lnTo>
                  <a:pt x="376403" y="40668"/>
                </a:lnTo>
                <a:lnTo>
                  <a:pt x="413284" y="70912"/>
                </a:lnTo>
                <a:lnTo>
                  <a:pt x="443509" y="107774"/>
                </a:lnTo>
                <a:lnTo>
                  <a:pt x="465761" y="149449"/>
                </a:lnTo>
                <a:lnTo>
                  <a:pt x="479501" y="194649"/>
                </a:lnTo>
                <a:lnTo>
                  <a:pt x="484199" y="242099"/>
                </a:lnTo>
                <a:lnTo>
                  <a:pt x="479280" y="290888"/>
                </a:lnTo>
                <a:lnTo>
                  <a:pt x="465172" y="336332"/>
                </a:lnTo>
                <a:lnTo>
                  <a:pt x="442850" y="377456"/>
                </a:lnTo>
                <a:lnTo>
                  <a:pt x="413286" y="413286"/>
                </a:lnTo>
                <a:lnTo>
                  <a:pt x="377456" y="442850"/>
                </a:lnTo>
                <a:lnTo>
                  <a:pt x="336332" y="465172"/>
                </a:lnTo>
                <a:lnTo>
                  <a:pt x="290888" y="479280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8E7C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655894" y="3973200"/>
            <a:ext cx="2381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228458" y="2763944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5">
                <a:moveTo>
                  <a:pt x="242099" y="484199"/>
                </a:moveTo>
                <a:lnTo>
                  <a:pt x="193310" y="479280"/>
                </a:lnTo>
                <a:lnTo>
                  <a:pt x="147866" y="465172"/>
                </a:lnTo>
                <a:lnTo>
                  <a:pt x="106742" y="442850"/>
                </a:lnTo>
                <a:lnTo>
                  <a:pt x="70912" y="413286"/>
                </a:lnTo>
                <a:lnTo>
                  <a:pt x="41348" y="377456"/>
                </a:lnTo>
                <a:lnTo>
                  <a:pt x="19026" y="336332"/>
                </a:lnTo>
                <a:lnTo>
                  <a:pt x="4918" y="290888"/>
                </a:lnTo>
                <a:lnTo>
                  <a:pt x="0" y="242099"/>
                </a:lnTo>
                <a:lnTo>
                  <a:pt x="4918" y="193310"/>
                </a:lnTo>
                <a:lnTo>
                  <a:pt x="19026" y="147866"/>
                </a:lnTo>
                <a:lnTo>
                  <a:pt x="41348" y="106742"/>
                </a:lnTo>
                <a:lnTo>
                  <a:pt x="70927" y="70899"/>
                </a:lnTo>
                <a:lnTo>
                  <a:pt x="106742" y="41348"/>
                </a:lnTo>
                <a:lnTo>
                  <a:pt x="147866" y="19026"/>
                </a:lnTo>
                <a:lnTo>
                  <a:pt x="193310" y="4918"/>
                </a:lnTo>
                <a:lnTo>
                  <a:pt x="242099" y="0"/>
                </a:lnTo>
                <a:lnTo>
                  <a:pt x="289559" y="4693"/>
                </a:lnTo>
                <a:lnTo>
                  <a:pt x="334758" y="18424"/>
                </a:lnTo>
                <a:lnTo>
                  <a:pt x="376427" y="40668"/>
                </a:lnTo>
                <a:lnTo>
                  <a:pt x="413309" y="70912"/>
                </a:lnTo>
                <a:lnTo>
                  <a:pt x="443530" y="107774"/>
                </a:lnTo>
                <a:lnTo>
                  <a:pt x="465774" y="149449"/>
                </a:lnTo>
                <a:lnTo>
                  <a:pt x="479505" y="194649"/>
                </a:lnTo>
                <a:lnTo>
                  <a:pt x="484199" y="242099"/>
                </a:lnTo>
                <a:lnTo>
                  <a:pt x="479280" y="290888"/>
                </a:lnTo>
                <a:lnTo>
                  <a:pt x="465172" y="336332"/>
                </a:lnTo>
                <a:lnTo>
                  <a:pt x="442850" y="377456"/>
                </a:lnTo>
                <a:lnTo>
                  <a:pt x="413286" y="413286"/>
                </a:lnTo>
                <a:lnTo>
                  <a:pt x="377456" y="442850"/>
                </a:lnTo>
                <a:lnTo>
                  <a:pt x="336332" y="465172"/>
                </a:lnTo>
                <a:lnTo>
                  <a:pt x="290888" y="479280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6EA8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8346998" y="2881456"/>
            <a:ext cx="231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230558" y="3360393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03" y="479280"/>
                </a:lnTo>
                <a:lnTo>
                  <a:pt x="147856" y="465172"/>
                </a:lnTo>
                <a:lnTo>
                  <a:pt x="106731" y="442850"/>
                </a:lnTo>
                <a:lnTo>
                  <a:pt x="70902" y="413286"/>
                </a:lnTo>
                <a:lnTo>
                  <a:pt x="41342" y="377456"/>
                </a:lnTo>
                <a:lnTo>
                  <a:pt x="19023" y="336332"/>
                </a:lnTo>
                <a:lnTo>
                  <a:pt x="4917" y="290888"/>
                </a:lnTo>
                <a:lnTo>
                  <a:pt x="0" y="242099"/>
                </a:lnTo>
                <a:lnTo>
                  <a:pt x="4917" y="193310"/>
                </a:lnTo>
                <a:lnTo>
                  <a:pt x="19023" y="147866"/>
                </a:lnTo>
                <a:lnTo>
                  <a:pt x="41342" y="106742"/>
                </a:lnTo>
                <a:lnTo>
                  <a:pt x="70918" y="70899"/>
                </a:lnTo>
                <a:lnTo>
                  <a:pt x="106731" y="41348"/>
                </a:lnTo>
                <a:lnTo>
                  <a:pt x="147856" y="19026"/>
                </a:lnTo>
                <a:lnTo>
                  <a:pt x="193303" y="4918"/>
                </a:lnTo>
                <a:lnTo>
                  <a:pt x="242099" y="0"/>
                </a:lnTo>
                <a:lnTo>
                  <a:pt x="289545" y="4693"/>
                </a:lnTo>
                <a:lnTo>
                  <a:pt x="334736" y="18424"/>
                </a:lnTo>
                <a:lnTo>
                  <a:pt x="376403" y="40668"/>
                </a:lnTo>
                <a:lnTo>
                  <a:pt x="413284" y="70912"/>
                </a:lnTo>
                <a:lnTo>
                  <a:pt x="443509" y="107774"/>
                </a:lnTo>
                <a:lnTo>
                  <a:pt x="465761" y="149449"/>
                </a:lnTo>
                <a:lnTo>
                  <a:pt x="479501" y="194649"/>
                </a:lnTo>
                <a:lnTo>
                  <a:pt x="484199" y="242099"/>
                </a:lnTo>
                <a:lnTo>
                  <a:pt x="479280" y="290888"/>
                </a:lnTo>
                <a:lnTo>
                  <a:pt x="465172" y="336332"/>
                </a:lnTo>
                <a:lnTo>
                  <a:pt x="442850" y="377456"/>
                </a:lnTo>
                <a:lnTo>
                  <a:pt x="413286" y="413286"/>
                </a:lnTo>
                <a:lnTo>
                  <a:pt x="377456" y="442850"/>
                </a:lnTo>
                <a:lnTo>
                  <a:pt x="336332" y="465172"/>
                </a:lnTo>
                <a:lnTo>
                  <a:pt x="290888" y="479280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6EA8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349084" y="3477901"/>
            <a:ext cx="2374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535262" y="2192445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5">
                <a:moveTo>
                  <a:pt x="242099" y="484199"/>
                </a:moveTo>
                <a:lnTo>
                  <a:pt x="193310" y="479280"/>
                </a:lnTo>
                <a:lnTo>
                  <a:pt x="147866" y="465172"/>
                </a:lnTo>
                <a:lnTo>
                  <a:pt x="106742" y="442850"/>
                </a:lnTo>
                <a:lnTo>
                  <a:pt x="70912" y="413286"/>
                </a:lnTo>
                <a:lnTo>
                  <a:pt x="41348" y="377456"/>
                </a:lnTo>
                <a:lnTo>
                  <a:pt x="19026" y="336332"/>
                </a:lnTo>
                <a:lnTo>
                  <a:pt x="4918" y="290888"/>
                </a:lnTo>
                <a:lnTo>
                  <a:pt x="0" y="242099"/>
                </a:lnTo>
                <a:lnTo>
                  <a:pt x="4918" y="193308"/>
                </a:lnTo>
                <a:lnTo>
                  <a:pt x="19026" y="147863"/>
                </a:lnTo>
                <a:lnTo>
                  <a:pt x="41348" y="106739"/>
                </a:lnTo>
                <a:lnTo>
                  <a:pt x="70912" y="70909"/>
                </a:lnTo>
                <a:lnTo>
                  <a:pt x="106742" y="41346"/>
                </a:lnTo>
                <a:lnTo>
                  <a:pt x="147866" y="19025"/>
                </a:lnTo>
                <a:lnTo>
                  <a:pt x="193310" y="4918"/>
                </a:lnTo>
                <a:lnTo>
                  <a:pt x="242099" y="0"/>
                </a:lnTo>
                <a:lnTo>
                  <a:pt x="289559" y="4694"/>
                </a:lnTo>
                <a:lnTo>
                  <a:pt x="334758" y="18429"/>
                </a:lnTo>
                <a:lnTo>
                  <a:pt x="376427" y="40676"/>
                </a:lnTo>
                <a:lnTo>
                  <a:pt x="413299" y="70909"/>
                </a:lnTo>
                <a:lnTo>
                  <a:pt x="443530" y="107782"/>
                </a:lnTo>
                <a:lnTo>
                  <a:pt x="465774" y="149451"/>
                </a:lnTo>
                <a:lnTo>
                  <a:pt x="479505" y="194647"/>
                </a:lnTo>
                <a:lnTo>
                  <a:pt x="484199" y="242099"/>
                </a:lnTo>
                <a:lnTo>
                  <a:pt x="479281" y="290888"/>
                </a:lnTo>
                <a:lnTo>
                  <a:pt x="465176" y="336332"/>
                </a:lnTo>
                <a:lnTo>
                  <a:pt x="442856" y="377456"/>
                </a:lnTo>
                <a:lnTo>
                  <a:pt x="413296" y="413286"/>
                </a:lnTo>
                <a:lnTo>
                  <a:pt x="377467" y="442850"/>
                </a:lnTo>
                <a:lnTo>
                  <a:pt x="336342" y="465172"/>
                </a:lnTo>
                <a:lnTo>
                  <a:pt x="290895" y="479280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8E7C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653799" y="2309958"/>
            <a:ext cx="231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647563" y="2689719"/>
            <a:ext cx="495300" cy="1185545"/>
          </a:xfrm>
          <a:custGeom>
            <a:avLst/>
            <a:gdLst/>
            <a:ahLst/>
            <a:cxnLst/>
            <a:rect l="l" t="t" r="r" b="b"/>
            <a:pathLst>
              <a:path w="495300" h="1185545">
                <a:moveTo>
                  <a:pt x="0" y="1135497"/>
                </a:moveTo>
                <a:lnTo>
                  <a:pt x="444299" y="0"/>
                </a:lnTo>
              </a:path>
              <a:path w="495300" h="1185545">
                <a:moveTo>
                  <a:pt x="494699" y="1185047"/>
                </a:moveTo>
                <a:lnTo>
                  <a:pt x="50399" y="37549"/>
                </a:lnTo>
              </a:path>
            </a:pathLst>
          </a:custGeom>
          <a:ln w="19049">
            <a:solidFill>
              <a:srgbClr val="7790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400159" y="2689719"/>
            <a:ext cx="495300" cy="1185545"/>
          </a:xfrm>
          <a:custGeom>
            <a:avLst/>
            <a:gdLst/>
            <a:ahLst/>
            <a:cxnLst/>
            <a:rect l="l" t="t" r="r" b="b"/>
            <a:pathLst>
              <a:path w="495300" h="1185545">
                <a:moveTo>
                  <a:pt x="0" y="1135497"/>
                </a:moveTo>
                <a:lnTo>
                  <a:pt x="444299" y="0"/>
                </a:lnTo>
              </a:path>
              <a:path w="495300" h="1185545">
                <a:moveTo>
                  <a:pt x="494699" y="1185047"/>
                </a:moveTo>
                <a:lnTo>
                  <a:pt x="50399" y="37549"/>
                </a:lnTo>
              </a:path>
            </a:pathLst>
          </a:custGeom>
          <a:ln w="19049">
            <a:solidFill>
              <a:srgbClr val="7790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Deep</a:t>
            </a:r>
            <a:r>
              <a:rPr spc="-100" dirty="0"/>
              <a:t> </a:t>
            </a:r>
            <a:r>
              <a:rPr dirty="0"/>
              <a:t>Neural</a:t>
            </a:r>
            <a:r>
              <a:rPr spc="-100" dirty="0"/>
              <a:t> </a:t>
            </a:r>
            <a:r>
              <a:rPr spc="-10" dirty="0"/>
              <a:t>Network</a:t>
            </a:r>
          </a:p>
        </p:txBody>
      </p:sp>
      <p:sp>
        <p:nvSpPr>
          <p:cNvPr id="3" name="object 3"/>
          <p:cNvSpPr/>
          <p:nvPr/>
        </p:nvSpPr>
        <p:spPr>
          <a:xfrm>
            <a:off x="3303968" y="2434850"/>
            <a:ext cx="516890" cy="516890"/>
          </a:xfrm>
          <a:custGeom>
            <a:avLst/>
            <a:gdLst/>
            <a:ahLst/>
            <a:cxnLst/>
            <a:rect l="l" t="t" r="r" b="b"/>
            <a:pathLst>
              <a:path w="516889" h="516889">
                <a:moveTo>
                  <a:pt x="258299" y="516593"/>
                </a:moveTo>
                <a:lnTo>
                  <a:pt x="211871" y="512432"/>
                </a:lnTo>
                <a:lnTo>
                  <a:pt x="168172" y="500433"/>
                </a:lnTo>
                <a:lnTo>
                  <a:pt x="127933" y="481327"/>
                </a:lnTo>
                <a:lnTo>
                  <a:pt x="91882" y="455843"/>
                </a:lnTo>
                <a:lnTo>
                  <a:pt x="60750" y="424711"/>
                </a:lnTo>
                <a:lnTo>
                  <a:pt x="35266" y="388660"/>
                </a:lnTo>
                <a:lnTo>
                  <a:pt x="16160" y="348421"/>
                </a:lnTo>
                <a:lnTo>
                  <a:pt x="4161" y="304722"/>
                </a:lnTo>
                <a:lnTo>
                  <a:pt x="0" y="258294"/>
                </a:lnTo>
                <a:lnTo>
                  <a:pt x="4161" y="211866"/>
                </a:lnTo>
                <a:lnTo>
                  <a:pt x="16160" y="168168"/>
                </a:lnTo>
                <a:lnTo>
                  <a:pt x="35266" y="127929"/>
                </a:lnTo>
                <a:lnTo>
                  <a:pt x="60750" y="91879"/>
                </a:lnTo>
                <a:lnTo>
                  <a:pt x="91882" y="60748"/>
                </a:lnTo>
                <a:lnTo>
                  <a:pt x="127933" y="35265"/>
                </a:lnTo>
                <a:lnTo>
                  <a:pt x="168172" y="16159"/>
                </a:lnTo>
                <a:lnTo>
                  <a:pt x="211871" y="4161"/>
                </a:lnTo>
                <a:lnTo>
                  <a:pt x="258299" y="0"/>
                </a:lnTo>
                <a:lnTo>
                  <a:pt x="308923" y="5009"/>
                </a:lnTo>
                <a:lnTo>
                  <a:pt x="357143" y="19661"/>
                </a:lnTo>
                <a:lnTo>
                  <a:pt x="401603" y="43393"/>
                </a:lnTo>
                <a:lnTo>
                  <a:pt x="440949" y="75644"/>
                </a:lnTo>
                <a:lnTo>
                  <a:pt x="473198" y="114990"/>
                </a:lnTo>
                <a:lnTo>
                  <a:pt x="496933" y="159450"/>
                </a:lnTo>
                <a:lnTo>
                  <a:pt x="511588" y="207670"/>
                </a:lnTo>
                <a:lnTo>
                  <a:pt x="516598" y="258294"/>
                </a:lnTo>
                <a:lnTo>
                  <a:pt x="512437" y="304722"/>
                </a:lnTo>
                <a:lnTo>
                  <a:pt x="500438" y="348421"/>
                </a:lnTo>
                <a:lnTo>
                  <a:pt x="481332" y="388660"/>
                </a:lnTo>
                <a:lnTo>
                  <a:pt x="455848" y="424711"/>
                </a:lnTo>
                <a:lnTo>
                  <a:pt x="424716" y="455843"/>
                </a:lnTo>
                <a:lnTo>
                  <a:pt x="388665" y="481327"/>
                </a:lnTo>
                <a:lnTo>
                  <a:pt x="348426" y="500433"/>
                </a:lnTo>
                <a:lnTo>
                  <a:pt x="304727" y="512432"/>
                </a:lnTo>
                <a:lnTo>
                  <a:pt x="258299" y="516593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427240" y="2568566"/>
            <a:ext cx="21462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3950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350" baseline="-3395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20168" y="3024068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03" y="479281"/>
                </a:lnTo>
                <a:lnTo>
                  <a:pt x="147856" y="465176"/>
                </a:lnTo>
                <a:lnTo>
                  <a:pt x="106731" y="442856"/>
                </a:lnTo>
                <a:lnTo>
                  <a:pt x="70902" y="413296"/>
                </a:lnTo>
                <a:lnTo>
                  <a:pt x="41342" y="377467"/>
                </a:lnTo>
                <a:lnTo>
                  <a:pt x="19023" y="336342"/>
                </a:lnTo>
                <a:lnTo>
                  <a:pt x="4917" y="290895"/>
                </a:lnTo>
                <a:lnTo>
                  <a:pt x="0" y="242099"/>
                </a:lnTo>
                <a:lnTo>
                  <a:pt x="4917" y="193310"/>
                </a:lnTo>
                <a:lnTo>
                  <a:pt x="19023" y="147866"/>
                </a:lnTo>
                <a:lnTo>
                  <a:pt x="41342" y="106742"/>
                </a:lnTo>
                <a:lnTo>
                  <a:pt x="70902" y="70912"/>
                </a:lnTo>
                <a:lnTo>
                  <a:pt x="106731" y="41348"/>
                </a:lnTo>
                <a:lnTo>
                  <a:pt x="147856" y="19026"/>
                </a:lnTo>
                <a:lnTo>
                  <a:pt x="193303" y="4918"/>
                </a:lnTo>
                <a:lnTo>
                  <a:pt x="242099" y="0"/>
                </a:lnTo>
                <a:lnTo>
                  <a:pt x="289545" y="4697"/>
                </a:lnTo>
                <a:lnTo>
                  <a:pt x="334736" y="18437"/>
                </a:lnTo>
                <a:lnTo>
                  <a:pt x="376403" y="40689"/>
                </a:lnTo>
                <a:lnTo>
                  <a:pt x="413274" y="70924"/>
                </a:lnTo>
                <a:lnTo>
                  <a:pt x="443509" y="107795"/>
                </a:lnTo>
                <a:lnTo>
                  <a:pt x="465761" y="149462"/>
                </a:lnTo>
                <a:lnTo>
                  <a:pt x="479501" y="194653"/>
                </a:lnTo>
                <a:lnTo>
                  <a:pt x="484199" y="242099"/>
                </a:lnTo>
                <a:lnTo>
                  <a:pt x="479280" y="290895"/>
                </a:lnTo>
                <a:lnTo>
                  <a:pt x="465172" y="336342"/>
                </a:lnTo>
                <a:lnTo>
                  <a:pt x="442850" y="377467"/>
                </a:lnTo>
                <a:lnTo>
                  <a:pt x="413286" y="413296"/>
                </a:lnTo>
                <a:lnTo>
                  <a:pt x="377456" y="442856"/>
                </a:lnTo>
                <a:lnTo>
                  <a:pt x="336332" y="465176"/>
                </a:lnTo>
                <a:lnTo>
                  <a:pt x="290888" y="479281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438699" y="3141584"/>
            <a:ext cx="21462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39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350" baseline="-3395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320168" y="3580893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03" y="479281"/>
                </a:lnTo>
                <a:lnTo>
                  <a:pt x="147856" y="465176"/>
                </a:lnTo>
                <a:lnTo>
                  <a:pt x="106731" y="442856"/>
                </a:lnTo>
                <a:lnTo>
                  <a:pt x="70902" y="413296"/>
                </a:lnTo>
                <a:lnTo>
                  <a:pt x="41342" y="377467"/>
                </a:lnTo>
                <a:lnTo>
                  <a:pt x="19023" y="336342"/>
                </a:lnTo>
                <a:lnTo>
                  <a:pt x="4917" y="290895"/>
                </a:lnTo>
                <a:lnTo>
                  <a:pt x="0" y="242099"/>
                </a:lnTo>
                <a:lnTo>
                  <a:pt x="4917" y="193310"/>
                </a:lnTo>
                <a:lnTo>
                  <a:pt x="19023" y="147866"/>
                </a:lnTo>
                <a:lnTo>
                  <a:pt x="41342" y="106742"/>
                </a:lnTo>
                <a:lnTo>
                  <a:pt x="70902" y="70912"/>
                </a:lnTo>
                <a:lnTo>
                  <a:pt x="106731" y="41348"/>
                </a:lnTo>
                <a:lnTo>
                  <a:pt x="147856" y="19026"/>
                </a:lnTo>
                <a:lnTo>
                  <a:pt x="193303" y="4918"/>
                </a:lnTo>
                <a:lnTo>
                  <a:pt x="242099" y="0"/>
                </a:lnTo>
                <a:lnTo>
                  <a:pt x="289545" y="4697"/>
                </a:lnTo>
                <a:lnTo>
                  <a:pt x="334736" y="18437"/>
                </a:lnTo>
                <a:lnTo>
                  <a:pt x="376403" y="40689"/>
                </a:lnTo>
                <a:lnTo>
                  <a:pt x="413274" y="70924"/>
                </a:lnTo>
                <a:lnTo>
                  <a:pt x="443509" y="107795"/>
                </a:lnTo>
                <a:lnTo>
                  <a:pt x="465761" y="149462"/>
                </a:lnTo>
                <a:lnTo>
                  <a:pt x="479501" y="194653"/>
                </a:lnTo>
                <a:lnTo>
                  <a:pt x="484199" y="242099"/>
                </a:lnTo>
                <a:lnTo>
                  <a:pt x="479280" y="290895"/>
                </a:lnTo>
                <a:lnTo>
                  <a:pt x="465172" y="336342"/>
                </a:lnTo>
                <a:lnTo>
                  <a:pt x="442850" y="377467"/>
                </a:lnTo>
                <a:lnTo>
                  <a:pt x="413286" y="413296"/>
                </a:lnTo>
                <a:lnTo>
                  <a:pt x="377456" y="442856"/>
                </a:lnTo>
                <a:lnTo>
                  <a:pt x="336332" y="465176"/>
                </a:lnTo>
                <a:lnTo>
                  <a:pt x="290888" y="479281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438699" y="3698414"/>
            <a:ext cx="2203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537362" y="3301268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03" y="479281"/>
                </a:lnTo>
                <a:lnTo>
                  <a:pt x="147856" y="465176"/>
                </a:lnTo>
                <a:lnTo>
                  <a:pt x="106731" y="442856"/>
                </a:lnTo>
                <a:lnTo>
                  <a:pt x="70902" y="413296"/>
                </a:lnTo>
                <a:lnTo>
                  <a:pt x="41342" y="377467"/>
                </a:lnTo>
                <a:lnTo>
                  <a:pt x="19023" y="336342"/>
                </a:lnTo>
                <a:lnTo>
                  <a:pt x="4917" y="290895"/>
                </a:lnTo>
                <a:lnTo>
                  <a:pt x="0" y="242099"/>
                </a:lnTo>
                <a:lnTo>
                  <a:pt x="4917" y="193310"/>
                </a:lnTo>
                <a:lnTo>
                  <a:pt x="19023" y="147866"/>
                </a:lnTo>
                <a:lnTo>
                  <a:pt x="41342" y="106742"/>
                </a:lnTo>
                <a:lnTo>
                  <a:pt x="70902" y="70912"/>
                </a:lnTo>
                <a:lnTo>
                  <a:pt x="106731" y="41348"/>
                </a:lnTo>
                <a:lnTo>
                  <a:pt x="147856" y="19026"/>
                </a:lnTo>
                <a:lnTo>
                  <a:pt x="193303" y="4918"/>
                </a:lnTo>
                <a:lnTo>
                  <a:pt x="242099" y="0"/>
                </a:lnTo>
                <a:lnTo>
                  <a:pt x="289545" y="4697"/>
                </a:lnTo>
                <a:lnTo>
                  <a:pt x="334736" y="18437"/>
                </a:lnTo>
                <a:lnTo>
                  <a:pt x="376403" y="40689"/>
                </a:lnTo>
                <a:lnTo>
                  <a:pt x="413274" y="70924"/>
                </a:lnTo>
                <a:lnTo>
                  <a:pt x="443509" y="107795"/>
                </a:lnTo>
                <a:lnTo>
                  <a:pt x="465761" y="149462"/>
                </a:lnTo>
                <a:lnTo>
                  <a:pt x="479501" y="194653"/>
                </a:lnTo>
                <a:lnTo>
                  <a:pt x="484199" y="242099"/>
                </a:lnTo>
                <a:lnTo>
                  <a:pt x="479280" y="290895"/>
                </a:lnTo>
                <a:lnTo>
                  <a:pt x="465172" y="336342"/>
                </a:lnTo>
                <a:lnTo>
                  <a:pt x="442850" y="377467"/>
                </a:lnTo>
                <a:lnTo>
                  <a:pt x="413286" y="413296"/>
                </a:lnTo>
                <a:lnTo>
                  <a:pt x="377456" y="442856"/>
                </a:lnTo>
                <a:lnTo>
                  <a:pt x="336332" y="465176"/>
                </a:lnTo>
                <a:lnTo>
                  <a:pt x="290888" y="479281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8E7C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655894" y="3418789"/>
            <a:ext cx="231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32473" y="1571154"/>
            <a:ext cx="460375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22225" marR="5080" indent="-10160">
              <a:lnSpc>
                <a:spcPts val="1650"/>
              </a:lnSpc>
              <a:spcBef>
                <a:spcPts val="180"/>
              </a:spcBef>
            </a:pPr>
            <a:r>
              <a:rPr sz="1400" b="1" spc="-10" dirty="0">
                <a:solidFill>
                  <a:srgbClr val="FFAA3F"/>
                </a:solidFill>
                <a:latin typeface="Arial"/>
                <a:cs typeface="Arial"/>
              </a:rPr>
              <a:t>Input layer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53042" y="1556610"/>
            <a:ext cx="607695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46355" marR="5080" indent="-34290">
              <a:lnSpc>
                <a:spcPts val="1650"/>
              </a:lnSpc>
              <a:spcBef>
                <a:spcPts val="180"/>
              </a:spcBef>
            </a:pPr>
            <a:r>
              <a:rPr sz="1400" b="1" spc="-10" dirty="0">
                <a:solidFill>
                  <a:srgbClr val="8E7CC3"/>
                </a:solidFill>
                <a:latin typeface="Arial"/>
                <a:cs typeface="Arial"/>
              </a:rPr>
              <a:t>hidden layers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181584" y="1556610"/>
            <a:ext cx="578485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81280" marR="5080" indent="-69215">
              <a:lnSpc>
                <a:spcPts val="1650"/>
              </a:lnSpc>
              <a:spcBef>
                <a:spcPts val="180"/>
              </a:spcBef>
            </a:pPr>
            <a:r>
              <a:rPr sz="1400" b="1" spc="-10" dirty="0">
                <a:solidFill>
                  <a:srgbClr val="6EA8DB"/>
                </a:solidFill>
                <a:latin typeface="Arial"/>
                <a:cs typeface="Arial"/>
              </a:rPr>
              <a:t>output layer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535262" y="2746869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5">
                <a:moveTo>
                  <a:pt x="242099" y="484199"/>
                </a:moveTo>
                <a:lnTo>
                  <a:pt x="193310" y="479280"/>
                </a:lnTo>
                <a:lnTo>
                  <a:pt x="147866" y="465172"/>
                </a:lnTo>
                <a:lnTo>
                  <a:pt x="106742" y="442850"/>
                </a:lnTo>
                <a:lnTo>
                  <a:pt x="70912" y="413286"/>
                </a:lnTo>
                <a:lnTo>
                  <a:pt x="41348" y="377456"/>
                </a:lnTo>
                <a:lnTo>
                  <a:pt x="19026" y="336332"/>
                </a:lnTo>
                <a:lnTo>
                  <a:pt x="4918" y="290888"/>
                </a:lnTo>
                <a:lnTo>
                  <a:pt x="0" y="242099"/>
                </a:lnTo>
                <a:lnTo>
                  <a:pt x="4918" y="193303"/>
                </a:lnTo>
                <a:lnTo>
                  <a:pt x="19026" y="147856"/>
                </a:lnTo>
                <a:lnTo>
                  <a:pt x="41348" y="106731"/>
                </a:lnTo>
                <a:lnTo>
                  <a:pt x="70916" y="70899"/>
                </a:lnTo>
                <a:lnTo>
                  <a:pt x="106742" y="41342"/>
                </a:lnTo>
                <a:lnTo>
                  <a:pt x="147866" y="19023"/>
                </a:lnTo>
                <a:lnTo>
                  <a:pt x="193310" y="4917"/>
                </a:lnTo>
                <a:lnTo>
                  <a:pt x="242099" y="0"/>
                </a:lnTo>
                <a:lnTo>
                  <a:pt x="289559" y="4693"/>
                </a:lnTo>
                <a:lnTo>
                  <a:pt x="334758" y="18424"/>
                </a:lnTo>
                <a:lnTo>
                  <a:pt x="376427" y="40668"/>
                </a:lnTo>
                <a:lnTo>
                  <a:pt x="413301" y="70902"/>
                </a:lnTo>
                <a:lnTo>
                  <a:pt x="443530" y="107771"/>
                </a:lnTo>
                <a:lnTo>
                  <a:pt x="465774" y="149440"/>
                </a:lnTo>
                <a:lnTo>
                  <a:pt x="479505" y="194639"/>
                </a:lnTo>
                <a:lnTo>
                  <a:pt x="484199" y="242099"/>
                </a:lnTo>
                <a:lnTo>
                  <a:pt x="479281" y="290888"/>
                </a:lnTo>
                <a:lnTo>
                  <a:pt x="465176" y="336332"/>
                </a:lnTo>
                <a:lnTo>
                  <a:pt x="442856" y="377456"/>
                </a:lnTo>
                <a:lnTo>
                  <a:pt x="413296" y="413286"/>
                </a:lnTo>
                <a:lnTo>
                  <a:pt x="377467" y="442850"/>
                </a:lnTo>
                <a:lnTo>
                  <a:pt x="336342" y="465172"/>
                </a:lnTo>
                <a:lnTo>
                  <a:pt x="290895" y="479280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8E7C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653799" y="2864368"/>
            <a:ext cx="231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350" spc="-37" baseline="-339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350" baseline="-3395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537362" y="3855692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03" y="479280"/>
                </a:lnTo>
                <a:lnTo>
                  <a:pt x="147856" y="465172"/>
                </a:lnTo>
                <a:lnTo>
                  <a:pt x="106731" y="442850"/>
                </a:lnTo>
                <a:lnTo>
                  <a:pt x="70902" y="413286"/>
                </a:lnTo>
                <a:lnTo>
                  <a:pt x="41342" y="377456"/>
                </a:lnTo>
                <a:lnTo>
                  <a:pt x="19023" y="336332"/>
                </a:lnTo>
                <a:lnTo>
                  <a:pt x="4917" y="290888"/>
                </a:lnTo>
                <a:lnTo>
                  <a:pt x="0" y="242099"/>
                </a:lnTo>
                <a:lnTo>
                  <a:pt x="4917" y="193310"/>
                </a:lnTo>
                <a:lnTo>
                  <a:pt x="19023" y="147866"/>
                </a:lnTo>
                <a:lnTo>
                  <a:pt x="41342" y="106742"/>
                </a:lnTo>
                <a:lnTo>
                  <a:pt x="70918" y="70899"/>
                </a:lnTo>
                <a:lnTo>
                  <a:pt x="106731" y="41348"/>
                </a:lnTo>
                <a:lnTo>
                  <a:pt x="147856" y="19026"/>
                </a:lnTo>
                <a:lnTo>
                  <a:pt x="193303" y="4918"/>
                </a:lnTo>
                <a:lnTo>
                  <a:pt x="242099" y="0"/>
                </a:lnTo>
                <a:lnTo>
                  <a:pt x="289545" y="4693"/>
                </a:lnTo>
                <a:lnTo>
                  <a:pt x="334736" y="18424"/>
                </a:lnTo>
                <a:lnTo>
                  <a:pt x="376403" y="40668"/>
                </a:lnTo>
                <a:lnTo>
                  <a:pt x="413284" y="70912"/>
                </a:lnTo>
                <a:lnTo>
                  <a:pt x="443509" y="107774"/>
                </a:lnTo>
                <a:lnTo>
                  <a:pt x="465761" y="149449"/>
                </a:lnTo>
                <a:lnTo>
                  <a:pt x="479501" y="194649"/>
                </a:lnTo>
                <a:lnTo>
                  <a:pt x="484199" y="242099"/>
                </a:lnTo>
                <a:lnTo>
                  <a:pt x="479280" y="290888"/>
                </a:lnTo>
                <a:lnTo>
                  <a:pt x="465172" y="336332"/>
                </a:lnTo>
                <a:lnTo>
                  <a:pt x="442850" y="377456"/>
                </a:lnTo>
                <a:lnTo>
                  <a:pt x="413286" y="413286"/>
                </a:lnTo>
                <a:lnTo>
                  <a:pt x="377456" y="442850"/>
                </a:lnTo>
                <a:lnTo>
                  <a:pt x="336332" y="465172"/>
                </a:lnTo>
                <a:lnTo>
                  <a:pt x="290888" y="479280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8E7C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655894" y="3973200"/>
            <a:ext cx="2381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228458" y="2763944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5">
                <a:moveTo>
                  <a:pt x="242099" y="484199"/>
                </a:moveTo>
                <a:lnTo>
                  <a:pt x="193310" y="479280"/>
                </a:lnTo>
                <a:lnTo>
                  <a:pt x="147866" y="465172"/>
                </a:lnTo>
                <a:lnTo>
                  <a:pt x="106742" y="442850"/>
                </a:lnTo>
                <a:lnTo>
                  <a:pt x="70912" y="413286"/>
                </a:lnTo>
                <a:lnTo>
                  <a:pt x="41348" y="377456"/>
                </a:lnTo>
                <a:lnTo>
                  <a:pt x="19026" y="336332"/>
                </a:lnTo>
                <a:lnTo>
                  <a:pt x="4918" y="290888"/>
                </a:lnTo>
                <a:lnTo>
                  <a:pt x="0" y="242099"/>
                </a:lnTo>
                <a:lnTo>
                  <a:pt x="4918" y="193310"/>
                </a:lnTo>
                <a:lnTo>
                  <a:pt x="19026" y="147866"/>
                </a:lnTo>
                <a:lnTo>
                  <a:pt x="41348" y="106742"/>
                </a:lnTo>
                <a:lnTo>
                  <a:pt x="70927" y="70899"/>
                </a:lnTo>
                <a:lnTo>
                  <a:pt x="106742" y="41348"/>
                </a:lnTo>
                <a:lnTo>
                  <a:pt x="147866" y="19026"/>
                </a:lnTo>
                <a:lnTo>
                  <a:pt x="193310" y="4918"/>
                </a:lnTo>
                <a:lnTo>
                  <a:pt x="242099" y="0"/>
                </a:lnTo>
                <a:lnTo>
                  <a:pt x="289559" y="4693"/>
                </a:lnTo>
                <a:lnTo>
                  <a:pt x="334758" y="18424"/>
                </a:lnTo>
                <a:lnTo>
                  <a:pt x="376427" y="40668"/>
                </a:lnTo>
                <a:lnTo>
                  <a:pt x="413309" y="70912"/>
                </a:lnTo>
                <a:lnTo>
                  <a:pt x="443530" y="107774"/>
                </a:lnTo>
                <a:lnTo>
                  <a:pt x="465774" y="149449"/>
                </a:lnTo>
                <a:lnTo>
                  <a:pt x="479505" y="194649"/>
                </a:lnTo>
                <a:lnTo>
                  <a:pt x="484199" y="242099"/>
                </a:lnTo>
                <a:lnTo>
                  <a:pt x="479280" y="290888"/>
                </a:lnTo>
                <a:lnTo>
                  <a:pt x="465172" y="336332"/>
                </a:lnTo>
                <a:lnTo>
                  <a:pt x="442850" y="377456"/>
                </a:lnTo>
                <a:lnTo>
                  <a:pt x="413286" y="413286"/>
                </a:lnTo>
                <a:lnTo>
                  <a:pt x="377456" y="442850"/>
                </a:lnTo>
                <a:lnTo>
                  <a:pt x="336332" y="465172"/>
                </a:lnTo>
                <a:lnTo>
                  <a:pt x="290888" y="479280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6EA8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8346998" y="2881456"/>
            <a:ext cx="231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230558" y="3360393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03" y="479280"/>
                </a:lnTo>
                <a:lnTo>
                  <a:pt x="147856" y="465172"/>
                </a:lnTo>
                <a:lnTo>
                  <a:pt x="106731" y="442850"/>
                </a:lnTo>
                <a:lnTo>
                  <a:pt x="70902" y="413286"/>
                </a:lnTo>
                <a:lnTo>
                  <a:pt x="41342" y="377456"/>
                </a:lnTo>
                <a:lnTo>
                  <a:pt x="19023" y="336332"/>
                </a:lnTo>
                <a:lnTo>
                  <a:pt x="4917" y="290888"/>
                </a:lnTo>
                <a:lnTo>
                  <a:pt x="0" y="242099"/>
                </a:lnTo>
                <a:lnTo>
                  <a:pt x="4917" y="193310"/>
                </a:lnTo>
                <a:lnTo>
                  <a:pt x="19023" y="147866"/>
                </a:lnTo>
                <a:lnTo>
                  <a:pt x="41342" y="106742"/>
                </a:lnTo>
                <a:lnTo>
                  <a:pt x="70918" y="70899"/>
                </a:lnTo>
                <a:lnTo>
                  <a:pt x="106731" y="41348"/>
                </a:lnTo>
                <a:lnTo>
                  <a:pt x="147856" y="19026"/>
                </a:lnTo>
                <a:lnTo>
                  <a:pt x="193303" y="4918"/>
                </a:lnTo>
                <a:lnTo>
                  <a:pt x="242099" y="0"/>
                </a:lnTo>
                <a:lnTo>
                  <a:pt x="289545" y="4693"/>
                </a:lnTo>
                <a:lnTo>
                  <a:pt x="334736" y="18424"/>
                </a:lnTo>
                <a:lnTo>
                  <a:pt x="376403" y="40668"/>
                </a:lnTo>
                <a:lnTo>
                  <a:pt x="413284" y="70912"/>
                </a:lnTo>
                <a:lnTo>
                  <a:pt x="443509" y="107774"/>
                </a:lnTo>
                <a:lnTo>
                  <a:pt x="465761" y="149449"/>
                </a:lnTo>
                <a:lnTo>
                  <a:pt x="479501" y="194649"/>
                </a:lnTo>
                <a:lnTo>
                  <a:pt x="484199" y="242099"/>
                </a:lnTo>
                <a:lnTo>
                  <a:pt x="479280" y="290888"/>
                </a:lnTo>
                <a:lnTo>
                  <a:pt x="465172" y="336332"/>
                </a:lnTo>
                <a:lnTo>
                  <a:pt x="442850" y="377456"/>
                </a:lnTo>
                <a:lnTo>
                  <a:pt x="413286" y="413286"/>
                </a:lnTo>
                <a:lnTo>
                  <a:pt x="377456" y="442850"/>
                </a:lnTo>
                <a:lnTo>
                  <a:pt x="336332" y="465172"/>
                </a:lnTo>
                <a:lnTo>
                  <a:pt x="290888" y="479280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6EA8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349084" y="3477901"/>
            <a:ext cx="2374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535262" y="2192445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5">
                <a:moveTo>
                  <a:pt x="242099" y="484199"/>
                </a:moveTo>
                <a:lnTo>
                  <a:pt x="193310" y="479280"/>
                </a:lnTo>
                <a:lnTo>
                  <a:pt x="147866" y="465172"/>
                </a:lnTo>
                <a:lnTo>
                  <a:pt x="106742" y="442850"/>
                </a:lnTo>
                <a:lnTo>
                  <a:pt x="70912" y="413286"/>
                </a:lnTo>
                <a:lnTo>
                  <a:pt x="41348" y="377456"/>
                </a:lnTo>
                <a:lnTo>
                  <a:pt x="19026" y="336332"/>
                </a:lnTo>
                <a:lnTo>
                  <a:pt x="4918" y="290888"/>
                </a:lnTo>
                <a:lnTo>
                  <a:pt x="0" y="242099"/>
                </a:lnTo>
                <a:lnTo>
                  <a:pt x="4918" y="193308"/>
                </a:lnTo>
                <a:lnTo>
                  <a:pt x="19026" y="147863"/>
                </a:lnTo>
                <a:lnTo>
                  <a:pt x="41348" y="106739"/>
                </a:lnTo>
                <a:lnTo>
                  <a:pt x="70912" y="70909"/>
                </a:lnTo>
                <a:lnTo>
                  <a:pt x="106742" y="41346"/>
                </a:lnTo>
                <a:lnTo>
                  <a:pt x="147866" y="19025"/>
                </a:lnTo>
                <a:lnTo>
                  <a:pt x="193310" y="4918"/>
                </a:lnTo>
                <a:lnTo>
                  <a:pt x="242099" y="0"/>
                </a:lnTo>
                <a:lnTo>
                  <a:pt x="289559" y="4694"/>
                </a:lnTo>
                <a:lnTo>
                  <a:pt x="334758" y="18429"/>
                </a:lnTo>
                <a:lnTo>
                  <a:pt x="376427" y="40676"/>
                </a:lnTo>
                <a:lnTo>
                  <a:pt x="413299" y="70909"/>
                </a:lnTo>
                <a:lnTo>
                  <a:pt x="443530" y="107782"/>
                </a:lnTo>
                <a:lnTo>
                  <a:pt x="465774" y="149451"/>
                </a:lnTo>
                <a:lnTo>
                  <a:pt x="479505" y="194647"/>
                </a:lnTo>
                <a:lnTo>
                  <a:pt x="484199" y="242099"/>
                </a:lnTo>
                <a:lnTo>
                  <a:pt x="479281" y="290888"/>
                </a:lnTo>
                <a:lnTo>
                  <a:pt x="465176" y="336332"/>
                </a:lnTo>
                <a:lnTo>
                  <a:pt x="442856" y="377456"/>
                </a:lnTo>
                <a:lnTo>
                  <a:pt x="413296" y="413286"/>
                </a:lnTo>
                <a:lnTo>
                  <a:pt x="377467" y="442850"/>
                </a:lnTo>
                <a:lnTo>
                  <a:pt x="336342" y="465172"/>
                </a:lnTo>
                <a:lnTo>
                  <a:pt x="290895" y="479280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8E7C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653799" y="2309958"/>
            <a:ext cx="231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566041" y="3330818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03" y="479281"/>
                </a:lnTo>
                <a:lnTo>
                  <a:pt x="147856" y="465176"/>
                </a:lnTo>
                <a:lnTo>
                  <a:pt x="106731" y="442856"/>
                </a:lnTo>
                <a:lnTo>
                  <a:pt x="70902" y="413296"/>
                </a:lnTo>
                <a:lnTo>
                  <a:pt x="41342" y="377467"/>
                </a:lnTo>
                <a:lnTo>
                  <a:pt x="19023" y="336342"/>
                </a:lnTo>
                <a:lnTo>
                  <a:pt x="4917" y="290895"/>
                </a:lnTo>
                <a:lnTo>
                  <a:pt x="0" y="242099"/>
                </a:lnTo>
                <a:lnTo>
                  <a:pt x="4917" y="193310"/>
                </a:lnTo>
                <a:lnTo>
                  <a:pt x="19023" y="147866"/>
                </a:lnTo>
                <a:lnTo>
                  <a:pt x="41342" y="106742"/>
                </a:lnTo>
                <a:lnTo>
                  <a:pt x="70902" y="70912"/>
                </a:lnTo>
                <a:lnTo>
                  <a:pt x="106731" y="41348"/>
                </a:lnTo>
                <a:lnTo>
                  <a:pt x="147856" y="19026"/>
                </a:lnTo>
                <a:lnTo>
                  <a:pt x="193303" y="4918"/>
                </a:lnTo>
                <a:lnTo>
                  <a:pt x="242099" y="0"/>
                </a:lnTo>
                <a:lnTo>
                  <a:pt x="289545" y="4697"/>
                </a:lnTo>
                <a:lnTo>
                  <a:pt x="334736" y="18437"/>
                </a:lnTo>
                <a:lnTo>
                  <a:pt x="376403" y="40689"/>
                </a:lnTo>
                <a:lnTo>
                  <a:pt x="413274" y="70924"/>
                </a:lnTo>
                <a:lnTo>
                  <a:pt x="443509" y="107795"/>
                </a:lnTo>
                <a:lnTo>
                  <a:pt x="465761" y="149462"/>
                </a:lnTo>
                <a:lnTo>
                  <a:pt x="479501" y="194653"/>
                </a:lnTo>
                <a:lnTo>
                  <a:pt x="484199" y="242099"/>
                </a:lnTo>
                <a:lnTo>
                  <a:pt x="479280" y="290895"/>
                </a:lnTo>
                <a:lnTo>
                  <a:pt x="465172" y="336342"/>
                </a:lnTo>
                <a:lnTo>
                  <a:pt x="442850" y="377467"/>
                </a:lnTo>
                <a:lnTo>
                  <a:pt x="413286" y="413296"/>
                </a:lnTo>
                <a:lnTo>
                  <a:pt x="377456" y="442856"/>
                </a:lnTo>
                <a:lnTo>
                  <a:pt x="336332" y="465176"/>
                </a:lnTo>
                <a:lnTo>
                  <a:pt x="290888" y="479281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8E7C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4684566" y="3448336"/>
            <a:ext cx="231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563940" y="2776419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10" y="479280"/>
                </a:lnTo>
                <a:lnTo>
                  <a:pt x="147866" y="465172"/>
                </a:lnTo>
                <a:lnTo>
                  <a:pt x="106742" y="442850"/>
                </a:lnTo>
                <a:lnTo>
                  <a:pt x="70912" y="413286"/>
                </a:lnTo>
                <a:lnTo>
                  <a:pt x="41348" y="377456"/>
                </a:lnTo>
                <a:lnTo>
                  <a:pt x="19026" y="336332"/>
                </a:lnTo>
                <a:lnTo>
                  <a:pt x="4918" y="290888"/>
                </a:lnTo>
                <a:lnTo>
                  <a:pt x="0" y="242099"/>
                </a:lnTo>
                <a:lnTo>
                  <a:pt x="4918" y="193303"/>
                </a:lnTo>
                <a:lnTo>
                  <a:pt x="19026" y="147856"/>
                </a:lnTo>
                <a:lnTo>
                  <a:pt x="41348" y="106731"/>
                </a:lnTo>
                <a:lnTo>
                  <a:pt x="70916" y="70899"/>
                </a:lnTo>
                <a:lnTo>
                  <a:pt x="106742" y="41342"/>
                </a:lnTo>
                <a:lnTo>
                  <a:pt x="147866" y="19023"/>
                </a:lnTo>
                <a:lnTo>
                  <a:pt x="193310" y="4917"/>
                </a:lnTo>
                <a:lnTo>
                  <a:pt x="242099" y="0"/>
                </a:lnTo>
                <a:lnTo>
                  <a:pt x="289559" y="4693"/>
                </a:lnTo>
                <a:lnTo>
                  <a:pt x="334758" y="18424"/>
                </a:lnTo>
                <a:lnTo>
                  <a:pt x="376427" y="40668"/>
                </a:lnTo>
                <a:lnTo>
                  <a:pt x="413301" y="70902"/>
                </a:lnTo>
                <a:lnTo>
                  <a:pt x="443530" y="107771"/>
                </a:lnTo>
                <a:lnTo>
                  <a:pt x="465774" y="149440"/>
                </a:lnTo>
                <a:lnTo>
                  <a:pt x="479505" y="194639"/>
                </a:lnTo>
                <a:lnTo>
                  <a:pt x="484199" y="242099"/>
                </a:lnTo>
                <a:lnTo>
                  <a:pt x="479281" y="290888"/>
                </a:lnTo>
                <a:lnTo>
                  <a:pt x="465176" y="336332"/>
                </a:lnTo>
                <a:lnTo>
                  <a:pt x="442856" y="377456"/>
                </a:lnTo>
                <a:lnTo>
                  <a:pt x="413296" y="413286"/>
                </a:lnTo>
                <a:lnTo>
                  <a:pt x="377467" y="442850"/>
                </a:lnTo>
                <a:lnTo>
                  <a:pt x="336342" y="465172"/>
                </a:lnTo>
                <a:lnTo>
                  <a:pt x="290895" y="479280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8E7C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4682480" y="2893925"/>
            <a:ext cx="231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566041" y="3885242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03" y="479280"/>
                </a:lnTo>
                <a:lnTo>
                  <a:pt x="147856" y="465172"/>
                </a:lnTo>
                <a:lnTo>
                  <a:pt x="106731" y="442850"/>
                </a:lnTo>
                <a:lnTo>
                  <a:pt x="70902" y="413286"/>
                </a:lnTo>
                <a:lnTo>
                  <a:pt x="41342" y="377456"/>
                </a:lnTo>
                <a:lnTo>
                  <a:pt x="19023" y="336332"/>
                </a:lnTo>
                <a:lnTo>
                  <a:pt x="4917" y="290888"/>
                </a:lnTo>
                <a:lnTo>
                  <a:pt x="0" y="242099"/>
                </a:lnTo>
                <a:lnTo>
                  <a:pt x="4917" y="193310"/>
                </a:lnTo>
                <a:lnTo>
                  <a:pt x="19023" y="147866"/>
                </a:lnTo>
                <a:lnTo>
                  <a:pt x="41342" y="106742"/>
                </a:lnTo>
                <a:lnTo>
                  <a:pt x="70918" y="70899"/>
                </a:lnTo>
                <a:lnTo>
                  <a:pt x="106731" y="41348"/>
                </a:lnTo>
                <a:lnTo>
                  <a:pt x="147856" y="19026"/>
                </a:lnTo>
                <a:lnTo>
                  <a:pt x="193303" y="4918"/>
                </a:lnTo>
                <a:lnTo>
                  <a:pt x="242099" y="0"/>
                </a:lnTo>
                <a:lnTo>
                  <a:pt x="289545" y="4693"/>
                </a:lnTo>
                <a:lnTo>
                  <a:pt x="334736" y="18424"/>
                </a:lnTo>
                <a:lnTo>
                  <a:pt x="376403" y="40668"/>
                </a:lnTo>
                <a:lnTo>
                  <a:pt x="413284" y="70912"/>
                </a:lnTo>
                <a:lnTo>
                  <a:pt x="443509" y="107774"/>
                </a:lnTo>
                <a:lnTo>
                  <a:pt x="465761" y="149449"/>
                </a:lnTo>
                <a:lnTo>
                  <a:pt x="479501" y="194649"/>
                </a:lnTo>
                <a:lnTo>
                  <a:pt x="484199" y="242099"/>
                </a:lnTo>
                <a:lnTo>
                  <a:pt x="479280" y="290888"/>
                </a:lnTo>
                <a:lnTo>
                  <a:pt x="465172" y="336332"/>
                </a:lnTo>
                <a:lnTo>
                  <a:pt x="442850" y="377456"/>
                </a:lnTo>
                <a:lnTo>
                  <a:pt x="413286" y="413286"/>
                </a:lnTo>
                <a:lnTo>
                  <a:pt x="377456" y="442850"/>
                </a:lnTo>
                <a:lnTo>
                  <a:pt x="336332" y="465172"/>
                </a:lnTo>
                <a:lnTo>
                  <a:pt x="290888" y="479280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8E7C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4684566" y="4002756"/>
            <a:ext cx="2381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563940" y="2221995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5">
                <a:moveTo>
                  <a:pt x="242099" y="484199"/>
                </a:moveTo>
                <a:lnTo>
                  <a:pt x="193310" y="479280"/>
                </a:lnTo>
                <a:lnTo>
                  <a:pt x="147866" y="465172"/>
                </a:lnTo>
                <a:lnTo>
                  <a:pt x="106742" y="442850"/>
                </a:lnTo>
                <a:lnTo>
                  <a:pt x="70912" y="413286"/>
                </a:lnTo>
                <a:lnTo>
                  <a:pt x="41348" y="377456"/>
                </a:lnTo>
                <a:lnTo>
                  <a:pt x="19026" y="336332"/>
                </a:lnTo>
                <a:lnTo>
                  <a:pt x="4918" y="290888"/>
                </a:lnTo>
                <a:lnTo>
                  <a:pt x="0" y="242099"/>
                </a:lnTo>
                <a:lnTo>
                  <a:pt x="4918" y="193308"/>
                </a:lnTo>
                <a:lnTo>
                  <a:pt x="19026" y="147863"/>
                </a:lnTo>
                <a:lnTo>
                  <a:pt x="41348" y="106739"/>
                </a:lnTo>
                <a:lnTo>
                  <a:pt x="70912" y="70909"/>
                </a:lnTo>
                <a:lnTo>
                  <a:pt x="106742" y="41346"/>
                </a:lnTo>
                <a:lnTo>
                  <a:pt x="147866" y="19025"/>
                </a:lnTo>
                <a:lnTo>
                  <a:pt x="193310" y="4918"/>
                </a:lnTo>
                <a:lnTo>
                  <a:pt x="242099" y="0"/>
                </a:lnTo>
                <a:lnTo>
                  <a:pt x="289559" y="4694"/>
                </a:lnTo>
                <a:lnTo>
                  <a:pt x="334758" y="18429"/>
                </a:lnTo>
                <a:lnTo>
                  <a:pt x="376427" y="40676"/>
                </a:lnTo>
                <a:lnTo>
                  <a:pt x="413299" y="70909"/>
                </a:lnTo>
                <a:lnTo>
                  <a:pt x="443530" y="107782"/>
                </a:lnTo>
                <a:lnTo>
                  <a:pt x="465774" y="149451"/>
                </a:lnTo>
                <a:lnTo>
                  <a:pt x="479505" y="194647"/>
                </a:lnTo>
                <a:lnTo>
                  <a:pt x="484199" y="242099"/>
                </a:lnTo>
                <a:lnTo>
                  <a:pt x="479281" y="290888"/>
                </a:lnTo>
                <a:lnTo>
                  <a:pt x="465176" y="336332"/>
                </a:lnTo>
                <a:lnTo>
                  <a:pt x="442856" y="377456"/>
                </a:lnTo>
                <a:lnTo>
                  <a:pt x="413296" y="413286"/>
                </a:lnTo>
                <a:lnTo>
                  <a:pt x="377467" y="442850"/>
                </a:lnTo>
                <a:lnTo>
                  <a:pt x="336342" y="465172"/>
                </a:lnTo>
                <a:lnTo>
                  <a:pt x="290895" y="479280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8E7C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4682480" y="2339504"/>
            <a:ext cx="231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153501" y="3065081"/>
            <a:ext cx="1733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latin typeface="Arial"/>
                <a:cs typeface="Arial"/>
              </a:rPr>
              <a:t>...</a:t>
            </a:r>
            <a:endParaRPr sz="14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971166" y="2689719"/>
            <a:ext cx="495300" cy="1185545"/>
          </a:xfrm>
          <a:custGeom>
            <a:avLst/>
            <a:gdLst/>
            <a:ahLst/>
            <a:cxnLst/>
            <a:rect l="l" t="t" r="r" b="b"/>
            <a:pathLst>
              <a:path w="495300" h="1185545">
                <a:moveTo>
                  <a:pt x="0" y="1135497"/>
                </a:moveTo>
                <a:lnTo>
                  <a:pt x="444299" y="0"/>
                </a:lnTo>
              </a:path>
              <a:path w="495300" h="1185545">
                <a:moveTo>
                  <a:pt x="494699" y="1185047"/>
                </a:moveTo>
                <a:lnTo>
                  <a:pt x="50399" y="37549"/>
                </a:lnTo>
              </a:path>
            </a:pathLst>
          </a:custGeom>
          <a:ln w="19049">
            <a:solidFill>
              <a:srgbClr val="7790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407564" y="2664944"/>
            <a:ext cx="495300" cy="1185545"/>
          </a:xfrm>
          <a:custGeom>
            <a:avLst/>
            <a:gdLst/>
            <a:ahLst/>
            <a:cxnLst/>
            <a:rect l="l" t="t" r="r" b="b"/>
            <a:pathLst>
              <a:path w="495300" h="1185545">
                <a:moveTo>
                  <a:pt x="0" y="1135497"/>
                </a:moveTo>
                <a:lnTo>
                  <a:pt x="444299" y="0"/>
                </a:lnTo>
              </a:path>
              <a:path w="495300" h="1185545">
                <a:moveTo>
                  <a:pt x="494699" y="1185047"/>
                </a:moveTo>
                <a:lnTo>
                  <a:pt x="50399" y="37549"/>
                </a:lnTo>
              </a:path>
            </a:pathLst>
          </a:custGeom>
          <a:ln w="19049">
            <a:solidFill>
              <a:srgbClr val="7790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378710" y="2640169"/>
            <a:ext cx="495300" cy="1185545"/>
          </a:xfrm>
          <a:custGeom>
            <a:avLst/>
            <a:gdLst/>
            <a:ahLst/>
            <a:cxnLst/>
            <a:rect l="l" t="t" r="r" b="b"/>
            <a:pathLst>
              <a:path w="495300" h="1185545">
                <a:moveTo>
                  <a:pt x="0" y="1135497"/>
                </a:moveTo>
                <a:lnTo>
                  <a:pt x="444299" y="0"/>
                </a:lnTo>
              </a:path>
              <a:path w="495300" h="1185545">
                <a:moveTo>
                  <a:pt x="494699" y="1185047"/>
                </a:moveTo>
                <a:lnTo>
                  <a:pt x="50399" y="37549"/>
                </a:lnTo>
              </a:path>
            </a:pathLst>
          </a:custGeom>
          <a:ln w="19049">
            <a:solidFill>
              <a:srgbClr val="7790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73990" y="2142836"/>
            <a:ext cx="41935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Roboto"/>
                <a:cs typeface="Roboto"/>
              </a:rPr>
              <a:t>Applying</a:t>
            </a:r>
            <a:r>
              <a:rPr b="1" spc="-35" dirty="0">
                <a:latin typeface="Roboto"/>
                <a:cs typeface="Roboto"/>
              </a:rPr>
              <a:t> </a:t>
            </a:r>
            <a:r>
              <a:rPr b="1" dirty="0">
                <a:latin typeface="Roboto"/>
                <a:cs typeface="Roboto"/>
              </a:rPr>
              <a:t>Neural</a:t>
            </a:r>
            <a:r>
              <a:rPr b="1" spc="-35" dirty="0">
                <a:latin typeface="Roboto"/>
                <a:cs typeface="Roboto"/>
              </a:rPr>
              <a:t> </a:t>
            </a:r>
            <a:r>
              <a:rPr b="1" spc="-10" dirty="0">
                <a:latin typeface="Roboto"/>
                <a:cs typeface="Roboto"/>
              </a:rPr>
              <a:t>Networks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</a:t>
            </a:r>
            <a:r>
              <a:rPr spc="-95" dirty="0"/>
              <a:t> </a:t>
            </a:r>
            <a:r>
              <a:rPr dirty="0"/>
              <a:t>Problem:</a:t>
            </a:r>
            <a:r>
              <a:rPr spc="-90" dirty="0"/>
              <a:t> </a:t>
            </a:r>
            <a:r>
              <a:rPr dirty="0"/>
              <a:t>Will</a:t>
            </a:r>
            <a:r>
              <a:rPr spc="-90" dirty="0"/>
              <a:t> </a:t>
            </a:r>
            <a:r>
              <a:rPr dirty="0"/>
              <a:t>my</a:t>
            </a:r>
            <a:r>
              <a:rPr spc="-90" dirty="0"/>
              <a:t> </a:t>
            </a:r>
            <a:r>
              <a:rPr dirty="0"/>
              <a:t>Flight</a:t>
            </a:r>
            <a:r>
              <a:rPr spc="-90" dirty="0"/>
              <a:t> </a:t>
            </a:r>
            <a:r>
              <a:rPr dirty="0"/>
              <a:t>be</a:t>
            </a:r>
            <a:r>
              <a:rPr spc="-90" dirty="0"/>
              <a:t> </a:t>
            </a:r>
            <a:r>
              <a:rPr spc="-10" dirty="0"/>
              <a:t>Delayed?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248" y="3318393"/>
            <a:ext cx="3682592" cy="135984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22687" y="3534920"/>
            <a:ext cx="2237695" cy="92679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5195227" y="3941854"/>
            <a:ext cx="815340" cy="123189"/>
            <a:chOff x="5195227" y="3941854"/>
            <a:chExt cx="815340" cy="123189"/>
          </a:xfrm>
        </p:grpSpPr>
        <p:sp>
          <p:nvSpPr>
            <p:cNvPr id="6" name="object 6"/>
            <p:cNvSpPr/>
            <p:nvPr/>
          </p:nvSpPr>
          <p:spPr>
            <a:xfrm>
              <a:off x="5209514" y="3989767"/>
              <a:ext cx="657225" cy="13970"/>
            </a:xfrm>
            <a:custGeom>
              <a:avLst/>
              <a:gdLst/>
              <a:ahLst/>
              <a:cxnLst/>
              <a:rect l="l" t="t" r="r" b="b"/>
              <a:pathLst>
                <a:path w="657225" h="13970">
                  <a:moveTo>
                    <a:pt x="0" y="0"/>
                  </a:moveTo>
                  <a:lnTo>
                    <a:pt x="656598" y="13549"/>
                  </a:lnTo>
                </a:path>
              </a:pathLst>
            </a:custGeom>
            <a:ln w="28574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50850" y="3941854"/>
              <a:ext cx="159199" cy="12294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</a:t>
            </a:r>
            <a:r>
              <a:rPr spc="-95" dirty="0"/>
              <a:t> </a:t>
            </a:r>
            <a:r>
              <a:rPr dirty="0"/>
              <a:t>Problem:</a:t>
            </a:r>
            <a:r>
              <a:rPr spc="-90" dirty="0"/>
              <a:t> </a:t>
            </a:r>
            <a:r>
              <a:rPr dirty="0"/>
              <a:t>Will</a:t>
            </a:r>
            <a:r>
              <a:rPr spc="-90" dirty="0"/>
              <a:t> </a:t>
            </a:r>
            <a:r>
              <a:rPr dirty="0"/>
              <a:t>my</a:t>
            </a:r>
            <a:r>
              <a:rPr spc="-90" dirty="0"/>
              <a:t> </a:t>
            </a:r>
            <a:r>
              <a:rPr dirty="0"/>
              <a:t>Flight</a:t>
            </a:r>
            <a:r>
              <a:rPr spc="-90" dirty="0"/>
              <a:t> </a:t>
            </a:r>
            <a:r>
              <a:rPr dirty="0"/>
              <a:t>be</a:t>
            </a:r>
            <a:r>
              <a:rPr spc="-90" dirty="0"/>
              <a:t> </a:t>
            </a:r>
            <a:r>
              <a:rPr spc="-10" dirty="0"/>
              <a:t>Delayed?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248" y="3318393"/>
            <a:ext cx="3682592" cy="135984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22687" y="3534920"/>
            <a:ext cx="2237695" cy="92679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5195227" y="3941854"/>
            <a:ext cx="815340" cy="123189"/>
            <a:chOff x="5195227" y="3941854"/>
            <a:chExt cx="815340" cy="123189"/>
          </a:xfrm>
        </p:grpSpPr>
        <p:sp>
          <p:nvSpPr>
            <p:cNvPr id="6" name="object 6"/>
            <p:cNvSpPr/>
            <p:nvPr/>
          </p:nvSpPr>
          <p:spPr>
            <a:xfrm>
              <a:off x="5209514" y="3989767"/>
              <a:ext cx="657225" cy="13970"/>
            </a:xfrm>
            <a:custGeom>
              <a:avLst/>
              <a:gdLst/>
              <a:ahLst/>
              <a:cxnLst/>
              <a:rect l="l" t="t" r="r" b="b"/>
              <a:pathLst>
                <a:path w="657225" h="13970">
                  <a:moveTo>
                    <a:pt x="0" y="0"/>
                  </a:moveTo>
                  <a:lnTo>
                    <a:pt x="656598" y="13549"/>
                  </a:lnTo>
                </a:path>
              </a:pathLst>
            </a:custGeom>
            <a:ln w="28574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50850" y="3941854"/>
              <a:ext cx="159199" cy="12294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393790" y="1712057"/>
            <a:ext cx="1772920" cy="798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6355" algn="r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Temperature:</a:t>
            </a:r>
            <a:r>
              <a:rPr sz="1400" b="1" spc="-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-</a:t>
            </a:r>
            <a:r>
              <a:rPr sz="1400" b="1" dirty="0">
                <a:latin typeface="Arial"/>
                <a:cs typeface="Arial"/>
              </a:rPr>
              <a:t>20</a:t>
            </a:r>
            <a:r>
              <a:rPr sz="1400" b="1" spc="-5" dirty="0">
                <a:latin typeface="Arial"/>
                <a:cs typeface="Arial"/>
              </a:rPr>
              <a:t> </a:t>
            </a:r>
            <a:r>
              <a:rPr sz="1400" b="1" spc="-50" dirty="0">
                <a:latin typeface="Arial"/>
                <a:cs typeface="Arial"/>
              </a:rPr>
              <a:t>F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10"/>
              </a:spcBef>
            </a:pPr>
            <a:endParaRPr sz="14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5"/>
              </a:spcBef>
            </a:pPr>
            <a:r>
              <a:rPr sz="1400" b="1" dirty="0">
                <a:latin typeface="Arial"/>
                <a:cs typeface="Arial"/>
              </a:rPr>
              <a:t>Wind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Speed:</a:t>
            </a:r>
            <a:r>
              <a:rPr sz="1400" b="1" spc="-1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45</a:t>
            </a:r>
            <a:r>
              <a:rPr sz="1400" b="1" spc="-10" dirty="0">
                <a:latin typeface="Arial"/>
                <a:cs typeface="Arial"/>
              </a:rPr>
              <a:t> </a:t>
            </a:r>
            <a:r>
              <a:rPr sz="1400" b="1" spc="-25" dirty="0">
                <a:latin typeface="Arial"/>
                <a:cs typeface="Arial"/>
              </a:rPr>
              <a:t>mph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</a:t>
            </a:r>
            <a:r>
              <a:rPr spc="-95" dirty="0"/>
              <a:t> </a:t>
            </a:r>
            <a:r>
              <a:rPr dirty="0"/>
              <a:t>Problem:</a:t>
            </a:r>
            <a:r>
              <a:rPr spc="-90" dirty="0"/>
              <a:t> </a:t>
            </a:r>
            <a:r>
              <a:rPr dirty="0"/>
              <a:t>Will</a:t>
            </a:r>
            <a:r>
              <a:rPr spc="-90" dirty="0"/>
              <a:t> </a:t>
            </a:r>
            <a:r>
              <a:rPr dirty="0"/>
              <a:t>my</a:t>
            </a:r>
            <a:r>
              <a:rPr spc="-90" dirty="0"/>
              <a:t> </a:t>
            </a:r>
            <a:r>
              <a:rPr dirty="0"/>
              <a:t>Flight</a:t>
            </a:r>
            <a:r>
              <a:rPr spc="-90" dirty="0"/>
              <a:t> </a:t>
            </a:r>
            <a:r>
              <a:rPr dirty="0"/>
              <a:t>be</a:t>
            </a:r>
            <a:r>
              <a:rPr spc="-90" dirty="0"/>
              <a:t> </a:t>
            </a:r>
            <a:r>
              <a:rPr spc="-10" dirty="0"/>
              <a:t>Delayed?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02125" y="2016447"/>
            <a:ext cx="69659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Arial"/>
                <a:cs typeface="Arial"/>
              </a:rPr>
              <a:t>[-</a:t>
            </a:r>
            <a:r>
              <a:rPr sz="1400" b="1" dirty="0">
                <a:latin typeface="Arial"/>
                <a:cs typeface="Arial"/>
              </a:rPr>
              <a:t>20,</a:t>
            </a:r>
            <a:r>
              <a:rPr sz="1400" b="1" spc="-5" dirty="0">
                <a:latin typeface="Arial"/>
                <a:cs typeface="Arial"/>
              </a:rPr>
              <a:t> </a:t>
            </a:r>
            <a:r>
              <a:rPr sz="1400" b="1" spc="-25" dirty="0">
                <a:latin typeface="Arial"/>
                <a:cs typeface="Arial"/>
              </a:rPr>
              <a:t>45]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248" y="3318393"/>
            <a:ext cx="3682592" cy="135984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22687" y="3534920"/>
            <a:ext cx="2237695" cy="926795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5195227" y="3941854"/>
            <a:ext cx="815340" cy="123189"/>
            <a:chOff x="5195227" y="3941854"/>
            <a:chExt cx="815340" cy="123189"/>
          </a:xfrm>
        </p:grpSpPr>
        <p:sp>
          <p:nvSpPr>
            <p:cNvPr id="7" name="object 7"/>
            <p:cNvSpPr/>
            <p:nvPr/>
          </p:nvSpPr>
          <p:spPr>
            <a:xfrm>
              <a:off x="5209514" y="3989767"/>
              <a:ext cx="657225" cy="13970"/>
            </a:xfrm>
            <a:custGeom>
              <a:avLst/>
              <a:gdLst/>
              <a:ahLst/>
              <a:cxnLst/>
              <a:rect l="l" t="t" r="r" b="b"/>
              <a:pathLst>
                <a:path w="657225" h="13970">
                  <a:moveTo>
                    <a:pt x="0" y="0"/>
                  </a:moveTo>
                  <a:lnTo>
                    <a:pt x="656598" y="13549"/>
                  </a:lnTo>
                </a:path>
              </a:pathLst>
            </a:custGeom>
            <a:ln w="28574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50850" y="3941854"/>
              <a:ext cx="159199" cy="12294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</a:t>
            </a:r>
            <a:r>
              <a:rPr spc="-95" dirty="0"/>
              <a:t> </a:t>
            </a:r>
            <a:r>
              <a:rPr dirty="0"/>
              <a:t>Problem:</a:t>
            </a:r>
            <a:r>
              <a:rPr spc="-90" dirty="0"/>
              <a:t> </a:t>
            </a:r>
            <a:r>
              <a:rPr dirty="0"/>
              <a:t>Will</a:t>
            </a:r>
            <a:r>
              <a:rPr spc="-90" dirty="0"/>
              <a:t> </a:t>
            </a:r>
            <a:r>
              <a:rPr dirty="0"/>
              <a:t>my</a:t>
            </a:r>
            <a:r>
              <a:rPr spc="-90" dirty="0"/>
              <a:t> </a:t>
            </a:r>
            <a:r>
              <a:rPr dirty="0"/>
              <a:t>Flight</a:t>
            </a:r>
            <a:r>
              <a:rPr spc="-90" dirty="0"/>
              <a:t> </a:t>
            </a:r>
            <a:r>
              <a:rPr dirty="0"/>
              <a:t>be</a:t>
            </a:r>
            <a:r>
              <a:rPr spc="-90" dirty="0"/>
              <a:t> </a:t>
            </a:r>
            <a:r>
              <a:rPr spc="-10" dirty="0"/>
              <a:t>Delayed?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78325" y="2016447"/>
            <a:ext cx="69659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Arial"/>
                <a:cs typeface="Arial"/>
              </a:rPr>
              <a:t>[-</a:t>
            </a:r>
            <a:r>
              <a:rPr sz="1400" b="1" dirty="0">
                <a:latin typeface="Arial"/>
                <a:cs typeface="Arial"/>
              </a:rPr>
              <a:t>20,</a:t>
            </a:r>
            <a:r>
              <a:rPr sz="1400" b="1" spc="-5" dirty="0">
                <a:latin typeface="Arial"/>
                <a:cs typeface="Arial"/>
              </a:rPr>
              <a:t> </a:t>
            </a:r>
            <a:r>
              <a:rPr sz="1400" b="1" spc="-25" dirty="0">
                <a:latin typeface="Arial"/>
                <a:cs typeface="Arial"/>
              </a:rPr>
              <a:t>45]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248" y="3318393"/>
            <a:ext cx="3682592" cy="135984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22687" y="3534920"/>
            <a:ext cx="2237695" cy="926795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5195227" y="3941854"/>
            <a:ext cx="815340" cy="123189"/>
            <a:chOff x="5195227" y="3941854"/>
            <a:chExt cx="815340" cy="123189"/>
          </a:xfrm>
        </p:grpSpPr>
        <p:sp>
          <p:nvSpPr>
            <p:cNvPr id="7" name="object 7"/>
            <p:cNvSpPr/>
            <p:nvPr/>
          </p:nvSpPr>
          <p:spPr>
            <a:xfrm>
              <a:off x="5209514" y="3989767"/>
              <a:ext cx="657225" cy="13970"/>
            </a:xfrm>
            <a:custGeom>
              <a:avLst/>
              <a:gdLst/>
              <a:ahLst/>
              <a:cxnLst/>
              <a:rect l="l" t="t" r="r" b="b"/>
              <a:pathLst>
                <a:path w="657225" h="13970">
                  <a:moveTo>
                    <a:pt x="0" y="0"/>
                  </a:moveTo>
                  <a:lnTo>
                    <a:pt x="656598" y="13549"/>
                  </a:lnTo>
                </a:path>
              </a:pathLst>
            </a:custGeom>
            <a:ln w="28574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50850" y="3941854"/>
              <a:ext cx="159199" cy="122949"/>
            </a:xfrm>
            <a:prstGeom prst="rect">
              <a:avLst/>
            </a:prstGeom>
          </p:spPr>
        </p:pic>
      </p:grpSp>
      <p:sp>
        <p:nvSpPr>
          <p:cNvPr id="9" name="object 9"/>
          <p:cNvSpPr/>
          <p:nvPr/>
        </p:nvSpPr>
        <p:spPr>
          <a:xfrm>
            <a:off x="3684967" y="1520451"/>
            <a:ext cx="516890" cy="516890"/>
          </a:xfrm>
          <a:custGeom>
            <a:avLst/>
            <a:gdLst/>
            <a:ahLst/>
            <a:cxnLst/>
            <a:rect l="l" t="t" r="r" b="b"/>
            <a:pathLst>
              <a:path w="516889" h="516889">
                <a:moveTo>
                  <a:pt x="258299" y="516598"/>
                </a:moveTo>
                <a:lnTo>
                  <a:pt x="211871" y="512437"/>
                </a:lnTo>
                <a:lnTo>
                  <a:pt x="168172" y="500439"/>
                </a:lnTo>
                <a:lnTo>
                  <a:pt x="127933" y="481333"/>
                </a:lnTo>
                <a:lnTo>
                  <a:pt x="91882" y="455850"/>
                </a:lnTo>
                <a:lnTo>
                  <a:pt x="60750" y="424718"/>
                </a:lnTo>
                <a:lnTo>
                  <a:pt x="35266" y="388668"/>
                </a:lnTo>
                <a:lnTo>
                  <a:pt x="16160" y="348428"/>
                </a:lnTo>
                <a:lnTo>
                  <a:pt x="4161" y="304729"/>
                </a:lnTo>
                <a:lnTo>
                  <a:pt x="0" y="258299"/>
                </a:lnTo>
                <a:lnTo>
                  <a:pt x="4161" y="211869"/>
                </a:lnTo>
                <a:lnTo>
                  <a:pt x="16160" y="168170"/>
                </a:lnTo>
                <a:lnTo>
                  <a:pt x="35266" y="127930"/>
                </a:lnTo>
                <a:lnTo>
                  <a:pt x="60750" y="91880"/>
                </a:lnTo>
                <a:lnTo>
                  <a:pt x="91882" y="60748"/>
                </a:lnTo>
                <a:lnTo>
                  <a:pt x="127933" y="35265"/>
                </a:lnTo>
                <a:lnTo>
                  <a:pt x="168172" y="16159"/>
                </a:lnTo>
                <a:lnTo>
                  <a:pt x="211871" y="4161"/>
                </a:lnTo>
                <a:lnTo>
                  <a:pt x="258299" y="0"/>
                </a:lnTo>
                <a:lnTo>
                  <a:pt x="308923" y="5009"/>
                </a:lnTo>
                <a:lnTo>
                  <a:pt x="357143" y="19662"/>
                </a:lnTo>
                <a:lnTo>
                  <a:pt x="401603" y="43398"/>
                </a:lnTo>
                <a:lnTo>
                  <a:pt x="440949" y="75654"/>
                </a:lnTo>
                <a:lnTo>
                  <a:pt x="473198" y="114995"/>
                </a:lnTo>
                <a:lnTo>
                  <a:pt x="496933" y="159452"/>
                </a:lnTo>
                <a:lnTo>
                  <a:pt x="511588" y="207672"/>
                </a:lnTo>
                <a:lnTo>
                  <a:pt x="516598" y="258299"/>
                </a:lnTo>
                <a:lnTo>
                  <a:pt x="512437" y="304729"/>
                </a:lnTo>
                <a:lnTo>
                  <a:pt x="500438" y="348428"/>
                </a:lnTo>
                <a:lnTo>
                  <a:pt x="481332" y="388668"/>
                </a:lnTo>
                <a:lnTo>
                  <a:pt x="455848" y="424718"/>
                </a:lnTo>
                <a:lnTo>
                  <a:pt x="424716" y="455850"/>
                </a:lnTo>
                <a:lnTo>
                  <a:pt x="388665" y="481333"/>
                </a:lnTo>
                <a:lnTo>
                  <a:pt x="348426" y="500439"/>
                </a:lnTo>
                <a:lnTo>
                  <a:pt x="304727" y="512437"/>
                </a:lnTo>
                <a:lnTo>
                  <a:pt x="258299" y="516598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808239" y="1654168"/>
            <a:ext cx="21462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701167" y="2109675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5">
                <a:moveTo>
                  <a:pt x="242099" y="484194"/>
                </a:moveTo>
                <a:lnTo>
                  <a:pt x="193303" y="479275"/>
                </a:lnTo>
                <a:lnTo>
                  <a:pt x="147856" y="465169"/>
                </a:lnTo>
                <a:lnTo>
                  <a:pt x="106731" y="442849"/>
                </a:lnTo>
                <a:lnTo>
                  <a:pt x="70902" y="413287"/>
                </a:lnTo>
                <a:lnTo>
                  <a:pt x="41342" y="377458"/>
                </a:lnTo>
                <a:lnTo>
                  <a:pt x="19023" y="336335"/>
                </a:lnTo>
                <a:lnTo>
                  <a:pt x="4917" y="290891"/>
                </a:lnTo>
                <a:lnTo>
                  <a:pt x="0" y="242099"/>
                </a:lnTo>
                <a:lnTo>
                  <a:pt x="4917" y="193308"/>
                </a:lnTo>
                <a:lnTo>
                  <a:pt x="19023" y="147863"/>
                </a:lnTo>
                <a:lnTo>
                  <a:pt x="41342" y="106739"/>
                </a:lnTo>
                <a:lnTo>
                  <a:pt x="70902" y="70909"/>
                </a:lnTo>
                <a:lnTo>
                  <a:pt x="106731" y="41346"/>
                </a:lnTo>
                <a:lnTo>
                  <a:pt x="147856" y="19025"/>
                </a:lnTo>
                <a:lnTo>
                  <a:pt x="193303" y="4918"/>
                </a:lnTo>
                <a:lnTo>
                  <a:pt x="242099" y="0"/>
                </a:lnTo>
                <a:lnTo>
                  <a:pt x="289545" y="4694"/>
                </a:lnTo>
                <a:lnTo>
                  <a:pt x="334736" y="18429"/>
                </a:lnTo>
                <a:lnTo>
                  <a:pt x="376403" y="40676"/>
                </a:lnTo>
                <a:lnTo>
                  <a:pt x="413274" y="70909"/>
                </a:lnTo>
                <a:lnTo>
                  <a:pt x="443509" y="107783"/>
                </a:lnTo>
                <a:lnTo>
                  <a:pt x="465761" y="149452"/>
                </a:lnTo>
                <a:lnTo>
                  <a:pt x="479501" y="194648"/>
                </a:lnTo>
                <a:lnTo>
                  <a:pt x="484199" y="242099"/>
                </a:lnTo>
                <a:lnTo>
                  <a:pt x="479280" y="290891"/>
                </a:lnTo>
                <a:lnTo>
                  <a:pt x="465172" y="336335"/>
                </a:lnTo>
                <a:lnTo>
                  <a:pt x="442850" y="377458"/>
                </a:lnTo>
                <a:lnTo>
                  <a:pt x="413286" y="413287"/>
                </a:lnTo>
                <a:lnTo>
                  <a:pt x="377456" y="442849"/>
                </a:lnTo>
                <a:lnTo>
                  <a:pt x="336332" y="465169"/>
                </a:lnTo>
                <a:lnTo>
                  <a:pt x="290888" y="479275"/>
                </a:lnTo>
                <a:lnTo>
                  <a:pt x="242099" y="484194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819698" y="2227185"/>
            <a:ext cx="21462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089564" y="2373980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5">
                <a:moveTo>
                  <a:pt x="242099" y="484189"/>
                </a:moveTo>
                <a:lnTo>
                  <a:pt x="193303" y="479271"/>
                </a:lnTo>
                <a:lnTo>
                  <a:pt x="147856" y="465166"/>
                </a:lnTo>
                <a:lnTo>
                  <a:pt x="106731" y="442846"/>
                </a:lnTo>
                <a:lnTo>
                  <a:pt x="70902" y="413286"/>
                </a:lnTo>
                <a:lnTo>
                  <a:pt x="41342" y="377457"/>
                </a:lnTo>
                <a:lnTo>
                  <a:pt x="19023" y="336332"/>
                </a:lnTo>
                <a:lnTo>
                  <a:pt x="4917" y="290885"/>
                </a:lnTo>
                <a:lnTo>
                  <a:pt x="0" y="242089"/>
                </a:lnTo>
                <a:lnTo>
                  <a:pt x="4917" y="193301"/>
                </a:lnTo>
                <a:lnTo>
                  <a:pt x="19023" y="147859"/>
                </a:lnTo>
                <a:lnTo>
                  <a:pt x="41342" y="106737"/>
                </a:lnTo>
                <a:lnTo>
                  <a:pt x="70902" y="70908"/>
                </a:lnTo>
                <a:lnTo>
                  <a:pt x="106731" y="41346"/>
                </a:lnTo>
                <a:lnTo>
                  <a:pt x="147856" y="19025"/>
                </a:lnTo>
                <a:lnTo>
                  <a:pt x="193303" y="4918"/>
                </a:lnTo>
                <a:lnTo>
                  <a:pt x="242099" y="0"/>
                </a:lnTo>
                <a:lnTo>
                  <a:pt x="289545" y="4694"/>
                </a:lnTo>
                <a:lnTo>
                  <a:pt x="334736" y="18429"/>
                </a:lnTo>
                <a:lnTo>
                  <a:pt x="376403" y="40676"/>
                </a:lnTo>
                <a:lnTo>
                  <a:pt x="413274" y="70909"/>
                </a:lnTo>
                <a:lnTo>
                  <a:pt x="443509" y="107782"/>
                </a:lnTo>
                <a:lnTo>
                  <a:pt x="465761" y="149450"/>
                </a:lnTo>
                <a:lnTo>
                  <a:pt x="479501" y="194643"/>
                </a:lnTo>
                <a:lnTo>
                  <a:pt x="484199" y="242089"/>
                </a:lnTo>
                <a:lnTo>
                  <a:pt x="479280" y="290885"/>
                </a:lnTo>
                <a:lnTo>
                  <a:pt x="465172" y="336332"/>
                </a:lnTo>
                <a:lnTo>
                  <a:pt x="442850" y="377457"/>
                </a:lnTo>
                <a:lnTo>
                  <a:pt x="413286" y="413286"/>
                </a:lnTo>
                <a:lnTo>
                  <a:pt x="377456" y="442846"/>
                </a:lnTo>
                <a:lnTo>
                  <a:pt x="336332" y="465166"/>
                </a:lnTo>
                <a:lnTo>
                  <a:pt x="290888" y="479271"/>
                </a:lnTo>
                <a:lnTo>
                  <a:pt x="242099" y="484189"/>
                </a:lnTo>
                <a:close/>
              </a:path>
            </a:pathLst>
          </a:custGeom>
          <a:solidFill>
            <a:srgbClr val="8E7C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208097" y="2491494"/>
            <a:ext cx="231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1350" baseline="-30864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175841" y="1769226"/>
            <a:ext cx="1396365" cy="854710"/>
            <a:chOff x="4175841" y="1769226"/>
            <a:chExt cx="1396365" cy="854710"/>
          </a:xfrm>
        </p:grpSpPr>
        <p:sp>
          <p:nvSpPr>
            <p:cNvPr id="16" name="object 16"/>
            <p:cNvSpPr/>
            <p:nvPr/>
          </p:nvSpPr>
          <p:spPr>
            <a:xfrm>
              <a:off x="4201566" y="1778751"/>
              <a:ext cx="805180" cy="759460"/>
            </a:xfrm>
            <a:custGeom>
              <a:avLst/>
              <a:gdLst/>
              <a:ahLst/>
              <a:cxnLst/>
              <a:rect l="l" t="t" r="r" b="b"/>
              <a:pathLst>
                <a:path w="805179" h="759460">
                  <a:moveTo>
                    <a:pt x="0" y="0"/>
                  </a:moveTo>
                  <a:lnTo>
                    <a:pt x="804823" y="758893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75290" y="2505220"/>
              <a:ext cx="103524" cy="10124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185366" y="2351775"/>
              <a:ext cx="795020" cy="232410"/>
            </a:xfrm>
            <a:custGeom>
              <a:avLst/>
              <a:gdLst/>
              <a:ahLst/>
              <a:cxnLst/>
              <a:rect l="l" t="t" r="r" b="b"/>
              <a:pathLst>
                <a:path w="795020" h="232410">
                  <a:moveTo>
                    <a:pt x="0" y="0"/>
                  </a:moveTo>
                  <a:lnTo>
                    <a:pt x="794473" y="232244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61490" y="2544269"/>
              <a:ext cx="110874" cy="7947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087464" y="1819566"/>
              <a:ext cx="484505" cy="484505"/>
            </a:xfrm>
            <a:custGeom>
              <a:avLst/>
              <a:gdLst/>
              <a:ahLst/>
              <a:cxnLst/>
              <a:rect l="l" t="t" r="r" b="b"/>
              <a:pathLst>
                <a:path w="484504" h="484505">
                  <a:moveTo>
                    <a:pt x="242099" y="484199"/>
                  </a:moveTo>
                  <a:lnTo>
                    <a:pt x="193310" y="479280"/>
                  </a:lnTo>
                  <a:lnTo>
                    <a:pt x="147866" y="465173"/>
                  </a:lnTo>
                  <a:lnTo>
                    <a:pt x="106742" y="442852"/>
                  </a:lnTo>
                  <a:lnTo>
                    <a:pt x="70912" y="413289"/>
                  </a:lnTo>
                  <a:lnTo>
                    <a:pt x="41348" y="377459"/>
                  </a:lnTo>
                  <a:lnTo>
                    <a:pt x="19026" y="336335"/>
                  </a:lnTo>
                  <a:lnTo>
                    <a:pt x="4918" y="290890"/>
                  </a:lnTo>
                  <a:lnTo>
                    <a:pt x="0" y="242099"/>
                  </a:lnTo>
                  <a:lnTo>
                    <a:pt x="4918" y="193308"/>
                  </a:lnTo>
                  <a:lnTo>
                    <a:pt x="19026" y="147863"/>
                  </a:lnTo>
                  <a:lnTo>
                    <a:pt x="41348" y="106739"/>
                  </a:lnTo>
                  <a:lnTo>
                    <a:pt x="70912" y="70909"/>
                  </a:lnTo>
                  <a:lnTo>
                    <a:pt x="106742" y="41346"/>
                  </a:lnTo>
                  <a:lnTo>
                    <a:pt x="147866" y="19025"/>
                  </a:lnTo>
                  <a:lnTo>
                    <a:pt x="193310" y="4918"/>
                  </a:lnTo>
                  <a:lnTo>
                    <a:pt x="242099" y="0"/>
                  </a:lnTo>
                  <a:lnTo>
                    <a:pt x="289559" y="4694"/>
                  </a:lnTo>
                  <a:lnTo>
                    <a:pt x="334758" y="18429"/>
                  </a:lnTo>
                  <a:lnTo>
                    <a:pt x="376427" y="40676"/>
                  </a:lnTo>
                  <a:lnTo>
                    <a:pt x="413299" y="70909"/>
                  </a:lnTo>
                  <a:lnTo>
                    <a:pt x="443530" y="107782"/>
                  </a:lnTo>
                  <a:lnTo>
                    <a:pt x="465774" y="149451"/>
                  </a:lnTo>
                  <a:lnTo>
                    <a:pt x="479505" y="194647"/>
                  </a:lnTo>
                  <a:lnTo>
                    <a:pt x="484199" y="242099"/>
                  </a:lnTo>
                  <a:lnTo>
                    <a:pt x="479281" y="290890"/>
                  </a:lnTo>
                  <a:lnTo>
                    <a:pt x="465176" y="336335"/>
                  </a:lnTo>
                  <a:lnTo>
                    <a:pt x="442856" y="377459"/>
                  </a:lnTo>
                  <a:lnTo>
                    <a:pt x="413296" y="413289"/>
                  </a:lnTo>
                  <a:lnTo>
                    <a:pt x="377467" y="442852"/>
                  </a:lnTo>
                  <a:lnTo>
                    <a:pt x="336342" y="465173"/>
                  </a:lnTo>
                  <a:lnTo>
                    <a:pt x="290895" y="479280"/>
                  </a:lnTo>
                  <a:lnTo>
                    <a:pt x="242099" y="484199"/>
                  </a:lnTo>
                  <a:close/>
                </a:path>
              </a:pathLst>
            </a:custGeom>
            <a:solidFill>
              <a:srgbClr val="8E7C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206001" y="1937074"/>
            <a:ext cx="231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350" baseline="-30864">
              <a:latin typeface="Tahoma"/>
              <a:cs typeface="Tahom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175841" y="1769226"/>
            <a:ext cx="2708275" cy="592455"/>
            <a:chOff x="4175841" y="1769226"/>
            <a:chExt cx="2708275" cy="592455"/>
          </a:xfrm>
        </p:grpSpPr>
        <p:sp>
          <p:nvSpPr>
            <p:cNvPr id="23" name="object 23"/>
            <p:cNvSpPr/>
            <p:nvPr/>
          </p:nvSpPr>
          <p:spPr>
            <a:xfrm>
              <a:off x="4185366" y="2096668"/>
              <a:ext cx="793750" cy="255270"/>
            </a:xfrm>
            <a:custGeom>
              <a:avLst/>
              <a:gdLst/>
              <a:ahLst/>
              <a:cxnLst/>
              <a:rect l="l" t="t" r="r" b="b"/>
              <a:pathLst>
                <a:path w="793750" h="255269">
                  <a:moveTo>
                    <a:pt x="0" y="255106"/>
                  </a:moveTo>
                  <a:lnTo>
                    <a:pt x="793273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59490" y="2057188"/>
              <a:ext cx="110974" cy="78959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4201566" y="1778751"/>
              <a:ext cx="777240" cy="248285"/>
            </a:xfrm>
            <a:custGeom>
              <a:avLst/>
              <a:gdLst/>
              <a:ahLst/>
              <a:cxnLst/>
              <a:rect l="l" t="t" r="r" b="b"/>
              <a:pathLst>
                <a:path w="777239" h="248285">
                  <a:moveTo>
                    <a:pt x="0" y="0"/>
                  </a:moveTo>
                  <a:lnTo>
                    <a:pt x="776998" y="248129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59490" y="1987381"/>
              <a:ext cx="110974" cy="78999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6399662" y="1836648"/>
              <a:ext cx="484505" cy="484505"/>
            </a:xfrm>
            <a:custGeom>
              <a:avLst/>
              <a:gdLst/>
              <a:ahLst/>
              <a:cxnLst/>
              <a:rect l="l" t="t" r="r" b="b"/>
              <a:pathLst>
                <a:path w="484504" h="484505">
                  <a:moveTo>
                    <a:pt x="242099" y="484199"/>
                  </a:moveTo>
                  <a:lnTo>
                    <a:pt x="193310" y="479280"/>
                  </a:lnTo>
                  <a:lnTo>
                    <a:pt x="147866" y="465173"/>
                  </a:lnTo>
                  <a:lnTo>
                    <a:pt x="106742" y="442852"/>
                  </a:lnTo>
                  <a:lnTo>
                    <a:pt x="70912" y="413289"/>
                  </a:lnTo>
                  <a:lnTo>
                    <a:pt x="41348" y="377459"/>
                  </a:lnTo>
                  <a:lnTo>
                    <a:pt x="19026" y="336335"/>
                  </a:lnTo>
                  <a:lnTo>
                    <a:pt x="4918" y="290890"/>
                  </a:lnTo>
                  <a:lnTo>
                    <a:pt x="0" y="242099"/>
                  </a:lnTo>
                  <a:lnTo>
                    <a:pt x="4918" y="193308"/>
                  </a:lnTo>
                  <a:lnTo>
                    <a:pt x="19026" y="147863"/>
                  </a:lnTo>
                  <a:lnTo>
                    <a:pt x="41348" y="106739"/>
                  </a:lnTo>
                  <a:lnTo>
                    <a:pt x="70912" y="70909"/>
                  </a:lnTo>
                  <a:lnTo>
                    <a:pt x="106742" y="41346"/>
                  </a:lnTo>
                  <a:lnTo>
                    <a:pt x="147866" y="19025"/>
                  </a:lnTo>
                  <a:lnTo>
                    <a:pt x="193310" y="4918"/>
                  </a:lnTo>
                  <a:lnTo>
                    <a:pt x="242099" y="0"/>
                  </a:lnTo>
                  <a:lnTo>
                    <a:pt x="289559" y="4694"/>
                  </a:lnTo>
                  <a:lnTo>
                    <a:pt x="334758" y="18429"/>
                  </a:lnTo>
                  <a:lnTo>
                    <a:pt x="376427" y="40676"/>
                  </a:lnTo>
                  <a:lnTo>
                    <a:pt x="413299" y="70909"/>
                  </a:lnTo>
                  <a:lnTo>
                    <a:pt x="443530" y="107783"/>
                  </a:lnTo>
                  <a:lnTo>
                    <a:pt x="465774" y="149452"/>
                  </a:lnTo>
                  <a:lnTo>
                    <a:pt x="479505" y="194648"/>
                  </a:lnTo>
                  <a:lnTo>
                    <a:pt x="484199" y="242099"/>
                  </a:lnTo>
                  <a:lnTo>
                    <a:pt x="479280" y="290890"/>
                  </a:lnTo>
                  <a:lnTo>
                    <a:pt x="465172" y="336335"/>
                  </a:lnTo>
                  <a:lnTo>
                    <a:pt x="442850" y="377459"/>
                  </a:lnTo>
                  <a:lnTo>
                    <a:pt x="413286" y="413289"/>
                  </a:lnTo>
                  <a:lnTo>
                    <a:pt x="377456" y="442852"/>
                  </a:lnTo>
                  <a:lnTo>
                    <a:pt x="336332" y="465173"/>
                  </a:lnTo>
                  <a:lnTo>
                    <a:pt x="290888" y="479280"/>
                  </a:lnTo>
                  <a:lnTo>
                    <a:pt x="242099" y="484199"/>
                  </a:lnTo>
                  <a:close/>
                </a:path>
              </a:pathLst>
            </a:custGeom>
            <a:solidFill>
              <a:srgbClr val="6EA8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518201" y="1954161"/>
            <a:ext cx="231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350" baseline="-30864">
              <a:latin typeface="Tahoma"/>
              <a:cs typeface="Tahom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087465" y="1265150"/>
            <a:ext cx="1298575" cy="1360805"/>
            <a:chOff x="5087465" y="1265150"/>
            <a:chExt cx="1298575" cy="1360805"/>
          </a:xfrm>
        </p:grpSpPr>
        <p:sp>
          <p:nvSpPr>
            <p:cNvPr id="30" name="object 30"/>
            <p:cNvSpPr/>
            <p:nvPr/>
          </p:nvSpPr>
          <p:spPr>
            <a:xfrm>
              <a:off x="5573763" y="2141113"/>
              <a:ext cx="730250" cy="474980"/>
            </a:xfrm>
            <a:custGeom>
              <a:avLst/>
              <a:gdLst/>
              <a:ahLst/>
              <a:cxnLst/>
              <a:rect l="l" t="t" r="r" b="b"/>
              <a:pathLst>
                <a:path w="730250" h="474980">
                  <a:moveTo>
                    <a:pt x="0" y="474956"/>
                  </a:moveTo>
                  <a:lnTo>
                    <a:pt x="730073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277162" y="2084443"/>
              <a:ext cx="108674" cy="92569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5571663" y="2061665"/>
              <a:ext cx="713740" cy="15240"/>
            </a:xfrm>
            <a:custGeom>
              <a:avLst/>
              <a:gdLst/>
              <a:ahLst/>
              <a:cxnLst/>
              <a:rect l="l" t="t" r="r" b="b"/>
              <a:pathLst>
                <a:path w="713739" h="15239">
                  <a:moveTo>
                    <a:pt x="0" y="0"/>
                  </a:moveTo>
                  <a:lnTo>
                    <a:pt x="713723" y="14739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75212" y="2035420"/>
              <a:ext cx="106124" cy="81967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5087465" y="1265150"/>
              <a:ext cx="484505" cy="484505"/>
            </a:xfrm>
            <a:custGeom>
              <a:avLst/>
              <a:gdLst/>
              <a:ahLst/>
              <a:cxnLst/>
              <a:rect l="l" t="t" r="r" b="b"/>
              <a:pathLst>
                <a:path w="484504" h="484505">
                  <a:moveTo>
                    <a:pt x="242099" y="484199"/>
                  </a:moveTo>
                  <a:lnTo>
                    <a:pt x="193310" y="479280"/>
                  </a:lnTo>
                  <a:lnTo>
                    <a:pt x="147866" y="465173"/>
                  </a:lnTo>
                  <a:lnTo>
                    <a:pt x="106742" y="442852"/>
                  </a:lnTo>
                  <a:lnTo>
                    <a:pt x="70912" y="413289"/>
                  </a:lnTo>
                  <a:lnTo>
                    <a:pt x="41348" y="377459"/>
                  </a:lnTo>
                  <a:lnTo>
                    <a:pt x="19026" y="336335"/>
                  </a:lnTo>
                  <a:lnTo>
                    <a:pt x="4918" y="290890"/>
                  </a:lnTo>
                  <a:lnTo>
                    <a:pt x="0" y="242099"/>
                  </a:lnTo>
                  <a:lnTo>
                    <a:pt x="4918" y="193308"/>
                  </a:lnTo>
                  <a:lnTo>
                    <a:pt x="19026" y="147863"/>
                  </a:lnTo>
                  <a:lnTo>
                    <a:pt x="41348" y="106739"/>
                  </a:lnTo>
                  <a:lnTo>
                    <a:pt x="70912" y="70909"/>
                  </a:lnTo>
                  <a:lnTo>
                    <a:pt x="106742" y="41346"/>
                  </a:lnTo>
                  <a:lnTo>
                    <a:pt x="147866" y="19025"/>
                  </a:lnTo>
                  <a:lnTo>
                    <a:pt x="193310" y="4918"/>
                  </a:lnTo>
                  <a:lnTo>
                    <a:pt x="242099" y="0"/>
                  </a:lnTo>
                  <a:lnTo>
                    <a:pt x="289559" y="4694"/>
                  </a:lnTo>
                  <a:lnTo>
                    <a:pt x="334758" y="18429"/>
                  </a:lnTo>
                  <a:lnTo>
                    <a:pt x="376427" y="40676"/>
                  </a:lnTo>
                  <a:lnTo>
                    <a:pt x="413299" y="70909"/>
                  </a:lnTo>
                  <a:lnTo>
                    <a:pt x="443530" y="107783"/>
                  </a:lnTo>
                  <a:lnTo>
                    <a:pt x="465774" y="149452"/>
                  </a:lnTo>
                  <a:lnTo>
                    <a:pt x="479505" y="194648"/>
                  </a:lnTo>
                  <a:lnTo>
                    <a:pt x="484199" y="242099"/>
                  </a:lnTo>
                  <a:lnTo>
                    <a:pt x="479281" y="290890"/>
                  </a:lnTo>
                  <a:lnTo>
                    <a:pt x="465176" y="336335"/>
                  </a:lnTo>
                  <a:lnTo>
                    <a:pt x="442856" y="377459"/>
                  </a:lnTo>
                  <a:lnTo>
                    <a:pt x="413296" y="413289"/>
                  </a:lnTo>
                  <a:lnTo>
                    <a:pt x="377467" y="442852"/>
                  </a:lnTo>
                  <a:lnTo>
                    <a:pt x="336342" y="465173"/>
                  </a:lnTo>
                  <a:lnTo>
                    <a:pt x="290895" y="479280"/>
                  </a:lnTo>
                  <a:lnTo>
                    <a:pt x="242099" y="484199"/>
                  </a:lnTo>
                  <a:close/>
                </a:path>
              </a:pathLst>
            </a:custGeom>
            <a:solidFill>
              <a:srgbClr val="8E7C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5206001" y="1382662"/>
            <a:ext cx="231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350" spc="-37" baseline="-33950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350" baseline="-33950">
              <a:latin typeface="Tahoma"/>
              <a:cs typeface="Tahoma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4175841" y="1497724"/>
            <a:ext cx="2210435" cy="863600"/>
            <a:chOff x="4175841" y="1497724"/>
            <a:chExt cx="2210435" cy="863600"/>
          </a:xfrm>
        </p:grpSpPr>
        <p:sp>
          <p:nvSpPr>
            <p:cNvPr id="37" name="object 37"/>
            <p:cNvSpPr/>
            <p:nvPr/>
          </p:nvSpPr>
          <p:spPr>
            <a:xfrm>
              <a:off x="4185366" y="1585391"/>
              <a:ext cx="819150" cy="766445"/>
            </a:xfrm>
            <a:custGeom>
              <a:avLst/>
              <a:gdLst/>
              <a:ahLst/>
              <a:cxnLst/>
              <a:rect l="l" t="t" r="r" b="b"/>
              <a:pathLst>
                <a:path w="819150" h="766444">
                  <a:moveTo>
                    <a:pt x="0" y="766383"/>
                  </a:moveTo>
                  <a:lnTo>
                    <a:pt x="818648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972990" y="1516784"/>
              <a:ext cx="103674" cy="101102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4201566" y="1540744"/>
              <a:ext cx="776605" cy="238125"/>
            </a:xfrm>
            <a:custGeom>
              <a:avLst/>
              <a:gdLst/>
              <a:ahLst/>
              <a:cxnLst/>
              <a:rect l="l" t="t" r="r" b="b"/>
              <a:pathLst>
                <a:path w="776604" h="238125">
                  <a:moveTo>
                    <a:pt x="0" y="238007"/>
                  </a:moveTo>
                  <a:lnTo>
                    <a:pt x="776598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959440" y="1501134"/>
              <a:ext cx="110924" cy="79219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5571663" y="1507249"/>
              <a:ext cx="734060" cy="506730"/>
            </a:xfrm>
            <a:custGeom>
              <a:avLst/>
              <a:gdLst/>
              <a:ahLst/>
              <a:cxnLst/>
              <a:rect l="l" t="t" r="r" b="b"/>
              <a:pathLst>
                <a:path w="734060" h="506730">
                  <a:moveTo>
                    <a:pt x="0" y="0"/>
                  </a:moveTo>
                  <a:lnTo>
                    <a:pt x="733923" y="506571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278187" y="1978400"/>
              <a:ext cx="108074" cy="94052"/>
            </a:xfrm>
            <a:prstGeom prst="rect">
              <a:avLst/>
            </a:prstGeom>
          </p:spPr>
        </p:pic>
      </p:grpSp>
      <p:grpSp>
        <p:nvGrpSpPr>
          <p:cNvPr id="43" name="object 43"/>
          <p:cNvGrpSpPr/>
          <p:nvPr/>
        </p:nvGrpSpPr>
        <p:grpSpPr>
          <a:xfrm>
            <a:off x="2504357" y="2273070"/>
            <a:ext cx="1061085" cy="166370"/>
            <a:chOff x="2504357" y="2273070"/>
            <a:chExt cx="1061085" cy="166370"/>
          </a:xfrm>
        </p:grpSpPr>
        <p:sp>
          <p:nvSpPr>
            <p:cNvPr id="44" name="object 44"/>
            <p:cNvSpPr/>
            <p:nvPr/>
          </p:nvSpPr>
          <p:spPr>
            <a:xfrm>
              <a:off x="2509119" y="2418795"/>
              <a:ext cx="1008380" cy="0"/>
            </a:xfrm>
            <a:custGeom>
              <a:avLst/>
              <a:gdLst/>
              <a:ahLst/>
              <a:cxnLst/>
              <a:rect l="l" t="t" r="r" b="b"/>
              <a:pathLst>
                <a:path w="1008379">
                  <a:moveTo>
                    <a:pt x="0" y="0"/>
                  </a:moveTo>
                  <a:lnTo>
                    <a:pt x="1008147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517267" y="240306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517267" y="240306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509119" y="2273070"/>
              <a:ext cx="0" cy="149860"/>
            </a:xfrm>
            <a:custGeom>
              <a:avLst/>
              <a:gdLst/>
              <a:ahLst/>
              <a:cxnLst/>
              <a:rect l="l" t="t" r="r" b="b"/>
              <a:pathLst>
                <a:path h="149860">
                  <a:moveTo>
                    <a:pt x="0" y="14939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8" name="object 48"/>
          <p:cNvGrpSpPr/>
          <p:nvPr/>
        </p:nvGrpSpPr>
        <p:grpSpPr>
          <a:xfrm>
            <a:off x="2168183" y="1797403"/>
            <a:ext cx="1344930" cy="157480"/>
            <a:chOff x="2168183" y="1797403"/>
            <a:chExt cx="1344930" cy="157480"/>
          </a:xfrm>
        </p:grpSpPr>
        <p:sp>
          <p:nvSpPr>
            <p:cNvPr id="49" name="object 49"/>
            <p:cNvSpPr/>
            <p:nvPr/>
          </p:nvSpPr>
          <p:spPr>
            <a:xfrm>
              <a:off x="2173495" y="1804971"/>
              <a:ext cx="1291590" cy="13335"/>
            </a:xfrm>
            <a:custGeom>
              <a:avLst/>
              <a:gdLst/>
              <a:ahLst/>
              <a:cxnLst/>
              <a:rect l="l" t="t" r="r" b="b"/>
              <a:pathLst>
                <a:path w="1291589" h="13335">
                  <a:moveTo>
                    <a:pt x="0" y="0"/>
                  </a:moveTo>
                  <a:lnTo>
                    <a:pt x="1291047" y="12927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464393" y="180216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299" y="0"/>
                  </a:lnTo>
                  <a:lnTo>
                    <a:pt x="43374" y="16164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464393" y="180216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374" y="16164"/>
                  </a:lnTo>
                  <a:lnTo>
                    <a:pt x="299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172945" y="1804971"/>
              <a:ext cx="0" cy="149860"/>
            </a:xfrm>
            <a:custGeom>
              <a:avLst/>
              <a:gdLst/>
              <a:ahLst/>
              <a:cxnLst/>
              <a:rect l="l" t="t" r="r" b="b"/>
              <a:pathLst>
                <a:path h="149860">
                  <a:moveTo>
                    <a:pt x="0" y="14939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</a:t>
            </a:r>
            <a:r>
              <a:rPr spc="-95" dirty="0"/>
              <a:t> </a:t>
            </a:r>
            <a:r>
              <a:rPr dirty="0"/>
              <a:t>Problem:</a:t>
            </a:r>
            <a:r>
              <a:rPr spc="-90" dirty="0"/>
              <a:t> </a:t>
            </a:r>
            <a:r>
              <a:rPr dirty="0"/>
              <a:t>Will</a:t>
            </a:r>
            <a:r>
              <a:rPr spc="-90" dirty="0"/>
              <a:t> </a:t>
            </a:r>
            <a:r>
              <a:rPr dirty="0"/>
              <a:t>my</a:t>
            </a:r>
            <a:r>
              <a:rPr spc="-90" dirty="0"/>
              <a:t> </a:t>
            </a:r>
            <a:r>
              <a:rPr dirty="0"/>
              <a:t>Flight</a:t>
            </a:r>
            <a:r>
              <a:rPr spc="-90" dirty="0"/>
              <a:t> </a:t>
            </a:r>
            <a:r>
              <a:rPr dirty="0"/>
              <a:t>be</a:t>
            </a:r>
            <a:r>
              <a:rPr spc="-90" dirty="0"/>
              <a:t> </a:t>
            </a:r>
            <a:r>
              <a:rPr spc="-10" dirty="0"/>
              <a:t>Delayed?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248" y="3318393"/>
            <a:ext cx="3682592" cy="135984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22687" y="3534920"/>
            <a:ext cx="2237695" cy="92679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5195227" y="3941854"/>
            <a:ext cx="815340" cy="123189"/>
            <a:chOff x="5195227" y="3941854"/>
            <a:chExt cx="815340" cy="123189"/>
          </a:xfrm>
        </p:grpSpPr>
        <p:sp>
          <p:nvSpPr>
            <p:cNvPr id="6" name="object 6"/>
            <p:cNvSpPr/>
            <p:nvPr/>
          </p:nvSpPr>
          <p:spPr>
            <a:xfrm>
              <a:off x="5209514" y="3989767"/>
              <a:ext cx="657225" cy="13970"/>
            </a:xfrm>
            <a:custGeom>
              <a:avLst/>
              <a:gdLst/>
              <a:ahLst/>
              <a:cxnLst/>
              <a:rect l="l" t="t" r="r" b="b"/>
              <a:pathLst>
                <a:path w="657225" h="13970">
                  <a:moveTo>
                    <a:pt x="0" y="0"/>
                  </a:moveTo>
                  <a:lnTo>
                    <a:pt x="656598" y="13549"/>
                  </a:lnTo>
                </a:path>
              </a:pathLst>
            </a:custGeom>
            <a:ln w="28574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50850" y="3941854"/>
              <a:ext cx="159199" cy="122949"/>
            </a:xfrm>
            <a:prstGeom prst="rect">
              <a:avLst/>
            </a:prstGeom>
          </p:spPr>
        </p:pic>
      </p:grpSp>
      <p:sp>
        <p:nvSpPr>
          <p:cNvPr id="8" name="object 8"/>
          <p:cNvSpPr/>
          <p:nvPr/>
        </p:nvSpPr>
        <p:spPr>
          <a:xfrm>
            <a:off x="3684967" y="1520451"/>
            <a:ext cx="516890" cy="516890"/>
          </a:xfrm>
          <a:custGeom>
            <a:avLst/>
            <a:gdLst/>
            <a:ahLst/>
            <a:cxnLst/>
            <a:rect l="l" t="t" r="r" b="b"/>
            <a:pathLst>
              <a:path w="516889" h="516889">
                <a:moveTo>
                  <a:pt x="258299" y="516598"/>
                </a:moveTo>
                <a:lnTo>
                  <a:pt x="211871" y="512437"/>
                </a:lnTo>
                <a:lnTo>
                  <a:pt x="168172" y="500439"/>
                </a:lnTo>
                <a:lnTo>
                  <a:pt x="127933" y="481333"/>
                </a:lnTo>
                <a:lnTo>
                  <a:pt x="91882" y="455850"/>
                </a:lnTo>
                <a:lnTo>
                  <a:pt x="60750" y="424718"/>
                </a:lnTo>
                <a:lnTo>
                  <a:pt x="35266" y="388668"/>
                </a:lnTo>
                <a:lnTo>
                  <a:pt x="16160" y="348428"/>
                </a:lnTo>
                <a:lnTo>
                  <a:pt x="4161" y="304729"/>
                </a:lnTo>
                <a:lnTo>
                  <a:pt x="0" y="258299"/>
                </a:lnTo>
                <a:lnTo>
                  <a:pt x="4161" y="211869"/>
                </a:lnTo>
                <a:lnTo>
                  <a:pt x="16160" y="168170"/>
                </a:lnTo>
                <a:lnTo>
                  <a:pt x="35266" y="127930"/>
                </a:lnTo>
                <a:lnTo>
                  <a:pt x="60750" y="91880"/>
                </a:lnTo>
                <a:lnTo>
                  <a:pt x="91882" y="60748"/>
                </a:lnTo>
                <a:lnTo>
                  <a:pt x="127933" y="35265"/>
                </a:lnTo>
                <a:lnTo>
                  <a:pt x="168172" y="16159"/>
                </a:lnTo>
                <a:lnTo>
                  <a:pt x="211871" y="4161"/>
                </a:lnTo>
                <a:lnTo>
                  <a:pt x="258299" y="0"/>
                </a:lnTo>
                <a:lnTo>
                  <a:pt x="308923" y="5009"/>
                </a:lnTo>
                <a:lnTo>
                  <a:pt x="357143" y="19662"/>
                </a:lnTo>
                <a:lnTo>
                  <a:pt x="401603" y="43398"/>
                </a:lnTo>
                <a:lnTo>
                  <a:pt x="440949" y="75654"/>
                </a:lnTo>
                <a:lnTo>
                  <a:pt x="473198" y="114995"/>
                </a:lnTo>
                <a:lnTo>
                  <a:pt x="496933" y="159452"/>
                </a:lnTo>
                <a:lnTo>
                  <a:pt x="511588" y="207672"/>
                </a:lnTo>
                <a:lnTo>
                  <a:pt x="516598" y="258299"/>
                </a:lnTo>
                <a:lnTo>
                  <a:pt x="512437" y="304729"/>
                </a:lnTo>
                <a:lnTo>
                  <a:pt x="500438" y="348428"/>
                </a:lnTo>
                <a:lnTo>
                  <a:pt x="481332" y="388668"/>
                </a:lnTo>
                <a:lnTo>
                  <a:pt x="455848" y="424718"/>
                </a:lnTo>
                <a:lnTo>
                  <a:pt x="424716" y="455850"/>
                </a:lnTo>
                <a:lnTo>
                  <a:pt x="388665" y="481333"/>
                </a:lnTo>
                <a:lnTo>
                  <a:pt x="348426" y="500439"/>
                </a:lnTo>
                <a:lnTo>
                  <a:pt x="304727" y="512437"/>
                </a:lnTo>
                <a:lnTo>
                  <a:pt x="258299" y="516598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808239" y="1654168"/>
            <a:ext cx="21462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701167" y="2109675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5">
                <a:moveTo>
                  <a:pt x="242099" y="484194"/>
                </a:moveTo>
                <a:lnTo>
                  <a:pt x="193303" y="479275"/>
                </a:lnTo>
                <a:lnTo>
                  <a:pt x="147856" y="465169"/>
                </a:lnTo>
                <a:lnTo>
                  <a:pt x="106731" y="442849"/>
                </a:lnTo>
                <a:lnTo>
                  <a:pt x="70902" y="413287"/>
                </a:lnTo>
                <a:lnTo>
                  <a:pt x="41342" y="377458"/>
                </a:lnTo>
                <a:lnTo>
                  <a:pt x="19023" y="336335"/>
                </a:lnTo>
                <a:lnTo>
                  <a:pt x="4917" y="290891"/>
                </a:lnTo>
                <a:lnTo>
                  <a:pt x="0" y="242099"/>
                </a:lnTo>
                <a:lnTo>
                  <a:pt x="4917" y="193308"/>
                </a:lnTo>
                <a:lnTo>
                  <a:pt x="19023" y="147863"/>
                </a:lnTo>
                <a:lnTo>
                  <a:pt x="41342" y="106739"/>
                </a:lnTo>
                <a:lnTo>
                  <a:pt x="70902" y="70909"/>
                </a:lnTo>
                <a:lnTo>
                  <a:pt x="106731" y="41346"/>
                </a:lnTo>
                <a:lnTo>
                  <a:pt x="147856" y="19025"/>
                </a:lnTo>
                <a:lnTo>
                  <a:pt x="193303" y="4918"/>
                </a:lnTo>
                <a:lnTo>
                  <a:pt x="242099" y="0"/>
                </a:lnTo>
                <a:lnTo>
                  <a:pt x="289545" y="4694"/>
                </a:lnTo>
                <a:lnTo>
                  <a:pt x="334736" y="18429"/>
                </a:lnTo>
                <a:lnTo>
                  <a:pt x="376403" y="40676"/>
                </a:lnTo>
                <a:lnTo>
                  <a:pt x="413274" y="70909"/>
                </a:lnTo>
                <a:lnTo>
                  <a:pt x="443509" y="107783"/>
                </a:lnTo>
                <a:lnTo>
                  <a:pt x="465761" y="149452"/>
                </a:lnTo>
                <a:lnTo>
                  <a:pt x="479501" y="194648"/>
                </a:lnTo>
                <a:lnTo>
                  <a:pt x="484199" y="242099"/>
                </a:lnTo>
                <a:lnTo>
                  <a:pt x="479280" y="290891"/>
                </a:lnTo>
                <a:lnTo>
                  <a:pt x="465172" y="336335"/>
                </a:lnTo>
                <a:lnTo>
                  <a:pt x="442850" y="377458"/>
                </a:lnTo>
                <a:lnTo>
                  <a:pt x="413286" y="413287"/>
                </a:lnTo>
                <a:lnTo>
                  <a:pt x="377456" y="442849"/>
                </a:lnTo>
                <a:lnTo>
                  <a:pt x="336332" y="465169"/>
                </a:lnTo>
                <a:lnTo>
                  <a:pt x="290888" y="479275"/>
                </a:lnTo>
                <a:lnTo>
                  <a:pt x="242099" y="484194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819698" y="2227185"/>
            <a:ext cx="21462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089564" y="2373980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5">
                <a:moveTo>
                  <a:pt x="242099" y="484189"/>
                </a:moveTo>
                <a:lnTo>
                  <a:pt x="193303" y="479271"/>
                </a:lnTo>
                <a:lnTo>
                  <a:pt x="147856" y="465166"/>
                </a:lnTo>
                <a:lnTo>
                  <a:pt x="106731" y="442846"/>
                </a:lnTo>
                <a:lnTo>
                  <a:pt x="70902" y="413286"/>
                </a:lnTo>
                <a:lnTo>
                  <a:pt x="41342" y="377457"/>
                </a:lnTo>
                <a:lnTo>
                  <a:pt x="19023" y="336332"/>
                </a:lnTo>
                <a:lnTo>
                  <a:pt x="4917" y="290885"/>
                </a:lnTo>
                <a:lnTo>
                  <a:pt x="0" y="242089"/>
                </a:lnTo>
                <a:lnTo>
                  <a:pt x="4917" y="193301"/>
                </a:lnTo>
                <a:lnTo>
                  <a:pt x="19023" y="147859"/>
                </a:lnTo>
                <a:lnTo>
                  <a:pt x="41342" y="106737"/>
                </a:lnTo>
                <a:lnTo>
                  <a:pt x="70902" y="70908"/>
                </a:lnTo>
                <a:lnTo>
                  <a:pt x="106731" y="41346"/>
                </a:lnTo>
                <a:lnTo>
                  <a:pt x="147856" y="19025"/>
                </a:lnTo>
                <a:lnTo>
                  <a:pt x="193303" y="4918"/>
                </a:lnTo>
                <a:lnTo>
                  <a:pt x="242099" y="0"/>
                </a:lnTo>
                <a:lnTo>
                  <a:pt x="289545" y="4694"/>
                </a:lnTo>
                <a:lnTo>
                  <a:pt x="334736" y="18429"/>
                </a:lnTo>
                <a:lnTo>
                  <a:pt x="376403" y="40676"/>
                </a:lnTo>
                <a:lnTo>
                  <a:pt x="413274" y="70909"/>
                </a:lnTo>
                <a:lnTo>
                  <a:pt x="443509" y="107782"/>
                </a:lnTo>
                <a:lnTo>
                  <a:pt x="465761" y="149450"/>
                </a:lnTo>
                <a:lnTo>
                  <a:pt x="479501" y="194643"/>
                </a:lnTo>
                <a:lnTo>
                  <a:pt x="484199" y="242089"/>
                </a:lnTo>
                <a:lnTo>
                  <a:pt x="479280" y="290885"/>
                </a:lnTo>
                <a:lnTo>
                  <a:pt x="465172" y="336332"/>
                </a:lnTo>
                <a:lnTo>
                  <a:pt x="442850" y="377457"/>
                </a:lnTo>
                <a:lnTo>
                  <a:pt x="413286" y="413286"/>
                </a:lnTo>
                <a:lnTo>
                  <a:pt x="377456" y="442846"/>
                </a:lnTo>
                <a:lnTo>
                  <a:pt x="336332" y="465166"/>
                </a:lnTo>
                <a:lnTo>
                  <a:pt x="290888" y="479271"/>
                </a:lnTo>
                <a:lnTo>
                  <a:pt x="242099" y="484189"/>
                </a:lnTo>
                <a:close/>
              </a:path>
            </a:pathLst>
          </a:custGeom>
          <a:solidFill>
            <a:srgbClr val="8E7C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208097" y="2491494"/>
            <a:ext cx="231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1350" baseline="-30864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175841" y="1769226"/>
            <a:ext cx="1396365" cy="854710"/>
            <a:chOff x="4175841" y="1769226"/>
            <a:chExt cx="1396365" cy="854710"/>
          </a:xfrm>
        </p:grpSpPr>
        <p:sp>
          <p:nvSpPr>
            <p:cNvPr id="15" name="object 15"/>
            <p:cNvSpPr/>
            <p:nvPr/>
          </p:nvSpPr>
          <p:spPr>
            <a:xfrm>
              <a:off x="4201566" y="1778751"/>
              <a:ext cx="805180" cy="759460"/>
            </a:xfrm>
            <a:custGeom>
              <a:avLst/>
              <a:gdLst/>
              <a:ahLst/>
              <a:cxnLst/>
              <a:rect l="l" t="t" r="r" b="b"/>
              <a:pathLst>
                <a:path w="805179" h="759460">
                  <a:moveTo>
                    <a:pt x="0" y="0"/>
                  </a:moveTo>
                  <a:lnTo>
                    <a:pt x="804823" y="758893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75290" y="2505220"/>
              <a:ext cx="103524" cy="10124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185366" y="2351775"/>
              <a:ext cx="795020" cy="232410"/>
            </a:xfrm>
            <a:custGeom>
              <a:avLst/>
              <a:gdLst/>
              <a:ahLst/>
              <a:cxnLst/>
              <a:rect l="l" t="t" r="r" b="b"/>
              <a:pathLst>
                <a:path w="795020" h="232410">
                  <a:moveTo>
                    <a:pt x="0" y="0"/>
                  </a:moveTo>
                  <a:lnTo>
                    <a:pt x="794473" y="232244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61490" y="2544269"/>
              <a:ext cx="110874" cy="79474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087464" y="1819566"/>
              <a:ext cx="484505" cy="484505"/>
            </a:xfrm>
            <a:custGeom>
              <a:avLst/>
              <a:gdLst/>
              <a:ahLst/>
              <a:cxnLst/>
              <a:rect l="l" t="t" r="r" b="b"/>
              <a:pathLst>
                <a:path w="484504" h="484505">
                  <a:moveTo>
                    <a:pt x="242099" y="484199"/>
                  </a:moveTo>
                  <a:lnTo>
                    <a:pt x="193310" y="479280"/>
                  </a:lnTo>
                  <a:lnTo>
                    <a:pt x="147866" y="465173"/>
                  </a:lnTo>
                  <a:lnTo>
                    <a:pt x="106742" y="442852"/>
                  </a:lnTo>
                  <a:lnTo>
                    <a:pt x="70912" y="413289"/>
                  </a:lnTo>
                  <a:lnTo>
                    <a:pt x="41348" y="377459"/>
                  </a:lnTo>
                  <a:lnTo>
                    <a:pt x="19026" y="336335"/>
                  </a:lnTo>
                  <a:lnTo>
                    <a:pt x="4918" y="290890"/>
                  </a:lnTo>
                  <a:lnTo>
                    <a:pt x="0" y="242099"/>
                  </a:lnTo>
                  <a:lnTo>
                    <a:pt x="4918" y="193308"/>
                  </a:lnTo>
                  <a:lnTo>
                    <a:pt x="19026" y="147863"/>
                  </a:lnTo>
                  <a:lnTo>
                    <a:pt x="41348" y="106739"/>
                  </a:lnTo>
                  <a:lnTo>
                    <a:pt x="70912" y="70909"/>
                  </a:lnTo>
                  <a:lnTo>
                    <a:pt x="106742" y="41346"/>
                  </a:lnTo>
                  <a:lnTo>
                    <a:pt x="147866" y="19025"/>
                  </a:lnTo>
                  <a:lnTo>
                    <a:pt x="193310" y="4918"/>
                  </a:lnTo>
                  <a:lnTo>
                    <a:pt x="242099" y="0"/>
                  </a:lnTo>
                  <a:lnTo>
                    <a:pt x="289559" y="4694"/>
                  </a:lnTo>
                  <a:lnTo>
                    <a:pt x="334758" y="18429"/>
                  </a:lnTo>
                  <a:lnTo>
                    <a:pt x="376427" y="40676"/>
                  </a:lnTo>
                  <a:lnTo>
                    <a:pt x="413299" y="70909"/>
                  </a:lnTo>
                  <a:lnTo>
                    <a:pt x="443530" y="107782"/>
                  </a:lnTo>
                  <a:lnTo>
                    <a:pt x="465774" y="149451"/>
                  </a:lnTo>
                  <a:lnTo>
                    <a:pt x="479505" y="194647"/>
                  </a:lnTo>
                  <a:lnTo>
                    <a:pt x="484199" y="242099"/>
                  </a:lnTo>
                  <a:lnTo>
                    <a:pt x="479281" y="290890"/>
                  </a:lnTo>
                  <a:lnTo>
                    <a:pt x="465176" y="336335"/>
                  </a:lnTo>
                  <a:lnTo>
                    <a:pt x="442856" y="377459"/>
                  </a:lnTo>
                  <a:lnTo>
                    <a:pt x="413296" y="413289"/>
                  </a:lnTo>
                  <a:lnTo>
                    <a:pt x="377467" y="442852"/>
                  </a:lnTo>
                  <a:lnTo>
                    <a:pt x="336342" y="465173"/>
                  </a:lnTo>
                  <a:lnTo>
                    <a:pt x="290895" y="479280"/>
                  </a:lnTo>
                  <a:lnTo>
                    <a:pt x="242099" y="484199"/>
                  </a:lnTo>
                  <a:close/>
                </a:path>
              </a:pathLst>
            </a:custGeom>
            <a:solidFill>
              <a:srgbClr val="8E7C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231401" y="1937074"/>
            <a:ext cx="122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328071" y="2063015"/>
            <a:ext cx="84455" cy="1676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175841" y="1769226"/>
            <a:ext cx="2708275" cy="592455"/>
            <a:chOff x="4175841" y="1769226"/>
            <a:chExt cx="2708275" cy="592455"/>
          </a:xfrm>
        </p:grpSpPr>
        <p:sp>
          <p:nvSpPr>
            <p:cNvPr id="23" name="object 23"/>
            <p:cNvSpPr/>
            <p:nvPr/>
          </p:nvSpPr>
          <p:spPr>
            <a:xfrm>
              <a:off x="4185366" y="2096668"/>
              <a:ext cx="793750" cy="255270"/>
            </a:xfrm>
            <a:custGeom>
              <a:avLst/>
              <a:gdLst/>
              <a:ahLst/>
              <a:cxnLst/>
              <a:rect l="l" t="t" r="r" b="b"/>
              <a:pathLst>
                <a:path w="793750" h="255269">
                  <a:moveTo>
                    <a:pt x="0" y="255106"/>
                  </a:moveTo>
                  <a:lnTo>
                    <a:pt x="793273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59490" y="2057188"/>
              <a:ext cx="110974" cy="78959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4201566" y="1778751"/>
              <a:ext cx="777240" cy="248285"/>
            </a:xfrm>
            <a:custGeom>
              <a:avLst/>
              <a:gdLst/>
              <a:ahLst/>
              <a:cxnLst/>
              <a:rect l="l" t="t" r="r" b="b"/>
              <a:pathLst>
                <a:path w="777239" h="248285">
                  <a:moveTo>
                    <a:pt x="0" y="0"/>
                  </a:moveTo>
                  <a:lnTo>
                    <a:pt x="776998" y="248129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59490" y="1987381"/>
              <a:ext cx="110974" cy="78999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6399662" y="1836648"/>
              <a:ext cx="484505" cy="484505"/>
            </a:xfrm>
            <a:custGeom>
              <a:avLst/>
              <a:gdLst/>
              <a:ahLst/>
              <a:cxnLst/>
              <a:rect l="l" t="t" r="r" b="b"/>
              <a:pathLst>
                <a:path w="484504" h="484505">
                  <a:moveTo>
                    <a:pt x="242099" y="484199"/>
                  </a:moveTo>
                  <a:lnTo>
                    <a:pt x="193310" y="479280"/>
                  </a:lnTo>
                  <a:lnTo>
                    <a:pt x="147866" y="465173"/>
                  </a:lnTo>
                  <a:lnTo>
                    <a:pt x="106742" y="442852"/>
                  </a:lnTo>
                  <a:lnTo>
                    <a:pt x="70912" y="413289"/>
                  </a:lnTo>
                  <a:lnTo>
                    <a:pt x="41348" y="377459"/>
                  </a:lnTo>
                  <a:lnTo>
                    <a:pt x="19026" y="336335"/>
                  </a:lnTo>
                  <a:lnTo>
                    <a:pt x="4918" y="290890"/>
                  </a:lnTo>
                  <a:lnTo>
                    <a:pt x="0" y="242099"/>
                  </a:lnTo>
                  <a:lnTo>
                    <a:pt x="4918" y="193308"/>
                  </a:lnTo>
                  <a:lnTo>
                    <a:pt x="19026" y="147863"/>
                  </a:lnTo>
                  <a:lnTo>
                    <a:pt x="41348" y="106739"/>
                  </a:lnTo>
                  <a:lnTo>
                    <a:pt x="70912" y="70909"/>
                  </a:lnTo>
                  <a:lnTo>
                    <a:pt x="106742" y="41346"/>
                  </a:lnTo>
                  <a:lnTo>
                    <a:pt x="147866" y="19025"/>
                  </a:lnTo>
                  <a:lnTo>
                    <a:pt x="193310" y="4918"/>
                  </a:lnTo>
                  <a:lnTo>
                    <a:pt x="242099" y="0"/>
                  </a:lnTo>
                  <a:lnTo>
                    <a:pt x="289559" y="4694"/>
                  </a:lnTo>
                  <a:lnTo>
                    <a:pt x="334758" y="18429"/>
                  </a:lnTo>
                  <a:lnTo>
                    <a:pt x="376427" y="40676"/>
                  </a:lnTo>
                  <a:lnTo>
                    <a:pt x="413299" y="70909"/>
                  </a:lnTo>
                  <a:lnTo>
                    <a:pt x="443530" y="107783"/>
                  </a:lnTo>
                  <a:lnTo>
                    <a:pt x="465774" y="149452"/>
                  </a:lnTo>
                  <a:lnTo>
                    <a:pt x="479505" y="194648"/>
                  </a:lnTo>
                  <a:lnTo>
                    <a:pt x="484199" y="242099"/>
                  </a:lnTo>
                  <a:lnTo>
                    <a:pt x="479280" y="290890"/>
                  </a:lnTo>
                  <a:lnTo>
                    <a:pt x="465172" y="336335"/>
                  </a:lnTo>
                  <a:lnTo>
                    <a:pt x="442850" y="377459"/>
                  </a:lnTo>
                  <a:lnTo>
                    <a:pt x="413286" y="413289"/>
                  </a:lnTo>
                  <a:lnTo>
                    <a:pt x="377456" y="442852"/>
                  </a:lnTo>
                  <a:lnTo>
                    <a:pt x="336332" y="465173"/>
                  </a:lnTo>
                  <a:lnTo>
                    <a:pt x="290888" y="479280"/>
                  </a:lnTo>
                  <a:lnTo>
                    <a:pt x="242099" y="484199"/>
                  </a:lnTo>
                  <a:close/>
                </a:path>
              </a:pathLst>
            </a:custGeom>
            <a:solidFill>
              <a:srgbClr val="6EA8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543601" y="1954161"/>
            <a:ext cx="1219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639915" y="2080103"/>
            <a:ext cx="84455" cy="1676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00" spc="-50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087465" y="1265150"/>
            <a:ext cx="1298575" cy="1360805"/>
            <a:chOff x="5087465" y="1265150"/>
            <a:chExt cx="1298575" cy="1360805"/>
          </a:xfrm>
        </p:grpSpPr>
        <p:sp>
          <p:nvSpPr>
            <p:cNvPr id="31" name="object 31"/>
            <p:cNvSpPr/>
            <p:nvPr/>
          </p:nvSpPr>
          <p:spPr>
            <a:xfrm>
              <a:off x="5573763" y="2141113"/>
              <a:ext cx="730250" cy="474980"/>
            </a:xfrm>
            <a:custGeom>
              <a:avLst/>
              <a:gdLst/>
              <a:ahLst/>
              <a:cxnLst/>
              <a:rect l="l" t="t" r="r" b="b"/>
              <a:pathLst>
                <a:path w="730250" h="474980">
                  <a:moveTo>
                    <a:pt x="0" y="474956"/>
                  </a:moveTo>
                  <a:lnTo>
                    <a:pt x="730073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277162" y="2084443"/>
              <a:ext cx="108674" cy="92569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5571663" y="2061665"/>
              <a:ext cx="713740" cy="15240"/>
            </a:xfrm>
            <a:custGeom>
              <a:avLst/>
              <a:gdLst/>
              <a:ahLst/>
              <a:cxnLst/>
              <a:rect l="l" t="t" r="r" b="b"/>
              <a:pathLst>
                <a:path w="713739" h="15239">
                  <a:moveTo>
                    <a:pt x="0" y="0"/>
                  </a:moveTo>
                  <a:lnTo>
                    <a:pt x="713723" y="14739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75212" y="2035420"/>
              <a:ext cx="106124" cy="81967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5087465" y="1265150"/>
              <a:ext cx="484505" cy="484505"/>
            </a:xfrm>
            <a:custGeom>
              <a:avLst/>
              <a:gdLst/>
              <a:ahLst/>
              <a:cxnLst/>
              <a:rect l="l" t="t" r="r" b="b"/>
              <a:pathLst>
                <a:path w="484504" h="484505">
                  <a:moveTo>
                    <a:pt x="242099" y="484199"/>
                  </a:moveTo>
                  <a:lnTo>
                    <a:pt x="193310" y="479280"/>
                  </a:lnTo>
                  <a:lnTo>
                    <a:pt x="147866" y="465173"/>
                  </a:lnTo>
                  <a:lnTo>
                    <a:pt x="106742" y="442852"/>
                  </a:lnTo>
                  <a:lnTo>
                    <a:pt x="70912" y="413289"/>
                  </a:lnTo>
                  <a:lnTo>
                    <a:pt x="41348" y="377459"/>
                  </a:lnTo>
                  <a:lnTo>
                    <a:pt x="19026" y="336335"/>
                  </a:lnTo>
                  <a:lnTo>
                    <a:pt x="4918" y="290890"/>
                  </a:lnTo>
                  <a:lnTo>
                    <a:pt x="0" y="242099"/>
                  </a:lnTo>
                  <a:lnTo>
                    <a:pt x="4918" y="193308"/>
                  </a:lnTo>
                  <a:lnTo>
                    <a:pt x="19026" y="147863"/>
                  </a:lnTo>
                  <a:lnTo>
                    <a:pt x="41348" y="106739"/>
                  </a:lnTo>
                  <a:lnTo>
                    <a:pt x="70912" y="70909"/>
                  </a:lnTo>
                  <a:lnTo>
                    <a:pt x="106742" y="41346"/>
                  </a:lnTo>
                  <a:lnTo>
                    <a:pt x="147866" y="19025"/>
                  </a:lnTo>
                  <a:lnTo>
                    <a:pt x="193310" y="4918"/>
                  </a:lnTo>
                  <a:lnTo>
                    <a:pt x="242099" y="0"/>
                  </a:lnTo>
                  <a:lnTo>
                    <a:pt x="289559" y="4694"/>
                  </a:lnTo>
                  <a:lnTo>
                    <a:pt x="334758" y="18429"/>
                  </a:lnTo>
                  <a:lnTo>
                    <a:pt x="376427" y="40676"/>
                  </a:lnTo>
                  <a:lnTo>
                    <a:pt x="413299" y="70909"/>
                  </a:lnTo>
                  <a:lnTo>
                    <a:pt x="443530" y="107783"/>
                  </a:lnTo>
                  <a:lnTo>
                    <a:pt x="465774" y="149452"/>
                  </a:lnTo>
                  <a:lnTo>
                    <a:pt x="479505" y="194648"/>
                  </a:lnTo>
                  <a:lnTo>
                    <a:pt x="484199" y="242099"/>
                  </a:lnTo>
                  <a:lnTo>
                    <a:pt x="479281" y="290890"/>
                  </a:lnTo>
                  <a:lnTo>
                    <a:pt x="465176" y="336335"/>
                  </a:lnTo>
                  <a:lnTo>
                    <a:pt x="442856" y="377459"/>
                  </a:lnTo>
                  <a:lnTo>
                    <a:pt x="413296" y="413289"/>
                  </a:lnTo>
                  <a:lnTo>
                    <a:pt x="377467" y="442852"/>
                  </a:lnTo>
                  <a:lnTo>
                    <a:pt x="336342" y="465173"/>
                  </a:lnTo>
                  <a:lnTo>
                    <a:pt x="290895" y="479280"/>
                  </a:lnTo>
                  <a:lnTo>
                    <a:pt x="242099" y="484199"/>
                  </a:lnTo>
                  <a:close/>
                </a:path>
              </a:pathLst>
            </a:custGeom>
            <a:solidFill>
              <a:srgbClr val="8E7C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5206001" y="1382662"/>
            <a:ext cx="231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350" spc="-37" baseline="-33950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350" baseline="-33950">
              <a:latin typeface="Tahoma"/>
              <a:cs typeface="Tahoma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4175841" y="1497724"/>
            <a:ext cx="2210435" cy="863600"/>
            <a:chOff x="4175841" y="1497724"/>
            <a:chExt cx="2210435" cy="863600"/>
          </a:xfrm>
        </p:grpSpPr>
        <p:sp>
          <p:nvSpPr>
            <p:cNvPr id="38" name="object 38"/>
            <p:cNvSpPr/>
            <p:nvPr/>
          </p:nvSpPr>
          <p:spPr>
            <a:xfrm>
              <a:off x="4185366" y="1585391"/>
              <a:ext cx="819150" cy="766445"/>
            </a:xfrm>
            <a:custGeom>
              <a:avLst/>
              <a:gdLst/>
              <a:ahLst/>
              <a:cxnLst/>
              <a:rect l="l" t="t" r="r" b="b"/>
              <a:pathLst>
                <a:path w="819150" h="766444">
                  <a:moveTo>
                    <a:pt x="0" y="766383"/>
                  </a:moveTo>
                  <a:lnTo>
                    <a:pt x="818648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972990" y="1516784"/>
              <a:ext cx="103674" cy="101102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4201566" y="1540744"/>
              <a:ext cx="776605" cy="238125"/>
            </a:xfrm>
            <a:custGeom>
              <a:avLst/>
              <a:gdLst/>
              <a:ahLst/>
              <a:cxnLst/>
              <a:rect l="l" t="t" r="r" b="b"/>
              <a:pathLst>
                <a:path w="776604" h="238125">
                  <a:moveTo>
                    <a:pt x="0" y="238007"/>
                  </a:moveTo>
                  <a:lnTo>
                    <a:pt x="776598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959440" y="1501134"/>
              <a:ext cx="110924" cy="79219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5571663" y="1507249"/>
              <a:ext cx="734060" cy="506730"/>
            </a:xfrm>
            <a:custGeom>
              <a:avLst/>
              <a:gdLst/>
              <a:ahLst/>
              <a:cxnLst/>
              <a:rect l="l" t="t" r="r" b="b"/>
              <a:pathLst>
                <a:path w="734060" h="506730">
                  <a:moveTo>
                    <a:pt x="0" y="0"/>
                  </a:moveTo>
                  <a:lnTo>
                    <a:pt x="733923" y="506571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278187" y="1978400"/>
              <a:ext cx="108074" cy="94052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7146961" y="1828786"/>
            <a:ext cx="12198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Predicted: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0.05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978325" y="2016447"/>
            <a:ext cx="69659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Arial"/>
                <a:cs typeface="Arial"/>
              </a:rPr>
              <a:t>[-</a:t>
            </a:r>
            <a:r>
              <a:rPr sz="1400" b="1" dirty="0">
                <a:latin typeface="Arial"/>
                <a:cs typeface="Arial"/>
              </a:rPr>
              <a:t>20,</a:t>
            </a:r>
            <a:r>
              <a:rPr sz="1400" b="1" spc="-5" dirty="0">
                <a:latin typeface="Arial"/>
                <a:cs typeface="Arial"/>
              </a:rPr>
              <a:t> </a:t>
            </a:r>
            <a:r>
              <a:rPr sz="1400" b="1" spc="-25" dirty="0">
                <a:latin typeface="Arial"/>
                <a:cs typeface="Arial"/>
              </a:rPr>
              <a:t>45]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2504357" y="2273070"/>
            <a:ext cx="1061085" cy="166370"/>
            <a:chOff x="2504357" y="2273070"/>
            <a:chExt cx="1061085" cy="166370"/>
          </a:xfrm>
        </p:grpSpPr>
        <p:sp>
          <p:nvSpPr>
            <p:cNvPr id="47" name="object 47"/>
            <p:cNvSpPr/>
            <p:nvPr/>
          </p:nvSpPr>
          <p:spPr>
            <a:xfrm>
              <a:off x="2509119" y="2418795"/>
              <a:ext cx="1008380" cy="0"/>
            </a:xfrm>
            <a:custGeom>
              <a:avLst/>
              <a:gdLst/>
              <a:ahLst/>
              <a:cxnLst/>
              <a:rect l="l" t="t" r="r" b="b"/>
              <a:pathLst>
                <a:path w="1008379">
                  <a:moveTo>
                    <a:pt x="0" y="0"/>
                  </a:moveTo>
                  <a:lnTo>
                    <a:pt x="1008147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517267" y="240306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517267" y="240306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509119" y="2273070"/>
              <a:ext cx="0" cy="149860"/>
            </a:xfrm>
            <a:custGeom>
              <a:avLst/>
              <a:gdLst/>
              <a:ahLst/>
              <a:cxnLst/>
              <a:rect l="l" t="t" r="r" b="b"/>
              <a:pathLst>
                <a:path h="149860">
                  <a:moveTo>
                    <a:pt x="0" y="14939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1" name="object 51"/>
          <p:cNvGrpSpPr/>
          <p:nvPr/>
        </p:nvGrpSpPr>
        <p:grpSpPr>
          <a:xfrm>
            <a:off x="2168183" y="1797403"/>
            <a:ext cx="1344930" cy="157480"/>
            <a:chOff x="2168183" y="1797403"/>
            <a:chExt cx="1344930" cy="157480"/>
          </a:xfrm>
        </p:grpSpPr>
        <p:sp>
          <p:nvSpPr>
            <p:cNvPr id="52" name="object 52"/>
            <p:cNvSpPr/>
            <p:nvPr/>
          </p:nvSpPr>
          <p:spPr>
            <a:xfrm>
              <a:off x="2173495" y="1804971"/>
              <a:ext cx="1291590" cy="13335"/>
            </a:xfrm>
            <a:custGeom>
              <a:avLst/>
              <a:gdLst/>
              <a:ahLst/>
              <a:cxnLst/>
              <a:rect l="l" t="t" r="r" b="b"/>
              <a:pathLst>
                <a:path w="1291589" h="13335">
                  <a:moveTo>
                    <a:pt x="0" y="0"/>
                  </a:moveTo>
                  <a:lnTo>
                    <a:pt x="1291047" y="12927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464393" y="180216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299" y="0"/>
                  </a:lnTo>
                  <a:lnTo>
                    <a:pt x="43374" y="16164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464393" y="180216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374" y="16164"/>
                  </a:lnTo>
                  <a:lnTo>
                    <a:pt x="299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172945" y="1804971"/>
              <a:ext cx="0" cy="149860"/>
            </a:xfrm>
            <a:custGeom>
              <a:avLst/>
              <a:gdLst/>
              <a:ahLst/>
              <a:cxnLst/>
              <a:rect l="l" t="t" r="r" b="b"/>
              <a:pathLst>
                <a:path h="149860">
                  <a:moveTo>
                    <a:pt x="0" y="14939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</a:t>
            </a:r>
            <a:r>
              <a:rPr spc="-95" dirty="0"/>
              <a:t> </a:t>
            </a:r>
            <a:r>
              <a:rPr dirty="0"/>
              <a:t>Problem:</a:t>
            </a:r>
            <a:r>
              <a:rPr spc="-90" dirty="0"/>
              <a:t> </a:t>
            </a:r>
            <a:r>
              <a:rPr dirty="0"/>
              <a:t>Will</a:t>
            </a:r>
            <a:r>
              <a:rPr spc="-90" dirty="0"/>
              <a:t> </a:t>
            </a:r>
            <a:r>
              <a:rPr dirty="0"/>
              <a:t>my</a:t>
            </a:r>
            <a:r>
              <a:rPr spc="-90" dirty="0"/>
              <a:t> </a:t>
            </a:r>
            <a:r>
              <a:rPr dirty="0"/>
              <a:t>Flight</a:t>
            </a:r>
            <a:r>
              <a:rPr spc="-90" dirty="0"/>
              <a:t> </a:t>
            </a:r>
            <a:r>
              <a:rPr dirty="0"/>
              <a:t>be</a:t>
            </a:r>
            <a:r>
              <a:rPr spc="-90" dirty="0"/>
              <a:t> </a:t>
            </a:r>
            <a:r>
              <a:rPr spc="-10" dirty="0"/>
              <a:t>Delayed?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248" y="3318393"/>
            <a:ext cx="3682592" cy="135984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22687" y="3534920"/>
            <a:ext cx="2237695" cy="92679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5195227" y="3941854"/>
            <a:ext cx="815340" cy="123189"/>
            <a:chOff x="5195227" y="3941854"/>
            <a:chExt cx="815340" cy="123189"/>
          </a:xfrm>
        </p:grpSpPr>
        <p:sp>
          <p:nvSpPr>
            <p:cNvPr id="6" name="object 6"/>
            <p:cNvSpPr/>
            <p:nvPr/>
          </p:nvSpPr>
          <p:spPr>
            <a:xfrm>
              <a:off x="5209514" y="3989767"/>
              <a:ext cx="657225" cy="13970"/>
            </a:xfrm>
            <a:custGeom>
              <a:avLst/>
              <a:gdLst/>
              <a:ahLst/>
              <a:cxnLst/>
              <a:rect l="l" t="t" r="r" b="b"/>
              <a:pathLst>
                <a:path w="657225" h="13970">
                  <a:moveTo>
                    <a:pt x="0" y="0"/>
                  </a:moveTo>
                  <a:lnTo>
                    <a:pt x="656598" y="13549"/>
                  </a:lnTo>
                </a:path>
              </a:pathLst>
            </a:custGeom>
            <a:ln w="28574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50850" y="3941854"/>
              <a:ext cx="159199" cy="122949"/>
            </a:xfrm>
            <a:prstGeom prst="rect">
              <a:avLst/>
            </a:prstGeom>
          </p:spPr>
        </p:pic>
      </p:grpSp>
      <p:sp>
        <p:nvSpPr>
          <p:cNvPr id="8" name="object 8"/>
          <p:cNvSpPr/>
          <p:nvPr/>
        </p:nvSpPr>
        <p:spPr>
          <a:xfrm>
            <a:off x="3684967" y="1520451"/>
            <a:ext cx="516890" cy="516890"/>
          </a:xfrm>
          <a:custGeom>
            <a:avLst/>
            <a:gdLst/>
            <a:ahLst/>
            <a:cxnLst/>
            <a:rect l="l" t="t" r="r" b="b"/>
            <a:pathLst>
              <a:path w="516889" h="516889">
                <a:moveTo>
                  <a:pt x="258299" y="516598"/>
                </a:moveTo>
                <a:lnTo>
                  <a:pt x="211871" y="512437"/>
                </a:lnTo>
                <a:lnTo>
                  <a:pt x="168172" y="500439"/>
                </a:lnTo>
                <a:lnTo>
                  <a:pt x="127933" y="481333"/>
                </a:lnTo>
                <a:lnTo>
                  <a:pt x="91882" y="455850"/>
                </a:lnTo>
                <a:lnTo>
                  <a:pt x="60750" y="424718"/>
                </a:lnTo>
                <a:lnTo>
                  <a:pt x="35266" y="388668"/>
                </a:lnTo>
                <a:lnTo>
                  <a:pt x="16160" y="348428"/>
                </a:lnTo>
                <a:lnTo>
                  <a:pt x="4161" y="304729"/>
                </a:lnTo>
                <a:lnTo>
                  <a:pt x="0" y="258299"/>
                </a:lnTo>
                <a:lnTo>
                  <a:pt x="4161" y="211869"/>
                </a:lnTo>
                <a:lnTo>
                  <a:pt x="16160" y="168170"/>
                </a:lnTo>
                <a:lnTo>
                  <a:pt x="35266" y="127930"/>
                </a:lnTo>
                <a:lnTo>
                  <a:pt x="60750" y="91880"/>
                </a:lnTo>
                <a:lnTo>
                  <a:pt x="91882" y="60748"/>
                </a:lnTo>
                <a:lnTo>
                  <a:pt x="127933" y="35265"/>
                </a:lnTo>
                <a:lnTo>
                  <a:pt x="168172" y="16159"/>
                </a:lnTo>
                <a:lnTo>
                  <a:pt x="211871" y="4161"/>
                </a:lnTo>
                <a:lnTo>
                  <a:pt x="258299" y="0"/>
                </a:lnTo>
                <a:lnTo>
                  <a:pt x="308923" y="5009"/>
                </a:lnTo>
                <a:lnTo>
                  <a:pt x="357143" y="19662"/>
                </a:lnTo>
                <a:lnTo>
                  <a:pt x="401603" y="43398"/>
                </a:lnTo>
                <a:lnTo>
                  <a:pt x="440949" y="75654"/>
                </a:lnTo>
                <a:lnTo>
                  <a:pt x="473198" y="114995"/>
                </a:lnTo>
                <a:lnTo>
                  <a:pt x="496933" y="159452"/>
                </a:lnTo>
                <a:lnTo>
                  <a:pt x="511588" y="207672"/>
                </a:lnTo>
                <a:lnTo>
                  <a:pt x="516598" y="258299"/>
                </a:lnTo>
                <a:lnTo>
                  <a:pt x="512437" y="304729"/>
                </a:lnTo>
                <a:lnTo>
                  <a:pt x="500438" y="348428"/>
                </a:lnTo>
                <a:lnTo>
                  <a:pt x="481332" y="388668"/>
                </a:lnTo>
                <a:lnTo>
                  <a:pt x="455848" y="424718"/>
                </a:lnTo>
                <a:lnTo>
                  <a:pt x="424716" y="455850"/>
                </a:lnTo>
                <a:lnTo>
                  <a:pt x="388665" y="481333"/>
                </a:lnTo>
                <a:lnTo>
                  <a:pt x="348426" y="500439"/>
                </a:lnTo>
                <a:lnTo>
                  <a:pt x="304727" y="512437"/>
                </a:lnTo>
                <a:lnTo>
                  <a:pt x="258299" y="516598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808239" y="1654168"/>
            <a:ext cx="21462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701167" y="2109675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5">
                <a:moveTo>
                  <a:pt x="242099" y="484194"/>
                </a:moveTo>
                <a:lnTo>
                  <a:pt x="193303" y="479275"/>
                </a:lnTo>
                <a:lnTo>
                  <a:pt x="147856" y="465169"/>
                </a:lnTo>
                <a:lnTo>
                  <a:pt x="106731" y="442849"/>
                </a:lnTo>
                <a:lnTo>
                  <a:pt x="70902" y="413287"/>
                </a:lnTo>
                <a:lnTo>
                  <a:pt x="41342" y="377458"/>
                </a:lnTo>
                <a:lnTo>
                  <a:pt x="19023" y="336335"/>
                </a:lnTo>
                <a:lnTo>
                  <a:pt x="4917" y="290891"/>
                </a:lnTo>
                <a:lnTo>
                  <a:pt x="0" y="242099"/>
                </a:lnTo>
                <a:lnTo>
                  <a:pt x="4917" y="193308"/>
                </a:lnTo>
                <a:lnTo>
                  <a:pt x="19023" y="147863"/>
                </a:lnTo>
                <a:lnTo>
                  <a:pt x="41342" y="106739"/>
                </a:lnTo>
                <a:lnTo>
                  <a:pt x="70902" y="70909"/>
                </a:lnTo>
                <a:lnTo>
                  <a:pt x="106731" y="41346"/>
                </a:lnTo>
                <a:lnTo>
                  <a:pt x="147856" y="19025"/>
                </a:lnTo>
                <a:lnTo>
                  <a:pt x="193303" y="4918"/>
                </a:lnTo>
                <a:lnTo>
                  <a:pt x="242099" y="0"/>
                </a:lnTo>
                <a:lnTo>
                  <a:pt x="289545" y="4694"/>
                </a:lnTo>
                <a:lnTo>
                  <a:pt x="334736" y="18429"/>
                </a:lnTo>
                <a:lnTo>
                  <a:pt x="376403" y="40676"/>
                </a:lnTo>
                <a:lnTo>
                  <a:pt x="413274" y="70909"/>
                </a:lnTo>
                <a:lnTo>
                  <a:pt x="443509" y="107783"/>
                </a:lnTo>
                <a:lnTo>
                  <a:pt x="465761" y="149452"/>
                </a:lnTo>
                <a:lnTo>
                  <a:pt x="479501" y="194648"/>
                </a:lnTo>
                <a:lnTo>
                  <a:pt x="484199" y="242099"/>
                </a:lnTo>
                <a:lnTo>
                  <a:pt x="479280" y="290891"/>
                </a:lnTo>
                <a:lnTo>
                  <a:pt x="465172" y="336335"/>
                </a:lnTo>
                <a:lnTo>
                  <a:pt x="442850" y="377458"/>
                </a:lnTo>
                <a:lnTo>
                  <a:pt x="413286" y="413287"/>
                </a:lnTo>
                <a:lnTo>
                  <a:pt x="377456" y="442849"/>
                </a:lnTo>
                <a:lnTo>
                  <a:pt x="336332" y="465169"/>
                </a:lnTo>
                <a:lnTo>
                  <a:pt x="290888" y="479275"/>
                </a:lnTo>
                <a:lnTo>
                  <a:pt x="242099" y="484194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819698" y="2227185"/>
            <a:ext cx="21462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089564" y="2373980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5">
                <a:moveTo>
                  <a:pt x="242099" y="484189"/>
                </a:moveTo>
                <a:lnTo>
                  <a:pt x="193303" y="479271"/>
                </a:lnTo>
                <a:lnTo>
                  <a:pt x="147856" y="465166"/>
                </a:lnTo>
                <a:lnTo>
                  <a:pt x="106731" y="442846"/>
                </a:lnTo>
                <a:lnTo>
                  <a:pt x="70902" y="413286"/>
                </a:lnTo>
                <a:lnTo>
                  <a:pt x="41342" y="377457"/>
                </a:lnTo>
                <a:lnTo>
                  <a:pt x="19023" y="336332"/>
                </a:lnTo>
                <a:lnTo>
                  <a:pt x="4917" y="290885"/>
                </a:lnTo>
                <a:lnTo>
                  <a:pt x="0" y="242089"/>
                </a:lnTo>
                <a:lnTo>
                  <a:pt x="4917" y="193301"/>
                </a:lnTo>
                <a:lnTo>
                  <a:pt x="19023" y="147859"/>
                </a:lnTo>
                <a:lnTo>
                  <a:pt x="41342" y="106737"/>
                </a:lnTo>
                <a:lnTo>
                  <a:pt x="70902" y="70908"/>
                </a:lnTo>
                <a:lnTo>
                  <a:pt x="106731" y="41346"/>
                </a:lnTo>
                <a:lnTo>
                  <a:pt x="147856" y="19025"/>
                </a:lnTo>
                <a:lnTo>
                  <a:pt x="193303" y="4918"/>
                </a:lnTo>
                <a:lnTo>
                  <a:pt x="242099" y="0"/>
                </a:lnTo>
                <a:lnTo>
                  <a:pt x="289545" y="4694"/>
                </a:lnTo>
                <a:lnTo>
                  <a:pt x="334736" y="18429"/>
                </a:lnTo>
                <a:lnTo>
                  <a:pt x="376403" y="40676"/>
                </a:lnTo>
                <a:lnTo>
                  <a:pt x="413274" y="70909"/>
                </a:lnTo>
                <a:lnTo>
                  <a:pt x="443509" y="107782"/>
                </a:lnTo>
                <a:lnTo>
                  <a:pt x="465761" y="149450"/>
                </a:lnTo>
                <a:lnTo>
                  <a:pt x="479501" y="194643"/>
                </a:lnTo>
                <a:lnTo>
                  <a:pt x="484199" y="242089"/>
                </a:lnTo>
                <a:lnTo>
                  <a:pt x="479280" y="290885"/>
                </a:lnTo>
                <a:lnTo>
                  <a:pt x="465172" y="336332"/>
                </a:lnTo>
                <a:lnTo>
                  <a:pt x="442850" y="377457"/>
                </a:lnTo>
                <a:lnTo>
                  <a:pt x="413286" y="413286"/>
                </a:lnTo>
                <a:lnTo>
                  <a:pt x="377456" y="442846"/>
                </a:lnTo>
                <a:lnTo>
                  <a:pt x="336332" y="465166"/>
                </a:lnTo>
                <a:lnTo>
                  <a:pt x="290888" y="479271"/>
                </a:lnTo>
                <a:lnTo>
                  <a:pt x="242099" y="484189"/>
                </a:lnTo>
                <a:close/>
              </a:path>
            </a:pathLst>
          </a:custGeom>
          <a:solidFill>
            <a:srgbClr val="8E7C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208097" y="2491494"/>
            <a:ext cx="231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1350" baseline="-30864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175841" y="1769226"/>
            <a:ext cx="1396365" cy="854710"/>
            <a:chOff x="4175841" y="1769226"/>
            <a:chExt cx="1396365" cy="854710"/>
          </a:xfrm>
        </p:grpSpPr>
        <p:sp>
          <p:nvSpPr>
            <p:cNvPr id="15" name="object 15"/>
            <p:cNvSpPr/>
            <p:nvPr/>
          </p:nvSpPr>
          <p:spPr>
            <a:xfrm>
              <a:off x="4201566" y="1778751"/>
              <a:ext cx="805180" cy="759460"/>
            </a:xfrm>
            <a:custGeom>
              <a:avLst/>
              <a:gdLst/>
              <a:ahLst/>
              <a:cxnLst/>
              <a:rect l="l" t="t" r="r" b="b"/>
              <a:pathLst>
                <a:path w="805179" h="759460">
                  <a:moveTo>
                    <a:pt x="0" y="0"/>
                  </a:moveTo>
                  <a:lnTo>
                    <a:pt x="804823" y="758893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75290" y="2505220"/>
              <a:ext cx="103524" cy="10124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185366" y="2351775"/>
              <a:ext cx="795020" cy="232410"/>
            </a:xfrm>
            <a:custGeom>
              <a:avLst/>
              <a:gdLst/>
              <a:ahLst/>
              <a:cxnLst/>
              <a:rect l="l" t="t" r="r" b="b"/>
              <a:pathLst>
                <a:path w="795020" h="232410">
                  <a:moveTo>
                    <a:pt x="0" y="0"/>
                  </a:moveTo>
                  <a:lnTo>
                    <a:pt x="794473" y="232244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61490" y="2544269"/>
              <a:ext cx="110874" cy="79474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087464" y="1819566"/>
              <a:ext cx="484505" cy="484505"/>
            </a:xfrm>
            <a:custGeom>
              <a:avLst/>
              <a:gdLst/>
              <a:ahLst/>
              <a:cxnLst/>
              <a:rect l="l" t="t" r="r" b="b"/>
              <a:pathLst>
                <a:path w="484504" h="484505">
                  <a:moveTo>
                    <a:pt x="242099" y="484199"/>
                  </a:moveTo>
                  <a:lnTo>
                    <a:pt x="193310" y="479280"/>
                  </a:lnTo>
                  <a:lnTo>
                    <a:pt x="147866" y="465173"/>
                  </a:lnTo>
                  <a:lnTo>
                    <a:pt x="106742" y="442852"/>
                  </a:lnTo>
                  <a:lnTo>
                    <a:pt x="70912" y="413289"/>
                  </a:lnTo>
                  <a:lnTo>
                    <a:pt x="41348" y="377459"/>
                  </a:lnTo>
                  <a:lnTo>
                    <a:pt x="19026" y="336335"/>
                  </a:lnTo>
                  <a:lnTo>
                    <a:pt x="4918" y="290890"/>
                  </a:lnTo>
                  <a:lnTo>
                    <a:pt x="0" y="242099"/>
                  </a:lnTo>
                  <a:lnTo>
                    <a:pt x="4918" y="193308"/>
                  </a:lnTo>
                  <a:lnTo>
                    <a:pt x="19026" y="147863"/>
                  </a:lnTo>
                  <a:lnTo>
                    <a:pt x="41348" y="106739"/>
                  </a:lnTo>
                  <a:lnTo>
                    <a:pt x="70912" y="70909"/>
                  </a:lnTo>
                  <a:lnTo>
                    <a:pt x="106742" y="41346"/>
                  </a:lnTo>
                  <a:lnTo>
                    <a:pt x="147866" y="19025"/>
                  </a:lnTo>
                  <a:lnTo>
                    <a:pt x="193310" y="4918"/>
                  </a:lnTo>
                  <a:lnTo>
                    <a:pt x="242099" y="0"/>
                  </a:lnTo>
                  <a:lnTo>
                    <a:pt x="289559" y="4694"/>
                  </a:lnTo>
                  <a:lnTo>
                    <a:pt x="334758" y="18429"/>
                  </a:lnTo>
                  <a:lnTo>
                    <a:pt x="376427" y="40676"/>
                  </a:lnTo>
                  <a:lnTo>
                    <a:pt x="413299" y="70909"/>
                  </a:lnTo>
                  <a:lnTo>
                    <a:pt x="443530" y="107782"/>
                  </a:lnTo>
                  <a:lnTo>
                    <a:pt x="465774" y="149451"/>
                  </a:lnTo>
                  <a:lnTo>
                    <a:pt x="479505" y="194647"/>
                  </a:lnTo>
                  <a:lnTo>
                    <a:pt x="484199" y="242099"/>
                  </a:lnTo>
                  <a:lnTo>
                    <a:pt x="479281" y="290890"/>
                  </a:lnTo>
                  <a:lnTo>
                    <a:pt x="465176" y="336335"/>
                  </a:lnTo>
                  <a:lnTo>
                    <a:pt x="442856" y="377459"/>
                  </a:lnTo>
                  <a:lnTo>
                    <a:pt x="413296" y="413289"/>
                  </a:lnTo>
                  <a:lnTo>
                    <a:pt x="377467" y="442852"/>
                  </a:lnTo>
                  <a:lnTo>
                    <a:pt x="336342" y="465173"/>
                  </a:lnTo>
                  <a:lnTo>
                    <a:pt x="290895" y="479280"/>
                  </a:lnTo>
                  <a:lnTo>
                    <a:pt x="242099" y="484199"/>
                  </a:lnTo>
                  <a:close/>
                </a:path>
              </a:pathLst>
            </a:custGeom>
            <a:solidFill>
              <a:srgbClr val="8E7C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231401" y="1937074"/>
            <a:ext cx="122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328071" y="2063015"/>
            <a:ext cx="84455" cy="1676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175841" y="1769226"/>
            <a:ext cx="2708275" cy="592455"/>
            <a:chOff x="4175841" y="1769226"/>
            <a:chExt cx="2708275" cy="592455"/>
          </a:xfrm>
        </p:grpSpPr>
        <p:sp>
          <p:nvSpPr>
            <p:cNvPr id="23" name="object 23"/>
            <p:cNvSpPr/>
            <p:nvPr/>
          </p:nvSpPr>
          <p:spPr>
            <a:xfrm>
              <a:off x="4185366" y="2096668"/>
              <a:ext cx="793750" cy="255270"/>
            </a:xfrm>
            <a:custGeom>
              <a:avLst/>
              <a:gdLst/>
              <a:ahLst/>
              <a:cxnLst/>
              <a:rect l="l" t="t" r="r" b="b"/>
              <a:pathLst>
                <a:path w="793750" h="255269">
                  <a:moveTo>
                    <a:pt x="0" y="255106"/>
                  </a:moveTo>
                  <a:lnTo>
                    <a:pt x="793273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59490" y="2057188"/>
              <a:ext cx="110974" cy="78959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4201566" y="1778751"/>
              <a:ext cx="777240" cy="248285"/>
            </a:xfrm>
            <a:custGeom>
              <a:avLst/>
              <a:gdLst/>
              <a:ahLst/>
              <a:cxnLst/>
              <a:rect l="l" t="t" r="r" b="b"/>
              <a:pathLst>
                <a:path w="777239" h="248285">
                  <a:moveTo>
                    <a:pt x="0" y="0"/>
                  </a:moveTo>
                  <a:lnTo>
                    <a:pt x="776998" y="248129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59490" y="1987381"/>
              <a:ext cx="110974" cy="78999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6399662" y="1836648"/>
              <a:ext cx="484505" cy="484505"/>
            </a:xfrm>
            <a:custGeom>
              <a:avLst/>
              <a:gdLst/>
              <a:ahLst/>
              <a:cxnLst/>
              <a:rect l="l" t="t" r="r" b="b"/>
              <a:pathLst>
                <a:path w="484504" h="484505">
                  <a:moveTo>
                    <a:pt x="242099" y="484199"/>
                  </a:moveTo>
                  <a:lnTo>
                    <a:pt x="193310" y="479280"/>
                  </a:lnTo>
                  <a:lnTo>
                    <a:pt x="147866" y="465173"/>
                  </a:lnTo>
                  <a:lnTo>
                    <a:pt x="106742" y="442852"/>
                  </a:lnTo>
                  <a:lnTo>
                    <a:pt x="70912" y="413289"/>
                  </a:lnTo>
                  <a:lnTo>
                    <a:pt x="41348" y="377459"/>
                  </a:lnTo>
                  <a:lnTo>
                    <a:pt x="19026" y="336335"/>
                  </a:lnTo>
                  <a:lnTo>
                    <a:pt x="4918" y="290890"/>
                  </a:lnTo>
                  <a:lnTo>
                    <a:pt x="0" y="242099"/>
                  </a:lnTo>
                  <a:lnTo>
                    <a:pt x="4918" y="193308"/>
                  </a:lnTo>
                  <a:lnTo>
                    <a:pt x="19026" y="147863"/>
                  </a:lnTo>
                  <a:lnTo>
                    <a:pt x="41348" y="106739"/>
                  </a:lnTo>
                  <a:lnTo>
                    <a:pt x="70912" y="70909"/>
                  </a:lnTo>
                  <a:lnTo>
                    <a:pt x="106742" y="41346"/>
                  </a:lnTo>
                  <a:lnTo>
                    <a:pt x="147866" y="19025"/>
                  </a:lnTo>
                  <a:lnTo>
                    <a:pt x="193310" y="4918"/>
                  </a:lnTo>
                  <a:lnTo>
                    <a:pt x="242099" y="0"/>
                  </a:lnTo>
                  <a:lnTo>
                    <a:pt x="289559" y="4694"/>
                  </a:lnTo>
                  <a:lnTo>
                    <a:pt x="334758" y="18429"/>
                  </a:lnTo>
                  <a:lnTo>
                    <a:pt x="376427" y="40676"/>
                  </a:lnTo>
                  <a:lnTo>
                    <a:pt x="413299" y="70909"/>
                  </a:lnTo>
                  <a:lnTo>
                    <a:pt x="443530" y="107783"/>
                  </a:lnTo>
                  <a:lnTo>
                    <a:pt x="465774" y="149452"/>
                  </a:lnTo>
                  <a:lnTo>
                    <a:pt x="479505" y="194648"/>
                  </a:lnTo>
                  <a:lnTo>
                    <a:pt x="484199" y="242099"/>
                  </a:lnTo>
                  <a:lnTo>
                    <a:pt x="479280" y="290890"/>
                  </a:lnTo>
                  <a:lnTo>
                    <a:pt x="465172" y="336335"/>
                  </a:lnTo>
                  <a:lnTo>
                    <a:pt x="442850" y="377459"/>
                  </a:lnTo>
                  <a:lnTo>
                    <a:pt x="413286" y="413289"/>
                  </a:lnTo>
                  <a:lnTo>
                    <a:pt x="377456" y="442852"/>
                  </a:lnTo>
                  <a:lnTo>
                    <a:pt x="336332" y="465173"/>
                  </a:lnTo>
                  <a:lnTo>
                    <a:pt x="290888" y="479280"/>
                  </a:lnTo>
                  <a:lnTo>
                    <a:pt x="242099" y="484199"/>
                  </a:lnTo>
                  <a:close/>
                </a:path>
              </a:pathLst>
            </a:custGeom>
            <a:solidFill>
              <a:srgbClr val="6EA8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543601" y="1954161"/>
            <a:ext cx="1219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639915" y="2080103"/>
            <a:ext cx="84455" cy="1676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00" spc="-50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087465" y="1265150"/>
            <a:ext cx="1298575" cy="1360805"/>
            <a:chOff x="5087465" y="1265150"/>
            <a:chExt cx="1298575" cy="1360805"/>
          </a:xfrm>
        </p:grpSpPr>
        <p:sp>
          <p:nvSpPr>
            <p:cNvPr id="31" name="object 31"/>
            <p:cNvSpPr/>
            <p:nvPr/>
          </p:nvSpPr>
          <p:spPr>
            <a:xfrm>
              <a:off x="5573763" y="2141113"/>
              <a:ext cx="730250" cy="474980"/>
            </a:xfrm>
            <a:custGeom>
              <a:avLst/>
              <a:gdLst/>
              <a:ahLst/>
              <a:cxnLst/>
              <a:rect l="l" t="t" r="r" b="b"/>
              <a:pathLst>
                <a:path w="730250" h="474980">
                  <a:moveTo>
                    <a:pt x="0" y="474956"/>
                  </a:moveTo>
                  <a:lnTo>
                    <a:pt x="730073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277162" y="2084443"/>
              <a:ext cx="108674" cy="92569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5571663" y="2061665"/>
              <a:ext cx="713740" cy="15240"/>
            </a:xfrm>
            <a:custGeom>
              <a:avLst/>
              <a:gdLst/>
              <a:ahLst/>
              <a:cxnLst/>
              <a:rect l="l" t="t" r="r" b="b"/>
              <a:pathLst>
                <a:path w="713739" h="15239">
                  <a:moveTo>
                    <a:pt x="0" y="0"/>
                  </a:moveTo>
                  <a:lnTo>
                    <a:pt x="713723" y="14739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75212" y="2035420"/>
              <a:ext cx="106124" cy="81967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5087465" y="1265150"/>
              <a:ext cx="484505" cy="484505"/>
            </a:xfrm>
            <a:custGeom>
              <a:avLst/>
              <a:gdLst/>
              <a:ahLst/>
              <a:cxnLst/>
              <a:rect l="l" t="t" r="r" b="b"/>
              <a:pathLst>
                <a:path w="484504" h="484505">
                  <a:moveTo>
                    <a:pt x="242099" y="484199"/>
                  </a:moveTo>
                  <a:lnTo>
                    <a:pt x="193310" y="479280"/>
                  </a:lnTo>
                  <a:lnTo>
                    <a:pt x="147866" y="465173"/>
                  </a:lnTo>
                  <a:lnTo>
                    <a:pt x="106742" y="442852"/>
                  </a:lnTo>
                  <a:lnTo>
                    <a:pt x="70912" y="413289"/>
                  </a:lnTo>
                  <a:lnTo>
                    <a:pt x="41348" y="377459"/>
                  </a:lnTo>
                  <a:lnTo>
                    <a:pt x="19026" y="336335"/>
                  </a:lnTo>
                  <a:lnTo>
                    <a:pt x="4918" y="290890"/>
                  </a:lnTo>
                  <a:lnTo>
                    <a:pt x="0" y="242099"/>
                  </a:lnTo>
                  <a:lnTo>
                    <a:pt x="4918" y="193308"/>
                  </a:lnTo>
                  <a:lnTo>
                    <a:pt x="19026" y="147863"/>
                  </a:lnTo>
                  <a:lnTo>
                    <a:pt x="41348" y="106739"/>
                  </a:lnTo>
                  <a:lnTo>
                    <a:pt x="70912" y="70909"/>
                  </a:lnTo>
                  <a:lnTo>
                    <a:pt x="106742" y="41346"/>
                  </a:lnTo>
                  <a:lnTo>
                    <a:pt x="147866" y="19025"/>
                  </a:lnTo>
                  <a:lnTo>
                    <a:pt x="193310" y="4918"/>
                  </a:lnTo>
                  <a:lnTo>
                    <a:pt x="242099" y="0"/>
                  </a:lnTo>
                  <a:lnTo>
                    <a:pt x="289559" y="4694"/>
                  </a:lnTo>
                  <a:lnTo>
                    <a:pt x="334758" y="18429"/>
                  </a:lnTo>
                  <a:lnTo>
                    <a:pt x="376427" y="40676"/>
                  </a:lnTo>
                  <a:lnTo>
                    <a:pt x="413299" y="70909"/>
                  </a:lnTo>
                  <a:lnTo>
                    <a:pt x="443530" y="107783"/>
                  </a:lnTo>
                  <a:lnTo>
                    <a:pt x="465774" y="149452"/>
                  </a:lnTo>
                  <a:lnTo>
                    <a:pt x="479505" y="194648"/>
                  </a:lnTo>
                  <a:lnTo>
                    <a:pt x="484199" y="242099"/>
                  </a:lnTo>
                  <a:lnTo>
                    <a:pt x="479281" y="290890"/>
                  </a:lnTo>
                  <a:lnTo>
                    <a:pt x="465176" y="336335"/>
                  </a:lnTo>
                  <a:lnTo>
                    <a:pt x="442856" y="377459"/>
                  </a:lnTo>
                  <a:lnTo>
                    <a:pt x="413296" y="413289"/>
                  </a:lnTo>
                  <a:lnTo>
                    <a:pt x="377467" y="442852"/>
                  </a:lnTo>
                  <a:lnTo>
                    <a:pt x="336342" y="465173"/>
                  </a:lnTo>
                  <a:lnTo>
                    <a:pt x="290895" y="479280"/>
                  </a:lnTo>
                  <a:lnTo>
                    <a:pt x="242099" y="484199"/>
                  </a:lnTo>
                  <a:close/>
                </a:path>
              </a:pathLst>
            </a:custGeom>
            <a:solidFill>
              <a:srgbClr val="8E7C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5206001" y="1382662"/>
            <a:ext cx="231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350" spc="-37" baseline="-33950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350" baseline="-33950">
              <a:latin typeface="Tahoma"/>
              <a:cs typeface="Tahoma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4175841" y="1497724"/>
            <a:ext cx="2210435" cy="863600"/>
            <a:chOff x="4175841" y="1497724"/>
            <a:chExt cx="2210435" cy="863600"/>
          </a:xfrm>
        </p:grpSpPr>
        <p:sp>
          <p:nvSpPr>
            <p:cNvPr id="38" name="object 38"/>
            <p:cNvSpPr/>
            <p:nvPr/>
          </p:nvSpPr>
          <p:spPr>
            <a:xfrm>
              <a:off x="4185366" y="1585391"/>
              <a:ext cx="819150" cy="766445"/>
            </a:xfrm>
            <a:custGeom>
              <a:avLst/>
              <a:gdLst/>
              <a:ahLst/>
              <a:cxnLst/>
              <a:rect l="l" t="t" r="r" b="b"/>
              <a:pathLst>
                <a:path w="819150" h="766444">
                  <a:moveTo>
                    <a:pt x="0" y="766383"/>
                  </a:moveTo>
                  <a:lnTo>
                    <a:pt x="818648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972990" y="1516784"/>
              <a:ext cx="103674" cy="101102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4201566" y="1540744"/>
              <a:ext cx="776605" cy="238125"/>
            </a:xfrm>
            <a:custGeom>
              <a:avLst/>
              <a:gdLst/>
              <a:ahLst/>
              <a:cxnLst/>
              <a:rect l="l" t="t" r="r" b="b"/>
              <a:pathLst>
                <a:path w="776604" h="238125">
                  <a:moveTo>
                    <a:pt x="0" y="238007"/>
                  </a:moveTo>
                  <a:lnTo>
                    <a:pt x="776598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959440" y="1501134"/>
              <a:ext cx="110924" cy="79219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5571663" y="1507249"/>
              <a:ext cx="734060" cy="506730"/>
            </a:xfrm>
            <a:custGeom>
              <a:avLst/>
              <a:gdLst/>
              <a:ahLst/>
              <a:cxnLst/>
              <a:rect l="l" t="t" r="r" b="b"/>
              <a:pathLst>
                <a:path w="734060" h="506730">
                  <a:moveTo>
                    <a:pt x="0" y="0"/>
                  </a:moveTo>
                  <a:lnTo>
                    <a:pt x="733923" y="506571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278187" y="1978400"/>
              <a:ext cx="108074" cy="94052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7056985" y="1656496"/>
            <a:ext cx="1433195" cy="844550"/>
          </a:xfrm>
          <a:prstGeom prst="rect">
            <a:avLst/>
          </a:prstGeom>
          <a:solidFill>
            <a:srgbClr val="FF2A2A">
              <a:alpha val="49618"/>
            </a:srgbClr>
          </a:solidFill>
        </p:spPr>
        <p:txBody>
          <a:bodyPr vert="horz" wrap="square" lIns="0" tIns="184785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1455"/>
              </a:spcBef>
            </a:pPr>
            <a:r>
              <a:rPr sz="1400" dirty="0">
                <a:latin typeface="Arial MT"/>
                <a:cs typeface="Arial MT"/>
              </a:rPr>
              <a:t>Predicted: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0.05</a:t>
            </a:r>
            <a:endParaRPr sz="1400">
              <a:latin typeface="Arial MT"/>
              <a:cs typeface="Arial MT"/>
            </a:endParaRPr>
          </a:p>
          <a:p>
            <a:pPr marL="102235">
              <a:lnSpc>
                <a:spcPct val="100000"/>
              </a:lnSpc>
              <a:spcBef>
                <a:spcPts val="1050"/>
              </a:spcBef>
            </a:pPr>
            <a:r>
              <a:rPr sz="1400" dirty="0">
                <a:latin typeface="Arial MT"/>
                <a:cs typeface="Arial MT"/>
              </a:rPr>
              <a:t>Actual: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50" dirty="0">
                <a:latin typeface="Arial MT"/>
                <a:cs typeface="Arial MT"/>
              </a:rPr>
              <a:t>1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978325" y="2016447"/>
            <a:ext cx="69659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Arial"/>
                <a:cs typeface="Arial"/>
              </a:rPr>
              <a:t>[-</a:t>
            </a:r>
            <a:r>
              <a:rPr sz="1400" b="1" dirty="0">
                <a:latin typeface="Arial"/>
                <a:cs typeface="Arial"/>
              </a:rPr>
              <a:t>20,</a:t>
            </a:r>
            <a:r>
              <a:rPr sz="1400" b="1" spc="-5" dirty="0">
                <a:latin typeface="Arial"/>
                <a:cs typeface="Arial"/>
              </a:rPr>
              <a:t> </a:t>
            </a:r>
            <a:r>
              <a:rPr sz="1400" b="1" spc="-25" dirty="0">
                <a:latin typeface="Arial"/>
                <a:cs typeface="Arial"/>
              </a:rPr>
              <a:t>45]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2504357" y="2273070"/>
            <a:ext cx="1061085" cy="166370"/>
            <a:chOff x="2504357" y="2273070"/>
            <a:chExt cx="1061085" cy="166370"/>
          </a:xfrm>
        </p:grpSpPr>
        <p:sp>
          <p:nvSpPr>
            <p:cNvPr id="47" name="object 47"/>
            <p:cNvSpPr/>
            <p:nvPr/>
          </p:nvSpPr>
          <p:spPr>
            <a:xfrm>
              <a:off x="2509119" y="2418795"/>
              <a:ext cx="1008380" cy="0"/>
            </a:xfrm>
            <a:custGeom>
              <a:avLst/>
              <a:gdLst/>
              <a:ahLst/>
              <a:cxnLst/>
              <a:rect l="l" t="t" r="r" b="b"/>
              <a:pathLst>
                <a:path w="1008379">
                  <a:moveTo>
                    <a:pt x="0" y="0"/>
                  </a:moveTo>
                  <a:lnTo>
                    <a:pt x="1008147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517267" y="240306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517267" y="240306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509119" y="2273070"/>
              <a:ext cx="0" cy="149860"/>
            </a:xfrm>
            <a:custGeom>
              <a:avLst/>
              <a:gdLst/>
              <a:ahLst/>
              <a:cxnLst/>
              <a:rect l="l" t="t" r="r" b="b"/>
              <a:pathLst>
                <a:path h="149860">
                  <a:moveTo>
                    <a:pt x="0" y="14939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1" name="object 51"/>
          <p:cNvGrpSpPr/>
          <p:nvPr/>
        </p:nvGrpSpPr>
        <p:grpSpPr>
          <a:xfrm>
            <a:off x="2168183" y="1797403"/>
            <a:ext cx="1344930" cy="157480"/>
            <a:chOff x="2168183" y="1797403"/>
            <a:chExt cx="1344930" cy="157480"/>
          </a:xfrm>
        </p:grpSpPr>
        <p:sp>
          <p:nvSpPr>
            <p:cNvPr id="52" name="object 52"/>
            <p:cNvSpPr/>
            <p:nvPr/>
          </p:nvSpPr>
          <p:spPr>
            <a:xfrm>
              <a:off x="2173495" y="1804971"/>
              <a:ext cx="1291590" cy="13335"/>
            </a:xfrm>
            <a:custGeom>
              <a:avLst/>
              <a:gdLst/>
              <a:ahLst/>
              <a:cxnLst/>
              <a:rect l="l" t="t" r="r" b="b"/>
              <a:pathLst>
                <a:path w="1291589" h="13335">
                  <a:moveTo>
                    <a:pt x="0" y="0"/>
                  </a:moveTo>
                  <a:lnTo>
                    <a:pt x="1291047" y="12927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464393" y="180216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299" y="0"/>
                  </a:lnTo>
                  <a:lnTo>
                    <a:pt x="43374" y="16164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464393" y="180216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374" y="16164"/>
                  </a:lnTo>
                  <a:lnTo>
                    <a:pt x="299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172945" y="1804971"/>
              <a:ext cx="0" cy="149860"/>
            </a:xfrm>
            <a:custGeom>
              <a:avLst/>
              <a:gdLst/>
              <a:ahLst/>
              <a:cxnLst/>
              <a:rect l="l" t="t" r="r" b="b"/>
              <a:pathLst>
                <a:path h="149860">
                  <a:moveTo>
                    <a:pt x="0" y="14939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Quantifying</a:t>
            </a:r>
            <a:r>
              <a:rPr spc="-90" dirty="0"/>
              <a:t> </a:t>
            </a:r>
            <a:r>
              <a:rPr spc="-20" dirty="0"/>
              <a:t>Loss</a:t>
            </a:r>
          </a:p>
        </p:txBody>
      </p:sp>
      <p:sp>
        <p:nvSpPr>
          <p:cNvPr id="3" name="object 3"/>
          <p:cNvSpPr/>
          <p:nvPr/>
        </p:nvSpPr>
        <p:spPr>
          <a:xfrm>
            <a:off x="3684967" y="1520451"/>
            <a:ext cx="516890" cy="516890"/>
          </a:xfrm>
          <a:custGeom>
            <a:avLst/>
            <a:gdLst/>
            <a:ahLst/>
            <a:cxnLst/>
            <a:rect l="l" t="t" r="r" b="b"/>
            <a:pathLst>
              <a:path w="516889" h="516889">
                <a:moveTo>
                  <a:pt x="258299" y="516598"/>
                </a:moveTo>
                <a:lnTo>
                  <a:pt x="211871" y="512437"/>
                </a:lnTo>
                <a:lnTo>
                  <a:pt x="168172" y="500439"/>
                </a:lnTo>
                <a:lnTo>
                  <a:pt x="127933" y="481333"/>
                </a:lnTo>
                <a:lnTo>
                  <a:pt x="91882" y="455850"/>
                </a:lnTo>
                <a:lnTo>
                  <a:pt x="60750" y="424718"/>
                </a:lnTo>
                <a:lnTo>
                  <a:pt x="35266" y="388668"/>
                </a:lnTo>
                <a:lnTo>
                  <a:pt x="16160" y="348428"/>
                </a:lnTo>
                <a:lnTo>
                  <a:pt x="4161" y="304729"/>
                </a:lnTo>
                <a:lnTo>
                  <a:pt x="0" y="258299"/>
                </a:lnTo>
                <a:lnTo>
                  <a:pt x="4161" y="211869"/>
                </a:lnTo>
                <a:lnTo>
                  <a:pt x="16160" y="168170"/>
                </a:lnTo>
                <a:lnTo>
                  <a:pt x="35266" y="127930"/>
                </a:lnTo>
                <a:lnTo>
                  <a:pt x="60750" y="91880"/>
                </a:lnTo>
                <a:lnTo>
                  <a:pt x="91882" y="60748"/>
                </a:lnTo>
                <a:lnTo>
                  <a:pt x="127933" y="35265"/>
                </a:lnTo>
                <a:lnTo>
                  <a:pt x="168172" y="16159"/>
                </a:lnTo>
                <a:lnTo>
                  <a:pt x="211871" y="4161"/>
                </a:lnTo>
                <a:lnTo>
                  <a:pt x="258299" y="0"/>
                </a:lnTo>
                <a:lnTo>
                  <a:pt x="308923" y="5009"/>
                </a:lnTo>
                <a:lnTo>
                  <a:pt x="357143" y="19662"/>
                </a:lnTo>
                <a:lnTo>
                  <a:pt x="401603" y="43398"/>
                </a:lnTo>
                <a:lnTo>
                  <a:pt x="440949" y="75654"/>
                </a:lnTo>
                <a:lnTo>
                  <a:pt x="473198" y="114995"/>
                </a:lnTo>
                <a:lnTo>
                  <a:pt x="496933" y="159452"/>
                </a:lnTo>
                <a:lnTo>
                  <a:pt x="511588" y="207672"/>
                </a:lnTo>
                <a:lnTo>
                  <a:pt x="516598" y="258299"/>
                </a:lnTo>
                <a:lnTo>
                  <a:pt x="512437" y="304729"/>
                </a:lnTo>
                <a:lnTo>
                  <a:pt x="500438" y="348428"/>
                </a:lnTo>
                <a:lnTo>
                  <a:pt x="481332" y="388668"/>
                </a:lnTo>
                <a:lnTo>
                  <a:pt x="455848" y="424718"/>
                </a:lnTo>
                <a:lnTo>
                  <a:pt x="424716" y="455850"/>
                </a:lnTo>
                <a:lnTo>
                  <a:pt x="388665" y="481333"/>
                </a:lnTo>
                <a:lnTo>
                  <a:pt x="348426" y="500439"/>
                </a:lnTo>
                <a:lnTo>
                  <a:pt x="304727" y="512437"/>
                </a:lnTo>
                <a:lnTo>
                  <a:pt x="258299" y="516598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08239" y="1654168"/>
            <a:ext cx="21462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701167" y="2109675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5">
                <a:moveTo>
                  <a:pt x="242099" y="484194"/>
                </a:moveTo>
                <a:lnTo>
                  <a:pt x="193303" y="479275"/>
                </a:lnTo>
                <a:lnTo>
                  <a:pt x="147856" y="465169"/>
                </a:lnTo>
                <a:lnTo>
                  <a:pt x="106731" y="442849"/>
                </a:lnTo>
                <a:lnTo>
                  <a:pt x="70902" y="413287"/>
                </a:lnTo>
                <a:lnTo>
                  <a:pt x="41342" y="377458"/>
                </a:lnTo>
                <a:lnTo>
                  <a:pt x="19023" y="336335"/>
                </a:lnTo>
                <a:lnTo>
                  <a:pt x="4917" y="290891"/>
                </a:lnTo>
                <a:lnTo>
                  <a:pt x="0" y="242099"/>
                </a:lnTo>
                <a:lnTo>
                  <a:pt x="4917" y="193308"/>
                </a:lnTo>
                <a:lnTo>
                  <a:pt x="19023" y="147863"/>
                </a:lnTo>
                <a:lnTo>
                  <a:pt x="41342" y="106739"/>
                </a:lnTo>
                <a:lnTo>
                  <a:pt x="70902" y="70909"/>
                </a:lnTo>
                <a:lnTo>
                  <a:pt x="106731" y="41346"/>
                </a:lnTo>
                <a:lnTo>
                  <a:pt x="147856" y="19025"/>
                </a:lnTo>
                <a:lnTo>
                  <a:pt x="193303" y="4918"/>
                </a:lnTo>
                <a:lnTo>
                  <a:pt x="242099" y="0"/>
                </a:lnTo>
                <a:lnTo>
                  <a:pt x="289545" y="4694"/>
                </a:lnTo>
                <a:lnTo>
                  <a:pt x="334736" y="18429"/>
                </a:lnTo>
                <a:lnTo>
                  <a:pt x="376403" y="40676"/>
                </a:lnTo>
                <a:lnTo>
                  <a:pt x="413274" y="70909"/>
                </a:lnTo>
                <a:lnTo>
                  <a:pt x="443509" y="107783"/>
                </a:lnTo>
                <a:lnTo>
                  <a:pt x="465761" y="149452"/>
                </a:lnTo>
                <a:lnTo>
                  <a:pt x="479501" y="194648"/>
                </a:lnTo>
                <a:lnTo>
                  <a:pt x="484199" y="242099"/>
                </a:lnTo>
                <a:lnTo>
                  <a:pt x="479280" y="290891"/>
                </a:lnTo>
                <a:lnTo>
                  <a:pt x="465172" y="336335"/>
                </a:lnTo>
                <a:lnTo>
                  <a:pt x="442850" y="377458"/>
                </a:lnTo>
                <a:lnTo>
                  <a:pt x="413286" y="413287"/>
                </a:lnTo>
                <a:lnTo>
                  <a:pt x="377456" y="442849"/>
                </a:lnTo>
                <a:lnTo>
                  <a:pt x="336332" y="465169"/>
                </a:lnTo>
                <a:lnTo>
                  <a:pt x="290888" y="479275"/>
                </a:lnTo>
                <a:lnTo>
                  <a:pt x="242099" y="484194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819698" y="2227185"/>
            <a:ext cx="21462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089564" y="2373980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5">
                <a:moveTo>
                  <a:pt x="242099" y="484189"/>
                </a:moveTo>
                <a:lnTo>
                  <a:pt x="193303" y="479271"/>
                </a:lnTo>
                <a:lnTo>
                  <a:pt x="147856" y="465166"/>
                </a:lnTo>
                <a:lnTo>
                  <a:pt x="106731" y="442846"/>
                </a:lnTo>
                <a:lnTo>
                  <a:pt x="70902" y="413286"/>
                </a:lnTo>
                <a:lnTo>
                  <a:pt x="41342" y="377457"/>
                </a:lnTo>
                <a:lnTo>
                  <a:pt x="19023" y="336332"/>
                </a:lnTo>
                <a:lnTo>
                  <a:pt x="4917" y="290885"/>
                </a:lnTo>
                <a:lnTo>
                  <a:pt x="0" y="242089"/>
                </a:lnTo>
                <a:lnTo>
                  <a:pt x="4917" y="193301"/>
                </a:lnTo>
                <a:lnTo>
                  <a:pt x="19023" y="147859"/>
                </a:lnTo>
                <a:lnTo>
                  <a:pt x="41342" y="106737"/>
                </a:lnTo>
                <a:lnTo>
                  <a:pt x="70902" y="70908"/>
                </a:lnTo>
                <a:lnTo>
                  <a:pt x="106731" y="41346"/>
                </a:lnTo>
                <a:lnTo>
                  <a:pt x="147856" y="19025"/>
                </a:lnTo>
                <a:lnTo>
                  <a:pt x="193303" y="4918"/>
                </a:lnTo>
                <a:lnTo>
                  <a:pt x="242099" y="0"/>
                </a:lnTo>
                <a:lnTo>
                  <a:pt x="289545" y="4694"/>
                </a:lnTo>
                <a:lnTo>
                  <a:pt x="334736" y="18429"/>
                </a:lnTo>
                <a:lnTo>
                  <a:pt x="376403" y="40676"/>
                </a:lnTo>
                <a:lnTo>
                  <a:pt x="413274" y="70909"/>
                </a:lnTo>
                <a:lnTo>
                  <a:pt x="443509" y="107782"/>
                </a:lnTo>
                <a:lnTo>
                  <a:pt x="465761" y="149450"/>
                </a:lnTo>
                <a:lnTo>
                  <a:pt x="479501" y="194643"/>
                </a:lnTo>
                <a:lnTo>
                  <a:pt x="484199" y="242089"/>
                </a:lnTo>
                <a:lnTo>
                  <a:pt x="479280" y="290885"/>
                </a:lnTo>
                <a:lnTo>
                  <a:pt x="465172" y="336332"/>
                </a:lnTo>
                <a:lnTo>
                  <a:pt x="442850" y="377457"/>
                </a:lnTo>
                <a:lnTo>
                  <a:pt x="413286" y="413286"/>
                </a:lnTo>
                <a:lnTo>
                  <a:pt x="377456" y="442846"/>
                </a:lnTo>
                <a:lnTo>
                  <a:pt x="336332" y="465166"/>
                </a:lnTo>
                <a:lnTo>
                  <a:pt x="290888" y="479271"/>
                </a:lnTo>
                <a:lnTo>
                  <a:pt x="242099" y="484189"/>
                </a:lnTo>
                <a:close/>
              </a:path>
            </a:pathLst>
          </a:custGeom>
          <a:solidFill>
            <a:srgbClr val="8E7C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208097" y="2491494"/>
            <a:ext cx="231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1350" baseline="-30864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175841" y="1769226"/>
            <a:ext cx="1396365" cy="854710"/>
            <a:chOff x="4175841" y="1769226"/>
            <a:chExt cx="1396365" cy="854710"/>
          </a:xfrm>
        </p:grpSpPr>
        <p:sp>
          <p:nvSpPr>
            <p:cNvPr id="10" name="object 10"/>
            <p:cNvSpPr/>
            <p:nvPr/>
          </p:nvSpPr>
          <p:spPr>
            <a:xfrm>
              <a:off x="4201566" y="1778751"/>
              <a:ext cx="805180" cy="759460"/>
            </a:xfrm>
            <a:custGeom>
              <a:avLst/>
              <a:gdLst/>
              <a:ahLst/>
              <a:cxnLst/>
              <a:rect l="l" t="t" r="r" b="b"/>
              <a:pathLst>
                <a:path w="805179" h="759460">
                  <a:moveTo>
                    <a:pt x="0" y="0"/>
                  </a:moveTo>
                  <a:lnTo>
                    <a:pt x="804823" y="758893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75290" y="2505220"/>
              <a:ext cx="103524" cy="10124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185366" y="2351775"/>
              <a:ext cx="795020" cy="232410"/>
            </a:xfrm>
            <a:custGeom>
              <a:avLst/>
              <a:gdLst/>
              <a:ahLst/>
              <a:cxnLst/>
              <a:rect l="l" t="t" r="r" b="b"/>
              <a:pathLst>
                <a:path w="795020" h="232410">
                  <a:moveTo>
                    <a:pt x="0" y="0"/>
                  </a:moveTo>
                  <a:lnTo>
                    <a:pt x="794473" y="232244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61490" y="2544269"/>
              <a:ext cx="110874" cy="7947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087464" y="1819566"/>
              <a:ext cx="484505" cy="484505"/>
            </a:xfrm>
            <a:custGeom>
              <a:avLst/>
              <a:gdLst/>
              <a:ahLst/>
              <a:cxnLst/>
              <a:rect l="l" t="t" r="r" b="b"/>
              <a:pathLst>
                <a:path w="484504" h="484505">
                  <a:moveTo>
                    <a:pt x="242099" y="484199"/>
                  </a:moveTo>
                  <a:lnTo>
                    <a:pt x="193310" y="479280"/>
                  </a:lnTo>
                  <a:lnTo>
                    <a:pt x="147866" y="465173"/>
                  </a:lnTo>
                  <a:lnTo>
                    <a:pt x="106742" y="442852"/>
                  </a:lnTo>
                  <a:lnTo>
                    <a:pt x="70912" y="413289"/>
                  </a:lnTo>
                  <a:lnTo>
                    <a:pt x="41348" y="377459"/>
                  </a:lnTo>
                  <a:lnTo>
                    <a:pt x="19026" y="336335"/>
                  </a:lnTo>
                  <a:lnTo>
                    <a:pt x="4918" y="290890"/>
                  </a:lnTo>
                  <a:lnTo>
                    <a:pt x="0" y="242099"/>
                  </a:lnTo>
                  <a:lnTo>
                    <a:pt x="4918" y="193308"/>
                  </a:lnTo>
                  <a:lnTo>
                    <a:pt x="19026" y="147863"/>
                  </a:lnTo>
                  <a:lnTo>
                    <a:pt x="41348" y="106739"/>
                  </a:lnTo>
                  <a:lnTo>
                    <a:pt x="70912" y="70909"/>
                  </a:lnTo>
                  <a:lnTo>
                    <a:pt x="106742" y="41346"/>
                  </a:lnTo>
                  <a:lnTo>
                    <a:pt x="147866" y="19025"/>
                  </a:lnTo>
                  <a:lnTo>
                    <a:pt x="193310" y="4918"/>
                  </a:lnTo>
                  <a:lnTo>
                    <a:pt x="242099" y="0"/>
                  </a:lnTo>
                  <a:lnTo>
                    <a:pt x="289559" y="4694"/>
                  </a:lnTo>
                  <a:lnTo>
                    <a:pt x="334758" y="18429"/>
                  </a:lnTo>
                  <a:lnTo>
                    <a:pt x="376427" y="40676"/>
                  </a:lnTo>
                  <a:lnTo>
                    <a:pt x="413299" y="70909"/>
                  </a:lnTo>
                  <a:lnTo>
                    <a:pt x="443530" y="107782"/>
                  </a:lnTo>
                  <a:lnTo>
                    <a:pt x="465774" y="149451"/>
                  </a:lnTo>
                  <a:lnTo>
                    <a:pt x="479505" y="194647"/>
                  </a:lnTo>
                  <a:lnTo>
                    <a:pt x="484199" y="242099"/>
                  </a:lnTo>
                  <a:lnTo>
                    <a:pt x="479281" y="290890"/>
                  </a:lnTo>
                  <a:lnTo>
                    <a:pt x="465176" y="336335"/>
                  </a:lnTo>
                  <a:lnTo>
                    <a:pt x="442856" y="377459"/>
                  </a:lnTo>
                  <a:lnTo>
                    <a:pt x="413296" y="413289"/>
                  </a:lnTo>
                  <a:lnTo>
                    <a:pt x="377467" y="442852"/>
                  </a:lnTo>
                  <a:lnTo>
                    <a:pt x="336342" y="465173"/>
                  </a:lnTo>
                  <a:lnTo>
                    <a:pt x="290895" y="479280"/>
                  </a:lnTo>
                  <a:lnTo>
                    <a:pt x="242099" y="484199"/>
                  </a:lnTo>
                  <a:close/>
                </a:path>
              </a:pathLst>
            </a:custGeom>
            <a:solidFill>
              <a:srgbClr val="8E7C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231401" y="1937074"/>
            <a:ext cx="122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328071" y="2063015"/>
            <a:ext cx="84455" cy="1676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175841" y="1769226"/>
            <a:ext cx="2708275" cy="592455"/>
            <a:chOff x="4175841" y="1769226"/>
            <a:chExt cx="2708275" cy="592455"/>
          </a:xfrm>
        </p:grpSpPr>
        <p:sp>
          <p:nvSpPr>
            <p:cNvPr id="18" name="object 18"/>
            <p:cNvSpPr/>
            <p:nvPr/>
          </p:nvSpPr>
          <p:spPr>
            <a:xfrm>
              <a:off x="4185366" y="2096668"/>
              <a:ext cx="793750" cy="255270"/>
            </a:xfrm>
            <a:custGeom>
              <a:avLst/>
              <a:gdLst/>
              <a:ahLst/>
              <a:cxnLst/>
              <a:rect l="l" t="t" r="r" b="b"/>
              <a:pathLst>
                <a:path w="793750" h="255269">
                  <a:moveTo>
                    <a:pt x="0" y="255106"/>
                  </a:moveTo>
                  <a:lnTo>
                    <a:pt x="793273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59490" y="2057188"/>
              <a:ext cx="110974" cy="7895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201566" y="1778751"/>
              <a:ext cx="777240" cy="248285"/>
            </a:xfrm>
            <a:custGeom>
              <a:avLst/>
              <a:gdLst/>
              <a:ahLst/>
              <a:cxnLst/>
              <a:rect l="l" t="t" r="r" b="b"/>
              <a:pathLst>
                <a:path w="777239" h="248285">
                  <a:moveTo>
                    <a:pt x="0" y="0"/>
                  </a:moveTo>
                  <a:lnTo>
                    <a:pt x="776998" y="248129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59490" y="1987381"/>
              <a:ext cx="110974" cy="7899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399662" y="1836648"/>
              <a:ext cx="484505" cy="484505"/>
            </a:xfrm>
            <a:custGeom>
              <a:avLst/>
              <a:gdLst/>
              <a:ahLst/>
              <a:cxnLst/>
              <a:rect l="l" t="t" r="r" b="b"/>
              <a:pathLst>
                <a:path w="484504" h="484505">
                  <a:moveTo>
                    <a:pt x="242099" y="484199"/>
                  </a:moveTo>
                  <a:lnTo>
                    <a:pt x="193310" y="479280"/>
                  </a:lnTo>
                  <a:lnTo>
                    <a:pt x="147866" y="465173"/>
                  </a:lnTo>
                  <a:lnTo>
                    <a:pt x="106742" y="442852"/>
                  </a:lnTo>
                  <a:lnTo>
                    <a:pt x="70912" y="413289"/>
                  </a:lnTo>
                  <a:lnTo>
                    <a:pt x="41348" y="377459"/>
                  </a:lnTo>
                  <a:lnTo>
                    <a:pt x="19026" y="336335"/>
                  </a:lnTo>
                  <a:lnTo>
                    <a:pt x="4918" y="290890"/>
                  </a:lnTo>
                  <a:lnTo>
                    <a:pt x="0" y="242099"/>
                  </a:lnTo>
                  <a:lnTo>
                    <a:pt x="4918" y="193308"/>
                  </a:lnTo>
                  <a:lnTo>
                    <a:pt x="19026" y="147863"/>
                  </a:lnTo>
                  <a:lnTo>
                    <a:pt x="41348" y="106739"/>
                  </a:lnTo>
                  <a:lnTo>
                    <a:pt x="70912" y="70909"/>
                  </a:lnTo>
                  <a:lnTo>
                    <a:pt x="106742" y="41346"/>
                  </a:lnTo>
                  <a:lnTo>
                    <a:pt x="147866" y="19025"/>
                  </a:lnTo>
                  <a:lnTo>
                    <a:pt x="193310" y="4918"/>
                  </a:lnTo>
                  <a:lnTo>
                    <a:pt x="242099" y="0"/>
                  </a:lnTo>
                  <a:lnTo>
                    <a:pt x="289559" y="4694"/>
                  </a:lnTo>
                  <a:lnTo>
                    <a:pt x="334758" y="18429"/>
                  </a:lnTo>
                  <a:lnTo>
                    <a:pt x="376427" y="40676"/>
                  </a:lnTo>
                  <a:lnTo>
                    <a:pt x="413299" y="70909"/>
                  </a:lnTo>
                  <a:lnTo>
                    <a:pt x="443530" y="107783"/>
                  </a:lnTo>
                  <a:lnTo>
                    <a:pt x="465774" y="149452"/>
                  </a:lnTo>
                  <a:lnTo>
                    <a:pt x="479505" y="194648"/>
                  </a:lnTo>
                  <a:lnTo>
                    <a:pt x="484199" y="242099"/>
                  </a:lnTo>
                  <a:lnTo>
                    <a:pt x="479280" y="290890"/>
                  </a:lnTo>
                  <a:lnTo>
                    <a:pt x="465172" y="336335"/>
                  </a:lnTo>
                  <a:lnTo>
                    <a:pt x="442850" y="377459"/>
                  </a:lnTo>
                  <a:lnTo>
                    <a:pt x="413286" y="413289"/>
                  </a:lnTo>
                  <a:lnTo>
                    <a:pt x="377456" y="442852"/>
                  </a:lnTo>
                  <a:lnTo>
                    <a:pt x="336332" y="465173"/>
                  </a:lnTo>
                  <a:lnTo>
                    <a:pt x="290888" y="479280"/>
                  </a:lnTo>
                  <a:lnTo>
                    <a:pt x="242099" y="484199"/>
                  </a:lnTo>
                  <a:close/>
                </a:path>
              </a:pathLst>
            </a:custGeom>
            <a:solidFill>
              <a:srgbClr val="6EA8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543601" y="1954161"/>
            <a:ext cx="1219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639915" y="2080103"/>
            <a:ext cx="84455" cy="1676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00" spc="-50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087465" y="1265150"/>
            <a:ext cx="1298575" cy="1360805"/>
            <a:chOff x="5087465" y="1265150"/>
            <a:chExt cx="1298575" cy="1360805"/>
          </a:xfrm>
        </p:grpSpPr>
        <p:sp>
          <p:nvSpPr>
            <p:cNvPr id="26" name="object 26"/>
            <p:cNvSpPr/>
            <p:nvPr/>
          </p:nvSpPr>
          <p:spPr>
            <a:xfrm>
              <a:off x="5573763" y="2141113"/>
              <a:ext cx="730250" cy="474980"/>
            </a:xfrm>
            <a:custGeom>
              <a:avLst/>
              <a:gdLst/>
              <a:ahLst/>
              <a:cxnLst/>
              <a:rect l="l" t="t" r="r" b="b"/>
              <a:pathLst>
                <a:path w="730250" h="474980">
                  <a:moveTo>
                    <a:pt x="0" y="474956"/>
                  </a:moveTo>
                  <a:lnTo>
                    <a:pt x="730073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77162" y="2084443"/>
              <a:ext cx="108674" cy="92569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5571663" y="2061665"/>
              <a:ext cx="713740" cy="15240"/>
            </a:xfrm>
            <a:custGeom>
              <a:avLst/>
              <a:gdLst/>
              <a:ahLst/>
              <a:cxnLst/>
              <a:rect l="l" t="t" r="r" b="b"/>
              <a:pathLst>
                <a:path w="713739" h="15239">
                  <a:moveTo>
                    <a:pt x="0" y="0"/>
                  </a:moveTo>
                  <a:lnTo>
                    <a:pt x="713723" y="14739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75212" y="2035420"/>
              <a:ext cx="106124" cy="81967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5087465" y="1265150"/>
              <a:ext cx="484505" cy="484505"/>
            </a:xfrm>
            <a:custGeom>
              <a:avLst/>
              <a:gdLst/>
              <a:ahLst/>
              <a:cxnLst/>
              <a:rect l="l" t="t" r="r" b="b"/>
              <a:pathLst>
                <a:path w="484504" h="484505">
                  <a:moveTo>
                    <a:pt x="242099" y="484199"/>
                  </a:moveTo>
                  <a:lnTo>
                    <a:pt x="193310" y="479280"/>
                  </a:lnTo>
                  <a:lnTo>
                    <a:pt x="147866" y="465173"/>
                  </a:lnTo>
                  <a:lnTo>
                    <a:pt x="106742" y="442852"/>
                  </a:lnTo>
                  <a:lnTo>
                    <a:pt x="70912" y="413289"/>
                  </a:lnTo>
                  <a:lnTo>
                    <a:pt x="41348" y="377459"/>
                  </a:lnTo>
                  <a:lnTo>
                    <a:pt x="19026" y="336335"/>
                  </a:lnTo>
                  <a:lnTo>
                    <a:pt x="4918" y="290890"/>
                  </a:lnTo>
                  <a:lnTo>
                    <a:pt x="0" y="242099"/>
                  </a:lnTo>
                  <a:lnTo>
                    <a:pt x="4918" y="193308"/>
                  </a:lnTo>
                  <a:lnTo>
                    <a:pt x="19026" y="147863"/>
                  </a:lnTo>
                  <a:lnTo>
                    <a:pt x="41348" y="106739"/>
                  </a:lnTo>
                  <a:lnTo>
                    <a:pt x="70912" y="70909"/>
                  </a:lnTo>
                  <a:lnTo>
                    <a:pt x="106742" y="41346"/>
                  </a:lnTo>
                  <a:lnTo>
                    <a:pt x="147866" y="19025"/>
                  </a:lnTo>
                  <a:lnTo>
                    <a:pt x="193310" y="4918"/>
                  </a:lnTo>
                  <a:lnTo>
                    <a:pt x="242099" y="0"/>
                  </a:lnTo>
                  <a:lnTo>
                    <a:pt x="289559" y="4694"/>
                  </a:lnTo>
                  <a:lnTo>
                    <a:pt x="334758" y="18429"/>
                  </a:lnTo>
                  <a:lnTo>
                    <a:pt x="376427" y="40676"/>
                  </a:lnTo>
                  <a:lnTo>
                    <a:pt x="413299" y="70909"/>
                  </a:lnTo>
                  <a:lnTo>
                    <a:pt x="443530" y="107783"/>
                  </a:lnTo>
                  <a:lnTo>
                    <a:pt x="465774" y="149452"/>
                  </a:lnTo>
                  <a:lnTo>
                    <a:pt x="479505" y="194648"/>
                  </a:lnTo>
                  <a:lnTo>
                    <a:pt x="484199" y="242099"/>
                  </a:lnTo>
                  <a:lnTo>
                    <a:pt x="479281" y="290890"/>
                  </a:lnTo>
                  <a:lnTo>
                    <a:pt x="465176" y="336335"/>
                  </a:lnTo>
                  <a:lnTo>
                    <a:pt x="442856" y="377459"/>
                  </a:lnTo>
                  <a:lnTo>
                    <a:pt x="413296" y="413289"/>
                  </a:lnTo>
                  <a:lnTo>
                    <a:pt x="377467" y="442852"/>
                  </a:lnTo>
                  <a:lnTo>
                    <a:pt x="336342" y="465173"/>
                  </a:lnTo>
                  <a:lnTo>
                    <a:pt x="290895" y="479280"/>
                  </a:lnTo>
                  <a:lnTo>
                    <a:pt x="242099" y="484199"/>
                  </a:lnTo>
                  <a:close/>
                </a:path>
              </a:pathLst>
            </a:custGeom>
            <a:solidFill>
              <a:srgbClr val="8E7C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5206001" y="1382662"/>
            <a:ext cx="231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350" spc="-37" baseline="-33950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350" baseline="-33950">
              <a:latin typeface="Tahoma"/>
              <a:cs typeface="Tahom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4175841" y="1497724"/>
            <a:ext cx="2210435" cy="863600"/>
            <a:chOff x="4175841" y="1497724"/>
            <a:chExt cx="2210435" cy="863600"/>
          </a:xfrm>
        </p:grpSpPr>
        <p:sp>
          <p:nvSpPr>
            <p:cNvPr id="33" name="object 33"/>
            <p:cNvSpPr/>
            <p:nvPr/>
          </p:nvSpPr>
          <p:spPr>
            <a:xfrm>
              <a:off x="4185366" y="1585391"/>
              <a:ext cx="819150" cy="766445"/>
            </a:xfrm>
            <a:custGeom>
              <a:avLst/>
              <a:gdLst/>
              <a:ahLst/>
              <a:cxnLst/>
              <a:rect l="l" t="t" r="r" b="b"/>
              <a:pathLst>
                <a:path w="819150" h="766444">
                  <a:moveTo>
                    <a:pt x="0" y="766383"/>
                  </a:moveTo>
                  <a:lnTo>
                    <a:pt x="818648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72990" y="1516784"/>
              <a:ext cx="103674" cy="101102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4201566" y="1540744"/>
              <a:ext cx="776605" cy="238125"/>
            </a:xfrm>
            <a:custGeom>
              <a:avLst/>
              <a:gdLst/>
              <a:ahLst/>
              <a:cxnLst/>
              <a:rect l="l" t="t" r="r" b="b"/>
              <a:pathLst>
                <a:path w="776604" h="238125">
                  <a:moveTo>
                    <a:pt x="0" y="238007"/>
                  </a:moveTo>
                  <a:lnTo>
                    <a:pt x="776598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959440" y="1501134"/>
              <a:ext cx="110924" cy="79219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5571663" y="1507249"/>
              <a:ext cx="734060" cy="506730"/>
            </a:xfrm>
            <a:custGeom>
              <a:avLst/>
              <a:gdLst/>
              <a:ahLst/>
              <a:cxnLst/>
              <a:rect l="l" t="t" r="r" b="b"/>
              <a:pathLst>
                <a:path w="734060" h="506730">
                  <a:moveTo>
                    <a:pt x="0" y="0"/>
                  </a:moveTo>
                  <a:lnTo>
                    <a:pt x="733923" y="506571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78187" y="1978400"/>
              <a:ext cx="108074" cy="94052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7056985" y="1656496"/>
            <a:ext cx="1411605" cy="844550"/>
          </a:xfrm>
          <a:prstGeom prst="rect">
            <a:avLst/>
          </a:prstGeom>
          <a:solidFill>
            <a:srgbClr val="FF2A2A">
              <a:alpha val="49618"/>
            </a:srgbClr>
          </a:solidFill>
        </p:spPr>
        <p:txBody>
          <a:bodyPr vert="horz" wrap="square" lIns="0" tIns="184785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1455"/>
              </a:spcBef>
            </a:pPr>
            <a:r>
              <a:rPr sz="1400" dirty="0">
                <a:latin typeface="Arial MT"/>
                <a:cs typeface="Arial MT"/>
              </a:rPr>
              <a:t>Predicted: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0.05</a:t>
            </a:r>
            <a:endParaRPr sz="1400">
              <a:latin typeface="Arial MT"/>
              <a:cs typeface="Arial MT"/>
            </a:endParaRPr>
          </a:p>
          <a:p>
            <a:pPr marL="102235">
              <a:lnSpc>
                <a:spcPct val="100000"/>
              </a:lnSpc>
              <a:spcBef>
                <a:spcPts val="1050"/>
              </a:spcBef>
            </a:pPr>
            <a:r>
              <a:rPr sz="1400" dirty="0">
                <a:latin typeface="Arial MT"/>
                <a:cs typeface="Arial MT"/>
              </a:rPr>
              <a:t>Actual: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50" dirty="0">
                <a:latin typeface="Arial MT"/>
                <a:cs typeface="Arial MT"/>
              </a:rPr>
              <a:t>1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978325" y="2016447"/>
            <a:ext cx="69659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Arial"/>
                <a:cs typeface="Arial"/>
              </a:rPr>
              <a:t>[-</a:t>
            </a:r>
            <a:r>
              <a:rPr sz="1400" b="1" dirty="0">
                <a:latin typeface="Arial"/>
                <a:cs typeface="Arial"/>
              </a:rPr>
              <a:t>20,</a:t>
            </a:r>
            <a:r>
              <a:rPr sz="1400" b="1" spc="-5" dirty="0">
                <a:latin typeface="Arial"/>
                <a:cs typeface="Arial"/>
              </a:rPr>
              <a:t> </a:t>
            </a:r>
            <a:r>
              <a:rPr sz="1400" b="1" spc="-25" dirty="0">
                <a:latin typeface="Arial"/>
                <a:cs typeface="Arial"/>
              </a:rPr>
              <a:t>45]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2504357" y="2273070"/>
            <a:ext cx="1061085" cy="166370"/>
            <a:chOff x="2504357" y="2273070"/>
            <a:chExt cx="1061085" cy="166370"/>
          </a:xfrm>
        </p:grpSpPr>
        <p:sp>
          <p:nvSpPr>
            <p:cNvPr id="42" name="object 42"/>
            <p:cNvSpPr/>
            <p:nvPr/>
          </p:nvSpPr>
          <p:spPr>
            <a:xfrm>
              <a:off x="2509119" y="2418795"/>
              <a:ext cx="1008380" cy="0"/>
            </a:xfrm>
            <a:custGeom>
              <a:avLst/>
              <a:gdLst/>
              <a:ahLst/>
              <a:cxnLst/>
              <a:rect l="l" t="t" r="r" b="b"/>
              <a:pathLst>
                <a:path w="1008379">
                  <a:moveTo>
                    <a:pt x="0" y="0"/>
                  </a:moveTo>
                  <a:lnTo>
                    <a:pt x="1008147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517267" y="240306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517267" y="240306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509119" y="2273070"/>
              <a:ext cx="0" cy="149860"/>
            </a:xfrm>
            <a:custGeom>
              <a:avLst/>
              <a:gdLst/>
              <a:ahLst/>
              <a:cxnLst/>
              <a:rect l="l" t="t" r="r" b="b"/>
              <a:pathLst>
                <a:path h="149860">
                  <a:moveTo>
                    <a:pt x="0" y="14939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6" name="object 46"/>
          <p:cNvGrpSpPr/>
          <p:nvPr/>
        </p:nvGrpSpPr>
        <p:grpSpPr>
          <a:xfrm>
            <a:off x="2168183" y="1797403"/>
            <a:ext cx="1344930" cy="157480"/>
            <a:chOff x="2168183" y="1797403"/>
            <a:chExt cx="1344930" cy="157480"/>
          </a:xfrm>
        </p:grpSpPr>
        <p:sp>
          <p:nvSpPr>
            <p:cNvPr id="47" name="object 47"/>
            <p:cNvSpPr/>
            <p:nvPr/>
          </p:nvSpPr>
          <p:spPr>
            <a:xfrm>
              <a:off x="2173495" y="1804971"/>
              <a:ext cx="1291590" cy="13335"/>
            </a:xfrm>
            <a:custGeom>
              <a:avLst/>
              <a:gdLst/>
              <a:ahLst/>
              <a:cxnLst/>
              <a:rect l="l" t="t" r="r" b="b"/>
              <a:pathLst>
                <a:path w="1291589" h="13335">
                  <a:moveTo>
                    <a:pt x="0" y="0"/>
                  </a:moveTo>
                  <a:lnTo>
                    <a:pt x="1291047" y="12927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464393" y="180216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299" y="0"/>
                  </a:lnTo>
                  <a:lnTo>
                    <a:pt x="43374" y="16164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464393" y="180216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374" y="16164"/>
                  </a:lnTo>
                  <a:lnTo>
                    <a:pt x="299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172945" y="1804971"/>
              <a:ext cx="0" cy="149860"/>
            </a:xfrm>
            <a:custGeom>
              <a:avLst/>
              <a:gdLst/>
              <a:ahLst/>
              <a:cxnLst/>
              <a:rect l="l" t="t" r="r" b="b"/>
              <a:pathLst>
                <a:path h="149860">
                  <a:moveTo>
                    <a:pt x="0" y="14939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1" name="object 51"/>
          <p:cNvGrpSpPr/>
          <p:nvPr/>
        </p:nvGrpSpPr>
        <p:grpSpPr>
          <a:xfrm>
            <a:off x="1527971" y="3260418"/>
            <a:ext cx="5778500" cy="1076325"/>
            <a:chOff x="1527971" y="3260418"/>
            <a:chExt cx="5778500" cy="1076325"/>
          </a:xfrm>
        </p:grpSpPr>
        <p:sp>
          <p:nvSpPr>
            <p:cNvPr id="52" name="object 52"/>
            <p:cNvSpPr/>
            <p:nvPr/>
          </p:nvSpPr>
          <p:spPr>
            <a:xfrm>
              <a:off x="6682511" y="4083066"/>
              <a:ext cx="391795" cy="17145"/>
            </a:xfrm>
            <a:custGeom>
              <a:avLst/>
              <a:gdLst/>
              <a:ahLst/>
              <a:cxnLst/>
              <a:rect l="l" t="t" r="r" b="b"/>
              <a:pathLst>
                <a:path w="391795" h="17145">
                  <a:moveTo>
                    <a:pt x="391499" y="17099"/>
                  </a:moveTo>
                  <a:lnTo>
                    <a:pt x="0" y="17099"/>
                  </a:lnTo>
                  <a:lnTo>
                    <a:pt x="0" y="0"/>
                  </a:lnTo>
                  <a:lnTo>
                    <a:pt x="391499" y="0"/>
                  </a:lnTo>
                  <a:lnTo>
                    <a:pt x="391499" y="17099"/>
                  </a:lnTo>
                  <a:close/>
                </a:path>
              </a:pathLst>
            </a:custGeom>
            <a:solidFill>
              <a:srgbClr val="B35E0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557463" y="4102516"/>
              <a:ext cx="886460" cy="17145"/>
            </a:xfrm>
            <a:custGeom>
              <a:avLst/>
              <a:gdLst/>
              <a:ahLst/>
              <a:cxnLst/>
              <a:rect l="l" t="t" r="r" b="b"/>
              <a:pathLst>
                <a:path w="886460" h="17145">
                  <a:moveTo>
                    <a:pt x="885898" y="17099"/>
                  </a:moveTo>
                  <a:lnTo>
                    <a:pt x="0" y="17099"/>
                  </a:lnTo>
                  <a:lnTo>
                    <a:pt x="0" y="0"/>
                  </a:lnTo>
                  <a:lnTo>
                    <a:pt x="885898" y="0"/>
                  </a:lnTo>
                  <a:lnTo>
                    <a:pt x="885898" y="17099"/>
                  </a:lnTo>
                  <a:close/>
                </a:path>
              </a:pathLst>
            </a:custGeom>
            <a:solidFill>
              <a:srgbClr val="4985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600754" y="3314218"/>
              <a:ext cx="5705455" cy="876298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1527971" y="3260418"/>
              <a:ext cx="3336290" cy="1076325"/>
            </a:xfrm>
            <a:custGeom>
              <a:avLst/>
              <a:gdLst/>
              <a:ahLst/>
              <a:cxnLst/>
              <a:rect l="l" t="t" r="r" b="b"/>
              <a:pathLst>
                <a:path w="3336290" h="1076325">
                  <a:moveTo>
                    <a:pt x="3335693" y="1076097"/>
                  </a:moveTo>
                  <a:lnTo>
                    <a:pt x="0" y="1076097"/>
                  </a:lnTo>
                  <a:lnTo>
                    <a:pt x="0" y="0"/>
                  </a:lnTo>
                  <a:lnTo>
                    <a:pt x="3335693" y="0"/>
                  </a:lnTo>
                  <a:lnTo>
                    <a:pt x="3335693" y="107609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5633460" y="4306844"/>
            <a:ext cx="77660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 MT"/>
                <a:cs typeface="Arial MT"/>
              </a:rPr>
              <a:t>Predicted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570891" y="4309093"/>
            <a:ext cx="51943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 MT"/>
                <a:cs typeface="Arial MT"/>
              </a:rPr>
              <a:t>Actual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Total</a:t>
            </a:r>
            <a:r>
              <a:rPr spc="-90" dirty="0"/>
              <a:t> </a:t>
            </a:r>
            <a:r>
              <a:rPr spc="-20" dirty="0"/>
              <a:t>Loss</a:t>
            </a:r>
          </a:p>
        </p:txBody>
      </p:sp>
      <p:sp>
        <p:nvSpPr>
          <p:cNvPr id="3" name="object 3"/>
          <p:cNvSpPr/>
          <p:nvPr/>
        </p:nvSpPr>
        <p:spPr>
          <a:xfrm>
            <a:off x="3684967" y="1520451"/>
            <a:ext cx="516890" cy="516890"/>
          </a:xfrm>
          <a:custGeom>
            <a:avLst/>
            <a:gdLst/>
            <a:ahLst/>
            <a:cxnLst/>
            <a:rect l="l" t="t" r="r" b="b"/>
            <a:pathLst>
              <a:path w="516889" h="516889">
                <a:moveTo>
                  <a:pt x="258299" y="516598"/>
                </a:moveTo>
                <a:lnTo>
                  <a:pt x="211871" y="512437"/>
                </a:lnTo>
                <a:lnTo>
                  <a:pt x="168172" y="500439"/>
                </a:lnTo>
                <a:lnTo>
                  <a:pt x="127933" y="481333"/>
                </a:lnTo>
                <a:lnTo>
                  <a:pt x="91882" y="455850"/>
                </a:lnTo>
                <a:lnTo>
                  <a:pt x="60750" y="424718"/>
                </a:lnTo>
                <a:lnTo>
                  <a:pt x="35266" y="388668"/>
                </a:lnTo>
                <a:lnTo>
                  <a:pt x="16160" y="348428"/>
                </a:lnTo>
                <a:lnTo>
                  <a:pt x="4161" y="304729"/>
                </a:lnTo>
                <a:lnTo>
                  <a:pt x="0" y="258299"/>
                </a:lnTo>
                <a:lnTo>
                  <a:pt x="4161" y="211869"/>
                </a:lnTo>
                <a:lnTo>
                  <a:pt x="16160" y="168170"/>
                </a:lnTo>
                <a:lnTo>
                  <a:pt x="35266" y="127930"/>
                </a:lnTo>
                <a:lnTo>
                  <a:pt x="60750" y="91880"/>
                </a:lnTo>
                <a:lnTo>
                  <a:pt x="91882" y="60748"/>
                </a:lnTo>
                <a:lnTo>
                  <a:pt x="127933" y="35265"/>
                </a:lnTo>
                <a:lnTo>
                  <a:pt x="168172" y="16159"/>
                </a:lnTo>
                <a:lnTo>
                  <a:pt x="211871" y="4161"/>
                </a:lnTo>
                <a:lnTo>
                  <a:pt x="258299" y="0"/>
                </a:lnTo>
                <a:lnTo>
                  <a:pt x="308923" y="5009"/>
                </a:lnTo>
                <a:lnTo>
                  <a:pt x="357143" y="19662"/>
                </a:lnTo>
                <a:lnTo>
                  <a:pt x="401603" y="43398"/>
                </a:lnTo>
                <a:lnTo>
                  <a:pt x="440949" y="75654"/>
                </a:lnTo>
                <a:lnTo>
                  <a:pt x="473198" y="114995"/>
                </a:lnTo>
                <a:lnTo>
                  <a:pt x="496933" y="159452"/>
                </a:lnTo>
                <a:lnTo>
                  <a:pt x="511588" y="207672"/>
                </a:lnTo>
                <a:lnTo>
                  <a:pt x="516598" y="258299"/>
                </a:lnTo>
                <a:lnTo>
                  <a:pt x="512437" y="304729"/>
                </a:lnTo>
                <a:lnTo>
                  <a:pt x="500438" y="348428"/>
                </a:lnTo>
                <a:lnTo>
                  <a:pt x="481332" y="388668"/>
                </a:lnTo>
                <a:lnTo>
                  <a:pt x="455848" y="424718"/>
                </a:lnTo>
                <a:lnTo>
                  <a:pt x="424716" y="455850"/>
                </a:lnTo>
                <a:lnTo>
                  <a:pt x="388665" y="481333"/>
                </a:lnTo>
                <a:lnTo>
                  <a:pt x="348426" y="500439"/>
                </a:lnTo>
                <a:lnTo>
                  <a:pt x="304727" y="512437"/>
                </a:lnTo>
                <a:lnTo>
                  <a:pt x="258299" y="516598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08239" y="1654168"/>
            <a:ext cx="21462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701167" y="2109675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5">
                <a:moveTo>
                  <a:pt x="242099" y="484194"/>
                </a:moveTo>
                <a:lnTo>
                  <a:pt x="193303" y="479275"/>
                </a:lnTo>
                <a:lnTo>
                  <a:pt x="147856" y="465169"/>
                </a:lnTo>
                <a:lnTo>
                  <a:pt x="106731" y="442849"/>
                </a:lnTo>
                <a:lnTo>
                  <a:pt x="70902" y="413287"/>
                </a:lnTo>
                <a:lnTo>
                  <a:pt x="41342" y="377458"/>
                </a:lnTo>
                <a:lnTo>
                  <a:pt x="19023" y="336335"/>
                </a:lnTo>
                <a:lnTo>
                  <a:pt x="4917" y="290891"/>
                </a:lnTo>
                <a:lnTo>
                  <a:pt x="0" y="242099"/>
                </a:lnTo>
                <a:lnTo>
                  <a:pt x="4917" y="193308"/>
                </a:lnTo>
                <a:lnTo>
                  <a:pt x="19023" y="147863"/>
                </a:lnTo>
                <a:lnTo>
                  <a:pt x="41342" y="106739"/>
                </a:lnTo>
                <a:lnTo>
                  <a:pt x="70902" y="70909"/>
                </a:lnTo>
                <a:lnTo>
                  <a:pt x="106731" y="41346"/>
                </a:lnTo>
                <a:lnTo>
                  <a:pt x="147856" y="19025"/>
                </a:lnTo>
                <a:lnTo>
                  <a:pt x="193303" y="4918"/>
                </a:lnTo>
                <a:lnTo>
                  <a:pt x="242099" y="0"/>
                </a:lnTo>
                <a:lnTo>
                  <a:pt x="289545" y="4694"/>
                </a:lnTo>
                <a:lnTo>
                  <a:pt x="334736" y="18429"/>
                </a:lnTo>
                <a:lnTo>
                  <a:pt x="376403" y="40676"/>
                </a:lnTo>
                <a:lnTo>
                  <a:pt x="413274" y="70909"/>
                </a:lnTo>
                <a:lnTo>
                  <a:pt x="443509" y="107783"/>
                </a:lnTo>
                <a:lnTo>
                  <a:pt x="465761" y="149452"/>
                </a:lnTo>
                <a:lnTo>
                  <a:pt x="479501" y="194648"/>
                </a:lnTo>
                <a:lnTo>
                  <a:pt x="484199" y="242099"/>
                </a:lnTo>
                <a:lnTo>
                  <a:pt x="479280" y="290891"/>
                </a:lnTo>
                <a:lnTo>
                  <a:pt x="465172" y="336335"/>
                </a:lnTo>
                <a:lnTo>
                  <a:pt x="442850" y="377458"/>
                </a:lnTo>
                <a:lnTo>
                  <a:pt x="413286" y="413287"/>
                </a:lnTo>
                <a:lnTo>
                  <a:pt x="377456" y="442849"/>
                </a:lnTo>
                <a:lnTo>
                  <a:pt x="336332" y="465169"/>
                </a:lnTo>
                <a:lnTo>
                  <a:pt x="290888" y="479275"/>
                </a:lnTo>
                <a:lnTo>
                  <a:pt x="242099" y="484194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819698" y="2227185"/>
            <a:ext cx="21462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089564" y="2373980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5">
                <a:moveTo>
                  <a:pt x="242099" y="484189"/>
                </a:moveTo>
                <a:lnTo>
                  <a:pt x="193303" y="479271"/>
                </a:lnTo>
                <a:lnTo>
                  <a:pt x="147856" y="465166"/>
                </a:lnTo>
                <a:lnTo>
                  <a:pt x="106731" y="442846"/>
                </a:lnTo>
                <a:lnTo>
                  <a:pt x="70902" y="413286"/>
                </a:lnTo>
                <a:lnTo>
                  <a:pt x="41342" y="377457"/>
                </a:lnTo>
                <a:lnTo>
                  <a:pt x="19023" y="336332"/>
                </a:lnTo>
                <a:lnTo>
                  <a:pt x="4917" y="290885"/>
                </a:lnTo>
                <a:lnTo>
                  <a:pt x="0" y="242089"/>
                </a:lnTo>
                <a:lnTo>
                  <a:pt x="4917" y="193301"/>
                </a:lnTo>
                <a:lnTo>
                  <a:pt x="19023" y="147859"/>
                </a:lnTo>
                <a:lnTo>
                  <a:pt x="41342" y="106737"/>
                </a:lnTo>
                <a:lnTo>
                  <a:pt x="70902" y="70908"/>
                </a:lnTo>
                <a:lnTo>
                  <a:pt x="106731" y="41346"/>
                </a:lnTo>
                <a:lnTo>
                  <a:pt x="147856" y="19025"/>
                </a:lnTo>
                <a:lnTo>
                  <a:pt x="193303" y="4918"/>
                </a:lnTo>
                <a:lnTo>
                  <a:pt x="242099" y="0"/>
                </a:lnTo>
                <a:lnTo>
                  <a:pt x="289545" y="4694"/>
                </a:lnTo>
                <a:lnTo>
                  <a:pt x="334736" y="18429"/>
                </a:lnTo>
                <a:lnTo>
                  <a:pt x="376403" y="40676"/>
                </a:lnTo>
                <a:lnTo>
                  <a:pt x="413274" y="70909"/>
                </a:lnTo>
                <a:lnTo>
                  <a:pt x="443509" y="107782"/>
                </a:lnTo>
                <a:lnTo>
                  <a:pt x="465761" y="149450"/>
                </a:lnTo>
                <a:lnTo>
                  <a:pt x="479501" y="194643"/>
                </a:lnTo>
                <a:lnTo>
                  <a:pt x="484199" y="242089"/>
                </a:lnTo>
                <a:lnTo>
                  <a:pt x="479280" y="290885"/>
                </a:lnTo>
                <a:lnTo>
                  <a:pt x="465172" y="336332"/>
                </a:lnTo>
                <a:lnTo>
                  <a:pt x="442850" y="377457"/>
                </a:lnTo>
                <a:lnTo>
                  <a:pt x="413286" y="413286"/>
                </a:lnTo>
                <a:lnTo>
                  <a:pt x="377456" y="442846"/>
                </a:lnTo>
                <a:lnTo>
                  <a:pt x="336332" y="465166"/>
                </a:lnTo>
                <a:lnTo>
                  <a:pt x="290888" y="479271"/>
                </a:lnTo>
                <a:lnTo>
                  <a:pt x="242099" y="484189"/>
                </a:lnTo>
                <a:close/>
              </a:path>
            </a:pathLst>
          </a:custGeom>
          <a:solidFill>
            <a:srgbClr val="8E7C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208097" y="2491494"/>
            <a:ext cx="231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1350" baseline="-30864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175841" y="1769226"/>
            <a:ext cx="1396365" cy="854710"/>
            <a:chOff x="4175841" y="1769226"/>
            <a:chExt cx="1396365" cy="854710"/>
          </a:xfrm>
        </p:grpSpPr>
        <p:sp>
          <p:nvSpPr>
            <p:cNvPr id="10" name="object 10"/>
            <p:cNvSpPr/>
            <p:nvPr/>
          </p:nvSpPr>
          <p:spPr>
            <a:xfrm>
              <a:off x="4201566" y="1778751"/>
              <a:ext cx="805180" cy="759460"/>
            </a:xfrm>
            <a:custGeom>
              <a:avLst/>
              <a:gdLst/>
              <a:ahLst/>
              <a:cxnLst/>
              <a:rect l="l" t="t" r="r" b="b"/>
              <a:pathLst>
                <a:path w="805179" h="759460">
                  <a:moveTo>
                    <a:pt x="0" y="0"/>
                  </a:moveTo>
                  <a:lnTo>
                    <a:pt x="804823" y="758893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75290" y="2505220"/>
              <a:ext cx="103524" cy="10124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185366" y="2351775"/>
              <a:ext cx="795020" cy="232410"/>
            </a:xfrm>
            <a:custGeom>
              <a:avLst/>
              <a:gdLst/>
              <a:ahLst/>
              <a:cxnLst/>
              <a:rect l="l" t="t" r="r" b="b"/>
              <a:pathLst>
                <a:path w="795020" h="232410">
                  <a:moveTo>
                    <a:pt x="0" y="0"/>
                  </a:moveTo>
                  <a:lnTo>
                    <a:pt x="794473" y="232244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61490" y="2544269"/>
              <a:ext cx="110874" cy="7947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087464" y="1819566"/>
              <a:ext cx="484505" cy="484505"/>
            </a:xfrm>
            <a:custGeom>
              <a:avLst/>
              <a:gdLst/>
              <a:ahLst/>
              <a:cxnLst/>
              <a:rect l="l" t="t" r="r" b="b"/>
              <a:pathLst>
                <a:path w="484504" h="484505">
                  <a:moveTo>
                    <a:pt x="242099" y="484199"/>
                  </a:moveTo>
                  <a:lnTo>
                    <a:pt x="193310" y="479280"/>
                  </a:lnTo>
                  <a:lnTo>
                    <a:pt x="147866" y="465173"/>
                  </a:lnTo>
                  <a:lnTo>
                    <a:pt x="106742" y="442852"/>
                  </a:lnTo>
                  <a:lnTo>
                    <a:pt x="70912" y="413289"/>
                  </a:lnTo>
                  <a:lnTo>
                    <a:pt x="41348" y="377459"/>
                  </a:lnTo>
                  <a:lnTo>
                    <a:pt x="19026" y="336335"/>
                  </a:lnTo>
                  <a:lnTo>
                    <a:pt x="4918" y="290890"/>
                  </a:lnTo>
                  <a:lnTo>
                    <a:pt x="0" y="242099"/>
                  </a:lnTo>
                  <a:lnTo>
                    <a:pt x="4918" y="193308"/>
                  </a:lnTo>
                  <a:lnTo>
                    <a:pt x="19026" y="147863"/>
                  </a:lnTo>
                  <a:lnTo>
                    <a:pt x="41348" y="106739"/>
                  </a:lnTo>
                  <a:lnTo>
                    <a:pt x="70912" y="70909"/>
                  </a:lnTo>
                  <a:lnTo>
                    <a:pt x="106742" y="41346"/>
                  </a:lnTo>
                  <a:lnTo>
                    <a:pt x="147866" y="19025"/>
                  </a:lnTo>
                  <a:lnTo>
                    <a:pt x="193310" y="4918"/>
                  </a:lnTo>
                  <a:lnTo>
                    <a:pt x="242099" y="0"/>
                  </a:lnTo>
                  <a:lnTo>
                    <a:pt x="289559" y="4694"/>
                  </a:lnTo>
                  <a:lnTo>
                    <a:pt x="334758" y="18429"/>
                  </a:lnTo>
                  <a:lnTo>
                    <a:pt x="376427" y="40676"/>
                  </a:lnTo>
                  <a:lnTo>
                    <a:pt x="413299" y="70909"/>
                  </a:lnTo>
                  <a:lnTo>
                    <a:pt x="443530" y="107782"/>
                  </a:lnTo>
                  <a:lnTo>
                    <a:pt x="465774" y="149451"/>
                  </a:lnTo>
                  <a:lnTo>
                    <a:pt x="479505" y="194647"/>
                  </a:lnTo>
                  <a:lnTo>
                    <a:pt x="484199" y="242099"/>
                  </a:lnTo>
                  <a:lnTo>
                    <a:pt x="479281" y="290890"/>
                  </a:lnTo>
                  <a:lnTo>
                    <a:pt x="465176" y="336335"/>
                  </a:lnTo>
                  <a:lnTo>
                    <a:pt x="442856" y="377459"/>
                  </a:lnTo>
                  <a:lnTo>
                    <a:pt x="413296" y="413289"/>
                  </a:lnTo>
                  <a:lnTo>
                    <a:pt x="377467" y="442852"/>
                  </a:lnTo>
                  <a:lnTo>
                    <a:pt x="336342" y="465173"/>
                  </a:lnTo>
                  <a:lnTo>
                    <a:pt x="290895" y="479280"/>
                  </a:lnTo>
                  <a:lnTo>
                    <a:pt x="242099" y="484199"/>
                  </a:lnTo>
                  <a:close/>
                </a:path>
              </a:pathLst>
            </a:custGeom>
            <a:solidFill>
              <a:srgbClr val="8E7C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231401" y="1937074"/>
            <a:ext cx="122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328071" y="2063015"/>
            <a:ext cx="84455" cy="1676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175841" y="1769226"/>
            <a:ext cx="2708275" cy="592455"/>
            <a:chOff x="4175841" y="1769226"/>
            <a:chExt cx="2708275" cy="592455"/>
          </a:xfrm>
        </p:grpSpPr>
        <p:sp>
          <p:nvSpPr>
            <p:cNvPr id="18" name="object 18"/>
            <p:cNvSpPr/>
            <p:nvPr/>
          </p:nvSpPr>
          <p:spPr>
            <a:xfrm>
              <a:off x="4185366" y="2096668"/>
              <a:ext cx="793750" cy="255270"/>
            </a:xfrm>
            <a:custGeom>
              <a:avLst/>
              <a:gdLst/>
              <a:ahLst/>
              <a:cxnLst/>
              <a:rect l="l" t="t" r="r" b="b"/>
              <a:pathLst>
                <a:path w="793750" h="255269">
                  <a:moveTo>
                    <a:pt x="0" y="255106"/>
                  </a:moveTo>
                  <a:lnTo>
                    <a:pt x="793273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59490" y="2057188"/>
              <a:ext cx="110974" cy="7895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201566" y="1778751"/>
              <a:ext cx="777240" cy="248285"/>
            </a:xfrm>
            <a:custGeom>
              <a:avLst/>
              <a:gdLst/>
              <a:ahLst/>
              <a:cxnLst/>
              <a:rect l="l" t="t" r="r" b="b"/>
              <a:pathLst>
                <a:path w="777239" h="248285">
                  <a:moveTo>
                    <a:pt x="0" y="0"/>
                  </a:moveTo>
                  <a:lnTo>
                    <a:pt x="776998" y="248129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59490" y="1987381"/>
              <a:ext cx="110974" cy="7899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399662" y="1836648"/>
              <a:ext cx="484505" cy="484505"/>
            </a:xfrm>
            <a:custGeom>
              <a:avLst/>
              <a:gdLst/>
              <a:ahLst/>
              <a:cxnLst/>
              <a:rect l="l" t="t" r="r" b="b"/>
              <a:pathLst>
                <a:path w="484504" h="484505">
                  <a:moveTo>
                    <a:pt x="242099" y="484199"/>
                  </a:moveTo>
                  <a:lnTo>
                    <a:pt x="193310" y="479280"/>
                  </a:lnTo>
                  <a:lnTo>
                    <a:pt x="147866" y="465173"/>
                  </a:lnTo>
                  <a:lnTo>
                    <a:pt x="106742" y="442852"/>
                  </a:lnTo>
                  <a:lnTo>
                    <a:pt x="70912" y="413289"/>
                  </a:lnTo>
                  <a:lnTo>
                    <a:pt x="41348" y="377459"/>
                  </a:lnTo>
                  <a:lnTo>
                    <a:pt x="19026" y="336335"/>
                  </a:lnTo>
                  <a:lnTo>
                    <a:pt x="4918" y="290890"/>
                  </a:lnTo>
                  <a:lnTo>
                    <a:pt x="0" y="242099"/>
                  </a:lnTo>
                  <a:lnTo>
                    <a:pt x="4918" y="193308"/>
                  </a:lnTo>
                  <a:lnTo>
                    <a:pt x="19026" y="147863"/>
                  </a:lnTo>
                  <a:lnTo>
                    <a:pt x="41348" y="106739"/>
                  </a:lnTo>
                  <a:lnTo>
                    <a:pt x="70912" y="70909"/>
                  </a:lnTo>
                  <a:lnTo>
                    <a:pt x="106742" y="41346"/>
                  </a:lnTo>
                  <a:lnTo>
                    <a:pt x="147866" y="19025"/>
                  </a:lnTo>
                  <a:lnTo>
                    <a:pt x="193310" y="4918"/>
                  </a:lnTo>
                  <a:lnTo>
                    <a:pt x="242099" y="0"/>
                  </a:lnTo>
                  <a:lnTo>
                    <a:pt x="289559" y="4694"/>
                  </a:lnTo>
                  <a:lnTo>
                    <a:pt x="334758" y="18429"/>
                  </a:lnTo>
                  <a:lnTo>
                    <a:pt x="376427" y="40676"/>
                  </a:lnTo>
                  <a:lnTo>
                    <a:pt x="413299" y="70909"/>
                  </a:lnTo>
                  <a:lnTo>
                    <a:pt x="443530" y="107783"/>
                  </a:lnTo>
                  <a:lnTo>
                    <a:pt x="465774" y="149452"/>
                  </a:lnTo>
                  <a:lnTo>
                    <a:pt x="479505" y="194648"/>
                  </a:lnTo>
                  <a:lnTo>
                    <a:pt x="484199" y="242099"/>
                  </a:lnTo>
                  <a:lnTo>
                    <a:pt x="479280" y="290890"/>
                  </a:lnTo>
                  <a:lnTo>
                    <a:pt x="465172" y="336335"/>
                  </a:lnTo>
                  <a:lnTo>
                    <a:pt x="442850" y="377459"/>
                  </a:lnTo>
                  <a:lnTo>
                    <a:pt x="413286" y="413289"/>
                  </a:lnTo>
                  <a:lnTo>
                    <a:pt x="377456" y="442852"/>
                  </a:lnTo>
                  <a:lnTo>
                    <a:pt x="336332" y="465173"/>
                  </a:lnTo>
                  <a:lnTo>
                    <a:pt x="290888" y="479280"/>
                  </a:lnTo>
                  <a:lnTo>
                    <a:pt x="242099" y="484199"/>
                  </a:lnTo>
                  <a:close/>
                </a:path>
              </a:pathLst>
            </a:custGeom>
            <a:solidFill>
              <a:srgbClr val="6EA8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543601" y="1954161"/>
            <a:ext cx="1219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639915" y="2080103"/>
            <a:ext cx="84455" cy="1676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00" spc="-50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087465" y="1265150"/>
            <a:ext cx="1298575" cy="1360805"/>
            <a:chOff x="5087465" y="1265150"/>
            <a:chExt cx="1298575" cy="1360805"/>
          </a:xfrm>
        </p:grpSpPr>
        <p:sp>
          <p:nvSpPr>
            <p:cNvPr id="26" name="object 26"/>
            <p:cNvSpPr/>
            <p:nvPr/>
          </p:nvSpPr>
          <p:spPr>
            <a:xfrm>
              <a:off x="5573763" y="2141113"/>
              <a:ext cx="730250" cy="474980"/>
            </a:xfrm>
            <a:custGeom>
              <a:avLst/>
              <a:gdLst/>
              <a:ahLst/>
              <a:cxnLst/>
              <a:rect l="l" t="t" r="r" b="b"/>
              <a:pathLst>
                <a:path w="730250" h="474980">
                  <a:moveTo>
                    <a:pt x="0" y="474956"/>
                  </a:moveTo>
                  <a:lnTo>
                    <a:pt x="730073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77162" y="2084443"/>
              <a:ext cx="108674" cy="92569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5571663" y="2061665"/>
              <a:ext cx="713740" cy="15240"/>
            </a:xfrm>
            <a:custGeom>
              <a:avLst/>
              <a:gdLst/>
              <a:ahLst/>
              <a:cxnLst/>
              <a:rect l="l" t="t" r="r" b="b"/>
              <a:pathLst>
                <a:path w="713739" h="15239">
                  <a:moveTo>
                    <a:pt x="0" y="0"/>
                  </a:moveTo>
                  <a:lnTo>
                    <a:pt x="713723" y="14739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75212" y="2035420"/>
              <a:ext cx="106124" cy="81967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5087465" y="1265150"/>
              <a:ext cx="484505" cy="484505"/>
            </a:xfrm>
            <a:custGeom>
              <a:avLst/>
              <a:gdLst/>
              <a:ahLst/>
              <a:cxnLst/>
              <a:rect l="l" t="t" r="r" b="b"/>
              <a:pathLst>
                <a:path w="484504" h="484505">
                  <a:moveTo>
                    <a:pt x="242099" y="484199"/>
                  </a:moveTo>
                  <a:lnTo>
                    <a:pt x="193310" y="479280"/>
                  </a:lnTo>
                  <a:lnTo>
                    <a:pt x="147866" y="465173"/>
                  </a:lnTo>
                  <a:lnTo>
                    <a:pt x="106742" y="442852"/>
                  </a:lnTo>
                  <a:lnTo>
                    <a:pt x="70912" y="413289"/>
                  </a:lnTo>
                  <a:lnTo>
                    <a:pt x="41348" y="377459"/>
                  </a:lnTo>
                  <a:lnTo>
                    <a:pt x="19026" y="336335"/>
                  </a:lnTo>
                  <a:lnTo>
                    <a:pt x="4918" y="290890"/>
                  </a:lnTo>
                  <a:lnTo>
                    <a:pt x="0" y="242099"/>
                  </a:lnTo>
                  <a:lnTo>
                    <a:pt x="4918" y="193308"/>
                  </a:lnTo>
                  <a:lnTo>
                    <a:pt x="19026" y="147863"/>
                  </a:lnTo>
                  <a:lnTo>
                    <a:pt x="41348" y="106739"/>
                  </a:lnTo>
                  <a:lnTo>
                    <a:pt x="70912" y="70909"/>
                  </a:lnTo>
                  <a:lnTo>
                    <a:pt x="106742" y="41346"/>
                  </a:lnTo>
                  <a:lnTo>
                    <a:pt x="147866" y="19025"/>
                  </a:lnTo>
                  <a:lnTo>
                    <a:pt x="193310" y="4918"/>
                  </a:lnTo>
                  <a:lnTo>
                    <a:pt x="242099" y="0"/>
                  </a:lnTo>
                  <a:lnTo>
                    <a:pt x="289559" y="4694"/>
                  </a:lnTo>
                  <a:lnTo>
                    <a:pt x="334758" y="18429"/>
                  </a:lnTo>
                  <a:lnTo>
                    <a:pt x="376427" y="40676"/>
                  </a:lnTo>
                  <a:lnTo>
                    <a:pt x="413299" y="70909"/>
                  </a:lnTo>
                  <a:lnTo>
                    <a:pt x="443530" y="107783"/>
                  </a:lnTo>
                  <a:lnTo>
                    <a:pt x="465774" y="149452"/>
                  </a:lnTo>
                  <a:lnTo>
                    <a:pt x="479505" y="194648"/>
                  </a:lnTo>
                  <a:lnTo>
                    <a:pt x="484199" y="242099"/>
                  </a:lnTo>
                  <a:lnTo>
                    <a:pt x="479281" y="290890"/>
                  </a:lnTo>
                  <a:lnTo>
                    <a:pt x="465176" y="336335"/>
                  </a:lnTo>
                  <a:lnTo>
                    <a:pt x="442856" y="377459"/>
                  </a:lnTo>
                  <a:lnTo>
                    <a:pt x="413296" y="413289"/>
                  </a:lnTo>
                  <a:lnTo>
                    <a:pt x="377467" y="442852"/>
                  </a:lnTo>
                  <a:lnTo>
                    <a:pt x="336342" y="465173"/>
                  </a:lnTo>
                  <a:lnTo>
                    <a:pt x="290895" y="479280"/>
                  </a:lnTo>
                  <a:lnTo>
                    <a:pt x="242099" y="484199"/>
                  </a:lnTo>
                  <a:close/>
                </a:path>
              </a:pathLst>
            </a:custGeom>
            <a:solidFill>
              <a:srgbClr val="8E7C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5206001" y="1382662"/>
            <a:ext cx="231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350" spc="-37" baseline="-33950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350" baseline="-33950">
              <a:latin typeface="Tahoma"/>
              <a:cs typeface="Tahom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4175841" y="1497724"/>
            <a:ext cx="2210435" cy="863600"/>
            <a:chOff x="4175841" y="1497724"/>
            <a:chExt cx="2210435" cy="863600"/>
          </a:xfrm>
        </p:grpSpPr>
        <p:sp>
          <p:nvSpPr>
            <p:cNvPr id="33" name="object 33"/>
            <p:cNvSpPr/>
            <p:nvPr/>
          </p:nvSpPr>
          <p:spPr>
            <a:xfrm>
              <a:off x="4185366" y="1585391"/>
              <a:ext cx="819150" cy="766445"/>
            </a:xfrm>
            <a:custGeom>
              <a:avLst/>
              <a:gdLst/>
              <a:ahLst/>
              <a:cxnLst/>
              <a:rect l="l" t="t" r="r" b="b"/>
              <a:pathLst>
                <a:path w="819150" h="766444">
                  <a:moveTo>
                    <a:pt x="0" y="766383"/>
                  </a:moveTo>
                  <a:lnTo>
                    <a:pt x="818648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72990" y="1516784"/>
              <a:ext cx="103674" cy="101102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4201566" y="1540744"/>
              <a:ext cx="776605" cy="238125"/>
            </a:xfrm>
            <a:custGeom>
              <a:avLst/>
              <a:gdLst/>
              <a:ahLst/>
              <a:cxnLst/>
              <a:rect l="l" t="t" r="r" b="b"/>
              <a:pathLst>
                <a:path w="776604" h="238125">
                  <a:moveTo>
                    <a:pt x="0" y="238007"/>
                  </a:moveTo>
                  <a:lnTo>
                    <a:pt x="776598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959440" y="1501134"/>
              <a:ext cx="110924" cy="79219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5571663" y="1507249"/>
              <a:ext cx="734060" cy="506730"/>
            </a:xfrm>
            <a:custGeom>
              <a:avLst/>
              <a:gdLst/>
              <a:ahLst/>
              <a:cxnLst/>
              <a:rect l="l" t="t" r="r" b="b"/>
              <a:pathLst>
                <a:path w="734060" h="506730">
                  <a:moveTo>
                    <a:pt x="0" y="0"/>
                  </a:moveTo>
                  <a:lnTo>
                    <a:pt x="733923" y="506571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78187" y="1978400"/>
              <a:ext cx="108074" cy="94052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2471338" y="1245943"/>
            <a:ext cx="725805" cy="166116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46990">
              <a:lnSpc>
                <a:spcPct val="100000"/>
              </a:lnSpc>
              <a:spcBef>
                <a:spcPts val="730"/>
              </a:spcBef>
            </a:pPr>
            <a:r>
              <a:rPr sz="1400" b="1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Input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64"/>
              </a:lnSpc>
              <a:spcBef>
                <a:spcPts val="635"/>
              </a:spcBef>
            </a:pPr>
            <a:r>
              <a:rPr sz="1400" spc="-50" dirty="0">
                <a:latin typeface="Arial MT"/>
                <a:cs typeface="Arial MT"/>
              </a:rPr>
              <a:t>[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ts val="1650"/>
              </a:lnSpc>
            </a:pPr>
            <a:r>
              <a:rPr sz="1400" spc="-10" dirty="0">
                <a:latin typeface="Arial MT"/>
                <a:cs typeface="Arial MT"/>
              </a:rPr>
              <a:t>[-</a:t>
            </a:r>
            <a:r>
              <a:rPr sz="1400" dirty="0">
                <a:latin typeface="Arial MT"/>
                <a:cs typeface="Arial MT"/>
              </a:rPr>
              <a:t>20,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45],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ts val="1650"/>
              </a:lnSpc>
            </a:pPr>
            <a:r>
              <a:rPr sz="1400" dirty="0">
                <a:latin typeface="Arial MT"/>
                <a:cs typeface="Arial MT"/>
              </a:rPr>
              <a:t>[80,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0],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ts val="1650"/>
              </a:lnSpc>
            </a:pPr>
            <a:r>
              <a:rPr sz="1400" dirty="0">
                <a:latin typeface="Arial MT"/>
                <a:cs typeface="Arial MT"/>
              </a:rPr>
              <a:t>[4,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15],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ts val="1650"/>
              </a:lnSpc>
            </a:pPr>
            <a:r>
              <a:rPr sz="1400" dirty="0">
                <a:latin typeface="Arial MT"/>
                <a:cs typeface="Arial MT"/>
              </a:rPr>
              <a:t>[45,</a:t>
            </a:r>
            <a:r>
              <a:rPr sz="1400" spc="-20" dirty="0">
                <a:latin typeface="Arial MT"/>
                <a:cs typeface="Arial MT"/>
              </a:rPr>
              <a:t> 60],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ts val="1664"/>
              </a:lnSpc>
            </a:pPr>
            <a:r>
              <a:rPr sz="1400" spc="-50" dirty="0">
                <a:latin typeface="Arial MT"/>
                <a:cs typeface="Arial MT"/>
              </a:rPr>
              <a:t>]</a:t>
            </a:r>
            <a:endParaRPr sz="1400">
              <a:latin typeface="Arial MT"/>
              <a:cs typeface="Arial MT"/>
            </a:endParaRPr>
          </a:p>
        </p:txBody>
      </p:sp>
      <p:graphicFrame>
        <p:nvGraphicFramePr>
          <p:cNvPr id="40" name="object 40"/>
          <p:cNvGraphicFramePr>
            <a:graphicFrameLocks noGrp="1"/>
          </p:cNvGraphicFramePr>
          <p:nvPr/>
        </p:nvGraphicFramePr>
        <p:xfrm>
          <a:off x="7090240" y="1648036"/>
          <a:ext cx="1111884" cy="1250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4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7645">
                <a:tc>
                  <a:txBody>
                    <a:bodyPr/>
                    <a:lstStyle/>
                    <a:p>
                      <a:pPr marL="31750">
                        <a:lnSpc>
                          <a:spcPts val="1540"/>
                        </a:lnSpc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[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3025" algn="r">
                        <a:lnSpc>
                          <a:spcPts val="1540"/>
                        </a:lnSpc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[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915">
                <a:tc>
                  <a:txBody>
                    <a:bodyPr/>
                    <a:lstStyle/>
                    <a:p>
                      <a:pPr marL="31750">
                        <a:lnSpc>
                          <a:spcPts val="1550"/>
                        </a:lnSpc>
                      </a:pPr>
                      <a:r>
                        <a:rPr sz="1400" spc="-20" dirty="0">
                          <a:latin typeface="Arial MT"/>
                          <a:cs typeface="Arial MT"/>
                        </a:rPr>
                        <a:t>0.05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550"/>
                        </a:lnSpc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8915">
                <a:tc>
                  <a:txBody>
                    <a:bodyPr/>
                    <a:lstStyle/>
                    <a:p>
                      <a:pPr marL="31750">
                        <a:lnSpc>
                          <a:spcPts val="1550"/>
                        </a:lnSpc>
                      </a:pPr>
                      <a:r>
                        <a:rPr sz="1400" spc="-20" dirty="0">
                          <a:latin typeface="Arial MT"/>
                          <a:cs typeface="Arial MT"/>
                        </a:rPr>
                        <a:t>0.02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550"/>
                        </a:lnSpc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8915">
                <a:tc>
                  <a:txBody>
                    <a:bodyPr/>
                    <a:lstStyle/>
                    <a:p>
                      <a:pPr marL="31750">
                        <a:lnSpc>
                          <a:spcPts val="1550"/>
                        </a:lnSpc>
                      </a:pPr>
                      <a:r>
                        <a:rPr sz="1400" spc="-20" dirty="0">
                          <a:latin typeface="Arial MT"/>
                          <a:cs typeface="Arial MT"/>
                        </a:rPr>
                        <a:t>0.96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550"/>
                        </a:lnSpc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8915">
                <a:tc>
                  <a:txBody>
                    <a:bodyPr/>
                    <a:lstStyle/>
                    <a:p>
                      <a:pPr marL="31750">
                        <a:lnSpc>
                          <a:spcPts val="1550"/>
                        </a:lnSpc>
                      </a:pPr>
                      <a:r>
                        <a:rPr sz="1400" spc="-20" dirty="0">
                          <a:latin typeface="Arial MT"/>
                          <a:cs typeface="Arial MT"/>
                        </a:rPr>
                        <a:t>0.35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550"/>
                        </a:lnSpc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7645">
                <a:tc>
                  <a:txBody>
                    <a:bodyPr/>
                    <a:lstStyle/>
                    <a:p>
                      <a:pPr marL="31750">
                        <a:lnSpc>
                          <a:spcPts val="1540"/>
                        </a:lnSpc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]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3025" algn="r">
                        <a:lnSpc>
                          <a:spcPts val="1540"/>
                        </a:lnSpc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]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1" name="object 41"/>
          <p:cNvSpPr txBox="1"/>
          <p:nvPr/>
        </p:nvSpPr>
        <p:spPr>
          <a:xfrm>
            <a:off x="7897082" y="1326438"/>
            <a:ext cx="5683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Actual</a:t>
            </a:r>
            <a:endParaRPr sz="14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828065" y="1326438"/>
            <a:ext cx="8343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Predicted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1600754" y="3314218"/>
            <a:ext cx="5705475" cy="876300"/>
            <a:chOff x="1600754" y="3314218"/>
            <a:chExt cx="5705475" cy="876300"/>
          </a:xfrm>
        </p:grpSpPr>
        <p:sp>
          <p:nvSpPr>
            <p:cNvPr id="44" name="object 44"/>
            <p:cNvSpPr/>
            <p:nvPr/>
          </p:nvSpPr>
          <p:spPr>
            <a:xfrm>
              <a:off x="6682511" y="4083066"/>
              <a:ext cx="391795" cy="17145"/>
            </a:xfrm>
            <a:custGeom>
              <a:avLst/>
              <a:gdLst/>
              <a:ahLst/>
              <a:cxnLst/>
              <a:rect l="l" t="t" r="r" b="b"/>
              <a:pathLst>
                <a:path w="391795" h="17145">
                  <a:moveTo>
                    <a:pt x="391499" y="17099"/>
                  </a:moveTo>
                  <a:lnTo>
                    <a:pt x="0" y="17099"/>
                  </a:lnTo>
                  <a:lnTo>
                    <a:pt x="0" y="0"/>
                  </a:lnTo>
                  <a:lnTo>
                    <a:pt x="391499" y="0"/>
                  </a:lnTo>
                  <a:lnTo>
                    <a:pt x="391499" y="17099"/>
                  </a:lnTo>
                  <a:close/>
                </a:path>
              </a:pathLst>
            </a:custGeom>
            <a:solidFill>
              <a:srgbClr val="B35E0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557463" y="4102516"/>
              <a:ext cx="886460" cy="17145"/>
            </a:xfrm>
            <a:custGeom>
              <a:avLst/>
              <a:gdLst/>
              <a:ahLst/>
              <a:cxnLst/>
              <a:rect l="l" t="t" r="r" b="b"/>
              <a:pathLst>
                <a:path w="886460" h="17145">
                  <a:moveTo>
                    <a:pt x="885898" y="17099"/>
                  </a:moveTo>
                  <a:lnTo>
                    <a:pt x="0" y="17099"/>
                  </a:lnTo>
                  <a:lnTo>
                    <a:pt x="0" y="0"/>
                  </a:lnTo>
                  <a:lnTo>
                    <a:pt x="885898" y="0"/>
                  </a:lnTo>
                  <a:lnTo>
                    <a:pt x="885898" y="17099"/>
                  </a:lnTo>
                  <a:close/>
                </a:path>
              </a:pathLst>
            </a:custGeom>
            <a:solidFill>
              <a:srgbClr val="4985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600754" y="3314218"/>
              <a:ext cx="5705455" cy="876298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5633460" y="4306844"/>
            <a:ext cx="77660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 MT"/>
                <a:cs typeface="Arial MT"/>
              </a:rPr>
              <a:t>Predicted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570891" y="4309093"/>
            <a:ext cx="51943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 MT"/>
                <a:cs typeface="Arial MT"/>
              </a:rPr>
              <a:t>Actual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Total</a:t>
            </a:r>
            <a:r>
              <a:rPr spc="-90" dirty="0"/>
              <a:t> </a:t>
            </a:r>
            <a:r>
              <a:rPr spc="-20" dirty="0"/>
              <a:t>Loss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600754" y="3314218"/>
            <a:ext cx="5705475" cy="876300"/>
            <a:chOff x="1600754" y="3314218"/>
            <a:chExt cx="5705475" cy="876300"/>
          </a:xfrm>
        </p:grpSpPr>
        <p:sp>
          <p:nvSpPr>
            <p:cNvPr id="4" name="object 4"/>
            <p:cNvSpPr/>
            <p:nvPr/>
          </p:nvSpPr>
          <p:spPr>
            <a:xfrm>
              <a:off x="6682511" y="4083066"/>
              <a:ext cx="391795" cy="17145"/>
            </a:xfrm>
            <a:custGeom>
              <a:avLst/>
              <a:gdLst/>
              <a:ahLst/>
              <a:cxnLst/>
              <a:rect l="l" t="t" r="r" b="b"/>
              <a:pathLst>
                <a:path w="391795" h="17145">
                  <a:moveTo>
                    <a:pt x="391499" y="17099"/>
                  </a:moveTo>
                  <a:lnTo>
                    <a:pt x="0" y="17099"/>
                  </a:lnTo>
                  <a:lnTo>
                    <a:pt x="0" y="0"/>
                  </a:lnTo>
                  <a:lnTo>
                    <a:pt x="391499" y="0"/>
                  </a:lnTo>
                  <a:lnTo>
                    <a:pt x="391499" y="17099"/>
                  </a:lnTo>
                  <a:close/>
                </a:path>
              </a:pathLst>
            </a:custGeom>
            <a:solidFill>
              <a:srgbClr val="B35E0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557463" y="4102516"/>
              <a:ext cx="886460" cy="17145"/>
            </a:xfrm>
            <a:custGeom>
              <a:avLst/>
              <a:gdLst/>
              <a:ahLst/>
              <a:cxnLst/>
              <a:rect l="l" t="t" r="r" b="b"/>
              <a:pathLst>
                <a:path w="886460" h="17145">
                  <a:moveTo>
                    <a:pt x="885898" y="17099"/>
                  </a:moveTo>
                  <a:lnTo>
                    <a:pt x="0" y="17099"/>
                  </a:lnTo>
                  <a:lnTo>
                    <a:pt x="0" y="0"/>
                  </a:lnTo>
                  <a:lnTo>
                    <a:pt x="885898" y="0"/>
                  </a:lnTo>
                  <a:lnTo>
                    <a:pt x="885898" y="17099"/>
                  </a:lnTo>
                  <a:close/>
                </a:path>
              </a:pathLst>
            </a:custGeom>
            <a:solidFill>
              <a:srgbClr val="4985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00754" y="3314218"/>
              <a:ext cx="5705455" cy="876298"/>
            </a:xfrm>
            <a:prstGeom prst="rect">
              <a:avLst/>
            </a:prstGeom>
          </p:spPr>
        </p:pic>
      </p:grpSp>
      <p:sp>
        <p:nvSpPr>
          <p:cNvPr id="7" name="object 7"/>
          <p:cNvSpPr/>
          <p:nvPr/>
        </p:nvSpPr>
        <p:spPr>
          <a:xfrm>
            <a:off x="3684967" y="1520451"/>
            <a:ext cx="516890" cy="516890"/>
          </a:xfrm>
          <a:custGeom>
            <a:avLst/>
            <a:gdLst/>
            <a:ahLst/>
            <a:cxnLst/>
            <a:rect l="l" t="t" r="r" b="b"/>
            <a:pathLst>
              <a:path w="516889" h="516889">
                <a:moveTo>
                  <a:pt x="258299" y="516598"/>
                </a:moveTo>
                <a:lnTo>
                  <a:pt x="211871" y="512437"/>
                </a:lnTo>
                <a:lnTo>
                  <a:pt x="168172" y="500439"/>
                </a:lnTo>
                <a:lnTo>
                  <a:pt x="127933" y="481333"/>
                </a:lnTo>
                <a:lnTo>
                  <a:pt x="91882" y="455850"/>
                </a:lnTo>
                <a:lnTo>
                  <a:pt x="60750" y="424718"/>
                </a:lnTo>
                <a:lnTo>
                  <a:pt x="35266" y="388668"/>
                </a:lnTo>
                <a:lnTo>
                  <a:pt x="16160" y="348428"/>
                </a:lnTo>
                <a:lnTo>
                  <a:pt x="4161" y="304729"/>
                </a:lnTo>
                <a:lnTo>
                  <a:pt x="0" y="258299"/>
                </a:lnTo>
                <a:lnTo>
                  <a:pt x="4161" y="211869"/>
                </a:lnTo>
                <a:lnTo>
                  <a:pt x="16160" y="168170"/>
                </a:lnTo>
                <a:lnTo>
                  <a:pt x="35266" y="127930"/>
                </a:lnTo>
                <a:lnTo>
                  <a:pt x="60750" y="91880"/>
                </a:lnTo>
                <a:lnTo>
                  <a:pt x="91882" y="60748"/>
                </a:lnTo>
                <a:lnTo>
                  <a:pt x="127933" y="35265"/>
                </a:lnTo>
                <a:lnTo>
                  <a:pt x="168172" y="16159"/>
                </a:lnTo>
                <a:lnTo>
                  <a:pt x="211871" y="4161"/>
                </a:lnTo>
                <a:lnTo>
                  <a:pt x="258299" y="0"/>
                </a:lnTo>
                <a:lnTo>
                  <a:pt x="308923" y="5009"/>
                </a:lnTo>
                <a:lnTo>
                  <a:pt x="357143" y="19662"/>
                </a:lnTo>
                <a:lnTo>
                  <a:pt x="401603" y="43398"/>
                </a:lnTo>
                <a:lnTo>
                  <a:pt x="440949" y="75654"/>
                </a:lnTo>
                <a:lnTo>
                  <a:pt x="473198" y="114995"/>
                </a:lnTo>
                <a:lnTo>
                  <a:pt x="496933" y="159452"/>
                </a:lnTo>
                <a:lnTo>
                  <a:pt x="511588" y="207672"/>
                </a:lnTo>
                <a:lnTo>
                  <a:pt x="516598" y="258299"/>
                </a:lnTo>
                <a:lnTo>
                  <a:pt x="512437" y="304729"/>
                </a:lnTo>
                <a:lnTo>
                  <a:pt x="500438" y="348428"/>
                </a:lnTo>
                <a:lnTo>
                  <a:pt x="481332" y="388668"/>
                </a:lnTo>
                <a:lnTo>
                  <a:pt x="455848" y="424718"/>
                </a:lnTo>
                <a:lnTo>
                  <a:pt x="424716" y="455850"/>
                </a:lnTo>
                <a:lnTo>
                  <a:pt x="388665" y="481333"/>
                </a:lnTo>
                <a:lnTo>
                  <a:pt x="348426" y="500439"/>
                </a:lnTo>
                <a:lnTo>
                  <a:pt x="304727" y="512437"/>
                </a:lnTo>
                <a:lnTo>
                  <a:pt x="258299" y="516598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808239" y="1654168"/>
            <a:ext cx="21462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701167" y="2109675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5">
                <a:moveTo>
                  <a:pt x="242099" y="484194"/>
                </a:moveTo>
                <a:lnTo>
                  <a:pt x="193303" y="479275"/>
                </a:lnTo>
                <a:lnTo>
                  <a:pt x="147856" y="465169"/>
                </a:lnTo>
                <a:lnTo>
                  <a:pt x="106731" y="442849"/>
                </a:lnTo>
                <a:lnTo>
                  <a:pt x="70902" y="413287"/>
                </a:lnTo>
                <a:lnTo>
                  <a:pt x="41342" y="377458"/>
                </a:lnTo>
                <a:lnTo>
                  <a:pt x="19023" y="336335"/>
                </a:lnTo>
                <a:lnTo>
                  <a:pt x="4917" y="290891"/>
                </a:lnTo>
                <a:lnTo>
                  <a:pt x="0" y="242099"/>
                </a:lnTo>
                <a:lnTo>
                  <a:pt x="4917" y="193308"/>
                </a:lnTo>
                <a:lnTo>
                  <a:pt x="19023" y="147863"/>
                </a:lnTo>
                <a:lnTo>
                  <a:pt x="41342" y="106739"/>
                </a:lnTo>
                <a:lnTo>
                  <a:pt x="70902" y="70909"/>
                </a:lnTo>
                <a:lnTo>
                  <a:pt x="106731" y="41346"/>
                </a:lnTo>
                <a:lnTo>
                  <a:pt x="147856" y="19025"/>
                </a:lnTo>
                <a:lnTo>
                  <a:pt x="193303" y="4918"/>
                </a:lnTo>
                <a:lnTo>
                  <a:pt x="242099" y="0"/>
                </a:lnTo>
                <a:lnTo>
                  <a:pt x="289545" y="4694"/>
                </a:lnTo>
                <a:lnTo>
                  <a:pt x="334736" y="18429"/>
                </a:lnTo>
                <a:lnTo>
                  <a:pt x="376403" y="40676"/>
                </a:lnTo>
                <a:lnTo>
                  <a:pt x="413274" y="70909"/>
                </a:lnTo>
                <a:lnTo>
                  <a:pt x="443509" y="107783"/>
                </a:lnTo>
                <a:lnTo>
                  <a:pt x="465761" y="149452"/>
                </a:lnTo>
                <a:lnTo>
                  <a:pt x="479501" y="194648"/>
                </a:lnTo>
                <a:lnTo>
                  <a:pt x="484199" y="242099"/>
                </a:lnTo>
                <a:lnTo>
                  <a:pt x="479280" y="290891"/>
                </a:lnTo>
                <a:lnTo>
                  <a:pt x="465172" y="336335"/>
                </a:lnTo>
                <a:lnTo>
                  <a:pt x="442850" y="377458"/>
                </a:lnTo>
                <a:lnTo>
                  <a:pt x="413286" y="413287"/>
                </a:lnTo>
                <a:lnTo>
                  <a:pt x="377456" y="442849"/>
                </a:lnTo>
                <a:lnTo>
                  <a:pt x="336332" y="465169"/>
                </a:lnTo>
                <a:lnTo>
                  <a:pt x="290888" y="479275"/>
                </a:lnTo>
                <a:lnTo>
                  <a:pt x="242099" y="484194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819698" y="2227185"/>
            <a:ext cx="21462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089564" y="2373980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5">
                <a:moveTo>
                  <a:pt x="242099" y="484189"/>
                </a:moveTo>
                <a:lnTo>
                  <a:pt x="193303" y="479271"/>
                </a:lnTo>
                <a:lnTo>
                  <a:pt x="147856" y="465166"/>
                </a:lnTo>
                <a:lnTo>
                  <a:pt x="106731" y="442846"/>
                </a:lnTo>
                <a:lnTo>
                  <a:pt x="70902" y="413286"/>
                </a:lnTo>
                <a:lnTo>
                  <a:pt x="41342" y="377457"/>
                </a:lnTo>
                <a:lnTo>
                  <a:pt x="19023" y="336332"/>
                </a:lnTo>
                <a:lnTo>
                  <a:pt x="4917" y="290885"/>
                </a:lnTo>
                <a:lnTo>
                  <a:pt x="0" y="242089"/>
                </a:lnTo>
                <a:lnTo>
                  <a:pt x="4917" y="193301"/>
                </a:lnTo>
                <a:lnTo>
                  <a:pt x="19023" y="147859"/>
                </a:lnTo>
                <a:lnTo>
                  <a:pt x="41342" y="106737"/>
                </a:lnTo>
                <a:lnTo>
                  <a:pt x="70902" y="70908"/>
                </a:lnTo>
                <a:lnTo>
                  <a:pt x="106731" y="41346"/>
                </a:lnTo>
                <a:lnTo>
                  <a:pt x="147856" y="19025"/>
                </a:lnTo>
                <a:lnTo>
                  <a:pt x="193303" y="4918"/>
                </a:lnTo>
                <a:lnTo>
                  <a:pt x="242099" y="0"/>
                </a:lnTo>
                <a:lnTo>
                  <a:pt x="289545" y="4694"/>
                </a:lnTo>
                <a:lnTo>
                  <a:pt x="334736" y="18429"/>
                </a:lnTo>
                <a:lnTo>
                  <a:pt x="376403" y="40676"/>
                </a:lnTo>
                <a:lnTo>
                  <a:pt x="413274" y="70909"/>
                </a:lnTo>
                <a:lnTo>
                  <a:pt x="443509" y="107782"/>
                </a:lnTo>
                <a:lnTo>
                  <a:pt x="465761" y="149450"/>
                </a:lnTo>
                <a:lnTo>
                  <a:pt x="479501" y="194643"/>
                </a:lnTo>
                <a:lnTo>
                  <a:pt x="484199" y="242089"/>
                </a:lnTo>
                <a:lnTo>
                  <a:pt x="479280" y="290885"/>
                </a:lnTo>
                <a:lnTo>
                  <a:pt x="465172" y="336332"/>
                </a:lnTo>
                <a:lnTo>
                  <a:pt x="442850" y="377457"/>
                </a:lnTo>
                <a:lnTo>
                  <a:pt x="413286" y="413286"/>
                </a:lnTo>
                <a:lnTo>
                  <a:pt x="377456" y="442846"/>
                </a:lnTo>
                <a:lnTo>
                  <a:pt x="336332" y="465166"/>
                </a:lnTo>
                <a:lnTo>
                  <a:pt x="290888" y="479271"/>
                </a:lnTo>
                <a:lnTo>
                  <a:pt x="242099" y="484189"/>
                </a:lnTo>
                <a:close/>
              </a:path>
            </a:pathLst>
          </a:custGeom>
          <a:solidFill>
            <a:srgbClr val="8E7C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208097" y="2491494"/>
            <a:ext cx="231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1350" baseline="-30864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175841" y="1769226"/>
            <a:ext cx="1396365" cy="854710"/>
            <a:chOff x="4175841" y="1769226"/>
            <a:chExt cx="1396365" cy="854710"/>
          </a:xfrm>
        </p:grpSpPr>
        <p:sp>
          <p:nvSpPr>
            <p:cNvPr id="14" name="object 14"/>
            <p:cNvSpPr/>
            <p:nvPr/>
          </p:nvSpPr>
          <p:spPr>
            <a:xfrm>
              <a:off x="4201566" y="1778751"/>
              <a:ext cx="805180" cy="759460"/>
            </a:xfrm>
            <a:custGeom>
              <a:avLst/>
              <a:gdLst/>
              <a:ahLst/>
              <a:cxnLst/>
              <a:rect l="l" t="t" r="r" b="b"/>
              <a:pathLst>
                <a:path w="805179" h="759460">
                  <a:moveTo>
                    <a:pt x="0" y="0"/>
                  </a:moveTo>
                  <a:lnTo>
                    <a:pt x="804823" y="758893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75290" y="2505220"/>
              <a:ext cx="103524" cy="10124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185366" y="2351775"/>
              <a:ext cx="795020" cy="232410"/>
            </a:xfrm>
            <a:custGeom>
              <a:avLst/>
              <a:gdLst/>
              <a:ahLst/>
              <a:cxnLst/>
              <a:rect l="l" t="t" r="r" b="b"/>
              <a:pathLst>
                <a:path w="795020" h="232410">
                  <a:moveTo>
                    <a:pt x="0" y="0"/>
                  </a:moveTo>
                  <a:lnTo>
                    <a:pt x="794473" y="232244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61490" y="2544269"/>
              <a:ext cx="110874" cy="79474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087464" y="1819566"/>
              <a:ext cx="484505" cy="484505"/>
            </a:xfrm>
            <a:custGeom>
              <a:avLst/>
              <a:gdLst/>
              <a:ahLst/>
              <a:cxnLst/>
              <a:rect l="l" t="t" r="r" b="b"/>
              <a:pathLst>
                <a:path w="484504" h="484505">
                  <a:moveTo>
                    <a:pt x="242099" y="484199"/>
                  </a:moveTo>
                  <a:lnTo>
                    <a:pt x="193310" y="479280"/>
                  </a:lnTo>
                  <a:lnTo>
                    <a:pt x="147866" y="465173"/>
                  </a:lnTo>
                  <a:lnTo>
                    <a:pt x="106742" y="442852"/>
                  </a:lnTo>
                  <a:lnTo>
                    <a:pt x="70912" y="413289"/>
                  </a:lnTo>
                  <a:lnTo>
                    <a:pt x="41348" y="377459"/>
                  </a:lnTo>
                  <a:lnTo>
                    <a:pt x="19026" y="336335"/>
                  </a:lnTo>
                  <a:lnTo>
                    <a:pt x="4918" y="290890"/>
                  </a:lnTo>
                  <a:lnTo>
                    <a:pt x="0" y="242099"/>
                  </a:lnTo>
                  <a:lnTo>
                    <a:pt x="4918" y="193308"/>
                  </a:lnTo>
                  <a:lnTo>
                    <a:pt x="19026" y="147863"/>
                  </a:lnTo>
                  <a:lnTo>
                    <a:pt x="41348" y="106739"/>
                  </a:lnTo>
                  <a:lnTo>
                    <a:pt x="70912" y="70909"/>
                  </a:lnTo>
                  <a:lnTo>
                    <a:pt x="106742" y="41346"/>
                  </a:lnTo>
                  <a:lnTo>
                    <a:pt x="147866" y="19025"/>
                  </a:lnTo>
                  <a:lnTo>
                    <a:pt x="193310" y="4918"/>
                  </a:lnTo>
                  <a:lnTo>
                    <a:pt x="242099" y="0"/>
                  </a:lnTo>
                  <a:lnTo>
                    <a:pt x="289559" y="4694"/>
                  </a:lnTo>
                  <a:lnTo>
                    <a:pt x="334758" y="18429"/>
                  </a:lnTo>
                  <a:lnTo>
                    <a:pt x="376427" y="40676"/>
                  </a:lnTo>
                  <a:lnTo>
                    <a:pt x="413299" y="70909"/>
                  </a:lnTo>
                  <a:lnTo>
                    <a:pt x="443530" y="107782"/>
                  </a:lnTo>
                  <a:lnTo>
                    <a:pt x="465774" y="149451"/>
                  </a:lnTo>
                  <a:lnTo>
                    <a:pt x="479505" y="194647"/>
                  </a:lnTo>
                  <a:lnTo>
                    <a:pt x="484199" y="242099"/>
                  </a:lnTo>
                  <a:lnTo>
                    <a:pt x="479281" y="290890"/>
                  </a:lnTo>
                  <a:lnTo>
                    <a:pt x="465176" y="336335"/>
                  </a:lnTo>
                  <a:lnTo>
                    <a:pt x="442856" y="377459"/>
                  </a:lnTo>
                  <a:lnTo>
                    <a:pt x="413296" y="413289"/>
                  </a:lnTo>
                  <a:lnTo>
                    <a:pt x="377467" y="442852"/>
                  </a:lnTo>
                  <a:lnTo>
                    <a:pt x="336342" y="465173"/>
                  </a:lnTo>
                  <a:lnTo>
                    <a:pt x="290895" y="479280"/>
                  </a:lnTo>
                  <a:lnTo>
                    <a:pt x="242099" y="484199"/>
                  </a:lnTo>
                  <a:close/>
                </a:path>
              </a:pathLst>
            </a:custGeom>
            <a:solidFill>
              <a:srgbClr val="8E7C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231401" y="1937074"/>
            <a:ext cx="122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28071" y="2063015"/>
            <a:ext cx="84455" cy="1676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175841" y="1769226"/>
            <a:ext cx="2708275" cy="592455"/>
            <a:chOff x="4175841" y="1769226"/>
            <a:chExt cx="2708275" cy="592455"/>
          </a:xfrm>
        </p:grpSpPr>
        <p:sp>
          <p:nvSpPr>
            <p:cNvPr id="22" name="object 22"/>
            <p:cNvSpPr/>
            <p:nvPr/>
          </p:nvSpPr>
          <p:spPr>
            <a:xfrm>
              <a:off x="4185366" y="2096668"/>
              <a:ext cx="793750" cy="255270"/>
            </a:xfrm>
            <a:custGeom>
              <a:avLst/>
              <a:gdLst/>
              <a:ahLst/>
              <a:cxnLst/>
              <a:rect l="l" t="t" r="r" b="b"/>
              <a:pathLst>
                <a:path w="793750" h="255269">
                  <a:moveTo>
                    <a:pt x="0" y="255106"/>
                  </a:moveTo>
                  <a:lnTo>
                    <a:pt x="793273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59490" y="2057188"/>
              <a:ext cx="110974" cy="7895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4201566" y="1778751"/>
              <a:ext cx="777240" cy="248285"/>
            </a:xfrm>
            <a:custGeom>
              <a:avLst/>
              <a:gdLst/>
              <a:ahLst/>
              <a:cxnLst/>
              <a:rect l="l" t="t" r="r" b="b"/>
              <a:pathLst>
                <a:path w="777239" h="248285">
                  <a:moveTo>
                    <a:pt x="0" y="0"/>
                  </a:moveTo>
                  <a:lnTo>
                    <a:pt x="776998" y="248129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59490" y="1987381"/>
              <a:ext cx="110974" cy="7899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6399662" y="1836648"/>
              <a:ext cx="484505" cy="484505"/>
            </a:xfrm>
            <a:custGeom>
              <a:avLst/>
              <a:gdLst/>
              <a:ahLst/>
              <a:cxnLst/>
              <a:rect l="l" t="t" r="r" b="b"/>
              <a:pathLst>
                <a:path w="484504" h="484505">
                  <a:moveTo>
                    <a:pt x="242099" y="484199"/>
                  </a:moveTo>
                  <a:lnTo>
                    <a:pt x="193310" y="479280"/>
                  </a:lnTo>
                  <a:lnTo>
                    <a:pt x="147866" y="465173"/>
                  </a:lnTo>
                  <a:lnTo>
                    <a:pt x="106742" y="442852"/>
                  </a:lnTo>
                  <a:lnTo>
                    <a:pt x="70912" y="413289"/>
                  </a:lnTo>
                  <a:lnTo>
                    <a:pt x="41348" y="377459"/>
                  </a:lnTo>
                  <a:lnTo>
                    <a:pt x="19026" y="336335"/>
                  </a:lnTo>
                  <a:lnTo>
                    <a:pt x="4918" y="290890"/>
                  </a:lnTo>
                  <a:lnTo>
                    <a:pt x="0" y="242099"/>
                  </a:lnTo>
                  <a:lnTo>
                    <a:pt x="4918" y="193308"/>
                  </a:lnTo>
                  <a:lnTo>
                    <a:pt x="19026" y="147863"/>
                  </a:lnTo>
                  <a:lnTo>
                    <a:pt x="41348" y="106739"/>
                  </a:lnTo>
                  <a:lnTo>
                    <a:pt x="70912" y="70909"/>
                  </a:lnTo>
                  <a:lnTo>
                    <a:pt x="106742" y="41346"/>
                  </a:lnTo>
                  <a:lnTo>
                    <a:pt x="147866" y="19025"/>
                  </a:lnTo>
                  <a:lnTo>
                    <a:pt x="193310" y="4918"/>
                  </a:lnTo>
                  <a:lnTo>
                    <a:pt x="242099" y="0"/>
                  </a:lnTo>
                  <a:lnTo>
                    <a:pt x="289559" y="4694"/>
                  </a:lnTo>
                  <a:lnTo>
                    <a:pt x="334758" y="18429"/>
                  </a:lnTo>
                  <a:lnTo>
                    <a:pt x="376427" y="40676"/>
                  </a:lnTo>
                  <a:lnTo>
                    <a:pt x="413299" y="70909"/>
                  </a:lnTo>
                  <a:lnTo>
                    <a:pt x="443530" y="107783"/>
                  </a:lnTo>
                  <a:lnTo>
                    <a:pt x="465774" y="149452"/>
                  </a:lnTo>
                  <a:lnTo>
                    <a:pt x="479505" y="194648"/>
                  </a:lnTo>
                  <a:lnTo>
                    <a:pt x="484199" y="242099"/>
                  </a:lnTo>
                  <a:lnTo>
                    <a:pt x="479280" y="290890"/>
                  </a:lnTo>
                  <a:lnTo>
                    <a:pt x="465172" y="336335"/>
                  </a:lnTo>
                  <a:lnTo>
                    <a:pt x="442850" y="377459"/>
                  </a:lnTo>
                  <a:lnTo>
                    <a:pt x="413286" y="413289"/>
                  </a:lnTo>
                  <a:lnTo>
                    <a:pt x="377456" y="442852"/>
                  </a:lnTo>
                  <a:lnTo>
                    <a:pt x="336332" y="465173"/>
                  </a:lnTo>
                  <a:lnTo>
                    <a:pt x="290888" y="479280"/>
                  </a:lnTo>
                  <a:lnTo>
                    <a:pt x="242099" y="484199"/>
                  </a:lnTo>
                  <a:close/>
                </a:path>
              </a:pathLst>
            </a:custGeom>
            <a:solidFill>
              <a:srgbClr val="6EA8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543601" y="1954161"/>
            <a:ext cx="1219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639915" y="2080103"/>
            <a:ext cx="84455" cy="1676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00" spc="-50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087465" y="1265150"/>
            <a:ext cx="1298575" cy="1360805"/>
            <a:chOff x="5087465" y="1265150"/>
            <a:chExt cx="1298575" cy="1360805"/>
          </a:xfrm>
        </p:grpSpPr>
        <p:sp>
          <p:nvSpPr>
            <p:cNvPr id="30" name="object 30"/>
            <p:cNvSpPr/>
            <p:nvPr/>
          </p:nvSpPr>
          <p:spPr>
            <a:xfrm>
              <a:off x="5573763" y="2141113"/>
              <a:ext cx="730250" cy="474980"/>
            </a:xfrm>
            <a:custGeom>
              <a:avLst/>
              <a:gdLst/>
              <a:ahLst/>
              <a:cxnLst/>
              <a:rect l="l" t="t" r="r" b="b"/>
              <a:pathLst>
                <a:path w="730250" h="474980">
                  <a:moveTo>
                    <a:pt x="0" y="474956"/>
                  </a:moveTo>
                  <a:lnTo>
                    <a:pt x="730073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77162" y="2084443"/>
              <a:ext cx="108674" cy="92569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5571663" y="2061665"/>
              <a:ext cx="713740" cy="15240"/>
            </a:xfrm>
            <a:custGeom>
              <a:avLst/>
              <a:gdLst/>
              <a:ahLst/>
              <a:cxnLst/>
              <a:rect l="l" t="t" r="r" b="b"/>
              <a:pathLst>
                <a:path w="713739" h="15239">
                  <a:moveTo>
                    <a:pt x="0" y="0"/>
                  </a:moveTo>
                  <a:lnTo>
                    <a:pt x="713723" y="14739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75212" y="2035420"/>
              <a:ext cx="106124" cy="81967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5087465" y="1265150"/>
              <a:ext cx="484505" cy="484505"/>
            </a:xfrm>
            <a:custGeom>
              <a:avLst/>
              <a:gdLst/>
              <a:ahLst/>
              <a:cxnLst/>
              <a:rect l="l" t="t" r="r" b="b"/>
              <a:pathLst>
                <a:path w="484504" h="484505">
                  <a:moveTo>
                    <a:pt x="242099" y="484199"/>
                  </a:moveTo>
                  <a:lnTo>
                    <a:pt x="193310" y="479280"/>
                  </a:lnTo>
                  <a:lnTo>
                    <a:pt x="147866" y="465173"/>
                  </a:lnTo>
                  <a:lnTo>
                    <a:pt x="106742" y="442852"/>
                  </a:lnTo>
                  <a:lnTo>
                    <a:pt x="70912" y="413289"/>
                  </a:lnTo>
                  <a:lnTo>
                    <a:pt x="41348" y="377459"/>
                  </a:lnTo>
                  <a:lnTo>
                    <a:pt x="19026" y="336335"/>
                  </a:lnTo>
                  <a:lnTo>
                    <a:pt x="4918" y="290890"/>
                  </a:lnTo>
                  <a:lnTo>
                    <a:pt x="0" y="242099"/>
                  </a:lnTo>
                  <a:lnTo>
                    <a:pt x="4918" y="193308"/>
                  </a:lnTo>
                  <a:lnTo>
                    <a:pt x="19026" y="147863"/>
                  </a:lnTo>
                  <a:lnTo>
                    <a:pt x="41348" y="106739"/>
                  </a:lnTo>
                  <a:lnTo>
                    <a:pt x="70912" y="70909"/>
                  </a:lnTo>
                  <a:lnTo>
                    <a:pt x="106742" y="41346"/>
                  </a:lnTo>
                  <a:lnTo>
                    <a:pt x="147866" y="19025"/>
                  </a:lnTo>
                  <a:lnTo>
                    <a:pt x="193310" y="4918"/>
                  </a:lnTo>
                  <a:lnTo>
                    <a:pt x="242099" y="0"/>
                  </a:lnTo>
                  <a:lnTo>
                    <a:pt x="289559" y="4694"/>
                  </a:lnTo>
                  <a:lnTo>
                    <a:pt x="334758" y="18429"/>
                  </a:lnTo>
                  <a:lnTo>
                    <a:pt x="376427" y="40676"/>
                  </a:lnTo>
                  <a:lnTo>
                    <a:pt x="413299" y="70909"/>
                  </a:lnTo>
                  <a:lnTo>
                    <a:pt x="443530" y="107783"/>
                  </a:lnTo>
                  <a:lnTo>
                    <a:pt x="465774" y="149452"/>
                  </a:lnTo>
                  <a:lnTo>
                    <a:pt x="479505" y="194648"/>
                  </a:lnTo>
                  <a:lnTo>
                    <a:pt x="484199" y="242099"/>
                  </a:lnTo>
                  <a:lnTo>
                    <a:pt x="479281" y="290890"/>
                  </a:lnTo>
                  <a:lnTo>
                    <a:pt x="465176" y="336335"/>
                  </a:lnTo>
                  <a:lnTo>
                    <a:pt x="442856" y="377459"/>
                  </a:lnTo>
                  <a:lnTo>
                    <a:pt x="413296" y="413289"/>
                  </a:lnTo>
                  <a:lnTo>
                    <a:pt x="377467" y="442852"/>
                  </a:lnTo>
                  <a:lnTo>
                    <a:pt x="336342" y="465173"/>
                  </a:lnTo>
                  <a:lnTo>
                    <a:pt x="290895" y="479280"/>
                  </a:lnTo>
                  <a:lnTo>
                    <a:pt x="242099" y="484199"/>
                  </a:lnTo>
                  <a:close/>
                </a:path>
              </a:pathLst>
            </a:custGeom>
            <a:solidFill>
              <a:srgbClr val="8E7C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5206001" y="1382662"/>
            <a:ext cx="231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350" spc="-37" baseline="-33950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350" baseline="-33950">
              <a:latin typeface="Tahoma"/>
              <a:cs typeface="Tahoma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4175841" y="1497724"/>
            <a:ext cx="2210435" cy="863600"/>
            <a:chOff x="4175841" y="1497724"/>
            <a:chExt cx="2210435" cy="863600"/>
          </a:xfrm>
        </p:grpSpPr>
        <p:sp>
          <p:nvSpPr>
            <p:cNvPr id="37" name="object 37"/>
            <p:cNvSpPr/>
            <p:nvPr/>
          </p:nvSpPr>
          <p:spPr>
            <a:xfrm>
              <a:off x="4185366" y="1585391"/>
              <a:ext cx="819150" cy="766445"/>
            </a:xfrm>
            <a:custGeom>
              <a:avLst/>
              <a:gdLst/>
              <a:ahLst/>
              <a:cxnLst/>
              <a:rect l="l" t="t" r="r" b="b"/>
              <a:pathLst>
                <a:path w="819150" h="766444">
                  <a:moveTo>
                    <a:pt x="0" y="766383"/>
                  </a:moveTo>
                  <a:lnTo>
                    <a:pt x="818648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972990" y="1516784"/>
              <a:ext cx="103674" cy="101102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4201566" y="1540744"/>
              <a:ext cx="776605" cy="238125"/>
            </a:xfrm>
            <a:custGeom>
              <a:avLst/>
              <a:gdLst/>
              <a:ahLst/>
              <a:cxnLst/>
              <a:rect l="l" t="t" r="r" b="b"/>
              <a:pathLst>
                <a:path w="776604" h="238125">
                  <a:moveTo>
                    <a:pt x="0" y="238007"/>
                  </a:moveTo>
                  <a:lnTo>
                    <a:pt x="776598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959440" y="1501134"/>
              <a:ext cx="110924" cy="79219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5571663" y="1507249"/>
              <a:ext cx="734060" cy="506730"/>
            </a:xfrm>
            <a:custGeom>
              <a:avLst/>
              <a:gdLst/>
              <a:ahLst/>
              <a:cxnLst/>
              <a:rect l="l" t="t" r="r" b="b"/>
              <a:pathLst>
                <a:path w="734060" h="506730">
                  <a:moveTo>
                    <a:pt x="0" y="0"/>
                  </a:moveTo>
                  <a:lnTo>
                    <a:pt x="733923" y="506571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278187" y="1978400"/>
              <a:ext cx="108074" cy="94052"/>
            </a:xfrm>
            <a:prstGeom prst="rect">
              <a:avLst/>
            </a:prstGeom>
          </p:spPr>
        </p:pic>
      </p:grpSp>
      <p:sp>
        <p:nvSpPr>
          <p:cNvPr id="43" name="object 43"/>
          <p:cNvSpPr txBox="1"/>
          <p:nvPr/>
        </p:nvSpPr>
        <p:spPr>
          <a:xfrm>
            <a:off x="8072011" y="1828043"/>
            <a:ext cx="1117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Arial MT"/>
                <a:cs typeface="Arial MT"/>
              </a:rPr>
              <a:t>1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072011" y="2456692"/>
            <a:ext cx="1117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Arial MT"/>
                <a:cs typeface="Arial MT"/>
              </a:rPr>
              <a:t>1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059311" y="2666241"/>
            <a:ext cx="749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Arial MT"/>
                <a:cs typeface="Arial MT"/>
              </a:rPr>
              <a:t>]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121990" y="1836368"/>
            <a:ext cx="358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Arial MT"/>
                <a:cs typeface="Arial MT"/>
              </a:rPr>
              <a:t>0.05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121990" y="2067135"/>
            <a:ext cx="1049020" cy="207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14"/>
              </a:lnSpc>
              <a:tabLst>
                <a:tab pos="949960" algn="l"/>
              </a:tabLst>
            </a:pPr>
            <a:r>
              <a:rPr sz="1400" spc="-20" dirty="0">
                <a:latin typeface="Arial MT"/>
                <a:cs typeface="Arial MT"/>
              </a:rPr>
              <a:t>0.02</a:t>
            </a:r>
            <a:r>
              <a:rPr sz="1400" dirty="0">
                <a:latin typeface="Arial MT"/>
                <a:cs typeface="Arial MT"/>
              </a:rPr>
              <a:t>	</a:t>
            </a:r>
            <a:r>
              <a:rPr sz="2100" spc="-75" baseline="1984" dirty="0">
                <a:latin typeface="Arial MT"/>
                <a:cs typeface="Arial MT"/>
              </a:rPr>
              <a:t>0</a:t>
            </a:r>
            <a:endParaRPr sz="2100" baseline="1984">
              <a:latin typeface="Arial MT"/>
              <a:cs typeface="Arial 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121990" y="2276685"/>
            <a:ext cx="1049020" cy="207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14"/>
              </a:lnSpc>
              <a:tabLst>
                <a:tab pos="949960" algn="l"/>
              </a:tabLst>
            </a:pPr>
            <a:r>
              <a:rPr sz="1400" spc="-20" dirty="0">
                <a:latin typeface="Arial MT"/>
                <a:cs typeface="Arial MT"/>
              </a:rPr>
              <a:t>0.96</a:t>
            </a:r>
            <a:r>
              <a:rPr sz="1400" dirty="0">
                <a:latin typeface="Arial MT"/>
                <a:cs typeface="Arial MT"/>
              </a:rPr>
              <a:t>	</a:t>
            </a:r>
            <a:r>
              <a:rPr sz="2100" spc="-75" baseline="1984" dirty="0">
                <a:latin typeface="Arial MT"/>
                <a:cs typeface="Arial MT"/>
              </a:rPr>
              <a:t>1</a:t>
            </a:r>
            <a:endParaRPr sz="2100" baseline="1984">
              <a:latin typeface="Arial MT"/>
              <a:cs typeface="Arial M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121990" y="2465016"/>
            <a:ext cx="358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Arial MT"/>
                <a:cs typeface="Arial MT"/>
              </a:rPr>
              <a:t>0.35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109290" y="2674566"/>
            <a:ext cx="749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Arial MT"/>
                <a:cs typeface="Arial MT"/>
              </a:rPr>
              <a:t>]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828065" y="1239418"/>
            <a:ext cx="1637030" cy="62674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85"/>
              </a:spcBef>
              <a:tabLst>
                <a:tab pos="1068705" algn="l"/>
              </a:tabLst>
            </a:pPr>
            <a:r>
              <a:rPr sz="1400" b="1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Predicted</a:t>
            </a:r>
            <a:r>
              <a:rPr sz="1400" b="1" dirty="0">
                <a:latin typeface="Arial"/>
                <a:cs typeface="Arial"/>
              </a:rPr>
              <a:t>	</a:t>
            </a:r>
            <a:r>
              <a:rPr sz="1400" b="1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Actual</a:t>
            </a:r>
            <a:endParaRPr sz="1400">
              <a:latin typeface="Arial"/>
              <a:cs typeface="Arial"/>
            </a:endParaRPr>
          </a:p>
          <a:p>
            <a:pPr marR="41910" algn="ctr">
              <a:lnSpc>
                <a:spcPct val="100000"/>
              </a:lnSpc>
              <a:spcBef>
                <a:spcPts val="685"/>
              </a:spcBef>
              <a:tabLst>
                <a:tab pos="949960" algn="l"/>
              </a:tabLst>
            </a:pPr>
            <a:r>
              <a:rPr sz="1400" spc="-50" dirty="0">
                <a:latin typeface="Arial MT"/>
                <a:cs typeface="Arial MT"/>
              </a:rPr>
              <a:t>[</a:t>
            </a:r>
            <a:r>
              <a:rPr sz="1400" dirty="0">
                <a:latin typeface="Arial MT"/>
                <a:cs typeface="Arial MT"/>
              </a:rPr>
              <a:t>	</a:t>
            </a:r>
            <a:r>
              <a:rPr sz="2100" spc="-75" baseline="1984" dirty="0">
                <a:latin typeface="Arial MT"/>
                <a:cs typeface="Arial MT"/>
              </a:rPr>
              <a:t>[</a:t>
            </a:r>
            <a:endParaRPr sz="2100" baseline="1984">
              <a:latin typeface="Arial MT"/>
              <a:cs typeface="Arial MT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7098660" y="1876278"/>
            <a:ext cx="1208405" cy="796925"/>
            <a:chOff x="7098660" y="1876278"/>
            <a:chExt cx="1208405" cy="796925"/>
          </a:xfrm>
        </p:grpSpPr>
        <p:sp>
          <p:nvSpPr>
            <p:cNvPr id="53" name="object 53"/>
            <p:cNvSpPr/>
            <p:nvPr/>
          </p:nvSpPr>
          <p:spPr>
            <a:xfrm>
              <a:off x="7098660" y="2059303"/>
              <a:ext cx="1208405" cy="202565"/>
            </a:xfrm>
            <a:custGeom>
              <a:avLst/>
              <a:gdLst/>
              <a:ahLst/>
              <a:cxnLst/>
              <a:rect l="l" t="t" r="r" b="b"/>
              <a:pathLst>
                <a:path w="1208404" h="202564">
                  <a:moveTo>
                    <a:pt x="1207797" y="202499"/>
                  </a:moveTo>
                  <a:lnTo>
                    <a:pt x="0" y="202499"/>
                  </a:lnTo>
                  <a:lnTo>
                    <a:pt x="0" y="0"/>
                  </a:lnTo>
                  <a:lnTo>
                    <a:pt x="1207797" y="0"/>
                  </a:lnTo>
                  <a:lnTo>
                    <a:pt x="1207797" y="202499"/>
                  </a:lnTo>
                  <a:close/>
                </a:path>
              </a:pathLst>
            </a:custGeom>
            <a:solidFill>
              <a:srgbClr val="2AED23">
                <a:alpha val="565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098652" y="1876285"/>
              <a:ext cx="1208405" cy="796925"/>
            </a:xfrm>
            <a:custGeom>
              <a:avLst/>
              <a:gdLst/>
              <a:ahLst/>
              <a:cxnLst/>
              <a:rect l="l" t="t" r="r" b="b"/>
              <a:pathLst>
                <a:path w="1208404" h="796925">
                  <a:moveTo>
                    <a:pt x="1207795" y="594220"/>
                  </a:moveTo>
                  <a:lnTo>
                    <a:pt x="0" y="594220"/>
                  </a:lnTo>
                  <a:lnTo>
                    <a:pt x="0" y="796721"/>
                  </a:lnTo>
                  <a:lnTo>
                    <a:pt x="1207795" y="796721"/>
                  </a:lnTo>
                  <a:lnTo>
                    <a:pt x="1207795" y="594220"/>
                  </a:lnTo>
                  <a:close/>
                </a:path>
                <a:path w="1208404" h="796925">
                  <a:moveTo>
                    <a:pt x="1207795" y="0"/>
                  </a:moveTo>
                  <a:lnTo>
                    <a:pt x="0" y="0"/>
                  </a:lnTo>
                  <a:lnTo>
                    <a:pt x="0" y="202501"/>
                  </a:lnTo>
                  <a:lnTo>
                    <a:pt x="1207795" y="202501"/>
                  </a:lnTo>
                  <a:lnTo>
                    <a:pt x="1207795" y="0"/>
                  </a:lnTo>
                  <a:close/>
                </a:path>
              </a:pathLst>
            </a:custGeom>
            <a:solidFill>
              <a:srgbClr val="ED123F">
                <a:alpha val="4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7098660" y="2257312"/>
              <a:ext cx="1208405" cy="202565"/>
            </a:xfrm>
            <a:custGeom>
              <a:avLst/>
              <a:gdLst/>
              <a:ahLst/>
              <a:cxnLst/>
              <a:rect l="l" t="t" r="r" b="b"/>
              <a:pathLst>
                <a:path w="1208404" h="202564">
                  <a:moveTo>
                    <a:pt x="1207797" y="202499"/>
                  </a:moveTo>
                  <a:lnTo>
                    <a:pt x="0" y="202499"/>
                  </a:lnTo>
                  <a:lnTo>
                    <a:pt x="0" y="0"/>
                  </a:lnTo>
                  <a:lnTo>
                    <a:pt x="1207797" y="0"/>
                  </a:lnTo>
                  <a:lnTo>
                    <a:pt x="1207797" y="202499"/>
                  </a:lnTo>
                  <a:close/>
                </a:path>
              </a:pathLst>
            </a:custGeom>
            <a:solidFill>
              <a:srgbClr val="2AED23">
                <a:alpha val="565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2471338" y="1245943"/>
            <a:ext cx="725805" cy="166116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46990">
              <a:lnSpc>
                <a:spcPct val="100000"/>
              </a:lnSpc>
              <a:spcBef>
                <a:spcPts val="730"/>
              </a:spcBef>
            </a:pPr>
            <a:r>
              <a:rPr sz="1400" b="1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Input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64"/>
              </a:lnSpc>
              <a:spcBef>
                <a:spcPts val="635"/>
              </a:spcBef>
            </a:pPr>
            <a:r>
              <a:rPr sz="1400" spc="-50" dirty="0">
                <a:latin typeface="Arial MT"/>
                <a:cs typeface="Arial MT"/>
              </a:rPr>
              <a:t>[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ts val="1650"/>
              </a:lnSpc>
            </a:pPr>
            <a:r>
              <a:rPr sz="1400" spc="-10" dirty="0">
                <a:latin typeface="Arial MT"/>
                <a:cs typeface="Arial MT"/>
              </a:rPr>
              <a:t>[-</a:t>
            </a:r>
            <a:r>
              <a:rPr sz="1400" dirty="0">
                <a:latin typeface="Arial MT"/>
                <a:cs typeface="Arial MT"/>
              </a:rPr>
              <a:t>20,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45],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ts val="1650"/>
              </a:lnSpc>
            </a:pPr>
            <a:r>
              <a:rPr sz="1400" dirty="0">
                <a:latin typeface="Arial MT"/>
                <a:cs typeface="Arial MT"/>
              </a:rPr>
              <a:t>[80,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0],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ts val="1650"/>
              </a:lnSpc>
            </a:pPr>
            <a:r>
              <a:rPr sz="1400" dirty="0">
                <a:latin typeface="Arial MT"/>
                <a:cs typeface="Arial MT"/>
              </a:rPr>
              <a:t>[4,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15],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ts val="1650"/>
              </a:lnSpc>
            </a:pPr>
            <a:r>
              <a:rPr sz="1400" dirty="0">
                <a:latin typeface="Arial MT"/>
                <a:cs typeface="Arial MT"/>
              </a:rPr>
              <a:t>[45,</a:t>
            </a:r>
            <a:r>
              <a:rPr sz="1400" spc="-20" dirty="0">
                <a:latin typeface="Arial MT"/>
                <a:cs typeface="Arial MT"/>
              </a:rPr>
              <a:t> 60],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ts val="1664"/>
              </a:lnSpc>
            </a:pPr>
            <a:r>
              <a:rPr sz="1400" spc="-50" dirty="0">
                <a:latin typeface="Arial MT"/>
                <a:cs typeface="Arial MT"/>
              </a:rPr>
              <a:t>]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633460" y="4306844"/>
            <a:ext cx="77660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 MT"/>
                <a:cs typeface="Arial MT"/>
              </a:rPr>
              <a:t>Predicted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570891" y="4309093"/>
            <a:ext cx="51943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 MT"/>
                <a:cs typeface="Arial MT"/>
              </a:rPr>
              <a:t>Actual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Binary</a:t>
            </a:r>
            <a:r>
              <a:rPr spc="-90" dirty="0"/>
              <a:t> </a:t>
            </a:r>
            <a:r>
              <a:rPr dirty="0"/>
              <a:t>Cross</a:t>
            </a:r>
            <a:r>
              <a:rPr spc="-90" dirty="0"/>
              <a:t> </a:t>
            </a:r>
            <a:r>
              <a:rPr dirty="0"/>
              <a:t>Entropy</a:t>
            </a:r>
            <a:r>
              <a:rPr spc="-85" dirty="0"/>
              <a:t> </a:t>
            </a:r>
            <a:r>
              <a:rPr spc="-20" dirty="0"/>
              <a:t>Loss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76414" y="3218493"/>
            <a:ext cx="8528050" cy="837565"/>
            <a:chOff x="476414" y="3218493"/>
            <a:chExt cx="8528050" cy="8375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414" y="3218493"/>
              <a:ext cx="8527692" cy="83729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422566" y="3950116"/>
              <a:ext cx="1022350" cy="17145"/>
            </a:xfrm>
            <a:custGeom>
              <a:avLst/>
              <a:gdLst/>
              <a:ahLst/>
              <a:cxnLst/>
              <a:rect l="l" t="t" r="r" b="b"/>
              <a:pathLst>
                <a:path w="1022350" h="17145">
                  <a:moveTo>
                    <a:pt x="1022097" y="17099"/>
                  </a:moveTo>
                  <a:lnTo>
                    <a:pt x="0" y="17099"/>
                  </a:lnTo>
                  <a:lnTo>
                    <a:pt x="0" y="0"/>
                  </a:lnTo>
                  <a:lnTo>
                    <a:pt x="1022097" y="0"/>
                  </a:lnTo>
                  <a:lnTo>
                    <a:pt x="1022097" y="17099"/>
                  </a:lnTo>
                  <a:close/>
                </a:path>
              </a:pathLst>
            </a:custGeom>
            <a:solidFill>
              <a:srgbClr val="4985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479017" y="3950116"/>
              <a:ext cx="296545" cy="17145"/>
            </a:xfrm>
            <a:custGeom>
              <a:avLst/>
              <a:gdLst/>
              <a:ahLst/>
              <a:cxnLst/>
              <a:rect l="l" t="t" r="r" b="b"/>
              <a:pathLst>
                <a:path w="296545" h="17145">
                  <a:moveTo>
                    <a:pt x="296099" y="17099"/>
                  </a:moveTo>
                  <a:lnTo>
                    <a:pt x="0" y="17099"/>
                  </a:lnTo>
                  <a:lnTo>
                    <a:pt x="0" y="0"/>
                  </a:lnTo>
                  <a:lnTo>
                    <a:pt x="296099" y="0"/>
                  </a:lnTo>
                  <a:lnTo>
                    <a:pt x="296099" y="17099"/>
                  </a:lnTo>
                  <a:close/>
                </a:path>
              </a:pathLst>
            </a:custGeom>
            <a:solidFill>
              <a:srgbClr val="B35E0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939384" y="3950116"/>
              <a:ext cx="1022350" cy="17145"/>
            </a:xfrm>
            <a:custGeom>
              <a:avLst/>
              <a:gdLst/>
              <a:ahLst/>
              <a:cxnLst/>
              <a:rect l="l" t="t" r="r" b="b"/>
              <a:pathLst>
                <a:path w="1022350" h="17145">
                  <a:moveTo>
                    <a:pt x="1022097" y="17099"/>
                  </a:moveTo>
                  <a:lnTo>
                    <a:pt x="0" y="17099"/>
                  </a:lnTo>
                  <a:lnTo>
                    <a:pt x="0" y="0"/>
                  </a:lnTo>
                  <a:lnTo>
                    <a:pt x="1022097" y="0"/>
                  </a:lnTo>
                  <a:lnTo>
                    <a:pt x="1022097" y="17099"/>
                  </a:lnTo>
                  <a:close/>
                </a:path>
              </a:pathLst>
            </a:custGeom>
            <a:solidFill>
              <a:srgbClr val="4985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453911" y="3950116"/>
              <a:ext cx="296545" cy="17145"/>
            </a:xfrm>
            <a:custGeom>
              <a:avLst/>
              <a:gdLst/>
              <a:ahLst/>
              <a:cxnLst/>
              <a:rect l="l" t="t" r="r" b="b"/>
              <a:pathLst>
                <a:path w="296545" h="17145">
                  <a:moveTo>
                    <a:pt x="296099" y="17099"/>
                  </a:moveTo>
                  <a:lnTo>
                    <a:pt x="0" y="17099"/>
                  </a:lnTo>
                  <a:lnTo>
                    <a:pt x="0" y="0"/>
                  </a:lnTo>
                  <a:lnTo>
                    <a:pt x="296099" y="0"/>
                  </a:lnTo>
                  <a:lnTo>
                    <a:pt x="296099" y="17099"/>
                  </a:lnTo>
                  <a:close/>
                </a:path>
              </a:pathLst>
            </a:custGeom>
            <a:solidFill>
              <a:srgbClr val="B35E0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588179" y="4137602"/>
            <a:ext cx="7766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 MT"/>
                <a:cs typeface="Arial MT"/>
              </a:rPr>
              <a:t>Predicted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67402" y="4139851"/>
            <a:ext cx="5194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 MT"/>
                <a:cs typeface="Arial MT"/>
              </a:rPr>
              <a:t>Actual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105002" y="4137602"/>
            <a:ext cx="7766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 MT"/>
                <a:cs typeface="Arial MT"/>
              </a:rPr>
              <a:t>Predicted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42291" y="4139851"/>
            <a:ext cx="5194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 MT"/>
                <a:cs typeface="Arial MT"/>
              </a:rPr>
              <a:t>Actual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684967" y="1520451"/>
            <a:ext cx="516890" cy="516890"/>
          </a:xfrm>
          <a:custGeom>
            <a:avLst/>
            <a:gdLst/>
            <a:ahLst/>
            <a:cxnLst/>
            <a:rect l="l" t="t" r="r" b="b"/>
            <a:pathLst>
              <a:path w="516889" h="516889">
                <a:moveTo>
                  <a:pt x="258299" y="516598"/>
                </a:moveTo>
                <a:lnTo>
                  <a:pt x="211871" y="512437"/>
                </a:lnTo>
                <a:lnTo>
                  <a:pt x="168172" y="500439"/>
                </a:lnTo>
                <a:lnTo>
                  <a:pt x="127933" y="481333"/>
                </a:lnTo>
                <a:lnTo>
                  <a:pt x="91882" y="455850"/>
                </a:lnTo>
                <a:lnTo>
                  <a:pt x="60750" y="424718"/>
                </a:lnTo>
                <a:lnTo>
                  <a:pt x="35266" y="388668"/>
                </a:lnTo>
                <a:lnTo>
                  <a:pt x="16160" y="348428"/>
                </a:lnTo>
                <a:lnTo>
                  <a:pt x="4161" y="304729"/>
                </a:lnTo>
                <a:lnTo>
                  <a:pt x="0" y="258299"/>
                </a:lnTo>
                <a:lnTo>
                  <a:pt x="4161" y="211869"/>
                </a:lnTo>
                <a:lnTo>
                  <a:pt x="16160" y="168170"/>
                </a:lnTo>
                <a:lnTo>
                  <a:pt x="35266" y="127930"/>
                </a:lnTo>
                <a:lnTo>
                  <a:pt x="60750" y="91880"/>
                </a:lnTo>
                <a:lnTo>
                  <a:pt x="91882" y="60748"/>
                </a:lnTo>
                <a:lnTo>
                  <a:pt x="127933" y="35265"/>
                </a:lnTo>
                <a:lnTo>
                  <a:pt x="168172" y="16159"/>
                </a:lnTo>
                <a:lnTo>
                  <a:pt x="211871" y="4161"/>
                </a:lnTo>
                <a:lnTo>
                  <a:pt x="258299" y="0"/>
                </a:lnTo>
                <a:lnTo>
                  <a:pt x="308923" y="5009"/>
                </a:lnTo>
                <a:lnTo>
                  <a:pt x="357143" y="19662"/>
                </a:lnTo>
                <a:lnTo>
                  <a:pt x="401603" y="43398"/>
                </a:lnTo>
                <a:lnTo>
                  <a:pt x="440949" y="75654"/>
                </a:lnTo>
                <a:lnTo>
                  <a:pt x="473198" y="114995"/>
                </a:lnTo>
                <a:lnTo>
                  <a:pt x="496933" y="159452"/>
                </a:lnTo>
                <a:lnTo>
                  <a:pt x="511588" y="207672"/>
                </a:lnTo>
                <a:lnTo>
                  <a:pt x="516598" y="258299"/>
                </a:lnTo>
                <a:lnTo>
                  <a:pt x="512437" y="304729"/>
                </a:lnTo>
                <a:lnTo>
                  <a:pt x="500438" y="348428"/>
                </a:lnTo>
                <a:lnTo>
                  <a:pt x="481332" y="388668"/>
                </a:lnTo>
                <a:lnTo>
                  <a:pt x="455848" y="424718"/>
                </a:lnTo>
                <a:lnTo>
                  <a:pt x="424716" y="455850"/>
                </a:lnTo>
                <a:lnTo>
                  <a:pt x="388665" y="481333"/>
                </a:lnTo>
                <a:lnTo>
                  <a:pt x="348426" y="500439"/>
                </a:lnTo>
                <a:lnTo>
                  <a:pt x="304727" y="512437"/>
                </a:lnTo>
                <a:lnTo>
                  <a:pt x="258299" y="516598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808239" y="1654168"/>
            <a:ext cx="21462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701167" y="2109675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5">
                <a:moveTo>
                  <a:pt x="242099" y="484194"/>
                </a:moveTo>
                <a:lnTo>
                  <a:pt x="193303" y="479275"/>
                </a:lnTo>
                <a:lnTo>
                  <a:pt x="147856" y="465169"/>
                </a:lnTo>
                <a:lnTo>
                  <a:pt x="106731" y="442849"/>
                </a:lnTo>
                <a:lnTo>
                  <a:pt x="70902" y="413287"/>
                </a:lnTo>
                <a:lnTo>
                  <a:pt x="41342" y="377458"/>
                </a:lnTo>
                <a:lnTo>
                  <a:pt x="19023" y="336335"/>
                </a:lnTo>
                <a:lnTo>
                  <a:pt x="4917" y="290891"/>
                </a:lnTo>
                <a:lnTo>
                  <a:pt x="0" y="242099"/>
                </a:lnTo>
                <a:lnTo>
                  <a:pt x="4917" y="193308"/>
                </a:lnTo>
                <a:lnTo>
                  <a:pt x="19023" y="147863"/>
                </a:lnTo>
                <a:lnTo>
                  <a:pt x="41342" y="106739"/>
                </a:lnTo>
                <a:lnTo>
                  <a:pt x="70902" y="70909"/>
                </a:lnTo>
                <a:lnTo>
                  <a:pt x="106731" y="41346"/>
                </a:lnTo>
                <a:lnTo>
                  <a:pt x="147856" y="19025"/>
                </a:lnTo>
                <a:lnTo>
                  <a:pt x="193303" y="4918"/>
                </a:lnTo>
                <a:lnTo>
                  <a:pt x="242099" y="0"/>
                </a:lnTo>
                <a:lnTo>
                  <a:pt x="289545" y="4694"/>
                </a:lnTo>
                <a:lnTo>
                  <a:pt x="334736" y="18429"/>
                </a:lnTo>
                <a:lnTo>
                  <a:pt x="376403" y="40676"/>
                </a:lnTo>
                <a:lnTo>
                  <a:pt x="413274" y="70909"/>
                </a:lnTo>
                <a:lnTo>
                  <a:pt x="443509" y="107783"/>
                </a:lnTo>
                <a:lnTo>
                  <a:pt x="465761" y="149452"/>
                </a:lnTo>
                <a:lnTo>
                  <a:pt x="479501" y="194648"/>
                </a:lnTo>
                <a:lnTo>
                  <a:pt x="484199" y="242099"/>
                </a:lnTo>
                <a:lnTo>
                  <a:pt x="479280" y="290891"/>
                </a:lnTo>
                <a:lnTo>
                  <a:pt x="465172" y="336335"/>
                </a:lnTo>
                <a:lnTo>
                  <a:pt x="442850" y="377458"/>
                </a:lnTo>
                <a:lnTo>
                  <a:pt x="413286" y="413287"/>
                </a:lnTo>
                <a:lnTo>
                  <a:pt x="377456" y="442849"/>
                </a:lnTo>
                <a:lnTo>
                  <a:pt x="336332" y="465169"/>
                </a:lnTo>
                <a:lnTo>
                  <a:pt x="290888" y="479275"/>
                </a:lnTo>
                <a:lnTo>
                  <a:pt x="242099" y="484194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819698" y="2227185"/>
            <a:ext cx="21462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089564" y="2373980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5">
                <a:moveTo>
                  <a:pt x="242099" y="484189"/>
                </a:moveTo>
                <a:lnTo>
                  <a:pt x="193303" y="479271"/>
                </a:lnTo>
                <a:lnTo>
                  <a:pt x="147856" y="465166"/>
                </a:lnTo>
                <a:lnTo>
                  <a:pt x="106731" y="442846"/>
                </a:lnTo>
                <a:lnTo>
                  <a:pt x="70902" y="413286"/>
                </a:lnTo>
                <a:lnTo>
                  <a:pt x="41342" y="377457"/>
                </a:lnTo>
                <a:lnTo>
                  <a:pt x="19023" y="336332"/>
                </a:lnTo>
                <a:lnTo>
                  <a:pt x="4917" y="290885"/>
                </a:lnTo>
                <a:lnTo>
                  <a:pt x="0" y="242089"/>
                </a:lnTo>
                <a:lnTo>
                  <a:pt x="4917" y="193301"/>
                </a:lnTo>
                <a:lnTo>
                  <a:pt x="19023" y="147859"/>
                </a:lnTo>
                <a:lnTo>
                  <a:pt x="41342" y="106737"/>
                </a:lnTo>
                <a:lnTo>
                  <a:pt x="70902" y="70908"/>
                </a:lnTo>
                <a:lnTo>
                  <a:pt x="106731" y="41346"/>
                </a:lnTo>
                <a:lnTo>
                  <a:pt x="147856" y="19025"/>
                </a:lnTo>
                <a:lnTo>
                  <a:pt x="193303" y="4918"/>
                </a:lnTo>
                <a:lnTo>
                  <a:pt x="242099" y="0"/>
                </a:lnTo>
                <a:lnTo>
                  <a:pt x="289545" y="4694"/>
                </a:lnTo>
                <a:lnTo>
                  <a:pt x="334736" y="18429"/>
                </a:lnTo>
                <a:lnTo>
                  <a:pt x="376403" y="40676"/>
                </a:lnTo>
                <a:lnTo>
                  <a:pt x="413274" y="70909"/>
                </a:lnTo>
                <a:lnTo>
                  <a:pt x="443509" y="107782"/>
                </a:lnTo>
                <a:lnTo>
                  <a:pt x="465761" y="149450"/>
                </a:lnTo>
                <a:lnTo>
                  <a:pt x="479501" y="194643"/>
                </a:lnTo>
                <a:lnTo>
                  <a:pt x="484199" y="242089"/>
                </a:lnTo>
                <a:lnTo>
                  <a:pt x="479280" y="290885"/>
                </a:lnTo>
                <a:lnTo>
                  <a:pt x="465172" y="336332"/>
                </a:lnTo>
                <a:lnTo>
                  <a:pt x="442850" y="377457"/>
                </a:lnTo>
                <a:lnTo>
                  <a:pt x="413286" y="413286"/>
                </a:lnTo>
                <a:lnTo>
                  <a:pt x="377456" y="442846"/>
                </a:lnTo>
                <a:lnTo>
                  <a:pt x="336332" y="465166"/>
                </a:lnTo>
                <a:lnTo>
                  <a:pt x="290888" y="479271"/>
                </a:lnTo>
                <a:lnTo>
                  <a:pt x="242099" y="484189"/>
                </a:lnTo>
                <a:close/>
              </a:path>
            </a:pathLst>
          </a:custGeom>
          <a:solidFill>
            <a:srgbClr val="8E7C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208097" y="2491494"/>
            <a:ext cx="231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1350" baseline="-30864">
              <a:latin typeface="Tahoma"/>
              <a:cs typeface="Tahom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175841" y="1769226"/>
            <a:ext cx="1396365" cy="854710"/>
            <a:chOff x="4175841" y="1769226"/>
            <a:chExt cx="1396365" cy="854710"/>
          </a:xfrm>
        </p:grpSpPr>
        <p:sp>
          <p:nvSpPr>
            <p:cNvPr id="20" name="object 20"/>
            <p:cNvSpPr/>
            <p:nvPr/>
          </p:nvSpPr>
          <p:spPr>
            <a:xfrm>
              <a:off x="4201566" y="1778751"/>
              <a:ext cx="805180" cy="759460"/>
            </a:xfrm>
            <a:custGeom>
              <a:avLst/>
              <a:gdLst/>
              <a:ahLst/>
              <a:cxnLst/>
              <a:rect l="l" t="t" r="r" b="b"/>
              <a:pathLst>
                <a:path w="805179" h="759460">
                  <a:moveTo>
                    <a:pt x="0" y="0"/>
                  </a:moveTo>
                  <a:lnTo>
                    <a:pt x="804823" y="758893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75290" y="2505220"/>
              <a:ext cx="103524" cy="10124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185366" y="2351775"/>
              <a:ext cx="795020" cy="232410"/>
            </a:xfrm>
            <a:custGeom>
              <a:avLst/>
              <a:gdLst/>
              <a:ahLst/>
              <a:cxnLst/>
              <a:rect l="l" t="t" r="r" b="b"/>
              <a:pathLst>
                <a:path w="795020" h="232410">
                  <a:moveTo>
                    <a:pt x="0" y="0"/>
                  </a:moveTo>
                  <a:lnTo>
                    <a:pt x="794473" y="232244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61490" y="2544269"/>
              <a:ext cx="110874" cy="7947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087464" y="1819566"/>
              <a:ext cx="484505" cy="484505"/>
            </a:xfrm>
            <a:custGeom>
              <a:avLst/>
              <a:gdLst/>
              <a:ahLst/>
              <a:cxnLst/>
              <a:rect l="l" t="t" r="r" b="b"/>
              <a:pathLst>
                <a:path w="484504" h="484505">
                  <a:moveTo>
                    <a:pt x="242099" y="484199"/>
                  </a:moveTo>
                  <a:lnTo>
                    <a:pt x="193310" y="479280"/>
                  </a:lnTo>
                  <a:lnTo>
                    <a:pt x="147866" y="465173"/>
                  </a:lnTo>
                  <a:lnTo>
                    <a:pt x="106742" y="442852"/>
                  </a:lnTo>
                  <a:lnTo>
                    <a:pt x="70912" y="413289"/>
                  </a:lnTo>
                  <a:lnTo>
                    <a:pt x="41348" y="377459"/>
                  </a:lnTo>
                  <a:lnTo>
                    <a:pt x="19026" y="336335"/>
                  </a:lnTo>
                  <a:lnTo>
                    <a:pt x="4918" y="290890"/>
                  </a:lnTo>
                  <a:lnTo>
                    <a:pt x="0" y="242099"/>
                  </a:lnTo>
                  <a:lnTo>
                    <a:pt x="4918" y="193308"/>
                  </a:lnTo>
                  <a:lnTo>
                    <a:pt x="19026" y="147863"/>
                  </a:lnTo>
                  <a:lnTo>
                    <a:pt x="41348" y="106739"/>
                  </a:lnTo>
                  <a:lnTo>
                    <a:pt x="70912" y="70909"/>
                  </a:lnTo>
                  <a:lnTo>
                    <a:pt x="106742" y="41346"/>
                  </a:lnTo>
                  <a:lnTo>
                    <a:pt x="147866" y="19025"/>
                  </a:lnTo>
                  <a:lnTo>
                    <a:pt x="193310" y="4918"/>
                  </a:lnTo>
                  <a:lnTo>
                    <a:pt x="242099" y="0"/>
                  </a:lnTo>
                  <a:lnTo>
                    <a:pt x="289559" y="4694"/>
                  </a:lnTo>
                  <a:lnTo>
                    <a:pt x="334758" y="18429"/>
                  </a:lnTo>
                  <a:lnTo>
                    <a:pt x="376427" y="40676"/>
                  </a:lnTo>
                  <a:lnTo>
                    <a:pt x="413299" y="70909"/>
                  </a:lnTo>
                  <a:lnTo>
                    <a:pt x="443530" y="107782"/>
                  </a:lnTo>
                  <a:lnTo>
                    <a:pt x="465774" y="149451"/>
                  </a:lnTo>
                  <a:lnTo>
                    <a:pt x="479505" y="194647"/>
                  </a:lnTo>
                  <a:lnTo>
                    <a:pt x="484199" y="242099"/>
                  </a:lnTo>
                  <a:lnTo>
                    <a:pt x="479281" y="290890"/>
                  </a:lnTo>
                  <a:lnTo>
                    <a:pt x="465176" y="336335"/>
                  </a:lnTo>
                  <a:lnTo>
                    <a:pt x="442856" y="377459"/>
                  </a:lnTo>
                  <a:lnTo>
                    <a:pt x="413296" y="413289"/>
                  </a:lnTo>
                  <a:lnTo>
                    <a:pt x="377467" y="442852"/>
                  </a:lnTo>
                  <a:lnTo>
                    <a:pt x="336342" y="465173"/>
                  </a:lnTo>
                  <a:lnTo>
                    <a:pt x="290895" y="479280"/>
                  </a:lnTo>
                  <a:lnTo>
                    <a:pt x="242099" y="484199"/>
                  </a:lnTo>
                  <a:close/>
                </a:path>
              </a:pathLst>
            </a:custGeom>
            <a:solidFill>
              <a:srgbClr val="8E7C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231401" y="1937074"/>
            <a:ext cx="122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328071" y="2063015"/>
            <a:ext cx="84455" cy="1676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175841" y="1769226"/>
            <a:ext cx="2708275" cy="592455"/>
            <a:chOff x="4175841" y="1769226"/>
            <a:chExt cx="2708275" cy="592455"/>
          </a:xfrm>
        </p:grpSpPr>
        <p:sp>
          <p:nvSpPr>
            <p:cNvPr id="28" name="object 28"/>
            <p:cNvSpPr/>
            <p:nvPr/>
          </p:nvSpPr>
          <p:spPr>
            <a:xfrm>
              <a:off x="4185366" y="2096668"/>
              <a:ext cx="793750" cy="255270"/>
            </a:xfrm>
            <a:custGeom>
              <a:avLst/>
              <a:gdLst/>
              <a:ahLst/>
              <a:cxnLst/>
              <a:rect l="l" t="t" r="r" b="b"/>
              <a:pathLst>
                <a:path w="793750" h="255269">
                  <a:moveTo>
                    <a:pt x="0" y="255106"/>
                  </a:moveTo>
                  <a:lnTo>
                    <a:pt x="793273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59490" y="2057188"/>
              <a:ext cx="110974" cy="78959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4201566" y="1778751"/>
              <a:ext cx="777240" cy="248285"/>
            </a:xfrm>
            <a:custGeom>
              <a:avLst/>
              <a:gdLst/>
              <a:ahLst/>
              <a:cxnLst/>
              <a:rect l="l" t="t" r="r" b="b"/>
              <a:pathLst>
                <a:path w="777239" h="248285">
                  <a:moveTo>
                    <a:pt x="0" y="0"/>
                  </a:moveTo>
                  <a:lnTo>
                    <a:pt x="776998" y="248129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59490" y="1987381"/>
              <a:ext cx="110974" cy="78999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6399662" y="1836648"/>
              <a:ext cx="484505" cy="484505"/>
            </a:xfrm>
            <a:custGeom>
              <a:avLst/>
              <a:gdLst/>
              <a:ahLst/>
              <a:cxnLst/>
              <a:rect l="l" t="t" r="r" b="b"/>
              <a:pathLst>
                <a:path w="484504" h="484505">
                  <a:moveTo>
                    <a:pt x="242099" y="484199"/>
                  </a:moveTo>
                  <a:lnTo>
                    <a:pt x="193310" y="479280"/>
                  </a:lnTo>
                  <a:lnTo>
                    <a:pt x="147866" y="465173"/>
                  </a:lnTo>
                  <a:lnTo>
                    <a:pt x="106742" y="442852"/>
                  </a:lnTo>
                  <a:lnTo>
                    <a:pt x="70912" y="413289"/>
                  </a:lnTo>
                  <a:lnTo>
                    <a:pt x="41348" y="377459"/>
                  </a:lnTo>
                  <a:lnTo>
                    <a:pt x="19026" y="336335"/>
                  </a:lnTo>
                  <a:lnTo>
                    <a:pt x="4918" y="290890"/>
                  </a:lnTo>
                  <a:lnTo>
                    <a:pt x="0" y="242099"/>
                  </a:lnTo>
                  <a:lnTo>
                    <a:pt x="4918" y="193308"/>
                  </a:lnTo>
                  <a:lnTo>
                    <a:pt x="19026" y="147863"/>
                  </a:lnTo>
                  <a:lnTo>
                    <a:pt x="41348" y="106739"/>
                  </a:lnTo>
                  <a:lnTo>
                    <a:pt x="70912" y="70909"/>
                  </a:lnTo>
                  <a:lnTo>
                    <a:pt x="106742" y="41346"/>
                  </a:lnTo>
                  <a:lnTo>
                    <a:pt x="147866" y="19025"/>
                  </a:lnTo>
                  <a:lnTo>
                    <a:pt x="193310" y="4918"/>
                  </a:lnTo>
                  <a:lnTo>
                    <a:pt x="242099" y="0"/>
                  </a:lnTo>
                  <a:lnTo>
                    <a:pt x="289559" y="4694"/>
                  </a:lnTo>
                  <a:lnTo>
                    <a:pt x="334758" y="18429"/>
                  </a:lnTo>
                  <a:lnTo>
                    <a:pt x="376427" y="40676"/>
                  </a:lnTo>
                  <a:lnTo>
                    <a:pt x="413299" y="70909"/>
                  </a:lnTo>
                  <a:lnTo>
                    <a:pt x="443530" y="107783"/>
                  </a:lnTo>
                  <a:lnTo>
                    <a:pt x="465774" y="149452"/>
                  </a:lnTo>
                  <a:lnTo>
                    <a:pt x="479505" y="194648"/>
                  </a:lnTo>
                  <a:lnTo>
                    <a:pt x="484199" y="242099"/>
                  </a:lnTo>
                  <a:lnTo>
                    <a:pt x="479280" y="290890"/>
                  </a:lnTo>
                  <a:lnTo>
                    <a:pt x="465172" y="336335"/>
                  </a:lnTo>
                  <a:lnTo>
                    <a:pt x="442850" y="377459"/>
                  </a:lnTo>
                  <a:lnTo>
                    <a:pt x="413286" y="413289"/>
                  </a:lnTo>
                  <a:lnTo>
                    <a:pt x="377456" y="442852"/>
                  </a:lnTo>
                  <a:lnTo>
                    <a:pt x="336332" y="465173"/>
                  </a:lnTo>
                  <a:lnTo>
                    <a:pt x="290888" y="479280"/>
                  </a:lnTo>
                  <a:lnTo>
                    <a:pt x="242099" y="484199"/>
                  </a:lnTo>
                  <a:close/>
                </a:path>
              </a:pathLst>
            </a:custGeom>
            <a:solidFill>
              <a:srgbClr val="6EA8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543601" y="1954161"/>
            <a:ext cx="1219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639915" y="2080103"/>
            <a:ext cx="84455" cy="1676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00" spc="-50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5087465" y="1265150"/>
            <a:ext cx="1298575" cy="1360805"/>
            <a:chOff x="5087465" y="1265150"/>
            <a:chExt cx="1298575" cy="1360805"/>
          </a:xfrm>
        </p:grpSpPr>
        <p:sp>
          <p:nvSpPr>
            <p:cNvPr id="36" name="object 36"/>
            <p:cNvSpPr/>
            <p:nvPr/>
          </p:nvSpPr>
          <p:spPr>
            <a:xfrm>
              <a:off x="5573763" y="2141113"/>
              <a:ext cx="730250" cy="474980"/>
            </a:xfrm>
            <a:custGeom>
              <a:avLst/>
              <a:gdLst/>
              <a:ahLst/>
              <a:cxnLst/>
              <a:rect l="l" t="t" r="r" b="b"/>
              <a:pathLst>
                <a:path w="730250" h="474980">
                  <a:moveTo>
                    <a:pt x="0" y="474956"/>
                  </a:moveTo>
                  <a:lnTo>
                    <a:pt x="730073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77162" y="2084443"/>
              <a:ext cx="108674" cy="92569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5571663" y="2061665"/>
              <a:ext cx="713740" cy="15240"/>
            </a:xfrm>
            <a:custGeom>
              <a:avLst/>
              <a:gdLst/>
              <a:ahLst/>
              <a:cxnLst/>
              <a:rect l="l" t="t" r="r" b="b"/>
              <a:pathLst>
                <a:path w="713739" h="15239">
                  <a:moveTo>
                    <a:pt x="0" y="0"/>
                  </a:moveTo>
                  <a:lnTo>
                    <a:pt x="713723" y="14739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75212" y="2035420"/>
              <a:ext cx="106124" cy="81967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5087465" y="1265150"/>
              <a:ext cx="484505" cy="484505"/>
            </a:xfrm>
            <a:custGeom>
              <a:avLst/>
              <a:gdLst/>
              <a:ahLst/>
              <a:cxnLst/>
              <a:rect l="l" t="t" r="r" b="b"/>
              <a:pathLst>
                <a:path w="484504" h="484505">
                  <a:moveTo>
                    <a:pt x="242099" y="484199"/>
                  </a:moveTo>
                  <a:lnTo>
                    <a:pt x="193310" y="479280"/>
                  </a:lnTo>
                  <a:lnTo>
                    <a:pt x="147866" y="465173"/>
                  </a:lnTo>
                  <a:lnTo>
                    <a:pt x="106742" y="442852"/>
                  </a:lnTo>
                  <a:lnTo>
                    <a:pt x="70912" y="413289"/>
                  </a:lnTo>
                  <a:lnTo>
                    <a:pt x="41348" y="377459"/>
                  </a:lnTo>
                  <a:lnTo>
                    <a:pt x="19026" y="336335"/>
                  </a:lnTo>
                  <a:lnTo>
                    <a:pt x="4918" y="290890"/>
                  </a:lnTo>
                  <a:lnTo>
                    <a:pt x="0" y="242099"/>
                  </a:lnTo>
                  <a:lnTo>
                    <a:pt x="4918" y="193308"/>
                  </a:lnTo>
                  <a:lnTo>
                    <a:pt x="19026" y="147863"/>
                  </a:lnTo>
                  <a:lnTo>
                    <a:pt x="41348" y="106739"/>
                  </a:lnTo>
                  <a:lnTo>
                    <a:pt x="70912" y="70909"/>
                  </a:lnTo>
                  <a:lnTo>
                    <a:pt x="106742" y="41346"/>
                  </a:lnTo>
                  <a:lnTo>
                    <a:pt x="147866" y="19025"/>
                  </a:lnTo>
                  <a:lnTo>
                    <a:pt x="193310" y="4918"/>
                  </a:lnTo>
                  <a:lnTo>
                    <a:pt x="242099" y="0"/>
                  </a:lnTo>
                  <a:lnTo>
                    <a:pt x="289559" y="4694"/>
                  </a:lnTo>
                  <a:lnTo>
                    <a:pt x="334758" y="18429"/>
                  </a:lnTo>
                  <a:lnTo>
                    <a:pt x="376427" y="40676"/>
                  </a:lnTo>
                  <a:lnTo>
                    <a:pt x="413299" y="70909"/>
                  </a:lnTo>
                  <a:lnTo>
                    <a:pt x="443530" y="107783"/>
                  </a:lnTo>
                  <a:lnTo>
                    <a:pt x="465774" y="149452"/>
                  </a:lnTo>
                  <a:lnTo>
                    <a:pt x="479505" y="194648"/>
                  </a:lnTo>
                  <a:lnTo>
                    <a:pt x="484199" y="242099"/>
                  </a:lnTo>
                  <a:lnTo>
                    <a:pt x="479281" y="290890"/>
                  </a:lnTo>
                  <a:lnTo>
                    <a:pt x="465176" y="336335"/>
                  </a:lnTo>
                  <a:lnTo>
                    <a:pt x="442856" y="377459"/>
                  </a:lnTo>
                  <a:lnTo>
                    <a:pt x="413296" y="413289"/>
                  </a:lnTo>
                  <a:lnTo>
                    <a:pt x="377467" y="442852"/>
                  </a:lnTo>
                  <a:lnTo>
                    <a:pt x="336342" y="465173"/>
                  </a:lnTo>
                  <a:lnTo>
                    <a:pt x="290895" y="479280"/>
                  </a:lnTo>
                  <a:lnTo>
                    <a:pt x="242099" y="484199"/>
                  </a:lnTo>
                  <a:close/>
                </a:path>
              </a:pathLst>
            </a:custGeom>
            <a:solidFill>
              <a:srgbClr val="8E7C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5206001" y="1382662"/>
            <a:ext cx="231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350" spc="-37" baseline="-33950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350" baseline="-33950">
              <a:latin typeface="Tahoma"/>
              <a:cs typeface="Tahoma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4175841" y="1497724"/>
            <a:ext cx="2210435" cy="863600"/>
            <a:chOff x="4175841" y="1497724"/>
            <a:chExt cx="2210435" cy="863600"/>
          </a:xfrm>
        </p:grpSpPr>
        <p:sp>
          <p:nvSpPr>
            <p:cNvPr id="43" name="object 43"/>
            <p:cNvSpPr/>
            <p:nvPr/>
          </p:nvSpPr>
          <p:spPr>
            <a:xfrm>
              <a:off x="4185366" y="1585391"/>
              <a:ext cx="819150" cy="766445"/>
            </a:xfrm>
            <a:custGeom>
              <a:avLst/>
              <a:gdLst/>
              <a:ahLst/>
              <a:cxnLst/>
              <a:rect l="l" t="t" r="r" b="b"/>
              <a:pathLst>
                <a:path w="819150" h="766444">
                  <a:moveTo>
                    <a:pt x="0" y="766383"/>
                  </a:moveTo>
                  <a:lnTo>
                    <a:pt x="818648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972990" y="1516784"/>
              <a:ext cx="103674" cy="101102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4201566" y="1540744"/>
              <a:ext cx="776605" cy="238125"/>
            </a:xfrm>
            <a:custGeom>
              <a:avLst/>
              <a:gdLst/>
              <a:ahLst/>
              <a:cxnLst/>
              <a:rect l="l" t="t" r="r" b="b"/>
              <a:pathLst>
                <a:path w="776604" h="238125">
                  <a:moveTo>
                    <a:pt x="0" y="238007"/>
                  </a:moveTo>
                  <a:lnTo>
                    <a:pt x="776598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959440" y="1501134"/>
              <a:ext cx="110924" cy="79219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5571663" y="1507249"/>
              <a:ext cx="734060" cy="506730"/>
            </a:xfrm>
            <a:custGeom>
              <a:avLst/>
              <a:gdLst/>
              <a:ahLst/>
              <a:cxnLst/>
              <a:rect l="l" t="t" r="r" b="b"/>
              <a:pathLst>
                <a:path w="734060" h="506730">
                  <a:moveTo>
                    <a:pt x="0" y="0"/>
                  </a:moveTo>
                  <a:lnTo>
                    <a:pt x="733923" y="506571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278187" y="1978400"/>
              <a:ext cx="108074" cy="94052"/>
            </a:xfrm>
            <a:prstGeom prst="rect">
              <a:avLst/>
            </a:prstGeom>
          </p:spPr>
        </p:pic>
      </p:grpSp>
      <p:sp>
        <p:nvSpPr>
          <p:cNvPr id="49" name="object 49"/>
          <p:cNvSpPr txBox="1"/>
          <p:nvPr/>
        </p:nvSpPr>
        <p:spPr>
          <a:xfrm>
            <a:off x="8072011" y="1828043"/>
            <a:ext cx="1117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Arial MT"/>
                <a:cs typeface="Arial MT"/>
              </a:rPr>
              <a:t>1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072011" y="2456692"/>
            <a:ext cx="1117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Arial MT"/>
                <a:cs typeface="Arial MT"/>
              </a:rPr>
              <a:t>1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059311" y="2666241"/>
            <a:ext cx="749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Arial MT"/>
                <a:cs typeface="Arial MT"/>
              </a:rPr>
              <a:t>]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121990" y="1836368"/>
            <a:ext cx="358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Arial MT"/>
                <a:cs typeface="Arial MT"/>
              </a:rPr>
              <a:t>0.05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121990" y="2067135"/>
            <a:ext cx="1049020" cy="207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14"/>
              </a:lnSpc>
              <a:tabLst>
                <a:tab pos="949960" algn="l"/>
              </a:tabLst>
            </a:pPr>
            <a:r>
              <a:rPr sz="1400" spc="-20" dirty="0">
                <a:latin typeface="Arial MT"/>
                <a:cs typeface="Arial MT"/>
              </a:rPr>
              <a:t>0.02</a:t>
            </a:r>
            <a:r>
              <a:rPr sz="1400" dirty="0">
                <a:latin typeface="Arial MT"/>
                <a:cs typeface="Arial MT"/>
              </a:rPr>
              <a:t>	</a:t>
            </a:r>
            <a:r>
              <a:rPr sz="2100" spc="-75" baseline="1984" dirty="0">
                <a:latin typeface="Arial MT"/>
                <a:cs typeface="Arial MT"/>
              </a:rPr>
              <a:t>0</a:t>
            </a:r>
            <a:endParaRPr sz="2100" baseline="1984">
              <a:latin typeface="Arial MT"/>
              <a:cs typeface="Arial M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121990" y="2276685"/>
            <a:ext cx="1049020" cy="207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14"/>
              </a:lnSpc>
              <a:tabLst>
                <a:tab pos="949960" algn="l"/>
              </a:tabLst>
            </a:pPr>
            <a:r>
              <a:rPr sz="1400" spc="-20" dirty="0">
                <a:latin typeface="Arial MT"/>
                <a:cs typeface="Arial MT"/>
              </a:rPr>
              <a:t>0.96</a:t>
            </a:r>
            <a:r>
              <a:rPr sz="1400" dirty="0">
                <a:latin typeface="Arial MT"/>
                <a:cs typeface="Arial MT"/>
              </a:rPr>
              <a:t>	</a:t>
            </a:r>
            <a:r>
              <a:rPr sz="2100" spc="-75" baseline="1984" dirty="0">
                <a:latin typeface="Arial MT"/>
                <a:cs typeface="Arial MT"/>
              </a:rPr>
              <a:t>1</a:t>
            </a:r>
            <a:endParaRPr sz="2100" baseline="1984">
              <a:latin typeface="Arial MT"/>
              <a:cs typeface="Arial M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121990" y="2465016"/>
            <a:ext cx="358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Arial MT"/>
                <a:cs typeface="Arial MT"/>
              </a:rPr>
              <a:t>0.35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109290" y="2674566"/>
            <a:ext cx="749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Arial MT"/>
                <a:cs typeface="Arial MT"/>
              </a:rPr>
              <a:t>]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828065" y="1239418"/>
            <a:ext cx="1637030" cy="62674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85"/>
              </a:spcBef>
              <a:tabLst>
                <a:tab pos="1068705" algn="l"/>
              </a:tabLst>
            </a:pPr>
            <a:r>
              <a:rPr sz="1400" b="1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Predicted</a:t>
            </a:r>
            <a:r>
              <a:rPr sz="1400" b="1" dirty="0">
                <a:latin typeface="Arial"/>
                <a:cs typeface="Arial"/>
              </a:rPr>
              <a:t>	</a:t>
            </a:r>
            <a:r>
              <a:rPr sz="1400" b="1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Actual</a:t>
            </a:r>
            <a:endParaRPr sz="1400">
              <a:latin typeface="Arial"/>
              <a:cs typeface="Arial"/>
            </a:endParaRPr>
          </a:p>
          <a:p>
            <a:pPr marR="41910" algn="ctr">
              <a:lnSpc>
                <a:spcPct val="100000"/>
              </a:lnSpc>
              <a:spcBef>
                <a:spcPts val="685"/>
              </a:spcBef>
              <a:tabLst>
                <a:tab pos="949960" algn="l"/>
              </a:tabLst>
            </a:pPr>
            <a:r>
              <a:rPr sz="1400" spc="-50" dirty="0">
                <a:latin typeface="Arial MT"/>
                <a:cs typeface="Arial MT"/>
              </a:rPr>
              <a:t>[</a:t>
            </a:r>
            <a:r>
              <a:rPr sz="1400" dirty="0">
                <a:latin typeface="Arial MT"/>
                <a:cs typeface="Arial MT"/>
              </a:rPr>
              <a:t>	</a:t>
            </a:r>
            <a:r>
              <a:rPr sz="2100" spc="-75" baseline="1984" dirty="0">
                <a:latin typeface="Arial MT"/>
                <a:cs typeface="Arial MT"/>
              </a:rPr>
              <a:t>[</a:t>
            </a:r>
            <a:endParaRPr sz="2100" baseline="1984">
              <a:latin typeface="Arial MT"/>
              <a:cs typeface="Arial MT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7098660" y="1876278"/>
            <a:ext cx="1208405" cy="796925"/>
            <a:chOff x="7098660" y="1876278"/>
            <a:chExt cx="1208405" cy="796925"/>
          </a:xfrm>
        </p:grpSpPr>
        <p:sp>
          <p:nvSpPr>
            <p:cNvPr id="59" name="object 59"/>
            <p:cNvSpPr/>
            <p:nvPr/>
          </p:nvSpPr>
          <p:spPr>
            <a:xfrm>
              <a:off x="7098660" y="2059303"/>
              <a:ext cx="1208405" cy="202565"/>
            </a:xfrm>
            <a:custGeom>
              <a:avLst/>
              <a:gdLst/>
              <a:ahLst/>
              <a:cxnLst/>
              <a:rect l="l" t="t" r="r" b="b"/>
              <a:pathLst>
                <a:path w="1208404" h="202564">
                  <a:moveTo>
                    <a:pt x="1207797" y="202499"/>
                  </a:moveTo>
                  <a:lnTo>
                    <a:pt x="0" y="202499"/>
                  </a:lnTo>
                  <a:lnTo>
                    <a:pt x="0" y="0"/>
                  </a:lnTo>
                  <a:lnTo>
                    <a:pt x="1207797" y="0"/>
                  </a:lnTo>
                  <a:lnTo>
                    <a:pt x="1207797" y="202499"/>
                  </a:lnTo>
                  <a:close/>
                </a:path>
              </a:pathLst>
            </a:custGeom>
            <a:solidFill>
              <a:srgbClr val="2AED23">
                <a:alpha val="565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098652" y="1876285"/>
              <a:ext cx="1208405" cy="796925"/>
            </a:xfrm>
            <a:custGeom>
              <a:avLst/>
              <a:gdLst/>
              <a:ahLst/>
              <a:cxnLst/>
              <a:rect l="l" t="t" r="r" b="b"/>
              <a:pathLst>
                <a:path w="1208404" h="796925">
                  <a:moveTo>
                    <a:pt x="1207795" y="594220"/>
                  </a:moveTo>
                  <a:lnTo>
                    <a:pt x="0" y="594220"/>
                  </a:lnTo>
                  <a:lnTo>
                    <a:pt x="0" y="796721"/>
                  </a:lnTo>
                  <a:lnTo>
                    <a:pt x="1207795" y="796721"/>
                  </a:lnTo>
                  <a:lnTo>
                    <a:pt x="1207795" y="594220"/>
                  </a:lnTo>
                  <a:close/>
                </a:path>
                <a:path w="1208404" h="796925">
                  <a:moveTo>
                    <a:pt x="1207795" y="0"/>
                  </a:moveTo>
                  <a:lnTo>
                    <a:pt x="0" y="0"/>
                  </a:lnTo>
                  <a:lnTo>
                    <a:pt x="0" y="202501"/>
                  </a:lnTo>
                  <a:lnTo>
                    <a:pt x="1207795" y="202501"/>
                  </a:lnTo>
                  <a:lnTo>
                    <a:pt x="1207795" y="0"/>
                  </a:lnTo>
                  <a:close/>
                </a:path>
              </a:pathLst>
            </a:custGeom>
            <a:solidFill>
              <a:srgbClr val="ED123F">
                <a:alpha val="4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098660" y="2257312"/>
              <a:ext cx="1208405" cy="202565"/>
            </a:xfrm>
            <a:custGeom>
              <a:avLst/>
              <a:gdLst/>
              <a:ahLst/>
              <a:cxnLst/>
              <a:rect l="l" t="t" r="r" b="b"/>
              <a:pathLst>
                <a:path w="1208404" h="202564">
                  <a:moveTo>
                    <a:pt x="1207797" y="202499"/>
                  </a:moveTo>
                  <a:lnTo>
                    <a:pt x="0" y="202499"/>
                  </a:lnTo>
                  <a:lnTo>
                    <a:pt x="0" y="0"/>
                  </a:lnTo>
                  <a:lnTo>
                    <a:pt x="1207797" y="0"/>
                  </a:lnTo>
                  <a:lnTo>
                    <a:pt x="1207797" y="202499"/>
                  </a:lnTo>
                  <a:close/>
                </a:path>
              </a:pathLst>
            </a:custGeom>
            <a:solidFill>
              <a:srgbClr val="2AED23">
                <a:alpha val="565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2471338" y="1245943"/>
            <a:ext cx="725805" cy="166116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46990">
              <a:lnSpc>
                <a:spcPct val="100000"/>
              </a:lnSpc>
              <a:spcBef>
                <a:spcPts val="730"/>
              </a:spcBef>
            </a:pPr>
            <a:r>
              <a:rPr sz="1400" b="1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Input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64"/>
              </a:lnSpc>
              <a:spcBef>
                <a:spcPts val="635"/>
              </a:spcBef>
            </a:pPr>
            <a:r>
              <a:rPr sz="1400" spc="-50" dirty="0">
                <a:latin typeface="Arial MT"/>
                <a:cs typeface="Arial MT"/>
              </a:rPr>
              <a:t>[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ts val="1650"/>
              </a:lnSpc>
            </a:pPr>
            <a:r>
              <a:rPr sz="1400" spc="-10" dirty="0">
                <a:latin typeface="Arial MT"/>
                <a:cs typeface="Arial MT"/>
              </a:rPr>
              <a:t>[-</a:t>
            </a:r>
            <a:r>
              <a:rPr sz="1400" dirty="0">
                <a:latin typeface="Arial MT"/>
                <a:cs typeface="Arial MT"/>
              </a:rPr>
              <a:t>20,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45],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ts val="1650"/>
              </a:lnSpc>
            </a:pPr>
            <a:r>
              <a:rPr sz="1400" dirty="0">
                <a:latin typeface="Arial MT"/>
                <a:cs typeface="Arial MT"/>
              </a:rPr>
              <a:t>[80,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0],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ts val="1650"/>
              </a:lnSpc>
            </a:pPr>
            <a:r>
              <a:rPr sz="1400" dirty="0">
                <a:latin typeface="Arial MT"/>
                <a:cs typeface="Arial MT"/>
              </a:rPr>
              <a:t>[4,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15],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ts val="1650"/>
              </a:lnSpc>
            </a:pPr>
            <a:r>
              <a:rPr sz="1400" dirty="0">
                <a:latin typeface="Arial MT"/>
                <a:cs typeface="Arial MT"/>
              </a:rPr>
              <a:t>[45,</a:t>
            </a:r>
            <a:r>
              <a:rPr sz="1400" spc="-20" dirty="0">
                <a:latin typeface="Arial MT"/>
                <a:cs typeface="Arial MT"/>
              </a:rPr>
              <a:t> 60],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ts val="1664"/>
              </a:lnSpc>
            </a:pPr>
            <a:r>
              <a:rPr sz="1400" spc="-50" dirty="0">
                <a:latin typeface="Arial MT"/>
                <a:cs typeface="Arial MT"/>
              </a:rPr>
              <a:t>]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Mean</a:t>
            </a:r>
            <a:r>
              <a:rPr spc="-100" dirty="0"/>
              <a:t> </a:t>
            </a:r>
            <a:r>
              <a:rPr dirty="0"/>
              <a:t>Squared</a:t>
            </a:r>
            <a:r>
              <a:rPr spc="-95" dirty="0"/>
              <a:t> </a:t>
            </a:r>
            <a:r>
              <a:rPr dirty="0"/>
              <a:t>Error</a:t>
            </a:r>
            <a:r>
              <a:rPr spc="-95" dirty="0"/>
              <a:t> </a:t>
            </a:r>
            <a:r>
              <a:rPr dirty="0"/>
              <a:t>(MSE)</a:t>
            </a:r>
            <a:r>
              <a:rPr spc="-95" dirty="0"/>
              <a:t> </a:t>
            </a:r>
            <a:r>
              <a:rPr spc="-20" dirty="0"/>
              <a:t>Loss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424107" y="3218493"/>
            <a:ext cx="4295775" cy="876300"/>
            <a:chOff x="2424107" y="3218493"/>
            <a:chExt cx="4295775" cy="8763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4107" y="3218493"/>
              <a:ext cx="4295753" cy="87629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745365" y="3964266"/>
              <a:ext cx="1022350" cy="17145"/>
            </a:xfrm>
            <a:custGeom>
              <a:avLst/>
              <a:gdLst/>
              <a:ahLst/>
              <a:cxnLst/>
              <a:rect l="l" t="t" r="r" b="b"/>
              <a:pathLst>
                <a:path w="1022350" h="17145">
                  <a:moveTo>
                    <a:pt x="1022097" y="17099"/>
                  </a:moveTo>
                  <a:lnTo>
                    <a:pt x="0" y="17099"/>
                  </a:lnTo>
                  <a:lnTo>
                    <a:pt x="0" y="0"/>
                  </a:lnTo>
                  <a:lnTo>
                    <a:pt x="1022097" y="0"/>
                  </a:lnTo>
                  <a:lnTo>
                    <a:pt x="1022097" y="17099"/>
                  </a:lnTo>
                  <a:close/>
                </a:path>
              </a:pathLst>
            </a:custGeom>
            <a:solidFill>
              <a:srgbClr val="4985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36637" y="3964266"/>
              <a:ext cx="484505" cy="17145"/>
            </a:xfrm>
            <a:custGeom>
              <a:avLst/>
              <a:gdLst/>
              <a:ahLst/>
              <a:cxnLst/>
              <a:rect l="l" t="t" r="r" b="b"/>
              <a:pathLst>
                <a:path w="484504" h="17145">
                  <a:moveTo>
                    <a:pt x="484199" y="17099"/>
                  </a:moveTo>
                  <a:lnTo>
                    <a:pt x="0" y="17099"/>
                  </a:lnTo>
                  <a:lnTo>
                    <a:pt x="0" y="0"/>
                  </a:lnTo>
                  <a:lnTo>
                    <a:pt x="484199" y="0"/>
                  </a:lnTo>
                  <a:lnTo>
                    <a:pt x="484199" y="17099"/>
                  </a:lnTo>
                  <a:close/>
                </a:path>
              </a:pathLst>
            </a:custGeom>
            <a:solidFill>
              <a:srgbClr val="B35E0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872186" y="4154005"/>
            <a:ext cx="7766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 MT"/>
                <a:cs typeface="Arial MT"/>
              </a:rPr>
              <a:t>Predicted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32837" y="4154005"/>
            <a:ext cx="5194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 MT"/>
                <a:cs typeface="Arial MT"/>
              </a:rPr>
              <a:t>Actual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684967" y="1520451"/>
            <a:ext cx="516890" cy="516890"/>
          </a:xfrm>
          <a:custGeom>
            <a:avLst/>
            <a:gdLst/>
            <a:ahLst/>
            <a:cxnLst/>
            <a:rect l="l" t="t" r="r" b="b"/>
            <a:pathLst>
              <a:path w="516889" h="516889">
                <a:moveTo>
                  <a:pt x="258299" y="516598"/>
                </a:moveTo>
                <a:lnTo>
                  <a:pt x="211871" y="512437"/>
                </a:lnTo>
                <a:lnTo>
                  <a:pt x="168172" y="500439"/>
                </a:lnTo>
                <a:lnTo>
                  <a:pt x="127933" y="481333"/>
                </a:lnTo>
                <a:lnTo>
                  <a:pt x="91882" y="455850"/>
                </a:lnTo>
                <a:lnTo>
                  <a:pt x="60750" y="424718"/>
                </a:lnTo>
                <a:lnTo>
                  <a:pt x="35266" y="388668"/>
                </a:lnTo>
                <a:lnTo>
                  <a:pt x="16160" y="348428"/>
                </a:lnTo>
                <a:lnTo>
                  <a:pt x="4161" y="304729"/>
                </a:lnTo>
                <a:lnTo>
                  <a:pt x="0" y="258299"/>
                </a:lnTo>
                <a:lnTo>
                  <a:pt x="4161" y="211869"/>
                </a:lnTo>
                <a:lnTo>
                  <a:pt x="16160" y="168170"/>
                </a:lnTo>
                <a:lnTo>
                  <a:pt x="35266" y="127930"/>
                </a:lnTo>
                <a:lnTo>
                  <a:pt x="60750" y="91880"/>
                </a:lnTo>
                <a:lnTo>
                  <a:pt x="91882" y="60748"/>
                </a:lnTo>
                <a:lnTo>
                  <a:pt x="127933" y="35265"/>
                </a:lnTo>
                <a:lnTo>
                  <a:pt x="168172" y="16159"/>
                </a:lnTo>
                <a:lnTo>
                  <a:pt x="211871" y="4161"/>
                </a:lnTo>
                <a:lnTo>
                  <a:pt x="258299" y="0"/>
                </a:lnTo>
                <a:lnTo>
                  <a:pt x="308923" y="5009"/>
                </a:lnTo>
                <a:lnTo>
                  <a:pt x="357143" y="19662"/>
                </a:lnTo>
                <a:lnTo>
                  <a:pt x="401603" y="43398"/>
                </a:lnTo>
                <a:lnTo>
                  <a:pt x="440949" y="75654"/>
                </a:lnTo>
                <a:lnTo>
                  <a:pt x="473198" y="114995"/>
                </a:lnTo>
                <a:lnTo>
                  <a:pt x="496933" y="159452"/>
                </a:lnTo>
                <a:lnTo>
                  <a:pt x="511588" y="207672"/>
                </a:lnTo>
                <a:lnTo>
                  <a:pt x="516598" y="258299"/>
                </a:lnTo>
                <a:lnTo>
                  <a:pt x="512437" y="304729"/>
                </a:lnTo>
                <a:lnTo>
                  <a:pt x="500438" y="348428"/>
                </a:lnTo>
                <a:lnTo>
                  <a:pt x="481332" y="388668"/>
                </a:lnTo>
                <a:lnTo>
                  <a:pt x="455848" y="424718"/>
                </a:lnTo>
                <a:lnTo>
                  <a:pt x="424716" y="455850"/>
                </a:lnTo>
                <a:lnTo>
                  <a:pt x="388665" y="481333"/>
                </a:lnTo>
                <a:lnTo>
                  <a:pt x="348426" y="500439"/>
                </a:lnTo>
                <a:lnTo>
                  <a:pt x="304727" y="512437"/>
                </a:lnTo>
                <a:lnTo>
                  <a:pt x="258299" y="516598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808239" y="1654168"/>
            <a:ext cx="21462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701167" y="2109675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5">
                <a:moveTo>
                  <a:pt x="242099" y="484194"/>
                </a:moveTo>
                <a:lnTo>
                  <a:pt x="193303" y="479275"/>
                </a:lnTo>
                <a:lnTo>
                  <a:pt x="147856" y="465169"/>
                </a:lnTo>
                <a:lnTo>
                  <a:pt x="106731" y="442849"/>
                </a:lnTo>
                <a:lnTo>
                  <a:pt x="70902" y="413287"/>
                </a:lnTo>
                <a:lnTo>
                  <a:pt x="41342" y="377458"/>
                </a:lnTo>
                <a:lnTo>
                  <a:pt x="19023" y="336335"/>
                </a:lnTo>
                <a:lnTo>
                  <a:pt x="4917" y="290891"/>
                </a:lnTo>
                <a:lnTo>
                  <a:pt x="0" y="242099"/>
                </a:lnTo>
                <a:lnTo>
                  <a:pt x="4917" y="193308"/>
                </a:lnTo>
                <a:lnTo>
                  <a:pt x="19023" y="147863"/>
                </a:lnTo>
                <a:lnTo>
                  <a:pt x="41342" y="106739"/>
                </a:lnTo>
                <a:lnTo>
                  <a:pt x="70902" y="70909"/>
                </a:lnTo>
                <a:lnTo>
                  <a:pt x="106731" y="41346"/>
                </a:lnTo>
                <a:lnTo>
                  <a:pt x="147856" y="19025"/>
                </a:lnTo>
                <a:lnTo>
                  <a:pt x="193303" y="4918"/>
                </a:lnTo>
                <a:lnTo>
                  <a:pt x="242099" y="0"/>
                </a:lnTo>
                <a:lnTo>
                  <a:pt x="289545" y="4694"/>
                </a:lnTo>
                <a:lnTo>
                  <a:pt x="334736" y="18429"/>
                </a:lnTo>
                <a:lnTo>
                  <a:pt x="376403" y="40676"/>
                </a:lnTo>
                <a:lnTo>
                  <a:pt x="413274" y="70909"/>
                </a:lnTo>
                <a:lnTo>
                  <a:pt x="443509" y="107783"/>
                </a:lnTo>
                <a:lnTo>
                  <a:pt x="465761" y="149452"/>
                </a:lnTo>
                <a:lnTo>
                  <a:pt x="479501" y="194648"/>
                </a:lnTo>
                <a:lnTo>
                  <a:pt x="484199" y="242099"/>
                </a:lnTo>
                <a:lnTo>
                  <a:pt x="479280" y="290891"/>
                </a:lnTo>
                <a:lnTo>
                  <a:pt x="465172" y="336335"/>
                </a:lnTo>
                <a:lnTo>
                  <a:pt x="442850" y="377458"/>
                </a:lnTo>
                <a:lnTo>
                  <a:pt x="413286" y="413287"/>
                </a:lnTo>
                <a:lnTo>
                  <a:pt x="377456" y="442849"/>
                </a:lnTo>
                <a:lnTo>
                  <a:pt x="336332" y="465169"/>
                </a:lnTo>
                <a:lnTo>
                  <a:pt x="290888" y="479275"/>
                </a:lnTo>
                <a:lnTo>
                  <a:pt x="242099" y="484194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819698" y="2227185"/>
            <a:ext cx="21462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089564" y="2373980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5">
                <a:moveTo>
                  <a:pt x="242099" y="484189"/>
                </a:moveTo>
                <a:lnTo>
                  <a:pt x="193303" y="479271"/>
                </a:lnTo>
                <a:lnTo>
                  <a:pt x="147856" y="465166"/>
                </a:lnTo>
                <a:lnTo>
                  <a:pt x="106731" y="442846"/>
                </a:lnTo>
                <a:lnTo>
                  <a:pt x="70902" y="413286"/>
                </a:lnTo>
                <a:lnTo>
                  <a:pt x="41342" y="377457"/>
                </a:lnTo>
                <a:lnTo>
                  <a:pt x="19023" y="336332"/>
                </a:lnTo>
                <a:lnTo>
                  <a:pt x="4917" y="290885"/>
                </a:lnTo>
                <a:lnTo>
                  <a:pt x="0" y="242089"/>
                </a:lnTo>
                <a:lnTo>
                  <a:pt x="4917" y="193301"/>
                </a:lnTo>
                <a:lnTo>
                  <a:pt x="19023" y="147859"/>
                </a:lnTo>
                <a:lnTo>
                  <a:pt x="41342" y="106737"/>
                </a:lnTo>
                <a:lnTo>
                  <a:pt x="70902" y="70908"/>
                </a:lnTo>
                <a:lnTo>
                  <a:pt x="106731" y="41346"/>
                </a:lnTo>
                <a:lnTo>
                  <a:pt x="147856" y="19025"/>
                </a:lnTo>
                <a:lnTo>
                  <a:pt x="193303" y="4918"/>
                </a:lnTo>
                <a:lnTo>
                  <a:pt x="242099" y="0"/>
                </a:lnTo>
                <a:lnTo>
                  <a:pt x="289545" y="4694"/>
                </a:lnTo>
                <a:lnTo>
                  <a:pt x="334736" y="18429"/>
                </a:lnTo>
                <a:lnTo>
                  <a:pt x="376403" y="40676"/>
                </a:lnTo>
                <a:lnTo>
                  <a:pt x="413274" y="70909"/>
                </a:lnTo>
                <a:lnTo>
                  <a:pt x="443509" y="107782"/>
                </a:lnTo>
                <a:lnTo>
                  <a:pt x="465761" y="149450"/>
                </a:lnTo>
                <a:lnTo>
                  <a:pt x="479501" y="194643"/>
                </a:lnTo>
                <a:lnTo>
                  <a:pt x="484199" y="242089"/>
                </a:lnTo>
                <a:lnTo>
                  <a:pt x="479280" y="290885"/>
                </a:lnTo>
                <a:lnTo>
                  <a:pt x="465172" y="336332"/>
                </a:lnTo>
                <a:lnTo>
                  <a:pt x="442850" y="377457"/>
                </a:lnTo>
                <a:lnTo>
                  <a:pt x="413286" y="413286"/>
                </a:lnTo>
                <a:lnTo>
                  <a:pt x="377456" y="442846"/>
                </a:lnTo>
                <a:lnTo>
                  <a:pt x="336332" y="465166"/>
                </a:lnTo>
                <a:lnTo>
                  <a:pt x="290888" y="479271"/>
                </a:lnTo>
                <a:lnTo>
                  <a:pt x="242099" y="484189"/>
                </a:lnTo>
                <a:close/>
              </a:path>
            </a:pathLst>
          </a:custGeom>
          <a:solidFill>
            <a:srgbClr val="8E7C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208097" y="2491494"/>
            <a:ext cx="231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1350" baseline="-30864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175841" y="1769226"/>
            <a:ext cx="1396365" cy="854710"/>
            <a:chOff x="4175841" y="1769226"/>
            <a:chExt cx="1396365" cy="854710"/>
          </a:xfrm>
        </p:grpSpPr>
        <p:sp>
          <p:nvSpPr>
            <p:cNvPr id="16" name="object 16"/>
            <p:cNvSpPr/>
            <p:nvPr/>
          </p:nvSpPr>
          <p:spPr>
            <a:xfrm>
              <a:off x="4201566" y="1778751"/>
              <a:ext cx="805180" cy="759460"/>
            </a:xfrm>
            <a:custGeom>
              <a:avLst/>
              <a:gdLst/>
              <a:ahLst/>
              <a:cxnLst/>
              <a:rect l="l" t="t" r="r" b="b"/>
              <a:pathLst>
                <a:path w="805179" h="759460">
                  <a:moveTo>
                    <a:pt x="0" y="0"/>
                  </a:moveTo>
                  <a:lnTo>
                    <a:pt x="804823" y="758893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75290" y="2505220"/>
              <a:ext cx="103524" cy="10124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185366" y="2351775"/>
              <a:ext cx="795020" cy="232410"/>
            </a:xfrm>
            <a:custGeom>
              <a:avLst/>
              <a:gdLst/>
              <a:ahLst/>
              <a:cxnLst/>
              <a:rect l="l" t="t" r="r" b="b"/>
              <a:pathLst>
                <a:path w="795020" h="232410">
                  <a:moveTo>
                    <a:pt x="0" y="0"/>
                  </a:moveTo>
                  <a:lnTo>
                    <a:pt x="794473" y="232244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61490" y="2544269"/>
              <a:ext cx="110874" cy="7947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087464" y="1819566"/>
              <a:ext cx="484505" cy="484505"/>
            </a:xfrm>
            <a:custGeom>
              <a:avLst/>
              <a:gdLst/>
              <a:ahLst/>
              <a:cxnLst/>
              <a:rect l="l" t="t" r="r" b="b"/>
              <a:pathLst>
                <a:path w="484504" h="484505">
                  <a:moveTo>
                    <a:pt x="242099" y="484199"/>
                  </a:moveTo>
                  <a:lnTo>
                    <a:pt x="193310" y="479280"/>
                  </a:lnTo>
                  <a:lnTo>
                    <a:pt x="147866" y="465173"/>
                  </a:lnTo>
                  <a:lnTo>
                    <a:pt x="106742" y="442852"/>
                  </a:lnTo>
                  <a:lnTo>
                    <a:pt x="70912" y="413289"/>
                  </a:lnTo>
                  <a:lnTo>
                    <a:pt x="41348" y="377459"/>
                  </a:lnTo>
                  <a:lnTo>
                    <a:pt x="19026" y="336335"/>
                  </a:lnTo>
                  <a:lnTo>
                    <a:pt x="4918" y="290890"/>
                  </a:lnTo>
                  <a:lnTo>
                    <a:pt x="0" y="242099"/>
                  </a:lnTo>
                  <a:lnTo>
                    <a:pt x="4918" y="193308"/>
                  </a:lnTo>
                  <a:lnTo>
                    <a:pt x="19026" y="147863"/>
                  </a:lnTo>
                  <a:lnTo>
                    <a:pt x="41348" y="106739"/>
                  </a:lnTo>
                  <a:lnTo>
                    <a:pt x="70912" y="70909"/>
                  </a:lnTo>
                  <a:lnTo>
                    <a:pt x="106742" y="41346"/>
                  </a:lnTo>
                  <a:lnTo>
                    <a:pt x="147866" y="19025"/>
                  </a:lnTo>
                  <a:lnTo>
                    <a:pt x="193310" y="4918"/>
                  </a:lnTo>
                  <a:lnTo>
                    <a:pt x="242099" y="0"/>
                  </a:lnTo>
                  <a:lnTo>
                    <a:pt x="289559" y="4694"/>
                  </a:lnTo>
                  <a:lnTo>
                    <a:pt x="334758" y="18429"/>
                  </a:lnTo>
                  <a:lnTo>
                    <a:pt x="376427" y="40676"/>
                  </a:lnTo>
                  <a:lnTo>
                    <a:pt x="413299" y="70909"/>
                  </a:lnTo>
                  <a:lnTo>
                    <a:pt x="443530" y="107782"/>
                  </a:lnTo>
                  <a:lnTo>
                    <a:pt x="465774" y="149451"/>
                  </a:lnTo>
                  <a:lnTo>
                    <a:pt x="479505" y="194647"/>
                  </a:lnTo>
                  <a:lnTo>
                    <a:pt x="484199" y="242099"/>
                  </a:lnTo>
                  <a:lnTo>
                    <a:pt x="479281" y="290890"/>
                  </a:lnTo>
                  <a:lnTo>
                    <a:pt x="465176" y="336335"/>
                  </a:lnTo>
                  <a:lnTo>
                    <a:pt x="442856" y="377459"/>
                  </a:lnTo>
                  <a:lnTo>
                    <a:pt x="413296" y="413289"/>
                  </a:lnTo>
                  <a:lnTo>
                    <a:pt x="377467" y="442852"/>
                  </a:lnTo>
                  <a:lnTo>
                    <a:pt x="336342" y="465173"/>
                  </a:lnTo>
                  <a:lnTo>
                    <a:pt x="290895" y="479280"/>
                  </a:lnTo>
                  <a:lnTo>
                    <a:pt x="242099" y="484199"/>
                  </a:lnTo>
                  <a:close/>
                </a:path>
              </a:pathLst>
            </a:custGeom>
            <a:solidFill>
              <a:srgbClr val="8E7C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231401" y="1937074"/>
            <a:ext cx="122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328071" y="2063015"/>
            <a:ext cx="84455" cy="1676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175841" y="1769226"/>
            <a:ext cx="2708275" cy="592455"/>
            <a:chOff x="4175841" y="1769226"/>
            <a:chExt cx="2708275" cy="592455"/>
          </a:xfrm>
        </p:grpSpPr>
        <p:sp>
          <p:nvSpPr>
            <p:cNvPr id="24" name="object 24"/>
            <p:cNvSpPr/>
            <p:nvPr/>
          </p:nvSpPr>
          <p:spPr>
            <a:xfrm>
              <a:off x="4185366" y="2096668"/>
              <a:ext cx="793750" cy="255270"/>
            </a:xfrm>
            <a:custGeom>
              <a:avLst/>
              <a:gdLst/>
              <a:ahLst/>
              <a:cxnLst/>
              <a:rect l="l" t="t" r="r" b="b"/>
              <a:pathLst>
                <a:path w="793750" h="255269">
                  <a:moveTo>
                    <a:pt x="0" y="255106"/>
                  </a:moveTo>
                  <a:lnTo>
                    <a:pt x="793273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59490" y="2057188"/>
              <a:ext cx="110974" cy="7895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4201566" y="1778751"/>
              <a:ext cx="777240" cy="248285"/>
            </a:xfrm>
            <a:custGeom>
              <a:avLst/>
              <a:gdLst/>
              <a:ahLst/>
              <a:cxnLst/>
              <a:rect l="l" t="t" r="r" b="b"/>
              <a:pathLst>
                <a:path w="777239" h="248285">
                  <a:moveTo>
                    <a:pt x="0" y="0"/>
                  </a:moveTo>
                  <a:lnTo>
                    <a:pt x="776998" y="248129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59490" y="1987381"/>
              <a:ext cx="110974" cy="78999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6399662" y="1836648"/>
              <a:ext cx="484505" cy="484505"/>
            </a:xfrm>
            <a:custGeom>
              <a:avLst/>
              <a:gdLst/>
              <a:ahLst/>
              <a:cxnLst/>
              <a:rect l="l" t="t" r="r" b="b"/>
              <a:pathLst>
                <a:path w="484504" h="484505">
                  <a:moveTo>
                    <a:pt x="242099" y="484199"/>
                  </a:moveTo>
                  <a:lnTo>
                    <a:pt x="193310" y="479280"/>
                  </a:lnTo>
                  <a:lnTo>
                    <a:pt x="147866" y="465173"/>
                  </a:lnTo>
                  <a:lnTo>
                    <a:pt x="106742" y="442852"/>
                  </a:lnTo>
                  <a:lnTo>
                    <a:pt x="70912" y="413289"/>
                  </a:lnTo>
                  <a:lnTo>
                    <a:pt x="41348" y="377459"/>
                  </a:lnTo>
                  <a:lnTo>
                    <a:pt x="19026" y="336335"/>
                  </a:lnTo>
                  <a:lnTo>
                    <a:pt x="4918" y="290890"/>
                  </a:lnTo>
                  <a:lnTo>
                    <a:pt x="0" y="242099"/>
                  </a:lnTo>
                  <a:lnTo>
                    <a:pt x="4918" y="193308"/>
                  </a:lnTo>
                  <a:lnTo>
                    <a:pt x="19026" y="147863"/>
                  </a:lnTo>
                  <a:lnTo>
                    <a:pt x="41348" y="106739"/>
                  </a:lnTo>
                  <a:lnTo>
                    <a:pt x="70912" y="70909"/>
                  </a:lnTo>
                  <a:lnTo>
                    <a:pt x="106742" y="41346"/>
                  </a:lnTo>
                  <a:lnTo>
                    <a:pt x="147866" y="19025"/>
                  </a:lnTo>
                  <a:lnTo>
                    <a:pt x="193310" y="4918"/>
                  </a:lnTo>
                  <a:lnTo>
                    <a:pt x="242099" y="0"/>
                  </a:lnTo>
                  <a:lnTo>
                    <a:pt x="289559" y="4694"/>
                  </a:lnTo>
                  <a:lnTo>
                    <a:pt x="334758" y="18429"/>
                  </a:lnTo>
                  <a:lnTo>
                    <a:pt x="376427" y="40676"/>
                  </a:lnTo>
                  <a:lnTo>
                    <a:pt x="413299" y="70909"/>
                  </a:lnTo>
                  <a:lnTo>
                    <a:pt x="443530" y="107783"/>
                  </a:lnTo>
                  <a:lnTo>
                    <a:pt x="465774" y="149452"/>
                  </a:lnTo>
                  <a:lnTo>
                    <a:pt x="479505" y="194648"/>
                  </a:lnTo>
                  <a:lnTo>
                    <a:pt x="484199" y="242099"/>
                  </a:lnTo>
                  <a:lnTo>
                    <a:pt x="479280" y="290890"/>
                  </a:lnTo>
                  <a:lnTo>
                    <a:pt x="465172" y="336335"/>
                  </a:lnTo>
                  <a:lnTo>
                    <a:pt x="442850" y="377459"/>
                  </a:lnTo>
                  <a:lnTo>
                    <a:pt x="413286" y="413289"/>
                  </a:lnTo>
                  <a:lnTo>
                    <a:pt x="377456" y="442852"/>
                  </a:lnTo>
                  <a:lnTo>
                    <a:pt x="336332" y="465173"/>
                  </a:lnTo>
                  <a:lnTo>
                    <a:pt x="290888" y="479280"/>
                  </a:lnTo>
                  <a:lnTo>
                    <a:pt x="242099" y="484199"/>
                  </a:lnTo>
                  <a:close/>
                </a:path>
              </a:pathLst>
            </a:custGeom>
            <a:solidFill>
              <a:srgbClr val="6EA8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543601" y="1954161"/>
            <a:ext cx="1219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639915" y="2080103"/>
            <a:ext cx="84455" cy="1676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00" spc="-50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087465" y="1265150"/>
            <a:ext cx="1298575" cy="1360805"/>
            <a:chOff x="5087465" y="1265150"/>
            <a:chExt cx="1298575" cy="1360805"/>
          </a:xfrm>
        </p:grpSpPr>
        <p:sp>
          <p:nvSpPr>
            <p:cNvPr id="32" name="object 32"/>
            <p:cNvSpPr/>
            <p:nvPr/>
          </p:nvSpPr>
          <p:spPr>
            <a:xfrm>
              <a:off x="5573763" y="2141113"/>
              <a:ext cx="730250" cy="474980"/>
            </a:xfrm>
            <a:custGeom>
              <a:avLst/>
              <a:gdLst/>
              <a:ahLst/>
              <a:cxnLst/>
              <a:rect l="l" t="t" r="r" b="b"/>
              <a:pathLst>
                <a:path w="730250" h="474980">
                  <a:moveTo>
                    <a:pt x="0" y="474956"/>
                  </a:moveTo>
                  <a:lnTo>
                    <a:pt x="730073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77162" y="2084443"/>
              <a:ext cx="108674" cy="92569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5571663" y="2061665"/>
              <a:ext cx="713740" cy="15240"/>
            </a:xfrm>
            <a:custGeom>
              <a:avLst/>
              <a:gdLst/>
              <a:ahLst/>
              <a:cxnLst/>
              <a:rect l="l" t="t" r="r" b="b"/>
              <a:pathLst>
                <a:path w="713739" h="15239">
                  <a:moveTo>
                    <a:pt x="0" y="0"/>
                  </a:moveTo>
                  <a:lnTo>
                    <a:pt x="713723" y="14739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75212" y="2035420"/>
              <a:ext cx="106124" cy="81967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5087465" y="1265150"/>
              <a:ext cx="484505" cy="484505"/>
            </a:xfrm>
            <a:custGeom>
              <a:avLst/>
              <a:gdLst/>
              <a:ahLst/>
              <a:cxnLst/>
              <a:rect l="l" t="t" r="r" b="b"/>
              <a:pathLst>
                <a:path w="484504" h="484505">
                  <a:moveTo>
                    <a:pt x="242099" y="484199"/>
                  </a:moveTo>
                  <a:lnTo>
                    <a:pt x="193310" y="479280"/>
                  </a:lnTo>
                  <a:lnTo>
                    <a:pt x="147866" y="465173"/>
                  </a:lnTo>
                  <a:lnTo>
                    <a:pt x="106742" y="442852"/>
                  </a:lnTo>
                  <a:lnTo>
                    <a:pt x="70912" y="413289"/>
                  </a:lnTo>
                  <a:lnTo>
                    <a:pt x="41348" y="377459"/>
                  </a:lnTo>
                  <a:lnTo>
                    <a:pt x="19026" y="336335"/>
                  </a:lnTo>
                  <a:lnTo>
                    <a:pt x="4918" y="290890"/>
                  </a:lnTo>
                  <a:lnTo>
                    <a:pt x="0" y="242099"/>
                  </a:lnTo>
                  <a:lnTo>
                    <a:pt x="4918" y="193308"/>
                  </a:lnTo>
                  <a:lnTo>
                    <a:pt x="19026" y="147863"/>
                  </a:lnTo>
                  <a:lnTo>
                    <a:pt x="41348" y="106739"/>
                  </a:lnTo>
                  <a:lnTo>
                    <a:pt x="70912" y="70909"/>
                  </a:lnTo>
                  <a:lnTo>
                    <a:pt x="106742" y="41346"/>
                  </a:lnTo>
                  <a:lnTo>
                    <a:pt x="147866" y="19025"/>
                  </a:lnTo>
                  <a:lnTo>
                    <a:pt x="193310" y="4918"/>
                  </a:lnTo>
                  <a:lnTo>
                    <a:pt x="242099" y="0"/>
                  </a:lnTo>
                  <a:lnTo>
                    <a:pt x="289559" y="4694"/>
                  </a:lnTo>
                  <a:lnTo>
                    <a:pt x="334758" y="18429"/>
                  </a:lnTo>
                  <a:lnTo>
                    <a:pt x="376427" y="40676"/>
                  </a:lnTo>
                  <a:lnTo>
                    <a:pt x="413299" y="70909"/>
                  </a:lnTo>
                  <a:lnTo>
                    <a:pt x="443530" y="107783"/>
                  </a:lnTo>
                  <a:lnTo>
                    <a:pt x="465774" y="149452"/>
                  </a:lnTo>
                  <a:lnTo>
                    <a:pt x="479505" y="194648"/>
                  </a:lnTo>
                  <a:lnTo>
                    <a:pt x="484199" y="242099"/>
                  </a:lnTo>
                  <a:lnTo>
                    <a:pt x="479281" y="290890"/>
                  </a:lnTo>
                  <a:lnTo>
                    <a:pt x="465176" y="336335"/>
                  </a:lnTo>
                  <a:lnTo>
                    <a:pt x="442856" y="377459"/>
                  </a:lnTo>
                  <a:lnTo>
                    <a:pt x="413296" y="413289"/>
                  </a:lnTo>
                  <a:lnTo>
                    <a:pt x="377467" y="442852"/>
                  </a:lnTo>
                  <a:lnTo>
                    <a:pt x="336342" y="465173"/>
                  </a:lnTo>
                  <a:lnTo>
                    <a:pt x="290895" y="479280"/>
                  </a:lnTo>
                  <a:lnTo>
                    <a:pt x="242099" y="484199"/>
                  </a:lnTo>
                  <a:close/>
                </a:path>
              </a:pathLst>
            </a:custGeom>
            <a:solidFill>
              <a:srgbClr val="8E7C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5206001" y="1382662"/>
            <a:ext cx="231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350" spc="-37" baseline="-33950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350" baseline="-33950">
              <a:latin typeface="Tahoma"/>
              <a:cs typeface="Tahoma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175841" y="1497724"/>
            <a:ext cx="2210435" cy="863600"/>
            <a:chOff x="4175841" y="1497724"/>
            <a:chExt cx="2210435" cy="863600"/>
          </a:xfrm>
        </p:grpSpPr>
        <p:sp>
          <p:nvSpPr>
            <p:cNvPr id="39" name="object 39"/>
            <p:cNvSpPr/>
            <p:nvPr/>
          </p:nvSpPr>
          <p:spPr>
            <a:xfrm>
              <a:off x="4185366" y="1585391"/>
              <a:ext cx="819150" cy="766445"/>
            </a:xfrm>
            <a:custGeom>
              <a:avLst/>
              <a:gdLst/>
              <a:ahLst/>
              <a:cxnLst/>
              <a:rect l="l" t="t" r="r" b="b"/>
              <a:pathLst>
                <a:path w="819150" h="766444">
                  <a:moveTo>
                    <a:pt x="0" y="766383"/>
                  </a:moveTo>
                  <a:lnTo>
                    <a:pt x="818648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972990" y="1516784"/>
              <a:ext cx="103674" cy="101102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4201566" y="1540744"/>
              <a:ext cx="776605" cy="238125"/>
            </a:xfrm>
            <a:custGeom>
              <a:avLst/>
              <a:gdLst/>
              <a:ahLst/>
              <a:cxnLst/>
              <a:rect l="l" t="t" r="r" b="b"/>
              <a:pathLst>
                <a:path w="776604" h="238125">
                  <a:moveTo>
                    <a:pt x="0" y="238007"/>
                  </a:moveTo>
                  <a:lnTo>
                    <a:pt x="776598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959440" y="1501134"/>
              <a:ext cx="110924" cy="79219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5571663" y="1507249"/>
              <a:ext cx="734060" cy="506730"/>
            </a:xfrm>
            <a:custGeom>
              <a:avLst/>
              <a:gdLst/>
              <a:ahLst/>
              <a:cxnLst/>
              <a:rect l="l" t="t" r="r" b="b"/>
              <a:pathLst>
                <a:path w="734060" h="506730">
                  <a:moveTo>
                    <a:pt x="0" y="0"/>
                  </a:moveTo>
                  <a:lnTo>
                    <a:pt x="733923" y="506571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278187" y="1978400"/>
              <a:ext cx="108074" cy="94052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8072011" y="1828043"/>
            <a:ext cx="2108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 MT"/>
                <a:cs typeface="Arial MT"/>
              </a:rPr>
              <a:t>40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072011" y="2456692"/>
            <a:ext cx="2108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 MT"/>
                <a:cs typeface="Arial MT"/>
              </a:rPr>
              <a:t>55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059311" y="2666241"/>
            <a:ext cx="749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Arial MT"/>
                <a:cs typeface="Arial MT"/>
              </a:rPr>
              <a:t>]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121990" y="1836368"/>
            <a:ext cx="2108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 MT"/>
                <a:cs typeface="Arial MT"/>
              </a:rPr>
              <a:t>10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121990" y="2067135"/>
            <a:ext cx="1148080" cy="207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14"/>
              </a:lnSpc>
              <a:tabLst>
                <a:tab pos="949960" algn="l"/>
              </a:tabLst>
            </a:pPr>
            <a:r>
              <a:rPr sz="1400" spc="-25" dirty="0">
                <a:latin typeface="Arial MT"/>
                <a:cs typeface="Arial MT"/>
              </a:rPr>
              <a:t>45</a:t>
            </a:r>
            <a:r>
              <a:rPr sz="1400" dirty="0">
                <a:latin typeface="Arial MT"/>
                <a:cs typeface="Arial MT"/>
              </a:rPr>
              <a:t>	</a:t>
            </a:r>
            <a:r>
              <a:rPr sz="2100" spc="-37" baseline="1984" dirty="0">
                <a:latin typeface="Arial MT"/>
                <a:cs typeface="Arial MT"/>
              </a:rPr>
              <a:t>42</a:t>
            </a:r>
            <a:endParaRPr sz="2100" baseline="1984">
              <a:latin typeface="Arial MT"/>
              <a:cs typeface="Arial MT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121990" y="2276685"/>
            <a:ext cx="1247140" cy="207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14"/>
              </a:lnSpc>
              <a:tabLst>
                <a:tab pos="949960" algn="l"/>
              </a:tabLst>
            </a:pPr>
            <a:r>
              <a:rPr sz="1400" spc="-25" dirty="0">
                <a:latin typeface="Arial MT"/>
                <a:cs typeface="Arial MT"/>
              </a:rPr>
              <a:t>100</a:t>
            </a:r>
            <a:r>
              <a:rPr sz="1400" dirty="0">
                <a:latin typeface="Arial MT"/>
                <a:cs typeface="Arial MT"/>
              </a:rPr>
              <a:t>	</a:t>
            </a:r>
            <a:r>
              <a:rPr sz="2100" spc="-37" baseline="1984" dirty="0">
                <a:latin typeface="Arial MT"/>
                <a:cs typeface="Arial MT"/>
              </a:rPr>
              <a:t>110</a:t>
            </a:r>
            <a:endParaRPr sz="2100" baseline="1984">
              <a:latin typeface="Arial MT"/>
              <a:cs typeface="Arial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121990" y="2465016"/>
            <a:ext cx="2108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 MT"/>
                <a:cs typeface="Arial MT"/>
              </a:rPr>
              <a:t>15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109290" y="2674566"/>
            <a:ext cx="749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Arial MT"/>
                <a:cs typeface="Arial MT"/>
              </a:rPr>
              <a:t>]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828065" y="1239418"/>
            <a:ext cx="1637030" cy="62674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85"/>
              </a:spcBef>
              <a:tabLst>
                <a:tab pos="1068705" algn="l"/>
              </a:tabLst>
            </a:pPr>
            <a:r>
              <a:rPr sz="1400" b="1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Predicted</a:t>
            </a:r>
            <a:r>
              <a:rPr sz="1400" b="1" dirty="0">
                <a:latin typeface="Arial"/>
                <a:cs typeface="Arial"/>
              </a:rPr>
              <a:t>	</a:t>
            </a:r>
            <a:r>
              <a:rPr sz="1400" b="1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Actual</a:t>
            </a:r>
            <a:endParaRPr sz="1400">
              <a:latin typeface="Arial"/>
              <a:cs typeface="Arial"/>
            </a:endParaRPr>
          </a:p>
          <a:p>
            <a:pPr marR="41910" algn="ctr">
              <a:lnSpc>
                <a:spcPct val="100000"/>
              </a:lnSpc>
              <a:spcBef>
                <a:spcPts val="685"/>
              </a:spcBef>
              <a:tabLst>
                <a:tab pos="949960" algn="l"/>
              </a:tabLst>
            </a:pPr>
            <a:r>
              <a:rPr sz="1400" spc="-50" dirty="0">
                <a:latin typeface="Arial MT"/>
                <a:cs typeface="Arial MT"/>
              </a:rPr>
              <a:t>[</a:t>
            </a:r>
            <a:r>
              <a:rPr sz="1400" dirty="0">
                <a:latin typeface="Arial MT"/>
                <a:cs typeface="Arial MT"/>
              </a:rPr>
              <a:t>	</a:t>
            </a:r>
            <a:r>
              <a:rPr sz="2100" spc="-75" baseline="1984" dirty="0">
                <a:latin typeface="Arial MT"/>
                <a:cs typeface="Arial MT"/>
              </a:rPr>
              <a:t>[</a:t>
            </a:r>
            <a:endParaRPr sz="2100" baseline="1984">
              <a:latin typeface="Arial MT"/>
              <a:cs typeface="Arial MT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7098660" y="1876271"/>
            <a:ext cx="1332865" cy="796925"/>
            <a:chOff x="7098660" y="1876271"/>
            <a:chExt cx="1332865" cy="796925"/>
          </a:xfrm>
        </p:grpSpPr>
        <p:sp>
          <p:nvSpPr>
            <p:cNvPr id="55" name="object 55"/>
            <p:cNvSpPr/>
            <p:nvPr/>
          </p:nvSpPr>
          <p:spPr>
            <a:xfrm>
              <a:off x="7098660" y="2059295"/>
              <a:ext cx="1332865" cy="202565"/>
            </a:xfrm>
            <a:custGeom>
              <a:avLst/>
              <a:gdLst/>
              <a:ahLst/>
              <a:cxnLst/>
              <a:rect l="l" t="t" r="r" b="b"/>
              <a:pathLst>
                <a:path w="1332865" h="202564">
                  <a:moveTo>
                    <a:pt x="1332597" y="202499"/>
                  </a:moveTo>
                  <a:lnTo>
                    <a:pt x="0" y="202499"/>
                  </a:lnTo>
                  <a:lnTo>
                    <a:pt x="0" y="0"/>
                  </a:lnTo>
                  <a:lnTo>
                    <a:pt x="1332597" y="0"/>
                  </a:lnTo>
                  <a:lnTo>
                    <a:pt x="1332597" y="202499"/>
                  </a:lnTo>
                  <a:close/>
                </a:path>
              </a:pathLst>
            </a:custGeom>
            <a:solidFill>
              <a:srgbClr val="2AED23">
                <a:alpha val="565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098652" y="1876272"/>
              <a:ext cx="1332865" cy="796925"/>
            </a:xfrm>
            <a:custGeom>
              <a:avLst/>
              <a:gdLst/>
              <a:ahLst/>
              <a:cxnLst/>
              <a:rect l="l" t="t" r="r" b="b"/>
              <a:pathLst>
                <a:path w="1332865" h="796925">
                  <a:moveTo>
                    <a:pt x="1332598" y="594233"/>
                  </a:moveTo>
                  <a:lnTo>
                    <a:pt x="0" y="594233"/>
                  </a:lnTo>
                  <a:lnTo>
                    <a:pt x="0" y="796734"/>
                  </a:lnTo>
                  <a:lnTo>
                    <a:pt x="1332598" y="796734"/>
                  </a:lnTo>
                  <a:lnTo>
                    <a:pt x="1332598" y="594233"/>
                  </a:lnTo>
                  <a:close/>
                </a:path>
                <a:path w="1332865" h="796925">
                  <a:moveTo>
                    <a:pt x="1332598" y="0"/>
                  </a:moveTo>
                  <a:lnTo>
                    <a:pt x="0" y="0"/>
                  </a:lnTo>
                  <a:lnTo>
                    <a:pt x="0" y="202501"/>
                  </a:lnTo>
                  <a:lnTo>
                    <a:pt x="1332598" y="202501"/>
                  </a:lnTo>
                  <a:lnTo>
                    <a:pt x="1332598" y="0"/>
                  </a:lnTo>
                  <a:close/>
                </a:path>
              </a:pathLst>
            </a:custGeom>
            <a:solidFill>
              <a:srgbClr val="ED123F">
                <a:alpha val="4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098660" y="2257305"/>
              <a:ext cx="1332865" cy="202565"/>
            </a:xfrm>
            <a:custGeom>
              <a:avLst/>
              <a:gdLst/>
              <a:ahLst/>
              <a:cxnLst/>
              <a:rect l="l" t="t" r="r" b="b"/>
              <a:pathLst>
                <a:path w="1332865" h="202564">
                  <a:moveTo>
                    <a:pt x="1332597" y="202499"/>
                  </a:moveTo>
                  <a:lnTo>
                    <a:pt x="0" y="202499"/>
                  </a:lnTo>
                  <a:lnTo>
                    <a:pt x="0" y="0"/>
                  </a:lnTo>
                  <a:lnTo>
                    <a:pt x="1332597" y="0"/>
                  </a:lnTo>
                  <a:lnTo>
                    <a:pt x="1332597" y="202499"/>
                  </a:lnTo>
                  <a:close/>
                </a:path>
              </a:pathLst>
            </a:custGeom>
            <a:solidFill>
              <a:srgbClr val="2AED23">
                <a:alpha val="565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2471338" y="1245943"/>
            <a:ext cx="725805" cy="166116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46990">
              <a:lnSpc>
                <a:spcPct val="100000"/>
              </a:lnSpc>
              <a:spcBef>
                <a:spcPts val="730"/>
              </a:spcBef>
            </a:pPr>
            <a:r>
              <a:rPr sz="1400" b="1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Input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64"/>
              </a:lnSpc>
              <a:spcBef>
                <a:spcPts val="635"/>
              </a:spcBef>
            </a:pPr>
            <a:r>
              <a:rPr sz="1400" spc="-50" dirty="0">
                <a:latin typeface="Arial MT"/>
                <a:cs typeface="Arial MT"/>
              </a:rPr>
              <a:t>[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ts val="1650"/>
              </a:lnSpc>
            </a:pPr>
            <a:r>
              <a:rPr sz="1400" spc="-10" dirty="0">
                <a:latin typeface="Arial MT"/>
                <a:cs typeface="Arial MT"/>
              </a:rPr>
              <a:t>[-</a:t>
            </a:r>
            <a:r>
              <a:rPr sz="1400" dirty="0">
                <a:latin typeface="Arial MT"/>
                <a:cs typeface="Arial MT"/>
              </a:rPr>
              <a:t>20,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45],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ts val="1650"/>
              </a:lnSpc>
            </a:pPr>
            <a:r>
              <a:rPr sz="1400" dirty="0">
                <a:latin typeface="Arial MT"/>
                <a:cs typeface="Arial MT"/>
              </a:rPr>
              <a:t>[80,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0],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ts val="1650"/>
              </a:lnSpc>
            </a:pPr>
            <a:r>
              <a:rPr sz="1400" dirty="0">
                <a:latin typeface="Arial MT"/>
                <a:cs typeface="Arial MT"/>
              </a:rPr>
              <a:t>[4,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15],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ts val="1650"/>
              </a:lnSpc>
            </a:pPr>
            <a:r>
              <a:rPr sz="1400" dirty="0">
                <a:latin typeface="Arial MT"/>
                <a:cs typeface="Arial MT"/>
              </a:rPr>
              <a:t>[45,</a:t>
            </a:r>
            <a:r>
              <a:rPr sz="1400" spc="-20" dirty="0">
                <a:latin typeface="Arial MT"/>
                <a:cs typeface="Arial MT"/>
              </a:rPr>
              <a:t> 60],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ts val="1664"/>
              </a:lnSpc>
            </a:pPr>
            <a:r>
              <a:rPr sz="1400" spc="-50" dirty="0">
                <a:latin typeface="Arial MT"/>
                <a:cs typeface="Arial MT"/>
              </a:rPr>
              <a:t>]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3319" y="2142836"/>
            <a:ext cx="41154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Roboto"/>
                <a:cs typeface="Roboto"/>
              </a:rPr>
              <a:t>Training</a:t>
            </a:r>
            <a:r>
              <a:rPr b="1" spc="15" dirty="0">
                <a:latin typeface="Roboto"/>
                <a:cs typeface="Roboto"/>
              </a:rPr>
              <a:t> </a:t>
            </a:r>
            <a:r>
              <a:rPr b="1" dirty="0">
                <a:latin typeface="Roboto"/>
                <a:cs typeface="Roboto"/>
              </a:rPr>
              <a:t>Neural</a:t>
            </a:r>
            <a:r>
              <a:rPr b="1" spc="15" dirty="0">
                <a:latin typeface="Roboto"/>
                <a:cs typeface="Roboto"/>
              </a:rPr>
              <a:t> </a:t>
            </a:r>
            <a:r>
              <a:rPr b="1" spc="-10" dirty="0">
                <a:latin typeface="Roboto"/>
                <a:cs typeface="Roboto"/>
              </a:rPr>
              <a:t>Networks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latin typeface="Roboto"/>
                <a:cs typeface="Roboto"/>
              </a:rPr>
              <a:t>Training</a:t>
            </a:r>
            <a:r>
              <a:rPr spc="-125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Neural</a:t>
            </a:r>
            <a:r>
              <a:rPr spc="-130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Networks:</a:t>
            </a:r>
            <a:r>
              <a:rPr spc="-125" dirty="0">
                <a:latin typeface="Roboto"/>
                <a:cs typeface="Roboto"/>
              </a:rPr>
              <a:t> </a:t>
            </a:r>
            <a:r>
              <a:rPr spc="-10" dirty="0">
                <a:latin typeface="Roboto"/>
                <a:cs typeface="Roboto"/>
              </a:rPr>
              <a:t>Objective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6298" y="1488654"/>
            <a:ext cx="4067166" cy="876298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latin typeface="Roboto"/>
                <a:cs typeface="Roboto"/>
              </a:rPr>
              <a:t>Training</a:t>
            </a:r>
            <a:r>
              <a:rPr spc="-125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Neural</a:t>
            </a:r>
            <a:r>
              <a:rPr spc="-130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Networks:</a:t>
            </a:r>
            <a:r>
              <a:rPr spc="-125" dirty="0">
                <a:latin typeface="Roboto"/>
                <a:cs typeface="Roboto"/>
              </a:rPr>
              <a:t> </a:t>
            </a:r>
            <a:r>
              <a:rPr spc="-10" dirty="0">
                <a:latin typeface="Roboto"/>
                <a:cs typeface="Roboto"/>
              </a:rPr>
              <a:t>Objective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7263" y="2498994"/>
            <a:ext cx="2554319" cy="38099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2825694" y="3085343"/>
            <a:ext cx="697230" cy="572770"/>
            <a:chOff x="2825694" y="3085343"/>
            <a:chExt cx="697230" cy="57277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52394" y="3184793"/>
              <a:ext cx="609598" cy="37147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825686" y="3085350"/>
              <a:ext cx="697230" cy="572770"/>
            </a:xfrm>
            <a:custGeom>
              <a:avLst/>
              <a:gdLst/>
              <a:ahLst/>
              <a:cxnLst/>
              <a:rect l="l" t="t" r="r" b="b"/>
              <a:pathLst>
                <a:path w="697229" h="572770">
                  <a:moveTo>
                    <a:pt x="696899" y="95453"/>
                  </a:moveTo>
                  <a:lnTo>
                    <a:pt x="680872" y="42481"/>
                  </a:lnTo>
                  <a:lnTo>
                    <a:pt x="637984" y="7264"/>
                  </a:lnTo>
                  <a:lnTo>
                    <a:pt x="601446" y="0"/>
                  </a:lnTo>
                  <a:lnTo>
                    <a:pt x="95453" y="0"/>
                  </a:lnTo>
                  <a:lnTo>
                    <a:pt x="58305" y="7493"/>
                  </a:lnTo>
                  <a:lnTo>
                    <a:pt x="27965" y="27952"/>
                  </a:lnTo>
                  <a:lnTo>
                    <a:pt x="7505" y="58293"/>
                  </a:lnTo>
                  <a:lnTo>
                    <a:pt x="0" y="95453"/>
                  </a:lnTo>
                  <a:lnTo>
                    <a:pt x="0" y="477253"/>
                  </a:lnTo>
                  <a:lnTo>
                    <a:pt x="7505" y="514400"/>
                  </a:lnTo>
                  <a:lnTo>
                    <a:pt x="27965" y="544741"/>
                  </a:lnTo>
                  <a:lnTo>
                    <a:pt x="58305" y="565200"/>
                  </a:lnTo>
                  <a:lnTo>
                    <a:pt x="95453" y="572693"/>
                  </a:lnTo>
                  <a:lnTo>
                    <a:pt x="601446" y="572693"/>
                  </a:lnTo>
                  <a:lnTo>
                    <a:pt x="638606" y="565200"/>
                  </a:lnTo>
                  <a:lnTo>
                    <a:pt x="668947" y="544741"/>
                  </a:lnTo>
                  <a:lnTo>
                    <a:pt x="689406" y="514400"/>
                  </a:lnTo>
                  <a:lnTo>
                    <a:pt x="696899" y="477253"/>
                  </a:lnTo>
                  <a:lnTo>
                    <a:pt x="696899" y="95453"/>
                  </a:lnTo>
                  <a:close/>
                </a:path>
              </a:pathLst>
            </a:custGeom>
            <a:solidFill>
              <a:srgbClr val="1D72FF">
                <a:alpha val="1884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969218" y="3803600"/>
            <a:ext cx="1130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loss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function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670967" y="3487942"/>
            <a:ext cx="462280" cy="259715"/>
            <a:chOff x="3670967" y="3487942"/>
            <a:chExt cx="462280" cy="259715"/>
          </a:xfrm>
        </p:grpSpPr>
        <p:sp>
          <p:nvSpPr>
            <p:cNvPr id="9" name="object 9"/>
            <p:cNvSpPr/>
            <p:nvPr/>
          </p:nvSpPr>
          <p:spPr>
            <a:xfrm>
              <a:off x="3756467" y="3538717"/>
              <a:ext cx="367030" cy="199390"/>
            </a:xfrm>
            <a:custGeom>
              <a:avLst/>
              <a:gdLst/>
              <a:ahLst/>
              <a:cxnLst/>
              <a:rect l="l" t="t" r="r" b="b"/>
              <a:pathLst>
                <a:path w="367029" h="199389">
                  <a:moveTo>
                    <a:pt x="366649" y="198974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70967" y="3487942"/>
              <a:ext cx="110049" cy="87949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6298" y="1488654"/>
            <a:ext cx="4067166" cy="876298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52394" y="3140768"/>
            <a:ext cx="2324735" cy="415925"/>
            <a:chOff x="2852394" y="3140768"/>
            <a:chExt cx="2324735" cy="4159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52394" y="3184793"/>
              <a:ext cx="609598" cy="37147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555292" y="3150293"/>
              <a:ext cx="1612265" cy="184785"/>
            </a:xfrm>
            <a:custGeom>
              <a:avLst/>
              <a:gdLst/>
              <a:ahLst/>
              <a:cxnLst/>
              <a:rect l="l" t="t" r="r" b="b"/>
              <a:pathLst>
                <a:path w="1612264" h="184785">
                  <a:moveTo>
                    <a:pt x="1611721" y="0"/>
                  </a:moveTo>
                  <a:lnTo>
                    <a:pt x="0" y="184399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59868" y="3293918"/>
              <a:ext cx="108524" cy="8157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115614" y="3161995"/>
              <a:ext cx="326390" cy="371475"/>
            </a:xfrm>
            <a:custGeom>
              <a:avLst/>
              <a:gdLst/>
              <a:ahLst/>
              <a:cxnLst/>
              <a:rect l="l" t="t" r="r" b="b"/>
              <a:pathLst>
                <a:path w="326389" h="371475">
                  <a:moveTo>
                    <a:pt x="326097" y="54356"/>
                  </a:moveTo>
                  <a:lnTo>
                    <a:pt x="310197" y="15925"/>
                  </a:lnTo>
                  <a:lnTo>
                    <a:pt x="271741" y="0"/>
                  </a:lnTo>
                  <a:lnTo>
                    <a:pt x="54343" y="0"/>
                  </a:lnTo>
                  <a:lnTo>
                    <a:pt x="33197" y="4279"/>
                  </a:lnTo>
                  <a:lnTo>
                    <a:pt x="15925" y="15925"/>
                  </a:lnTo>
                  <a:lnTo>
                    <a:pt x="4267" y="33197"/>
                  </a:lnTo>
                  <a:lnTo>
                    <a:pt x="0" y="54356"/>
                  </a:lnTo>
                  <a:lnTo>
                    <a:pt x="0" y="317055"/>
                  </a:lnTo>
                  <a:lnTo>
                    <a:pt x="4267" y="338213"/>
                  </a:lnTo>
                  <a:lnTo>
                    <a:pt x="15925" y="355485"/>
                  </a:lnTo>
                  <a:lnTo>
                    <a:pt x="33197" y="367131"/>
                  </a:lnTo>
                  <a:lnTo>
                    <a:pt x="54343" y="371398"/>
                  </a:lnTo>
                  <a:lnTo>
                    <a:pt x="271741" y="371398"/>
                  </a:lnTo>
                  <a:lnTo>
                    <a:pt x="292900" y="367131"/>
                  </a:lnTo>
                  <a:lnTo>
                    <a:pt x="310184" y="355485"/>
                  </a:lnTo>
                  <a:lnTo>
                    <a:pt x="321830" y="338213"/>
                  </a:lnTo>
                  <a:lnTo>
                    <a:pt x="326097" y="317055"/>
                  </a:lnTo>
                  <a:lnTo>
                    <a:pt x="326097" y="54356"/>
                  </a:lnTo>
                  <a:close/>
                </a:path>
              </a:pathLst>
            </a:custGeom>
            <a:solidFill>
              <a:srgbClr val="1D72FF">
                <a:alpha val="1884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latin typeface="Roboto"/>
                <a:cs typeface="Roboto"/>
              </a:rPr>
              <a:t>Training</a:t>
            </a:r>
            <a:r>
              <a:rPr spc="-125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Neural</a:t>
            </a:r>
            <a:r>
              <a:rPr spc="-130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Networks:</a:t>
            </a:r>
            <a:r>
              <a:rPr spc="-125" dirty="0">
                <a:latin typeface="Roboto"/>
                <a:cs typeface="Roboto"/>
              </a:rPr>
              <a:t> </a:t>
            </a:r>
            <a:r>
              <a:rPr spc="-10" dirty="0">
                <a:latin typeface="Roboto"/>
                <a:cs typeface="Roboto"/>
              </a:rPr>
              <a:t>Objective</a:t>
            </a: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33188" y="3016868"/>
            <a:ext cx="2085970" cy="2762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57263" y="2484999"/>
            <a:ext cx="2554319" cy="34601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46298" y="1488654"/>
            <a:ext cx="4067166" cy="876298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Roboto"/>
                <a:cs typeface="Roboto"/>
              </a:rPr>
              <a:t>Loss</a:t>
            </a:r>
            <a:r>
              <a:rPr spc="-70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is</a:t>
            </a:r>
            <a:r>
              <a:rPr spc="-70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a</a:t>
            </a:r>
            <a:r>
              <a:rPr spc="-55" dirty="0">
                <a:latin typeface="Roboto"/>
                <a:cs typeface="Roboto"/>
              </a:rPr>
              <a:t> </a:t>
            </a:r>
            <a:r>
              <a:rPr b="1" dirty="0">
                <a:latin typeface="Roboto"/>
                <a:cs typeface="Roboto"/>
              </a:rPr>
              <a:t>function</a:t>
            </a:r>
            <a:r>
              <a:rPr b="1" spc="-70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of</a:t>
            </a:r>
            <a:r>
              <a:rPr spc="-60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the</a:t>
            </a:r>
            <a:r>
              <a:rPr spc="-70" dirty="0">
                <a:latin typeface="Roboto"/>
                <a:cs typeface="Roboto"/>
              </a:rPr>
              <a:t> </a:t>
            </a:r>
            <a:r>
              <a:rPr spc="-20" dirty="0">
                <a:latin typeface="Roboto"/>
                <a:cs typeface="Roboto"/>
              </a:rPr>
              <a:t>model’s</a:t>
            </a:r>
            <a:r>
              <a:rPr spc="-70" dirty="0">
                <a:latin typeface="Roboto"/>
                <a:cs typeface="Roboto"/>
              </a:rPr>
              <a:t> </a:t>
            </a:r>
            <a:r>
              <a:rPr spc="-10" dirty="0">
                <a:latin typeface="Roboto"/>
                <a:cs typeface="Roboto"/>
              </a:rPr>
              <a:t>parameters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22271" y="1555746"/>
            <a:ext cx="5142865" cy="2555240"/>
            <a:chOff x="1522271" y="1555746"/>
            <a:chExt cx="5142865" cy="25552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62070" y="1555746"/>
              <a:ext cx="4063991" cy="203199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2271" y="2487220"/>
              <a:ext cx="939798" cy="57269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90412" y="3250318"/>
              <a:ext cx="474521" cy="57269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74293" y="3620142"/>
              <a:ext cx="408924" cy="49069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2271" y="1555746"/>
            <a:ext cx="5142865" cy="2267585"/>
            <a:chOff x="1522271" y="1555746"/>
            <a:chExt cx="5142865" cy="22675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62070" y="1555746"/>
              <a:ext cx="4063991" cy="203199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2271" y="2487220"/>
              <a:ext cx="939798" cy="57269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90412" y="3250318"/>
              <a:ext cx="474521" cy="572698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327293" y="1441557"/>
            <a:ext cx="16840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Start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at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random</a:t>
            </a:r>
            <a:r>
              <a:rPr sz="1400" spc="-10" dirty="0">
                <a:latin typeface="Arial MT"/>
                <a:cs typeface="Arial MT"/>
              </a:rPr>
              <a:t> point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31640" y="2123924"/>
            <a:ext cx="159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+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174293" y="1533446"/>
            <a:ext cx="959485" cy="2577465"/>
            <a:chOff x="3174293" y="1533446"/>
            <a:chExt cx="959485" cy="2577465"/>
          </a:xfrm>
        </p:grpSpPr>
        <p:sp>
          <p:nvSpPr>
            <p:cNvPr id="9" name="object 9"/>
            <p:cNvSpPr/>
            <p:nvPr/>
          </p:nvSpPr>
          <p:spPr>
            <a:xfrm>
              <a:off x="3263668" y="1552496"/>
              <a:ext cx="713740" cy="545465"/>
            </a:xfrm>
            <a:custGeom>
              <a:avLst/>
              <a:gdLst/>
              <a:ahLst/>
              <a:cxnLst/>
              <a:rect l="l" t="t" r="r" b="b"/>
              <a:pathLst>
                <a:path w="713739" h="545464">
                  <a:moveTo>
                    <a:pt x="0" y="0"/>
                  </a:moveTo>
                  <a:lnTo>
                    <a:pt x="713298" y="545441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19692" y="2028895"/>
              <a:ext cx="213674" cy="19311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74293" y="3620142"/>
              <a:ext cx="408924" cy="490698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Roboto"/>
                <a:cs typeface="Roboto"/>
              </a:rPr>
              <a:t>How</a:t>
            </a:r>
            <a:r>
              <a:rPr spc="-75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to</a:t>
            </a:r>
            <a:r>
              <a:rPr spc="-75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minimize</a:t>
            </a:r>
            <a:r>
              <a:rPr spc="-70" dirty="0">
                <a:latin typeface="Roboto"/>
                <a:cs typeface="Roboto"/>
              </a:rPr>
              <a:t> </a:t>
            </a:r>
            <a:r>
              <a:rPr spc="-10" dirty="0">
                <a:latin typeface="Roboto"/>
                <a:cs typeface="Roboto"/>
              </a:rPr>
              <a:t>loss?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2271" y="1555746"/>
            <a:ext cx="5142865" cy="2267585"/>
            <a:chOff x="1522271" y="1555746"/>
            <a:chExt cx="5142865" cy="22675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62070" y="1555746"/>
              <a:ext cx="4063991" cy="203199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2271" y="2487220"/>
              <a:ext cx="939798" cy="57269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90412" y="3250318"/>
              <a:ext cx="474521" cy="572698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327293" y="1441557"/>
            <a:ext cx="855344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Arial"/>
                <a:cs typeface="Arial"/>
              </a:rPr>
              <a:t>Compute: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31640" y="2123924"/>
            <a:ext cx="159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+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433570" y="1320497"/>
            <a:ext cx="1891030" cy="2790825"/>
            <a:chOff x="2433570" y="1320497"/>
            <a:chExt cx="1891030" cy="2790825"/>
          </a:xfrm>
        </p:grpSpPr>
        <p:sp>
          <p:nvSpPr>
            <p:cNvPr id="9" name="object 9"/>
            <p:cNvSpPr/>
            <p:nvPr/>
          </p:nvSpPr>
          <p:spPr>
            <a:xfrm>
              <a:off x="3263668" y="1552496"/>
              <a:ext cx="713740" cy="545465"/>
            </a:xfrm>
            <a:custGeom>
              <a:avLst/>
              <a:gdLst/>
              <a:ahLst/>
              <a:cxnLst/>
              <a:rect l="l" t="t" r="r" b="b"/>
              <a:pathLst>
                <a:path w="713739" h="545464">
                  <a:moveTo>
                    <a:pt x="0" y="0"/>
                  </a:moveTo>
                  <a:lnTo>
                    <a:pt x="713298" y="545441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19692" y="2028895"/>
              <a:ext cx="213674" cy="19311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38591" y="2045883"/>
              <a:ext cx="85999" cy="20698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433570" y="1320497"/>
              <a:ext cx="518598" cy="46399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74293" y="3620142"/>
              <a:ext cx="408924" cy="490698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Roboto"/>
                <a:cs typeface="Roboto"/>
              </a:rPr>
              <a:t>How</a:t>
            </a:r>
            <a:r>
              <a:rPr spc="-75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to</a:t>
            </a:r>
            <a:r>
              <a:rPr spc="-75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minimize</a:t>
            </a:r>
            <a:r>
              <a:rPr spc="-70" dirty="0">
                <a:latin typeface="Roboto"/>
                <a:cs typeface="Roboto"/>
              </a:rPr>
              <a:t> </a:t>
            </a:r>
            <a:r>
              <a:rPr spc="-10" dirty="0">
                <a:latin typeface="Roboto"/>
                <a:cs typeface="Roboto"/>
              </a:rPr>
              <a:t>loss?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2271" y="1555746"/>
            <a:ext cx="5142865" cy="2267585"/>
            <a:chOff x="1522271" y="1555746"/>
            <a:chExt cx="5142865" cy="22675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62070" y="1555746"/>
              <a:ext cx="4063991" cy="203199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2271" y="2487220"/>
              <a:ext cx="939798" cy="57269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90412" y="3250318"/>
              <a:ext cx="474521" cy="572698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804723" y="1441557"/>
            <a:ext cx="227584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b="1" dirty="0">
                <a:latin typeface="Arial"/>
                <a:cs typeface="Arial"/>
              </a:rPr>
              <a:t>Move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in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direction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opposite </a:t>
            </a:r>
            <a:r>
              <a:rPr sz="1400" b="1" dirty="0">
                <a:latin typeface="Arial"/>
                <a:cs typeface="Arial"/>
              </a:rPr>
              <a:t>of</a:t>
            </a:r>
            <a:r>
              <a:rPr sz="1400" b="1" spc="-1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gradient</a:t>
            </a:r>
            <a:r>
              <a:rPr sz="1400" b="1" spc="-1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to</a:t>
            </a:r>
            <a:r>
              <a:rPr sz="1400" b="1" spc="-1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new</a:t>
            </a:r>
            <a:r>
              <a:rPr sz="1400" b="1" spc="-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point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31640" y="2123924"/>
            <a:ext cx="159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+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174293" y="1669496"/>
            <a:ext cx="1210310" cy="2441575"/>
            <a:chOff x="3174293" y="1669496"/>
            <a:chExt cx="1210310" cy="2441575"/>
          </a:xfrm>
        </p:grpSpPr>
        <p:sp>
          <p:nvSpPr>
            <p:cNvPr id="9" name="object 9"/>
            <p:cNvSpPr/>
            <p:nvPr/>
          </p:nvSpPr>
          <p:spPr>
            <a:xfrm>
              <a:off x="3263693" y="1688546"/>
              <a:ext cx="734695" cy="591820"/>
            </a:xfrm>
            <a:custGeom>
              <a:avLst/>
              <a:gdLst/>
              <a:ahLst/>
              <a:cxnLst/>
              <a:rect l="l" t="t" r="r" b="b"/>
              <a:pathLst>
                <a:path w="734695" h="591819">
                  <a:moveTo>
                    <a:pt x="0" y="0"/>
                  </a:moveTo>
                  <a:lnTo>
                    <a:pt x="734523" y="591343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39717" y="2211822"/>
              <a:ext cx="212249" cy="19554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74293" y="3620142"/>
              <a:ext cx="408924" cy="49069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315066" y="2319455"/>
              <a:ext cx="42545" cy="241935"/>
            </a:xfrm>
            <a:custGeom>
              <a:avLst/>
              <a:gdLst/>
              <a:ahLst/>
              <a:cxnLst/>
              <a:rect l="l" t="t" r="r" b="b"/>
              <a:pathLst>
                <a:path w="42545" h="241935">
                  <a:moveTo>
                    <a:pt x="0" y="0"/>
                  </a:moveTo>
                  <a:lnTo>
                    <a:pt x="42424" y="241689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332691" y="2536344"/>
              <a:ext cx="42545" cy="62230"/>
            </a:xfrm>
            <a:custGeom>
              <a:avLst/>
              <a:gdLst/>
              <a:ahLst/>
              <a:cxnLst/>
              <a:rect l="l" t="t" r="r" b="b"/>
              <a:pathLst>
                <a:path w="42545" h="62230">
                  <a:moveTo>
                    <a:pt x="31274" y="61674"/>
                  </a:moveTo>
                  <a:lnTo>
                    <a:pt x="0" y="7399"/>
                  </a:lnTo>
                  <a:lnTo>
                    <a:pt x="24799" y="24799"/>
                  </a:lnTo>
                  <a:lnTo>
                    <a:pt x="42199" y="0"/>
                  </a:lnTo>
                  <a:lnTo>
                    <a:pt x="31274" y="616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332691" y="2536344"/>
              <a:ext cx="42545" cy="62230"/>
            </a:xfrm>
            <a:custGeom>
              <a:avLst/>
              <a:gdLst/>
              <a:ahLst/>
              <a:cxnLst/>
              <a:rect l="l" t="t" r="r" b="b"/>
              <a:pathLst>
                <a:path w="42545" h="62230">
                  <a:moveTo>
                    <a:pt x="24799" y="24799"/>
                  </a:moveTo>
                  <a:lnTo>
                    <a:pt x="0" y="7399"/>
                  </a:lnTo>
                  <a:lnTo>
                    <a:pt x="31274" y="61674"/>
                  </a:lnTo>
                  <a:lnTo>
                    <a:pt x="42199" y="0"/>
                  </a:lnTo>
                  <a:lnTo>
                    <a:pt x="24799" y="24799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Roboto"/>
                <a:cs typeface="Roboto"/>
              </a:rPr>
              <a:t>How</a:t>
            </a:r>
            <a:r>
              <a:rPr spc="-75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to</a:t>
            </a:r>
            <a:r>
              <a:rPr spc="-75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minimize</a:t>
            </a:r>
            <a:r>
              <a:rPr spc="-70" dirty="0">
                <a:latin typeface="Roboto"/>
                <a:cs typeface="Roboto"/>
              </a:rPr>
              <a:t> </a:t>
            </a:r>
            <a:r>
              <a:rPr spc="-10" dirty="0">
                <a:latin typeface="Roboto"/>
                <a:cs typeface="Roboto"/>
              </a:rPr>
              <a:t>loss?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05"/>
              </a:lnSpc>
            </a:pPr>
            <a:r>
              <a:rPr dirty="0"/>
              <a:t>MIT</a:t>
            </a:r>
            <a:r>
              <a:rPr spc="-50" dirty="0"/>
              <a:t> </a:t>
            </a:r>
            <a:r>
              <a:rPr dirty="0"/>
              <a:t>6.S191</a:t>
            </a:r>
            <a:r>
              <a:rPr spc="-45" dirty="0"/>
              <a:t> </a:t>
            </a:r>
            <a:r>
              <a:rPr dirty="0">
                <a:solidFill>
                  <a:srgbClr val="0097A7"/>
                </a:solidFill>
              </a:rPr>
              <a:t>|</a:t>
            </a:r>
            <a:r>
              <a:rPr spc="-45" dirty="0">
                <a:solidFill>
                  <a:srgbClr val="0097A7"/>
                </a:solidFill>
              </a:rPr>
              <a:t> </a:t>
            </a:r>
            <a:r>
              <a:rPr spc="-10" dirty="0"/>
              <a:t>Intro</a:t>
            </a:r>
            <a:r>
              <a:rPr spc="-50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Deep</a:t>
            </a:r>
            <a:r>
              <a:rPr spc="-50" dirty="0"/>
              <a:t> </a:t>
            </a:r>
            <a:r>
              <a:rPr spc="-10" dirty="0"/>
              <a:t>Learning</a:t>
            </a:r>
            <a:r>
              <a:rPr spc="-40" dirty="0"/>
              <a:t> </a:t>
            </a:r>
            <a:r>
              <a:rPr dirty="0">
                <a:solidFill>
                  <a:srgbClr val="0097A7"/>
                </a:solidFill>
              </a:rPr>
              <a:t>|</a:t>
            </a:r>
            <a:r>
              <a:rPr spc="-50" dirty="0">
                <a:solidFill>
                  <a:srgbClr val="0097A7"/>
                </a:solidFill>
              </a:rPr>
              <a:t> </a:t>
            </a:r>
            <a:r>
              <a:rPr dirty="0"/>
              <a:t>IAP</a:t>
            </a:r>
            <a:r>
              <a:rPr spc="-45" dirty="0"/>
              <a:t> </a:t>
            </a:r>
            <a:r>
              <a:rPr spc="-20" dirty="0"/>
              <a:t>2017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2271" y="1555746"/>
            <a:ext cx="5142865" cy="2267585"/>
            <a:chOff x="1522271" y="1555746"/>
            <a:chExt cx="5142865" cy="22675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62070" y="1555746"/>
              <a:ext cx="4063991" cy="203199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2271" y="2487220"/>
              <a:ext cx="939798" cy="57269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90412" y="3250318"/>
              <a:ext cx="474521" cy="572698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804723" y="1441557"/>
            <a:ext cx="227584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b="1" dirty="0">
                <a:latin typeface="Arial"/>
                <a:cs typeface="Arial"/>
              </a:rPr>
              <a:t>Move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in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direction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opposite </a:t>
            </a:r>
            <a:r>
              <a:rPr sz="1400" b="1" dirty="0">
                <a:latin typeface="Arial"/>
                <a:cs typeface="Arial"/>
              </a:rPr>
              <a:t>of</a:t>
            </a:r>
            <a:r>
              <a:rPr sz="1400" b="1" spc="-1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gradient</a:t>
            </a:r>
            <a:r>
              <a:rPr sz="1400" b="1" spc="-1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to</a:t>
            </a:r>
            <a:r>
              <a:rPr sz="1400" b="1" spc="-1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new</a:t>
            </a:r>
            <a:r>
              <a:rPr sz="1400" b="1" spc="-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point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244643" y="1669496"/>
            <a:ext cx="907415" cy="737870"/>
            <a:chOff x="3244643" y="1669496"/>
            <a:chExt cx="907415" cy="737870"/>
          </a:xfrm>
        </p:grpSpPr>
        <p:sp>
          <p:nvSpPr>
            <p:cNvPr id="8" name="object 8"/>
            <p:cNvSpPr/>
            <p:nvPr/>
          </p:nvSpPr>
          <p:spPr>
            <a:xfrm>
              <a:off x="3263693" y="1688546"/>
              <a:ext cx="734695" cy="591820"/>
            </a:xfrm>
            <a:custGeom>
              <a:avLst/>
              <a:gdLst/>
              <a:ahLst/>
              <a:cxnLst/>
              <a:rect l="l" t="t" r="r" b="b"/>
              <a:pathLst>
                <a:path w="734695" h="591819">
                  <a:moveTo>
                    <a:pt x="0" y="0"/>
                  </a:moveTo>
                  <a:lnTo>
                    <a:pt x="734523" y="591343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39717" y="2211822"/>
              <a:ext cx="212249" cy="195544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4231640" y="2123924"/>
            <a:ext cx="176530" cy="495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85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+</a:t>
            </a:r>
            <a:endParaRPr sz="1800">
              <a:latin typeface="Arial"/>
              <a:cs typeface="Arial"/>
            </a:endParaRPr>
          </a:p>
          <a:p>
            <a:pPr marL="29845">
              <a:lnSpc>
                <a:spcPts val="1850"/>
              </a:lnSpc>
            </a:pPr>
            <a:r>
              <a:rPr sz="1800" b="1" spc="-50" dirty="0">
                <a:latin typeface="Arial"/>
                <a:cs typeface="Arial"/>
              </a:rPr>
              <a:t>+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174293" y="2309930"/>
            <a:ext cx="1161415" cy="1801495"/>
            <a:chOff x="3174293" y="2309930"/>
            <a:chExt cx="1161415" cy="1801495"/>
          </a:xfrm>
        </p:grpSpPr>
        <p:sp>
          <p:nvSpPr>
            <p:cNvPr id="12" name="object 12"/>
            <p:cNvSpPr/>
            <p:nvPr/>
          </p:nvSpPr>
          <p:spPr>
            <a:xfrm>
              <a:off x="4315066" y="2319455"/>
              <a:ext cx="10795" cy="120014"/>
            </a:xfrm>
            <a:custGeom>
              <a:avLst/>
              <a:gdLst/>
              <a:ahLst/>
              <a:cxnLst/>
              <a:rect l="l" t="t" r="r" b="b"/>
              <a:pathLst>
                <a:path w="10795" h="120014">
                  <a:moveTo>
                    <a:pt x="0" y="0"/>
                  </a:moveTo>
                  <a:lnTo>
                    <a:pt x="10799" y="119699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74293" y="3620142"/>
              <a:ext cx="408924" cy="490698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Roboto"/>
                <a:cs typeface="Roboto"/>
              </a:rPr>
              <a:t>How</a:t>
            </a:r>
            <a:r>
              <a:rPr spc="-75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to</a:t>
            </a:r>
            <a:r>
              <a:rPr spc="-75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minimize</a:t>
            </a:r>
            <a:r>
              <a:rPr spc="-70" dirty="0">
                <a:latin typeface="Roboto"/>
                <a:cs typeface="Roboto"/>
              </a:rPr>
              <a:t> </a:t>
            </a:r>
            <a:r>
              <a:rPr spc="-10" dirty="0">
                <a:latin typeface="Roboto"/>
                <a:cs typeface="Roboto"/>
              </a:rPr>
              <a:t>loss?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2271" y="1588146"/>
            <a:ext cx="5142865" cy="2522855"/>
            <a:chOff x="1522271" y="1588146"/>
            <a:chExt cx="5142865" cy="25228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62070" y="1588146"/>
              <a:ext cx="4063991" cy="203199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2271" y="2487220"/>
              <a:ext cx="939798" cy="57269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90412" y="3250318"/>
              <a:ext cx="474521" cy="57269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74293" y="3620142"/>
              <a:ext cx="408924" cy="490698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327293" y="1441557"/>
            <a:ext cx="6775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Arial"/>
                <a:cs typeface="Arial"/>
              </a:rPr>
              <a:t>Repeat!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Roboto"/>
                <a:cs typeface="Roboto"/>
              </a:rPr>
              <a:t>How</a:t>
            </a:r>
            <a:r>
              <a:rPr spc="-75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to</a:t>
            </a:r>
            <a:r>
              <a:rPr spc="-75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minimize</a:t>
            </a:r>
            <a:r>
              <a:rPr spc="-70" dirty="0">
                <a:latin typeface="Roboto"/>
                <a:cs typeface="Roboto"/>
              </a:rPr>
              <a:t> </a:t>
            </a:r>
            <a:r>
              <a:rPr spc="-10" dirty="0">
                <a:latin typeface="Roboto"/>
                <a:cs typeface="Roboto"/>
              </a:rPr>
              <a:t>loss?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2271" y="1588146"/>
            <a:ext cx="5142865" cy="2522855"/>
            <a:chOff x="1522271" y="1588146"/>
            <a:chExt cx="5142865" cy="25228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62070" y="1588146"/>
              <a:ext cx="4063991" cy="203199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2271" y="2487220"/>
              <a:ext cx="939798" cy="57269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90412" y="3250318"/>
              <a:ext cx="474521" cy="57269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74293" y="3620142"/>
              <a:ext cx="408924" cy="490698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Roboto"/>
                <a:cs typeface="Roboto"/>
              </a:rPr>
              <a:t>This</a:t>
            </a:r>
            <a:r>
              <a:rPr spc="-105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is</a:t>
            </a:r>
            <a:r>
              <a:rPr spc="-105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called</a:t>
            </a:r>
            <a:r>
              <a:rPr spc="-105" dirty="0">
                <a:latin typeface="Roboto"/>
                <a:cs typeface="Roboto"/>
              </a:rPr>
              <a:t> </a:t>
            </a:r>
            <a:r>
              <a:rPr spc="-20" dirty="0">
                <a:latin typeface="Roboto"/>
                <a:cs typeface="Roboto"/>
              </a:rPr>
              <a:t>Stochastic</a:t>
            </a:r>
            <a:r>
              <a:rPr spc="-105" dirty="0">
                <a:latin typeface="Roboto"/>
                <a:cs typeface="Roboto"/>
              </a:rPr>
              <a:t> </a:t>
            </a:r>
            <a:r>
              <a:rPr spc="-20" dirty="0">
                <a:latin typeface="Roboto"/>
                <a:cs typeface="Roboto"/>
              </a:rPr>
              <a:t>Gradient</a:t>
            </a:r>
            <a:r>
              <a:rPr spc="-105" dirty="0">
                <a:latin typeface="Roboto"/>
                <a:cs typeface="Roboto"/>
              </a:rPr>
              <a:t> </a:t>
            </a:r>
            <a:r>
              <a:rPr spc="-20" dirty="0">
                <a:latin typeface="Roboto"/>
                <a:cs typeface="Roboto"/>
              </a:rPr>
              <a:t>Descent</a:t>
            </a:r>
            <a:r>
              <a:rPr spc="-105" dirty="0">
                <a:latin typeface="Roboto"/>
                <a:cs typeface="Roboto"/>
              </a:rPr>
              <a:t> </a:t>
            </a:r>
            <a:r>
              <a:rPr spc="-10" dirty="0">
                <a:latin typeface="Roboto"/>
                <a:cs typeface="Roboto"/>
              </a:rPr>
              <a:t>(SGD)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327293" y="1441557"/>
            <a:ext cx="6775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Arial"/>
                <a:cs typeface="Arial"/>
              </a:rPr>
              <a:t>Repeat!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5248" y="1176351"/>
            <a:ext cx="3363595" cy="190055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14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Initialize</a:t>
            </a:r>
            <a:r>
              <a:rPr sz="18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θ</a:t>
            </a:r>
            <a:r>
              <a:rPr sz="18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randomly</a:t>
            </a:r>
            <a:endParaRPr sz="1800">
              <a:latin typeface="Roboto"/>
              <a:cs typeface="Roboto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For</a:t>
            </a:r>
            <a:r>
              <a:rPr sz="18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N</a:t>
            </a:r>
            <a:r>
              <a:rPr sz="1800" spc="-1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Epochs</a:t>
            </a:r>
            <a:endParaRPr sz="1800">
              <a:latin typeface="Roboto"/>
              <a:cs typeface="Roboto"/>
            </a:endParaRPr>
          </a:p>
          <a:p>
            <a:pPr marL="836294" lvl="1" indent="-335915">
              <a:lnSpc>
                <a:spcPct val="100000"/>
              </a:lnSpc>
              <a:spcBef>
                <a:spcPts val="330"/>
              </a:spcBef>
              <a:buFont typeface="Arial MT"/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For</a:t>
            </a:r>
            <a:r>
              <a:rPr sz="14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each</a:t>
            </a:r>
            <a:r>
              <a:rPr sz="14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training</a:t>
            </a:r>
            <a:r>
              <a:rPr sz="14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example</a:t>
            </a:r>
            <a:r>
              <a:rPr sz="14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(x,</a:t>
            </a:r>
            <a:r>
              <a:rPr sz="14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5" dirty="0">
                <a:solidFill>
                  <a:srgbClr val="595959"/>
                </a:solidFill>
                <a:latin typeface="Roboto"/>
                <a:cs typeface="Roboto"/>
              </a:rPr>
              <a:t>y):</a:t>
            </a:r>
            <a:endParaRPr sz="1400">
              <a:latin typeface="Roboto"/>
              <a:cs typeface="Roboto"/>
            </a:endParaRPr>
          </a:p>
          <a:p>
            <a:pPr lvl="1">
              <a:lnSpc>
                <a:spcPct val="100000"/>
              </a:lnSpc>
              <a:spcBef>
                <a:spcPts val="540"/>
              </a:spcBef>
              <a:buClr>
                <a:srgbClr val="595959"/>
              </a:buClr>
              <a:buFont typeface="Arial MT"/>
              <a:buChar char="○"/>
            </a:pPr>
            <a:endParaRPr sz="1400">
              <a:latin typeface="Roboto"/>
              <a:cs typeface="Roboto"/>
            </a:endParaRPr>
          </a:p>
          <a:p>
            <a:pPr marL="1293495" lvl="2" indent="-335915">
              <a:lnSpc>
                <a:spcPct val="100000"/>
              </a:lnSpc>
              <a:buFont typeface="Arial MT"/>
              <a:buChar char="■"/>
              <a:tabLst>
                <a:tab pos="1293495" algn="l"/>
              </a:tabLst>
            </a:pP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Compute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Loss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Gradient:</a:t>
            </a:r>
            <a:endParaRPr sz="1400">
              <a:latin typeface="Roboto"/>
              <a:cs typeface="Roboto"/>
            </a:endParaRPr>
          </a:p>
          <a:p>
            <a:pPr lvl="2">
              <a:lnSpc>
                <a:spcPct val="100000"/>
              </a:lnSpc>
              <a:spcBef>
                <a:spcPts val="540"/>
              </a:spcBef>
              <a:buClr>
                <a:srgbClr val="595959"/>
              </a:buClr>
              <a:buFont typeface="Arial MT"/>
              <a:buChar char="■"/>
            </a:pPr>
            <a:endParaRPr sz="1400">
              <a:latin typeface="Roboto"/>
              <a:cs typeface="Roboto"/>
            </a:endParaRPr>
          </a:p>
          <a:p>
            <a:pPr marL="1293495" lvl="2" indent="-335915">
              <a:lnSpc>
                <a:spcPct val="100000"/>
              </a:lnSpc>
              <a:buFont typeface="Arial MT"/>
              <a:buChar char="■"/>
              <a:tabLst>
                <a:tab pos="1293495" algn="l"/>
              </a:tabLst>
            </a:pP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Update</a:t>
            </a:r>
            <a:r>
              <a:rPr sz="14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θ</a:t>
            </a:r>
            <a:r>
              <a:rPr sz="14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with</a:t>
            </a:r>
            <a:r>
              <a:rPr sz="14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update</a:t>
            </a:r>
            <a:r>
              <a:rPr sz="14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rule: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latin typeface="Roboto"/>
                <a:cs typeface="Roboto"/>
              </a:rPr>
              <a:t>Stochastic</a:t>
            </a:r>
            <a:r>
              <a:rPr spc="-110" dirty="0">
                <a:latin typeface="Roboto"/>
                <a:cs typeface="Roboto"/>
              </a:rPr>
              <a:t> </a:t>
            </a:r>
            <a:r>
              <a:rPr spc="-20" dirty="0">
                <a:latin typeface="Roboto"/>
                <a:cs typeface="Roboto"/>
              </a:rPr>
              <a:t>Gradient</a:t>
            </a:r>
            <a:r>
              <a:rPr spc="-110" dirty="0">
                <a:latin typeface="Roboto"/>
                <a:cs typeface="Roboto"/>
              </a:rPr>
              <a:t> </a:t>
            </a:r>
            <a:r>
              <a:rPr spc="-20" dirty="0">
                <a:latin typeface="Roboto"/>
                <a:cs typeface="Roboto"/>
              </a:rPr>
              <a:t>Descent</a:t>
            </a:r>
            <a:r>
              <a:rPr spc="-110" dirty="0">
                <a:latin typeface="Roboto"/>
                <a:cs typeface="Roboto"/>
              </a:rPr>
              <a:t> </a:t>
            </a:r>
            <a:r>
              <a:rPr spc="-10" dirty="0">
                <a:latin typeface="Roboto"/>
                <a:cs typeface="Roboto"/>
              </a:rPr>
              <a:t>(SGD)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3709" y="1818946"/>
            <a:ext cx="3384772" cy="182332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16767" y="2263545"/>
            <a:ext cx="518598" cy="4639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06996" y="3278743"/>
            <a:ext cx="2009770" cy="647698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5248" y="1176351"/>
            <a:ext cx="3363595" cy="190055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14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Initialize</a:t>
            </a:r>
            <a:r>
              <a:rPr sz="18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θ</a:t>
            </a:r>
            <a:r>
              <a:rPr sz="18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randomly</a:t>
            </a:r>
            <a:endParaRPr sz="1800">
              <a:latin typeface="Roboto"/>
              <a:cs typeface="Roboto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For</a:t>
            </a:r>
            <a:r>
              <a:rPr sz="18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N</a:t>
            </a:r>
            <a:r>
              <a:rPr sz="1800" spc="-1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Epochs</a:t>
            </a:r>
            <a:endParaRPr sz="1800">
              <a:latin typeface="Roboto"/>
              <a:cs typeface="Roboto"/>
            </a:endParaRPr>
          </a:p>
          <a:p>
            <a:pPr marL="836294" lvl="1" indent="-335915">
              <a:lnSpc>
                <a:spcPct val="100000"/>
              </a:lnSpc>
              <a:spcBef>
                <a:spcPts val="330"/>
              </a:spcBef>
              <a:buFont typeface="Arial MT"/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For</a:t>
            </a:r>
            <a:r>
              <a:rPr sz="14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each</a:t>
            </a:r>
            <a:r>
              <a:rPr sz="14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training</a:t>
            </a:r>
            <a:r>
              <a:rPr sz="14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example</a:t>
            </a:r>
            <a:r>
              <a:rPr sz="14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(x,</a:t>
            </a:r>
            <a:r>
              <a:rPr sz="14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5" dirty="0">
                <a:solidFill>
                  <a:srgbClr val="595959"/>
                </a:solidFill>
                <a:latin typeface="Roboto"/>
                <a:cs typeface="Roboto"/>
              </a:rPr>
              <a:t>y):</a:t>
            </a:r>
            <a:endParaRPr sz="1400">
              <a:latin typeface="Roboto"/>
              <a:cs typeface="Roboto"/>
            </a:endParaRPr>
          </a:p>
          <a:p>
            <a:pPr lvl="1">
              <a:lnSpc>
                <a:spcPct val="100000"/>
              </a:lnSpc>
              <a:spcBef>
                <a:spcPts val="540"/>
              </a:spcBef>
              <a:buClr>
                <a:srgbClr val="595959"/>
              </a:buClr>
              <a:buFont typeface="Arial MT"/>
              <a:buChar char="○"/>
            </a:pPr>
            <a:endParaRPr sz="1400">
              <a:latin typeface="Roboto"/>
              <a:cs typeface="Roboto"/>
            </a:endParaRPr>
          </a:p>
          <a:p>
            <a:pPr marL="1293495" lvl="2" indent="-335915">
              <a:lnSpc>
                <a:spcPct val="100000"/>
              </a:lnSpc>
              <a:buFont typeface="Arial MT"/>
              <a:buChar char="■"/>
              <a:tabLst>
                <a:tab pos="1293495" algn="l"/>
              </a:tabLst>
            </a:pP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Compute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Loss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Gradient:</a:t>
            </a:r>
            <a:endParaRPr sz="1400">
              <a:latin typeface="Roboto"/>
              <a:cs typeface="Roboto"/>
            </a:endParaRPr>
          </a:p>
          <a:p>
            <a:pPr lvl="2">
              <a:lnSpc>
                <a:spcPct val="100000"/>
              </a:lnSpc>
              <a:spcBef>
                <a:spcPts val="540"/>
              </a:spcBef>
              <a:buClr>
                <a:srgbClr val="595959"/>
              </a:buClr>
              <a:buFont typeface="Arial MT"/>
              <a:buChar char="■"/>
            </a:pPr>
            <a:endParaRPr sz="1400">
              <a:latin typeface="Roboto"/>
              <a:cs typeface="Roboto"/>
            </a:endParaRPr>
          </a:p>
          <a:p>
            <a:pPr marL="1293495" lvl="2" indent="-335915">
              <a:lnSpc>
                <a:spcPct val="100000"/>
              </a:lnSpc>
              <a:buFont typeface="Arial MT"/>
              <a:buChar char="■"/>
              <a:tabLst>
                <a:tab pos="1293495" algn="l"/>
              </a:tabLst>
            </a:pP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Update</a:t>
            </a:r>
            <a:r>
              <a:rPr sz="14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θ</a:t>
            </a:r>
            <a:r>
              <a:rPr sz="14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with</a:t>
            </a:r>
            <a:r>
              <a:rPr sz="14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update</a:t>
            </a:r>
            <a:r>
              <a:rPr sz="14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rule:</a:t>
            </a:r>
            <a:endParaRPr sz="1400">
              <a:latin typeface="Roboto"/>
              <a:cs typeface="Roboto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16767" y="2263545"/>
            <a:ext cx="518598" cy="46399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906996" y="3230293"/>
            <a:ext cx="2009775" cy="744855"/>
            <a:chOff x="1906996" y="3230293"/>
            <a:chExt cx="2009775" cy="744855"/>
          </a:xfrm>
        </p:grpSpPr>
        <p:sp>
          <p:nvSpPr>
            <p:cNvPr id="5" name="object 5"/>
            <p:cNvSpPr/>
            <p:nvPr/>
          </p:nvSpPr>
          <p:spPr>
            <a:xfrm>
              <a:off x="3187368" y="3230293"/>
              <a:ext cx="729615" cy="744855"/>
            </a:xfrm>
            <a:custGeom>
              <a:avLst/>
              <a:gdLst/>
              <a:ahLst/>
              <a:cxnLst/>
              <a:rect l="l" t="t" r="r" b="b"/>
              <a:pathLst>
                <a:path w="729614" h="744854">
                  <a:moveTo>
                    <a:pt x="607748" y="744598"/>
                  </a:moveTo>
                  <a:lnTo>
                    <a:pt x="121549" y="744598"/>
                  </a:lnTo>
                  <a:lnTo>
                    <a:pt x="74239" y="735045"/>
                  </a:lnTo>
                  <a:lnTo>
                    <a:pt x="35603" y="708995"/>
                  </a:lnTo>
                  <a:lnTo>
                    <a:pt x="9552" y="670359"/>
                  </a:lnTo>
                  <a:lnTo>
                    <a:pt x="0" y="623048"/>
                  </a:lnTo>
                  <a:lnTo>
                    <a:pt x="0" y="121549"/>
                  </a:lnTo>
                  <a:lnTo>
                    <a:pt x="9552" y="74239"/>
                  </a:lnTo>
                  <a:lnTo>
                    <a:pt x="35607" y="35599"/>
                  </a:lnTo>
                  <a:lnTo>
                    <a:pt x="74239" y="9552"/>
                  </a:lnTo>
                  <a:lnTo>
                    <a:pt x="121549" y="0"/>
                  </a:lnTo>
                  <a:lnTo>
                    <a:pt x="607748" y="0"/>
                  </a:lnTo>
                  <a:lnTo>
                    <a:pt x="654258" y="9249"/>
                  </a:lnTo>
                  <a:lnTo>
                    <a:pt x="693701" y="35603"/>
                  </a:lnTo>
                  <a:lnTo>
                    <a:pt x="720048" y="75040"/>
                  </a:lnTo>
                  <a:lnTo>
                    <a:pt x="729298" y="121549"/>
                  </a:lnTo>
                  <a:lnTo>
                    <a:pt x="729298" y="623048"/>
                  </a:lnTo>
                  <a:lnTo>
                    <a:pt x="719745" y="670359"/>
                  </a:lnTo>
                  <a:lnTo>
                    <a:pt x="693695" y="708995"/>
                  </a:lnTo>
                  <a:lnTo>
                    <a:pt x="655059" y="735045"/>
                  </a:lnTo>
                  <a:lnTo>
                    <a:pt x="607748" y="744598"/>
                  </a:lnTo>
                  <a:close/>
                </a:path>
              </a:pathLst>
            </a:custGeom>
            <a:solidFill>
              <a:srgbClr val="1D72FF">
                <a:alpha val="1884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6996" y="3278743"/>
              <a:ext cx="2009770" cy="64769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187368" y="3230293"/>
              <a:ext cx="729615" cy="744855"/>
            </a:xfrm>
            <a:custGeom>
              <a:avLst/>
              <a:gdLst/>
              <a:ahLst/>
              <a:cxnLst/>
              <a:rect l="l" t="t" r="r" b="b"/>
              <a:pathLst>
                <a:path w="729614" h="744854">
                  <a:moveTo>
                    <a:pt x="607748" y="744598"/>
                  </a:moveTo>
                  <a:lnTo>
                    <a:pt x="121549" y="744598"/>
                  </a:lnTo>
                  <a:lnTo>
                    <a:pt x="74239" y="735045"/>
                  </a:lnTo>
                  <a:lnTo>
                    <a:pt x="35603" y="708995"/>
                  </a:lnTo>
                  <a:lnTo>
                    <a:pt x="9552" y="670359"/>
                  </a:lnTo>
                  <a:lnTo>
                    <a:pt x="0" y="623048"/>
                  </a:lnTo>
                  <a:lnTo>
                    <a:pt x="0" y="121549"/>
                  </a:lnTo>
                  <a:lnTo>
                    <a:pt x="9552" y="74239"/>
                  </a:lnTo>
                  <a:lnTo>
                    <a:pt x="35607" y="35599"/>
                  </a:lnTo>
                  <a:lnTo>
                    <a:pt x="74239" y="9552"/>
                  </a:lnTo>
                  <a:lnTo>
                    <a:pt x="121549" y="0"/>
                  </a:lnTo>
                  <a:lnTo>
                    <a:pt x="607748" y="0"/>
                  </a:lnTo>
                  <a:lnTo>
                    <a:pt x="654258" y="9249"/>
                  </a:lnTo>
                  <a:lnTo>
                    <a:pt x="693701" y="35603"/>
                  </a:lnTo>
                  <a:lnTo>
                    <a:pt x="720048" y="75040"/>
                  </a:lnTo>
                  <a:lnTo>
                    <a:pt x="729298" y="121549"/>
                  </a:lnTo>
                  <a:lnTo>
                    <a:pt x="729298" y="623048"/>
                  </a:lnTo>
                  <a:lnTo>
                    <a:pt x="719745" y="670359"/>
                  </a:lnTo>
                  <a:lnTo>
                    <a:pt x="693695" y="708995"/>
                  </a:lnTo>
                  <a:lnTo>
                    <a:pt x="655059" y="735045"/>
                  </a:lnTo>
                  <a:lnTo>
                    <a:pt x="607748" y="744598"/>
                  </a:lnTo>
                  <a:close/>
                </a:path>
              </a:pathLst>
            </a:custGeom>
            <a:solidFill>
              <a:srgbClr val="1D72FF">
                <a:alpha val="1884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latin typeface="Roboto"/>
                <a:cs typeface="Roboto"/>
              </a:rPr>
              <a:t>Stochastic</a:t>
            </a:r>
            <a:r>
              <a:rPr spc="-110" dirty="0">
                <a:latin typeface="Roboto"/>
                <a:cs typeface="Roboto"/>
              </a:rPr>
              <a:t> </a:t>
            </a:r>
            <a:r>
              <a:rPr spc="-20" dirty="0">
                <a:latin typeface="Roboto"/>
                <a:cs typeface="Roboto"/>
              </a:rPr>
              <a:t>Gradient</a:t>
            </a:r>
            <a:r>
              <a:rPr spc="-110" dirty="0">
                <a:latin typeface="Roboto"/>
                <a:cs typeface="Roboto"/>
              </a:rPr>
              <a:t> </a:t>
            </a:r>
            <a:r>
              <a:rPr spc="-20" dirty="0">
                <a:latin typeface="Roboto"/>
                <a:cs typeface="Roboto"/>
              </a:rPr>
              <a:t>Descent</a:t>
            </a:r>
            <a:r>
              <a:rPr spc="-110" dirty="0">
                <a:latin typeface="Roboto"/>
                <a:cs typeface="Roboto"/>
              </a:rPr>
              <a:t> </a:t>
            </a:r>
            <a:r>
              <a:rPr spc="-10" dirty="0">
                <a:latin typeface="Roboto"/>
                <a:cs typeface="Roboto"/>
              </a:rPr>
              <a:t>(SGD)</a:t>
            </a: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23709" y="1818946"/>
            <a:ext cx="3384772" cy="1823321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5248" y="1176351"/>
            <a:ext cx="3363595" cy="190055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14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Initialize</a:t>
            </a:r>
            <a:r>
              <a:rPr sz="18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θ</a:t>
            </a:r>
            <a:r>
              <a:rPr sz="18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randomly</a:t>
            </a:r>
            <a:endParaRPr sz="1800">
              <a:latin typeface="Roboto"/>
              <a:cs typeface="Roboto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For</a:t>
            </a:r>
            <a:r>
              <a:rPr sz="18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N</a:t>
            </a:r>
            <a:r>
              <a:rPr sz="1800" spc="-1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Epochs</a:t>
            </a:r>
            <a:endParaRPr sz="1800">
              <a:latin typeface="Roboto"/>
              <a:cs typeface="Roboto"/>
            </a:endParaRPr>
          </a:p>
          <a:p>
            <a:pPr marL="836294" lvl="1" indent="-335915">
              <a:lnSpc>
                <a:spcPct val="100000"/>
              </a:lnSpc>
              <a:spcBef>
                <a:spcPts val="330"/>
              </a:spcBef>
              <a:buFont typeface="Arial MT"/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For</a:t>
            </a:r>
            <a:r>
              <a:rPr sz="14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each</a:t>
            </a:r>
            <a:r>
              <a:rPr sz="14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training</a:t>
            </a:r>
            <a:r>
              <a:rPr sz="14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example</a:t>
            </a:r>
            <a:r>
              <a:rPr sz="14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(x,</a:t>
            </a:r>
            <a:r>
              <a:rPr sz="14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5" dirty="0">
                <a:solidFill>
                  <a:srgbClr val="595959"/>
                </a:solidFill>
                <a:latin typeface="Roboto"/>
                <a:cs typeface="Roboto"/>
              </a:rPr>
              <a:t>y):</a:t>
            </a:r>
            <a:endParaRPr sz="1400">
              <a:latin typeface="Roboto"/>
              <a:cs typeface="Roboto"/>
            </a:endParaRPr>
          </a:p>
          <a:p>
            <a:pPr lvl="1">
              <a:lnSpc>
                <a:spcPct val="100000"/>
              </a:lnSpc>
              <a:spcBef>
                <a:spcPts val="540"/>
              </a:spcBef>
              <a:buClr>
                <a:srgbClr val="595959"/>
              </a:buClr>
              <a:buFont typeface="Arial MT"/>
              <a:buChar char="○"/>
            </a:pPr>
            <a:endParaRPr sz="1400">
              <a:latin typeface="Roboto"/>
              <a:cs typeface="Roboto"/>
            </a:endParaRPr>
          </a:p>
          <a:p>
            <a:pPr marL="1293495" lvl="2" indent="-335915">
              <a:lnSpc>
                <a:spcPct val="100000"/>
              </a:lnSpc>
              <a:buFont typeface="Arial MT"/>
              <a:buChar char="■"/>
              <a:tabLst>
                <a:tab pos="1293495" algn="l"/>
              </a:tabLst>
            </a:pP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Compute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Loss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Gradient:</a:t>
            </a:r>
            <a:endParaRPr sz="1400">
              <a:latin typeface="Roboto"/>
              <a:cs typeface="Roboto"/>
            </a:endParaRPr>
          </a:p>
          <a:p>
            <a:pPr lvl="2">
              <a:lnSpc>
                <a:spcPct val="100000"/>
              </a:lnSpc>
              <a:spcBef>
                <a:spcPts val="540"/>
              </a:spcBef>
              <a:buClr>
                <a:srgbClr val="595959"/>
              </a:buClr>
              <a:buFont typeface="Arial MT"/>
              <a:buChar char="■"/>
            </a:pPr>
            <a:endParaRPr sz="1400">
              <a:latin typeface="Roboto"/>
              <a:cs typeface="Roboto"/>
            </a:endParaRPr>
          </a:p>
          <a:p>
            <a:pPr marL="1293495" lvl="2" indent="-335915">
              <a:lnSpc>
                <a:spcPct val="100000"/>
              </a:lnSpc>
              <a:buFont typeface="Arial MT"/>
              <a:buChar char="■"/>
              <a:tabLst>
                <a:tab pos="1293495" algn="l"/>
              </a:tabLst>
            </a:pP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Update</a:t>
            </a:r>
            <a:r>
              <a:rPr sz="14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θ</a:t>
            </a:r>
            <a:r>
              <a:rPr sz="14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with</a:t>
            </a:r>
            <a:r>
              <a:rPr sz="14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update</a:t>
            </a:r>
            <a:r>
              <a:rPr sz="14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rule: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5248" y="4311974"/>
            <a:ext cx="31311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How</a:t>
            </a:r>
            <a:r>
              <a:rPr sz="1800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to</a:t>
            </a:r>
            <a:r>
              <a:rPr sz="18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Compute</a:t>
            </a:r>
            <a:r>
              <a:rPr sz="18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Gradient?</a:t>
            </a:r>
            <a:endParaRPr sz="1800">
              <a:latin typeface="Roboto"/>
              <a:cs typeface="Roboto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16767" y="2263545"/>
            <a:ext cx="518598" cy="46399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906996" y="3230293"/>
            <a:ext cx="2009775" cy="744855"/>
            <a:chOff x="1906996" y="3230293"/>
            <a:chExt cx="2009775" cy="744855"/>
          </a:xfrm>
        </p:grpSpPr>
        <p:sp>
          <p:nvSpPr>
            <p:cNvPr id="6" name="object 6"/>
            <p:cNvSpPr/>
            <p:nvPr/>
          </p:nvSpPr>
          <p:spPr>
            <a:xfrm>
              <a:off x="3187368" y="3230293"/>
              <a:ext cx="729615" cy="744855"/>
            </a:xfrm>
            <a:custGeom>
              <a:avLst/>
              <a:gdLst/>
              <a:ahLst/>
              <a:cxnLst/>
              <a:rect l="l" t="t" r="r" b="b"/>
              <a:pathLst>
                <a:path w="729614" h="744854">
                  <a:moveTo>
                    <a:pt x="607748" y="744598"/>
                  </a:moveTo>
                  <a:lnTo>
                    <a:pt x="121549" y="744598"/>
                  </a:lnTo>
                  <a:lnTo>
                    <a:pt x="74239" y="735045"/>
                  </a:lnTo>
                  <a:lnTo>
                    <a:pt x="35603" y="708995"/>
                  </a:lnTo>
                  <a:lnTo>
                    <a:pt x="9552" y="670359"/>
                  </a:lnTo>
                  <a:lnTo>
                    <a:pt x="0" y="623048"/>
                  </a:lnTo>
                  <a:lnTo>
                    <a:pt x="0" y="121549"/>
                  </a:lnTo>
                  <a:lnTo>
                    <a:pt x="9552" y="74239"/>
                  </a:lnTo>
                  <a:lnTo>
                    <a:pt x="35607" y="35599"/>
                  </a:lnTo>
                  <a:lnTo>
                    <a:pt x="74239" y="9552"/>
                  </a:lnTo>
                  <a:lnTo>
                    <a:pt x="121549" y="0"/>
                  </a:lnTo>
                  <a:lnTo>
                    <a:pt x="607748" y="0"/>
                  </a:lnTo>
                  <a:lnTo>
                    <a:pt x="654258" y="9249"/>
                  </a:lnTo>
                  <a:lnTo>
                    <a:pt x="693701" y="35603"/>
                  </a:lnTo>
                  <a:lnTo>
                    <a:pt x="720048" y="75040"/>
                  </a:lnTo>
                  <a:lnTo>
                    <a:pt x="729298" y="121549"/>
                  </a:lnTo>
                  <a:lnTo>
                    <a:pt x="729298" y="623048"/>
                  </a:lnTo>
                  <a:lnTo>
                    <a:pt x="719745" y="670359"/>
                  </a:lnTo>
                  <a:lnTo>
                    <a:pt x="693695" y="708995"/>
                  </a:lnTo>
                  <a:lnTo>
                    <a:pt x="655059" y="735045"/>
                  </a:lnTo>
                  <a:lnTo>
                    <a:pt x="607748" y="744598"/>
                  </a:lnTo>
                  <a:close/>
                </a:path>
              </a:pathLst>
            </a:custGeom>
            <a:solidFill>
              <a:srgbClr val="1D72FF">
                <a:alpha val="1884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6996" y="3278743"/>
              <a:ext cx="2009770" cy="64769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187368" y="3230293"/>
              <a:ext cx="729615" cy="744855"/>
            </a:xfrm>
            <a:custGeom>
              <a:avLst/>
              <a:gdLst/>
              <a:ahLst/>
              <a:cxnLst/>
              <a:rect l="l" t="t" r="r" b="b"/>
              <a:pathLst>
                <a:path w="729614" h="744854">
                  <a:moveTo>
                    <a:pt x="607748" y="744598"/>
                  </a:moveTo>
                  <a:lnTo>
                    <a:pt x="121549" y="744598"/>
                  </a:lnTo>
                  <a:lnTo>
                    <a:pt x="74239" y="735045"/>
                  </a:lnTo>
                  <a:lnTo>
                    <a:pt x="35603" y="708995"/>
                  </a:lnTo>
                  <a:lnTo>
                    <a:pt x="9552" y="670359"/>
                  </a:lnTo>
                  <a:lnTo>
                    <a:pt x="0" y="623048"/>
                  </a:lnTo>
                  <a:lnTo>
                    <a:pt x="0" y="121549"/>
                  </a:lnTo>
                  <a:lnTo>
                    <a:pt x="9552" y="74239"/>
                  </a:lnTo>
                  <a:lnTo>
                    <a:pt x="35607" y="35599"/>
                  </a:lnTo>
                  <a:lnTo>
                    <a:pt x="74239" y="9552"/>
                  </a:lnTo>
                  <a:lnTo>
                    <a:pt x="121549" y="0"/>
                  </a:lnTo>
                  <a:lnTo>
                    <a:pt x="607748" y="0"/>
                  </a:lnTo>
                  <a:lnTo>
                    <a:pt x="654258" y="9249"/>
                  </a:lnTo>
                  <a:lnTo>
                    <a:pt x="693701" y="35603"/>
                  </a:lnTo>
                  <a:lnTo>
                    <a:pt x="720048" y="75040"/>
                  </a:lnTo>
                  <a:lnTo>
                    <a:pt x="729298" y="121549"/>
                  </a:lnTo>
                  <a:lnTo>
                    <a:pt x="729298" y="623048"/>
                  </a:lnTo>
                  <a:lnTo>
                    <a:pt x="719745" y="670359"/>
                  </a:lnTo>
                  <a:lnTo>
                    <a:pt x="693695" y="708995"/>
                  </a:lnTo>
                  <a:lnTo>
                    <a:pt x="655059" y="735045"/>
                  </a:lnTo>
                  <a:lnTo>
                    <a:pt x="607748" y="744598"/>
                  </a:lnTo>
                  <a:close/>
                </a:path>
              </a:pathLst>
            </a:custGeom>
            <a:solidFill>
              <a:srgbClr val="1D72FF">
                <a:alpha val="1884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latin typeface="Roboto"/>
                <a:cs typeface="Roboto"/>
              </a:rPr>
              <a:t>Stochastic</a:t>
            </a:r>
            <a:r>
              <a:rPr spc="-110" dirty="0">
                <a:latin typeface="Roboto"/>
                <a:cs typeface="Roboto"/>
              </a:rPr>
              <a:t> </a:t>
            </a:r>
            <a:r>
              <a:rPr spc="-20" dirty="0">
                <a:latin typeface="Roboto"/>
                <a:cs typeface="Roboto"/>
              </a:rPr>
              <a:t>Gradient</a:t>
            </a:r>
            <a:r>
              <a:rPr spc="-110" dirty="0">
                <a:latin typeface="Roboto"/>
                <a:cs typeface="Roboto"/>
              </a:rPr>
              <a:t> </a:t>
            </a:r>
            <a:r>
              <a:rPr spc="-20" dirty="0">
                <a:latin typeface="Roboto"/>
                <a:cs typeface="Roboto"/>
              </a:rPr>
              <a:t>Descent</a:t>
            </a:r>
            <a:r>
              <a:rPr spc="-110" dirty="0">
                <a:latin typeface="Roboto"/>
                <a:cs typeface="Roboto"/>
              </a:rPr>
              <a:t> </a:t>
            </a:r>
            <a:r>
              <a:rPr spc="-10" dirty="0">
                <a:latin typeface="Roboto"/>
                <a:cs typeface="Roboto"/>
              </a:rPr>
              <a:t>(SGD)</a:t>
            </a: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23709" y="1818946"/>
            <a:ext cx="3384772" cy="1823321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latin typeface="Roboto"/>
                <a:cs typeface="Roboto"/>
              </a:rPr>
              <a:t>Calculating</a:t>
            </a:r>
            <a:r>
              <a:rPr spc="-105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the</a:t>
            </a:r>
            <a:r>
              <a:rPr spc="-105" dirty="0">
                <a:latin typeface="Roboto"/>
                <a:cs typeface="Roboto"/>
              </a:rPr>
              <a:t> </a:t>
            </a:r>
            <a:r>
              <a:rPr spc="-20" dirty="0">
                <a:latin typeface="Roboto"/>
                <a:cs typeface="Roboto"/>
              </a:rPr>
              <a:t>Gradient:</a:t>
            </a:r>
            <a:r>
              <a:rPr spc="-100" dirty="0">
                <a:latin typeface="Roboto"/>
                <a:cs typeface="Roboto"/>
              </a:rPr>
              <a:t> </a:t>
            </a:r>
            <a:r>
              <a:rPr spc="-10" dirty="0">
                <a:latin typeface="Roboto"/>
                <a:cs typeface="Roboto"/>
              </a:rPr>
              <a:t>Backpropagation</a:t>
            </a:r>
          </a:p>
        </p:txBody>
      </p:sp>
      <p:sp>
        <p:nvSpPr>
          <p:cNvPr id="3" name="object 3"/>
          <p:cNvSpPr/>
          <p:nvPr/>
        </p:nvSpPr>
        <p:spPr>
          <a:xfrm>
            <a:off x="756828" y="1403179"/>
            <a:ext cx="1005840" cy="1005840"/>
          </a:xfrm>
          <a:custGeom>
            <a:avLst/>
            <a:gdLst/>
            <a:ahLst/>
            <a:cxnLst/>
            <a:rect l="l" t="t" r="r" b="b"/>
            <a:pathLst>
              <a:path w="1005839" h="1005839">
                <a:moveTo>
                  <a:pt x="502649" y="1005298"/>
                </a:moveTo>
                <a:lnTo>
                  <a:pt x="454240" y="1002997"/>
                </a:lnTo>
                <a:lnTo>
                  <a:pt x="407134" y="996234"/>
                </a:lnTo>
                <a:lnTo>
                  <a:pt x="361540" y="985220"/>
                </a:lnTo>
                <a:lnTo>
                  <a:pt x="317669" y="970167"/>
                </a:lnTo>
                <a:lnTo>
                  <a:pt x="275732" y="951283"/>
                </a:lnTo>
                <a:lnTo>
                  <a:pt x="235939" y="928781"/>
                </a:lnTo>
                <a:lnTo>
                  <a:pt x="198502" y="902870"/>
                </a:lnTo>
                <a:lnTo>
                  <a:pt x="163630" y="873762"/>
                </a:lnTo>
                <a:lnTo>
                  <a:pt x="131535" y="841667"/>
                </a:lnTo>
                <a:lnTo>
                  <a:pt x="102427" y="806795"/>
                </a:lnTo>
                <a:lnTo>
                  <a:pt x="76516" y="769358"/>
                </a:lnTo>
                <a:lnTo>
                  <a:pt x="54014" y="729565"/>
                </a:lnTo>
                <a:lnTo>
                  <a:pt x="35130" y="687628"/>
                </a:lnTo>
                <a:lnTo>
                  <a:pt x="20077" y="643757"/>
                </a:lnTo>
                <a:lnTo>
                  <a:pt x="9063" y="598163"/>
                </a:lnTo>
                <a:lnTo>
                  <a:pt x="2300" y="551057"/>
                </a:lnTo>
                <a:lnTo>
                  <a:pt x="0" y="502649"/>
                </a:lnTo>
                <a:lnTo>
                  <a:pt x="2300" y="454240"/>
                </a:lnTo>
                <a:lnTo>
                  <a:pt x="9063" y="407134"/>
                </a:lnTo>
                <a:lnTo>
                  <a:pt x="20077" y="361540"/>
                </a:lnTo>
                <a:lnTo>
                  <a:pt x="35130" y="317669"/>
                </a:lnTo>
                <a:lnTo>
                  <a:pt x="54014" y="275732"/>
                </a:lnTo>
                <a:lnTo>
                  <a:pt x="76516" y="235939"/>
                </a:lnTo>
                <a:lnTo>
                  <a:pt x="102427" y="198502"/>
                </a:lnTo>
                <a:lnTo>
                  <a:pt x="131535" y="163630"/>
                </a:lnTo>
                <a:lnTo>
                  <a:pt x="163630" y="131535"/>
                </a:lnTo>
                <a:lnTo>
                  <a:pt x="198502" y="102427"/>
                </a:lnTo>
                <a:lnTo>
                  <a:pt x="235939" y="76516"/>
                </a:lnTo>
                <a:lnTo>
                  <a:pt x="275732" y="54014"/>
                </a:lnTo>
                <a:lnTo>
                  <a:pt x="317669" y="35130"/>
                </a:lnTo>
                <a:lnTo>
                  <a:pt x="361540" y="20077"/>
                </a:lnTo>
                <a:lnTo>
                  <a:pt x="407134" y="9063"/>
                </a:lnTo>
                <a:lnTo>
                  <a:pt x="454240" y="2300"/>
                </a:lnTo>
                <a:lnTo>
                  <a:pt x="502649" y="0"/>
                </a:lnTo>
                <a:lnTo>
                  <a:pt x="552330" y="2459"/>
                </a:lnTo>
                <a:lnTo>
                  <a:pt x="601169" y="9747"/>
                </a:lnTo>
                <a:lnTo>
                  <a:pt x="648837" y="21727"/>
                </a:lnTo>
                <a:lnTo>
                  <a:pt x="695005" y="38261"/>
                </a:lnTo>
                <a:lnTo>
                  <a:pt x="739342" y="59215"/>
                </a:lnTo>
                <a:lnTo>
                  <a:pt x="781519" y="84450"/>
                </a:lnTo>
                <a:lnTo>
                  <a:pt x="821207" y="113831"/>
                </a:lnTo>
                <a:lnTo>
                  <a:pt x="858075" y="147222"/>
                </a:lnTo>
                <a:lnTo>
                  <a:pt x="891466" y="184090"/>
                </a:lnTo>
                <a:lnTo>
                  <a:pt x="920847" y="223778"/>
                </a:lnTo>
                <a:lnTo>
                  <a:pt x="946082" y="265956"/>
                </a:lnTo>
                <a:lnTo>
                  <a:pt x="967036" y="310293"/>
                </a:lnTo>
                <a:lnTo>
                  <a:pt x="983570" y="356461"/>
                </a:lnTo>
                <a:lnTo>
                  <a:pt x="995550" y="404129"/>
                </a:lnTo>
                <a:lnTo>
                  <a:pt x="1002838" y="452968"/>
                </a:lnTo>
                <a:lnTo>
                  <a:pt x="1005298" y="502649"/>
                </a:lnTo>
                <a:lnTo>
                  <a:pt x="1002997" y="551057"/>
                </a:lnTo>
                <a:lnTo>
                  <a:pt x="996234" y="598163"/>
                </a:lnTo>
                <a:lnTo>
                  <a:pt x="985221" y="643757"/>
                </a:lnTo>
                <a:lnTo>
                  <a:pt x="970167" y="687628"/>
                </a:lnTo>
                <a:lnTo>
                  <a:pt x="951284" y="729565"/>
                </a:lnTo>
                <a:lnTo>
                  <a:pt x="928782" y="769358"/>
                </a:lnTo>
                <a:lnTo>
                  <a:pt x="902871" y="806795"/>
                </a:lnTo>
                <a:lnTo>
                  <a:pt x="873763" y="841667"/>
                </a:lnTo>
                <a:lnTo>
                  <a:pt x="841668" y="873762"/>
                </a:lnTo>
                <a:lnTo>
                  <a:pt x="806796" y="902870"/>
                </a:lnTo>
                <a:lnTo>
                  <a:pt x="769359" y="928781"/>
                </a:lnTo>
                <a:lnTo>
                  <a:pt x="729566" y="951283"/>
                </a:lnTo>
                <a:lnTo>
                  <a:pt x="687629" y="970167"/>
                </a:lnTo>
                <a:lnTo>
                  <a:pt x="643758" y="985220"/>
                </a:lnTo>
                <a:lnTo>
                  <a:pt x="598164" y="996234"/>
                </a:lnTo>
                <a:lnTo>
                  <a:pt x="551057" y="1002997"/>
                </a:lnTo>
                <a:lnTo>
                  <a:pt x="502649" y="1005298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32528" y="1745870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800" spc="-37" baseline="-30092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800" baseline="-30092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039513" y="1459194"/>
            <a:ext cx="942340" cy="942340"/>
          </a:xfrm>
          <a:custGeom>
            <a:avLst/>
            <a:gdLst/>
            <a:ahLst/>
            <a:cxnLst/>
            <a:rect l="l" t="t" r="r" b="b"/>
            <a:pathLst>
              <a:path w="942340" h="942339">
                <a:moveTo>
                  <a:pt x="471149" y="942298"/>
                </a:moveTo>
                <a:lnTo>
                  <a:pt x="422978" y="939865"/>
                </a:lnTo>
                <a:lnTo>
                  <a:pt x="376198" y="932726"/>
                </a:lnTo>
                <a:lnTo>
                  <a:pt x="331047" y="921116"/>
                </a:lnTo>
                <a:lnTo>
                  <a:pt x="287760" y="905273"/>
                </a:lnTo>
                <a:lnTo>
                  <a:pt x="246575" y="885433"/>
                </a:lnTo>
                <a:lnTo>
                  <a:pt x="207729" y="861833"/>
                </a:lnTo>
                <a:lnTo>
                  <a:pt x="171458" y="834710"/>
                </a:lnTo>
                <a:lnTo>
                  <a:pt x="137999" y="804302"/>
                </a:lnTo>
                <a:lnTo>
                  <a:pt x="107590" y="770844"/>
                </a:lnTo>
                <a:lnTo>
                  <a:pt x="80467" y="734573"/>
                </a:lnTo>
                <a:lnTo>
                  <a:pt x="56866" y="695727"/>
                </a:lnTo>
                <a:lnTo>
                  <a:pt x="37026" y="654541"/>
                </a:lnTo>
                <a:lnTo>
                  <a:pt x="21182" y="611254"/>
                </a:lnTo>
                <a:lnTo>
                  <a:pt x="9572" y="566102"/>
                </a:lnTo>
                <a:lnTo>
                  <a:pt x="2432" y="519321"/>
                </a:lnTo>
                <a:lnTo>
                  <a:pt x="0" y="471149"/>
                </a:lnTo>
                <a:lnTo>
                  <a:pt x="2432" y="422976"/>
                </a:lnTo>
                <a:lnTo>
                  <a:pt x="9572" y="376195"/>
                </a:lnTo>
                <a:lnTo>
                  <a:pt x="21182" y="331043"/>
                </a:lnTo>
                <a:lnTo>
                  <a:pt x="37026" y="287756"/>
                </a:lnTo>
                <a:lnTo>
                  <a:pt x="56866" y="246570"/>
                </a:lnTo>
                <a:lnTo>
                  <a:pt x="80467" y="207724"/>
                </a:lnTo>
                <a:lnTo>
                  <a:pt x="107590" y="171454"/>
                </a:lnTo>
                <a:lnTo>
                  <a:pt x="137999" y="137995"/>
                </a:lnTo>
                <a:lnTo>
                  <a:pt x="171458" y="107587"/>
                </a:lnTo>
                <a:lnTo>
                  <a:pt x="207729" y="80464"/>
                </a:lnTo>
                <a:lnTo>
                  <a:pt x="246575" y="56864"/>
                </a:lnTo>
                <a:lnTo>
                  <a:pt x="287760" y="37025"/>
                </a:lnTo>
                <a:lnTo>
                  <a:pt x="331047" y="21181"/>
                </a:lnTo>
                <a:lnTo>
                  <a:pt x="376198" y="9572"/>
                </a:lnTo>
                <a:lnTo>
                  <a:pt x="422978" y="2432"/>
                </a:lnTo>
                <a:lnTo>
                  <a:pt x="471149" y="0"/>
                </a:lnTo>
                <a:lnTo>
                  <a:pt x="524309" y="3007"/>
                </a:lnTo>
                <a:lnTo>
                  <a:pt x="576384" y="11901"/>
                </a:lnTo>
                <a:lnTo>
                  <a:pt x="626910" y="26492"/>
                </a:lnTo>
                <a:lnTo>
                  <a:pt x="675426" y="46587"/>
                </a:lnTo>
                <a:lnTo>
                  <a:pt x="721471" y="71997"/>
                </a:lnTo>
                <a:lnTo>
                  <a:pt x="764582" y="102531"/>
                </a:lnTo>
                <a:lnTo>
                  <a:pt x="804298" y="137997"/>
                </a:lnTo>
                <a:lnTo>
                  <a:pt x="839761" y="177715"/>
                </a:lnTo>
                <a:lnTo>
                  <a:pt x="870293" y="220826"/>
                </a:lnTo>
                <a:lnTo>
                  <a:pt x="895704" y="266870"/>
                </a:lnTo>
                <a:lnTo>
                  <a:pt x="915801" y="315385"/>
                </a:lnTo>
                <a:lnTo>
                  <a:pt x="930394" y="365911"/>
                </a:lnTo>
                <a:lnTo>
                  <a:pt x="939290" y="417986"/>
                </a:lnTo>
                <a:lnTo>
                  <a:pt x="942298" y="471149"/>
                </a:lnTo>
                <a:lnTo>
                  <a:pt x="939865" y="519321"/>
                </a:lnTo>
                <a:lnTo>
                  <a:pt x="932725" y="566102"/>
                </a:lnTo>
                <a:lnTo>
                  <a:pt x="921115" y="611254"/>
                </a:lnTo>
                <a:lnTo>
                  <a:pt x="905271" y="654541"/>
                </a:lnTo>
                <a:lnTo>
                  <a:pt x="885431" y="695727"/>
                </a:lnTo>
                <a:lnTo>
                  <a:pt x="861830" y="734573"/>
                </a:lnTo>
                <a:lnTo>
                  <a:pt x="834707" y="770844"/>
                </a:lnTo>
                <a:lnTo>
                  <a:pt x="804298" y="804302"/>
                </a:lnTo>
                <a:lnTo>
                  <a:pt x="770839" y="834710"/>
                </a:lnTo>
                <a:lnTo>
                  <a:pt x="734569" y="861833"/>
                </a:lnTo>
                <a:lnTo>
                  <a:pt x="695722" y="885433"/>
                </a:lnTo>
                <a:lnTo>
                  <a:pt x="654537" y="905273"/>
                </a:lnTo>
                <a:lnTo>
                  <a:pt x="611251" y="921116"/>
                </a:lnTo>
                <a:lnTo>
                  <a:pt x="566099" y="932726"/>
                </a:lnTo>
                <a:lnTo>
                  <a:pt x="519319" y="939865"/>
                </a:lnTo>
                <a:lnTo>
                  <a:pt x="471149" y="942298"/>
                </a:lnTo>
                <a:close/>
              </a:path>
            </a:pathLst>
          </a:custGeom>
          <a:solidFill>
            <a:srgbClr val="6EA8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372742" y="1770383"/>
            <a:ext cx="2762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1800" spc="-37" baseline="-30092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800" baseline="-30092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486043" y="1459194"/>
            <a:ext cx="942340" cy="942340"/>
          </a:xfrm>
          <a:custGeom>
            <a:avLst/>
            <a:gdLst/>
            <a:ahLst/>
            <a:cxnLst/>
            <a:rect l="l" t="t" r="r" b="b"/>
            <a:pathLst>
              <a:path w="942339" h="942339">
                <a:moveTo>
                  <a:pt x="471149" y="942298"/>
                </a:moveTo>
                <a:lnTo>
                  <a:pt x="422978" y="939865"/>
                </a:lnTo>
                <a:lnTo>
                  <a:pt x="376198" y="932726"/>
                </a:lnTo>
                <a:lnTo>
                  <a:pt x="331047" y="921116"/>
                </a:lnTo>
                <a:lnTo>
                  <a:pt x="287760" y="905273"/>
                </a:lnTo>
                <a:lnTo>
                  <a:pt x="246575" y="885433"/>
                </a:lnTo>
                <a:lnTo>
                  <a:pt x="207729" y="861833"/>
                </a:lnTo>
                <a:lnTo>
                  <a:pt x="171458" y="834710"/>
                </a:lnTo>
                <a:lnTo>
                  <a:pt x="137999" y="804302"/>
                </a:lnTo>
                <a:lnTo>
                  <a:pt x="107590" y="770844"/>
                </a:lnTo>
                <a:lnTo>
                  <a:pt x="80467" y="734573"/>
                </a:lnTo>
                <a:lnTo>
                  <a:pt x="56866" y="695727"/>
                </a:lnTo>
                <a:lnTo>
                  <a:pt x="37026" y="654541"/>
                </a:lnTo>
                <a:lnTo>
                  <a:pt x="21182" y="611254"/>
                </a:lnTo>
                <a:lnTo>
                  <a:pt x="9572" y="566102"/>
                </a:lnTo>
                <a:lnTo>
                  <a:pt x="2432" y="519321"/>
                </a:lnTo>
                <a:lnTo>
                  <a:pt x="0" y="471149"/>
                </a:lnTo>
                <a:lnTo>
                  <a:pt x="2432" y="422976"/>
                </a:lnTo>
                <a:lnTo>
                  <a:pt x="9572" y="376195"/>
                </a:lnTo>
                <a:lnTo>
                  <a:pt x="21182" y="331043"/>
                </a:lnTo>
                <a:lnTo>
                  <a:pt x="37026" y="287756"/>
                </a:lnTo>
                <a:lnTo>
                  <a:pt x="56866" y="246570"/>
                </a:lnTo>
                <a:lnTo>
                  <a:pt x="80467" y="207724"/>
                </a:lnTo>
                <a:lnTo>
                  <a:pt x="107590" y="171454"/>
                </a:lnTo>
                <a:lnTo>
                  <a:pt x="137999" y="137995"/>
                </a:lnTo>
                <a:lnTo>
                  <a:pt x="171458" y="107587"/>
                </a:lnTo>
                <a:lnTo>
                  <a:pt x="207729" y="80464"/>
                </a:lnTo>
                <a:lnTo>
                  <a:pt x="246575" y="56864"/>
                </a:lnTo>
                <a:lnTo>
                  <a:pt x="287760" y="37025"/>
                </a:lnTo>
                <a:lnTo>
                  <a:pt x="331047" y="21181"/>
                </a:lnTo>
                <a:lnTo>
                  <a:pt x="376198" y="9572"/>
                </a:lnTo>
                <a:lnTo>
                  <a:pt x="422978" y="2432"/>
                </a:lnTo>
                <a:lnTo>
                  <a:pt x="471149" y="0"/>
                </a:lnTo>
                <a:lnTo>
                  <a:pt x="524309" y="3007"/>
                </a:lnTo>
                <a:lnTo>
                  <a:pt x="576384" y="11901"/>
                </a:lnTo>
                <a:lnTo>
                  <a:pt x="626910" y="26492"/>
                </a:lnTo>
                <a:lnTo>
                  <a:pt x="675426" y="46587"/>
                </a:lnTo>
                <a:lnTo>
                  <a:pt x="721471" y="71997"/>
                </a:lnTo>
                <a:lnTo>
                  <a:pt x="764582" y="102531"/>
                </a:lnTo>
                <a:lnTo>
                  <a:pt x="804298" y="137997"/>
                </a:lnTo>
                <a:lnTo>
                  <a:pt x="839761" y="177715"/>
                </a:lnTo>
                <a:lnTo>
                  <a:pt x="870293" y="220826"/>
                </a:lnTo>
                <a:lnTo>
                  <a:pt x="895704" y="266870"/>
                </a:lnTo>
                <a:lnTo>
                  <a:pt x="915801" y="315385"/>
                </a:lnTo>
                <a:lnTo>
                  <a:pt x="930394" y="365911"/>
                </a:lnTo>
                <a:lnTo>
                  <a:pt x="939290" y="417986"/>
                </a:lnTo>
                <a:lnTo>
                  <a:pt x="942298" y="471149"/>
                </a:lnTo>
                <a:lnTo>
                  <a:pt x="939865" y="519321"/>
                </a:lnTo>
                <a:lnTo>
                  <a:pt x="932725" y="566102"/>
                </a:lnTo>
                <a:lnTo>
                  <a:pt x="921115" y="611254"/>
                </a:lnTo>
                <a:lnTo>
                  <a:pt x="905271" y="654541"/>
                </a:lnTo>
                <a:lnTo>
                  <a:pt x="885431" y="695727"/>
                </a:lnTo>
                <a:lnTo>
                  <a:pt x="861830" y="734573"/>
                </a:lnTo>
                <a:lnTo>
                  <a:pt x="834707" y="770844"/>
                </a:lnTo>
                <a:lnTo>
                  <a:pt x="804298" y="804302"/>
                </a:lnTo>
                <a:lnTo>
                  <a:pt x="770839" y="834710"/>
                </a:lnTo>
                <a:lnTo>
                  <a:pt x="734569" y="861833"/>
                </a:lnTo>
                <a:lnTo>
                  <a:pt x="695722" y="885433"/>
                </a:lnTo>
                <a:lnTo>
                  <a:pt x="654537" y="905273"/>
                </a:lnTo>
                <a:lnTo>
                  <a:pt x="611251" y="921116"/>
                </a:lnTo>
                <a:lnTo>
                  <a:pt x="566099" y="932726"/>
                </a:lnTo>
                <a:lnTo>
                  <a:pt x="519319" y="939865"/>
                </a:lnTo>
                <a:lnTo>
                  <a:pt x="471149" y="942298"/>
                </a:lnTo>
                <a:close/>
              </a:path>
            </a:pathLst>
          </a:custGeom>
          <a:solidFill>
            <a:srgbClr val="8E7C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819038" y="1770383"/>
            <a:ext cx="276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800" spc="-37" baseline="-30092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800" baseline="-30092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752601" y="1887811"/>
            <a:ext cx="6281420" cy="83820"/>
            <a:chOff x="1752601" y="1887811"/>
            <a:chExt cx="6281420" cy="83820"/>
          </a:xfrm>
        </p:grpSpPr>
        <p:sp>
          <p:nvSpPr>
            <p:cNvPr id="10" name="object 10"/>
            <p:cNvSpPr/>
            <p:nvPr/>
          </p:nvSpPr>
          <p:spPr>
            <a:xfrm>
              <a:off x="1762126" y="1905828"/>
              <a:ext cx="1609725" cy="23495"/>
            </a:xfrm>
            <a:custGeom>
              <a:avLst/>
              <a:gdLst/>
              <a:ahLst/>
              <a:cxnLst/>
              <a:rect l="l" t="t" r="r" b="b"/>
              <a:pathLst>
                <a:path w="1609725" h="23494">
                  <a:moveTo>
                    <a:pt x="0" y="0"/>
                  </a:moveTo>
                  <a:lnTo>
                    <a:pt x="1609516" y="22969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61668" y="1887811"/>
              <a:ext cx="105924" cy="819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428341" y="1930343"/>
              <a:ext cx="1497330" cy="0"/>
            </a:xfrm>
            <a:custGeom>
              <a:avLst/>
              <a:gdLst/>
              <a:ahLst/>
              <a:cxnLst/>
              <a:rect l="l" t="t" r="r" b="b"/>
              <a:pathLst>
                <a:path w="1497329">
                  <a:moveTo>
                    <a:pt x="0" y="0"/>
                  </a:moveTo>
                  <a:lnTo>
                    <a:pt x="1496996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15813" y="1889353"/>
              <a:ext cx="105499" cy="8197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981935" y="1930311"/>
              <a:ext cx="956310" cy="0"/>
            </a:xfrm>
            <a:custGeom>
              <a:avLst/>
              <a:gdLst/>
              <a:ahLst/>
              <a:cxnLst/>
              <a:rect l="l" t="t" r="r" b="b"/>
              <a:pathLst>
                <a:path w="956309">
                  <a:moveTo>
                    <a:pt x="0" y="0"/>
                  </a:moveTo>
                  <a:lnTo>
                    <a:pt x="956098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28509" y="1889318"/>
              <a:ext cx="105499" cy="81982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8117833" y="1770007"/>
            <a:ext cx="5060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latin typeface="Arial MT"/>
                <a:cs typeface="Arial MT"/>
              </a:rPr>
              <a:t>J(</a:t>
            </a:r>
            <a:r>
              <a:rPr sz="2000" spc="-20" dirty="0">
                <a:latin typeface="Microsoft Sans Serif"/>
                <a:cs typeface="Microsoft Sans Serif"/>
              </a:rPr>
              <a:t>Ө</a:t>
            </a:r>
            <a:r>
              <a:rPr sz="2000" spc="-20" dirty="0">
                <a:latin typeface="Arial MT"/>
                <a:cs typeface="Arial MT"/>
              </a:rPr>
              <a:t>)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43916" y="1574383"/>
            <a:ext cx="3098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 MT"/>
                <a:cs typeface="Arial MT"/>
              </a:rPr>
              <a:t>W</a:t>
            </a:r>
            <a:r>
              <a:rPr sz="1350" spc="-37" baseline="-33950" dirty="0">
                <a:latin typeface="Arial MT"/>
                <a:cs typeface="Arial MT"/>
              </a:rPr>
              <a:t>1</a:t>
            </a:r>
            <a:endParaRPr sz="1350" baseline="-3395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934711" y="1574383"/>
            <a:ext cx="3098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 MT"/>
                <a:cs typeface="Arial MT"/>
              </a:rPr>
              <a:t>W</a:t>
            </a:r>
            <a:r>
              <a:rPr sz="1350" spc="-37" baseline="-33950" dirty="0">
                <a:latin typeface="Arial MT"/>
                <a:cs typeface="Arial MT"/>
              </a:rPr>
              <a:t>2</a:t>
            </a:r>
            <a:endParaRPr sz="1350" baseline="-33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latin typeface="Roboto"/>
                <a:cs typeface="Roboto"/>
              </a:rPr>
              <a:t>Calculating</a:t>
            </a:r>
            <a:r>
              <a:rPr spc="-105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the</a:t>
            </a:r>
            <a:r>
              <a:rPr spc="-105" dirty="0">
                <a:latin typeface="Roboto"/>
                <a:cs typeface="Roboto"/>
              </a:rPr>
              <a:t> </a:t>
            </a:r>
            <a:r>
              <a:rPr spc="-20" dirty="0">
                <a:latin typeface="Roboto"/>
                <a:cs typeface="Roboto"/>
              </a:rPr>
              <a:t>Gradient:</a:t>
            </a:r>
            <a:r>
              <a:rPr spc="-100" dirty="0">
                <a:latin typeface="Roboto"/>
                <a:cs typeface="Roboto"/>
              </a:rPr>
              <a:t> </a:t>
            </a:r>
            <a:r>
              <a:rPr spc="-10" dirty="0">
                <a:latin typeface="Roboto"/>
                <a:cs typeface="Roboto"/>
              </a:rPr>
              <a:t>Backpropagation</a:t>
            </a:r>
          </a:p>
        </p:txBody>
      </p:sp>
      <p:sp>
        <p:nvSpPr>
          <p:cNvPr id="3" name="object 3"/>
          <p:cNvSpPr/>
          <p:nvPr/>
        </p:nvSpPr>
        <p:spPr>
          <a:xfrm>
            <a:off x="756828" y="1403179"/>
            <a:ext cx="1005840" cy="1005840"/>
          </a:xfrm>
          <a:custGeom>
            <a:avLst/>
            <a:gdLst/>
            <a:ahLst/>
            <a:cxnLst/>
            <a:rect l="l" t="t" r="r" b="b"/>
            <a:pathLst>
              <a:path w="1005839" h="1005839">
                <a:moveTo>
                  <a:pt x="502649" y="1005298"/>
                </a:moveTo>
                <a:lnTo>
                  <a:pt x="454240" y="1002997"/>
                </a:lnTo>
                <a:lnTo>
                  <a:pt x="407134" y="996234"/>
                </a:lnTo>
                <a:lnTo>
                  <a:pt x="361540" y="985220"/>
                </a:lnTo>
                <a:lnTo>
                  <a:pt x="317669" y="970167"/>
                </a:lnTo>
                <a:lnTo>
                  <a:pt x="275732" y="951283"/>
                </a:lnTo>
                <a:lnTo>
                  <a:pt x="235939" y="928781"/>
                </a:lnTo>
                <a:lnTo>
                  <a:pt x="198502" y="902870"/>
                </a:lnTo>
                <a:lnTo>
                  <a:pt x="163630" y="873762"/>
                </a:lnTo>
                <a:lnTo>
                  <a:pt x="131535" y="841667"/>
                </a:lnTo>
                <a:lnTo>
                  <a:pt x="102427" y="806795"/>
                </a:lnTo>
                <a:lnTo>
                  <a:pt x="76516" y="769358"/>
                </a:lnTo>
                <a:lnTo>
                  <a:pt x="54014" y="729565"/>
                </a:lnTo>
                <a:lnTo>
                  <a:pt x="35130" y="687628"/>
                </a:lnTo>
                <a:lnTo>
                  <a:pt x="20077" y="643757"/>
                </a:lnTo>
                <a:lnTo>
                  <a:pt x="9063" y="598163"/>
                </a:lnTo>
                <a:lnTo>
                  <a:pt x="2300" y="551057"/>
                </a:lnTo>
                <a:lnTo>
                  <a:pt x="0" y="502649"/>
                </a:lnTo>
                <a:lnTo>
                  <a:pt x="2300" y="454240"/>
                </a:lnTo>
                <a:lnTo>
                  <a:pt x="9063" y="407134"/>
                </a:lnTo>
                <a:lnTo>
                  <a:pt x="20077" y="361540"/>
                </a:lnTo>
                <a:lnTo>
                  <a:pt x="35130" y="317669"/>
                </a:lnTo>
                <a:lnTo>
                  <a:pt x="54014" y="275732"/>
                </a:lnTo>
                <a:lnTo>
                  <a:pt x="76516" y="235939"/>
                </a:lnTo>
                <a:lnTo>
                  <a:pt x="102427" y="198502"/>
                </a:lnTo>
                <a:lnTo>
                  <a:pt x="131535" y="163630"/>
                </a:lnTo>
                <a:lnTo>
                  <a:pt x="163630" y="131535"/>
                </a:lnTo>
                <a:lnTo>
                  <a:pt x="198502" y="102427"/>
                </a:lnTo>
                <a:lnTo>
                  <a:pt x="235939" y="76516"/>
                </a:lnTo>
                <a:lnTo>
                  <a:pt x="275732" y="54014"/>
                </a:lnTo>
                <a:lnTo>
                  <a:pt x="317669" y="35130"/>
                </a:lnTo>
                <a:lnTo>
                  <a:pt x="361540" y="20077"/>
                </a:lnTo>
                <a:lnTo>
                  <a:pt x="407134" y="9063"/>
                </a:lnTo>
                <a:lnTo>
                  <a:pt x="454240" y="2300"/>
                </a:lnTo>
                <a:lnTo>
                  <a:pt x="502649" y="0"/>
                </a:lnTo>
                <a:lnTo>
                  <a:pt x="552330" y="2459"/>
                </a:lnTo>
                <a:lnTo>
                  <a:pt x="601169" y="9747"/>
                </a:lnTo>
                <a:lnTo>
                  <a:pt x="648837" y="21727"/>
                </a:lnTo>
                <a:lnTo>
                  <a:pt x="695005" y="38261"/>
                </a:lnTo>
                <a:lnTo>
                  <a:pt x="739342" y="59215"/>
                </a:lnTo>
                <a:lnTo>
                  <a:pt x="781519" y="84450"/>
                </a:lnTo>
                <a:lnTo>
                  <a:pt x="821207" y="113831"/>
                </a:lnTo>
                <a:lnTo>
                  <a:pt x="858075" y="147222"/>
                </a:lnTo>
                <a:lnTo>
                  <a:pt x="891466" y="184090"/>
                </a:lnTo>
                <a:lnTo>
                  <a:pt x="920847" y="223778"/>
                </a:lnTo>
                <a:lnTo>
                  <a:pt x="946082" y="265956"/>
                </a:lnTo>
                <a:lnTo>
                  <a:pt x="967036" y="310293"/>
                </a:lnTo>
                <a:lnTo>
                  <a:pt x="983570" y="356461"/>
                </a:lnTo>
                <a:lnTo>
                  <a:pt x="995550" y="404129"/>
                </a:lnTo>
                <a:lnTo>
                  <a:pt x="1002838" y="452968"/>
                </a:lnTo>
                <a:lnTo>
                  <a:pt x="1005298" y="502649"/>
                </a:lnTo>
                <a:lnTo>
                  <a:pt x="1002997" y="551057"/>
                </a:lnTo>
                <a:lnTo>
                  <a:pt x="996234" y="598163"/>
                </a:lnTo>
                <a:lnTo>
                  <a:pt x="985221" y="643757"/>
                </a:lnTo>
                <a:lnTo>
                  <a:pt x="970167" y="687628"/>
                </a:lnTo>
                <a:lnTo>
                  <a:pt x="951284" y="729565"/>
                </a:lnTo>
                <a:lnTo>
                  <a:pt x="928782" y="769358"/>
                </a:lnTo>
                <a:lnTo>
                  <a:pt x="902871" y="806795"/>
                </a:lnTo>
                <a:lnTo>
                  <a:pt x="873763" y="841667"/>
                </a:lnTo>
                <a:lnTo>
                  <a:pt x="841668" y="873762"/>
                </a:lnTo>
                <a:lnTo>
                  <a:pt x="806796" y="902870"/>
                </a:lnTo>
                <a:lnTo>
                  <a:pt x="769359" y="928781"/>
                </a:lnTo>
                <a:lnTo>
                  <a:pt x="729566" y="951283"/>
                </a:lnTo>
                <a:lnTo>
                  <a:pt x="687629" y="970167"/>
                </a:lnTo>
                <a:lnTo>
                  <a:pt x="643758" y="985220"/>
                </a:lnTo>
                <a:lnTo>
                  <a:pt x="598164" y="996234"/>
                </a:lnTo>
                <a:lnTo>
                  <a:pt x="551057" y="1002997"/>
                </a:lnTo>
                <a:lnTo>
                  <a:pt x="502649" y="1005298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32528" y="1745870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800" spc="-37" baseline="-30092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800" baseline="-30092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039513" y="1459194"/>
            <a:ext cx="942340" cy="942340"/>
          </a:xfrm>
          <a:custGeom>
            <a:avLst/>
            <a:gdLst/>
            <a:ahLst/>
            <a:cxnLst/>
            <a:rect l="l" t="t" r="r" b="b"/>
            <a:pathLst>
              <a:path w="942340" h="942339">
                <a:moveTo>
                  <a:pt x="471149" y="942298"/>
                </a:moveTo>
                <a:lnTo>
                  <a:pt x="422978" y="939865"/>
                </a:lnTo>
                <a:lnTo>
                  <a:pt x="376198" y="932726"/>
                </a:lnTo>
                <a:lnTo>
                  <a:pt x="331047" y="921116"/>
                </a:lnTo>
                <a:lnTo>
                  <a:pt x="287760" y="905273"/>
                </a:lnTo>
                <a:lnTo>
                  <a:pt x="246575" y="885433"/>
                </a:lnTo>
                <a:lnTo>
                  <a:pt x="207729" y="861833"/>
                </a:lnTo>
                <a:lnTo>
                  <a:pt x="171458" y="834710"/>
                </a:lnTo>
                <a:lnTo>
                  <a:pt x="137999" y="804302"/>
                </a:lnTo>
                <a:lnTo>
                  <a:pt x="107590" y="770844"/>
                </a:lnTo>
                <a:lnTo>
                  <a:pt x="80467" y="734573"/>
                </a:lnTo>
                <a:lnTo>
                  <a:pt x="56866" y="695727"/>
                </a:lnTo>
                <a:lnTo>
                  <a:pt x="37026" y="654541"/>
                </a:lnTo>
                <a:lnTo>
                  <a:pt x="21182" y="611254"/>
                </a:lnTo>
                <a:lnTo>
                  <a:pt x="9572" y="566102"/>
                </a:lnTo>
                <a:lnTo>
                  <a:pt x="2432" y="519321"/>
                </a:lnTo>
                <a:lnTo>
                  <a:pt x="0" y="471149"/>
                </a:lnTo>
                <a:lnTo>
                  <a:pt x="2432" y="422976"/>
                </a:lnTo>
                <a:lnTo>
                  <a:pt x="9572" y="376195"/>
                </a:lnTo>
                <a:lnTo>
                  <a:pt x="21182" y="331043"/>
                </a:lnTo>
                <a:lnTo>
                  <a:pt x="37026" y="287756"/>
                </a:lnTo>
                <a:lnTo>
                  <a:pt x="56866" y="246570"/>
                </a:lnTo>
                <a:lnTo>
                  <a:pt x="80467" y="207724"/>
                </a:lnTo>
                <a:lnTo>
                  <a:pt x="107590" y="171454"/>
                </a:lnTo>
                <a:lnTo>
                  <a:pt x="137999" y="137995"/>
                </a:lnTo>
                <a:lnTo>
                  <a:pt x="171458" y="107587"/>
                </a:lnTo>
                <a:lnTo>
                  <a:pt x="207729" y="80464"/>
                </a:lnTo>
                <a:lnTo>
                  <a:pt x="246575" y="56864"/>
                </a:lnTo>
                <a:lnTo>
                  <a:pt x="287760" y="37025"/>
                </a:lnTo>
                <a:lnTo>
                  <a:pt x="331047" y="21181"/>
                </a:lnTo>
                <a:lnTo>
                  <a:pt x="376198" y="9572"/>
                </a:lnTo>
                <a:lnTo>
                  <a:pt x="422978" y="2432"/>
                </a:lnTo>
                <a:lnTo>
                  <a:pt x="471149" y="0"/>
                </a:lnTo>
                <a:lnTo>
                  <a:pt x="524309" y="3007"/>
                </a:lnTo>
                <a:lnTo>
                  <a:pt x="576384" y="11901"/>
                </a:lnTo>
                <a:lnTo>
                  <a:pt x="626910" y="26492"/>
                </a:lnTo>
                <a:lnTo>
                  <a:pt x="675426" y="46587"/>
                </a:lnTo>
                <a:lnTo>
                  <a:pt x="721471" y="71997"/>
                </a:lnTo>
                <a:lnTo>
                  <a:pt x="764582" y="102531"/>
                </a:lnTo>
                <a:lnTo>
                  <a:pt x="804298" y="137997"/>
                </a:lnTo>
                <a:lnTo>
                  <a:pt x="839761" y="177715"/>
                </a:lnTo>
                <a:lnTo>
                  <a:pt x="870293" y="220826"/>
                </a:lnTo>
                <a:lnTo>
                  <a:pt x="895704" y="266870"/>
                </a:lnTo>
                <a:lnTo>
                  <a:pt x="915801" y="315385"/>
                </a:lnTo>
                <a:lnTo>
                  <a:pt x="930394" y="365911"/>
                </a:lnTo>
                <a:lnTo>
                  <a:pt x="939290" y="417986"/>
                </a:lnTo>
                <a:lnTo>
                  <a:pt x="942298" y="471149"/>
                </a:lnTo>
                <a:lnTo>
                  <a:pt x="939865" y="519321"/>
                </a:lnTo>
                <a:lnTo>
                  <a:pt x="932725" y="566102"/>
                </a:lnTo>
                <a:lnTo>
                  <a:pt x="921115" y="611254"/>
                </a:lnTo>
                <a:lnTo>
                  <a:pt x="905271" y="654541"/>
                </a:lnTo>
                <a:lnTo>
                  <a:pt x="885431" y="695727"/>
                </a:lnTo>
                <a:lnTo>
                  <a:pt x="861830" y="734573"/>
                </a:lnTo>
                <a:lnTo>
                  <a:pt x="834707" y="770844"/>
                </a:lnTo>
                <a:lnTo>
                  <a:pt x="804298" y="804302"/>
                </a:lnTo>
                <a:lnTo>
                  <a:pt x="770839" y="834710"/>
                </a:lnTo>
                <a:lnTo>
                  <a:pt x="734569" y="861833"/>
                </a:lnTo>
                <a:lnTo>
                  <a:pt x="695722" y="885433"/>
                </a:lnTo>
                <a:lnTo>
                  <a:pt x="654537" y="905273"/>
                </a:lnTo>
                <a:lnTo>
                  <a:pt x="611251" y="921116"/>
                </a:lnTo>
                <a:lnTo>
                  <a:pt x="566099" y="932726"/>
                </a:lnTo>
                <a:lnTo>
                  <a:pt x="519319" y="939865"/>
                </a:lnTo>
                <a:lnTo>
                  <a:pt x="471149" y="942298"/>
                </a:lnTo>
                <a:close/>
              </a:path>
            </a:pathLst>
          </a:custGeom>
          <a:solidFill>
            <a:srgbClr val="6EA8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372742" y="1770383"/>
            <a:ext cx="2762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1800" spc="-37" baseline="-30092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800" baseline="-30092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486043" y="1459194"/>
            <a:ext cx="942340" cy="942340"/>
          </a:xfrm>
          <a:custGeom>
            <a:avLst/>
            <a:gdLst/>
            <a:ahLst/>
            <a:cxnLst/>
            <a:rect l="l" t="t" r="r" b="b"/>
            <a:pathLst>
              <a:path w="942339" h="942339">
                <a:moveTo>
                  <a:pt x="471149" y="942298"/>
                </a:moveTo>
                <a:lnTo>
                  <a:pt x="422978" y="939865"/>
                </a:lnTo>
                <a:lnTo>
                  <a:pt x="376198" y="932726"/>
                </a:lnTo>
                <a:lnTo>
                  <a:pt x="331047" y="921116"/>
                </a:lnTo>
                <a:lnTo>
                  <a:pt x="287760" y="905273"/>
                </a:lnTo>
                <a:lnTo>
                  <a:pt x="246575" y="885433"/>
                </a:lnTo>
                <a:lnTo>
                  <a:pt x="207729" y="861833"/>
                </a:lnTo>
                <a:lnTo>
                  <a:pt x="171458" y="834710"/>
                </a:lnTo>
                <a:lnTo>
                  <a:pt x="137999" y="804302"/>
                </a:lnTo>
                <a:lnTo>
                  <a:pt x="107590" y="770844"/>
                </a:lnTo>
                <a:lnTo>
                  <a:pt x="80467" y="734573"/>
                </a:lnTo>
                <a:lnTo>
                  <a:pt x="56866" y="695727"/>
                </a:lnTo>
                <a:lnTo>
                  <a:pt x="37026" y="654541"/>
                </a:lnTo>
                <a:lnTo>
                  <a:pt x="21182" y="611254"/>
                </a:lnTo>
                <a:lnTo>
                  <a:pt x="9572" y="566102"/>
                </a:lnTo>
                <a:lnTo>
                  <a:pt x="2432" y="519321"/>
                </a:lnTo>
                <a:lnTo>
                  <a:pt x="0" y="471149"/>
                </a:lnTo>
                <a:lnTo>
                  <a:pt x="2432" y="422976"/>
                </a:lnTo>
                <a:lnTo>
                  <a:pt x="9572" y="376195"/>
                </a:lnTo>
                <a:lnTo>
                  <a:pt x="21182" y="331043"/>
                </a:lnTo>
                <a:lnTo>
                  <a:pt x="37026" y="287756"/>
                </a:lnTo>
                <a:lnTo>
                  <a:pt x="56866" y="246570"/>
                </a:lnTo>
                <a:lnTo>
                  <a:pt x="80467" y="207724"/>
                </a:lnTo>
                <a:lnTo>
                  <a:pt x="107590" y="171454"/>
                </a:lnTo>
                <a:lnTo>
                  <a:pt x="137999" y="137995"/>
                </a:lnTo>
                <a:lnTo>
                  <a:pt x="171458" y="107587"/>
                </a:lnTo>
                <a:lnTo>
                  <a:pt x="207729" y="80464"/>
                </a:lnTo>
                <a:lnTo>
                  <a:pt x="246575" y="56864"/>
                </a:lnTo>
                <a:lnTo>
                  <a:pt x="287760" y="37025"/>
                </a:lnTo>
                <a:lnTo>
                  <a:pt x="331047" y="21181"/>
                </a:lnTo>
                <a:lnTo>
                  <a:pt x="376198" y="9572"/>
                </a:lnTo>
                <a:lnTo>
                  <a:pt x="422978" y="2432"/>
                </a:lnTo>
                <a:lnTo>
                  <a:pt x="471149" y="0"/>
                </a:lnTo>
                <a:lnTo>
                  <a:pt x="524309" y="3007"/>
                </a:lnTo>
                <a:lnTo>
                  <a:pt x="576384" y="11901"/>
                </a:lnTo>
                <a:lnTo>
                  <a:pt x="626910" y="26492"/>
                </a:lnTo>
                <a:lnTo>
                  <a:pt x="675426" y="46587"/>
                </a:lnTo>
                <a:lnTo>
                  <a:pt x="721471" y="71997"/>
                </a:lnTo>
                <a:lnTo>
                  <a:pt x="764582" y="102531"/>
                </a:lnTo>
                <a:lnTo>
                  <a:pt x="804298" y="137997"/>
                </a:lnTo>
                <a:lnTo>
                  <a:pt x="839761" y="177715"/>
                </a:lnTo>
                <a:lnTo>
                  <a:pt x="870293" y="220826"/>
                </a:lnTo>
                <a:lnTo>
                  <a:pt x="895704" y="266870"/>
                </a:lnTo>
                <a:lnTo>
                  <a:pt x="915801" y="315385"/>
                </a:lnTo>
                <a:lnTo>
                  <a:pt x="930394" y="365911"/>
                </a:lnTo>
                <a:lnTo>
                  <a:pt x="939290" y="417986"/>
                </a:lnTo>
                <a:lnTo>
                  <a:pt x="942298" y="471149"/>
                </a:lnTo>
                <a:lnTo>
                  <a:pt x="939865" y="519321"/>
                </a:lnTo>
                <a:lnTo>
                  <a:pt x="932725" y="566102"/>
                </a:lnTo>
                <a:lnTo>
                  <a:pt x="921115" y="611254"/>
                </a:lnTo>
                <a:lnTo>
                  <a:pt x="905271" y="654541"/>
                </a:lnTo>
                <a:lnTo>
                  <a:pt x="885431" y="695727"/>
                </a:lnTo>
                <a:lnTo>
                  <a:pt x="861830" y="734573"/>
                </a:lnTo>
                <a:lnTo>
                  <a:pt x="834707" y="770844"/>
                </a:lnTo>
                <a:lnTo>
                  <a:pt x="804298" y="804302"/>
                </a:lnTo>
                <a:lnTo>
                  <a:pt x="770839" y="834710"/>
                </a:lnTo>
                <a:lnTo>
                  <a:pt x="734569" y="861833"/>
                </a:lnTo>
                <a:lnTo>
                  <a:pt x="695722" y="885433"/>
                </a:lnTo>
                <a:lnTo>
                  <a:pt x="654537" y="905273"/>
                </a:lnTo>
                <a:lnTo>
                  <a:pt x="611251" y="921116"/>
                </a:lnTo>
                <a:lnTo>
                  <a:pt x="566099" y="932726"/>
                </a:lnTo>
                <a:lnTo>
                  <a:pt x="519319" y="939865"/>
                </a:lnTo>
                <a:lnTo>
                  <a:pt x="471149" y="942298"/>
                </a:lnTo>
                <a:close/>
              </a:path>
            </a:pathLst>
          </a:custGeom>
          <a:solidFill>
            <a:srgbClr val="8E7C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819038" y="1770383"/>
            <a:ext cx="276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800" spc="-37" baseline="-30092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800" baseline="-30092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752601" y="1887811"/>
            <a:ext cx="6281420" cy="83820"/>
            <a:chOff x="1752601" y="1887811"/>
            <a:chExt cx="6281420" cy="83820"/>
          </a:xfrm>
        </p:grpSpPr>
        <p:sp>
          <p:nvSpPr>
            <p:cNvPr id="10" name="object 10"/>
            <p:cNvSpPr/>
            <p:nvPr/>
          </p:nvSpPr>
          <p:spPr>
            <a:xfrm>
              <a:off x="1762126" y="1905828"/>
              <a:ext cx="1609725" cy="23495"/>
            </a:xfrm>
            <a:custGeom>
              <a:avLst/>
              <a:gdLst/>
              <a:ahLst/>
              <a:cxnLst/>
              <a:rect l="l" t="t" r="r" b="b"/>
              <a:pathLst>
                <a:path w="1609725" h="23494">
                  <a:moveTo>
                    <a:pt x="0" y="0"/>
                  </a:moveTo>
                  <a:lnTo>
                    <a:pt x="1609516" y="22969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61668" y="1887811"/>
              <a:ext cx="105924" cy="819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428341" y="1930343"/>
              <a:ext cx="1497330" cy="0"/>
            </a:xfrm>
            <a:custGeom>
              <a:avLst/>
              <a:gdLst/>
              <a:ahLst/>
              <a:cxnLst/>
              <a:rect l="l" t="t" r="r" b="b"/>
              <a:pathLst>
                <a:path w="1497329">
                  <a:moveTo>
                    <a:pt x="0" y="0"/>
                  </a:moveTo>
                  <a:lnTo>
                    <a:pt x="1496996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15813" y="1889353"/>
              <a:ext cx="105499" cy="8197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981935" y="1930311"/>
              <a:ext cx="956310" cy="0"/>
            </a:xfrm>
            <a:custGeom>
              <a:avLst/>
              <a:gdLst/>
              <a:ahLst/>
              <a:cxnLst/>
              <a:rect l="l" t="t" r="r" b="b"/>
              <a:pathLst>
                <a:path w="956309">
                  <a:moveTo>
                    <a:pt x="0" y="0"/>
                  </a:moveTo>
                  <a:lnTo>
                    <a:pt x="956098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28509" y="1889318"/>
              <a:ext cx="105499" cy="81982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8117833" y="1770007"/>
            <a:ext cx="5060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latin typeface="Arial MT"/>
                <a:cs typeface="Arial MT"/>
              </a:rPr>
              <a:t>J(</a:t>
            </a:r>
            <a:r>
              <a:rPr sz="2000" spc="-20" dirty="0">
                <a:latin typeface="Microsoft Sans Serif"/>
                <a:cs typeface="Microsoft Sans Serif"/>
              </a:rPr>
              <a:t>Ө</a:t>
            </a:r>
            <a:r>
              <a:rPr sz="2000" spc="-20" dirty="0">
                <a:latin typeface="Arial MT"/>
                <a:cs typeface="Arial MT"/>
              </a:rPr>
              <a:t>)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43916" y="1574383"/>
            <a:ext cx="3098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 MT"/>
                <a:cs typeface="Arial MT"/>
              </a:rPr>
              <a:t>W</a:t>
            </a:r>
            <a:r>
              <a:rPr sz="1350" spc="-37" baseline="-33950" dirty="0">
                <a:latin typeface="Arial MT"/>
                <a:cs typeface="Arial MT"/>
              </a:rPr>
              <a:t>1</a:t>
            </a:r>
            <a:endParaRPr sz="1350" baseline="-3395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934711" y="1574383"/>
            <a:ext cx="3098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 MT"/>
                <a:cs typeface="Arial MT"/>
              </a:rPr>
              <a:t>W</a:t>
            </a:r>
            <a:r>
              <a:rPr sz="1350" spc="-37" baseline="-33950" dirty="0">
                <a:latin typeface="Arial MT"/>
                <a:cs typeface="Arial MT"/>
              </a:rPr>
              <a:t>2</a:t>
            </a:r>
            <a:endParaRPr sz="1350" baseline="-3395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966044" y="2997568"/>
            <a:ext cx="3453765" cy="1043940"/>
            <a:chOff x="2966044" y="2997568"/>
            <a:chExt cx="3453765" cy="1043940"/>
          </a:xfrm>
        </p:grpSpPr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66044" y="3141243"/>
              <a:ext cx="3009893" cy="68579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040891" y="2997568"/>
              <a:ext cx="2378710" cy="1043940"/>
            </a:xfrm>
            <a:custGeom>
              <a:avLst/>
              <a:gdLst/>
              <a:ahLst/>
              <a:cxnLst/>
              <a:rect l="l" t="t" r="r" b="b"/>
              <a:pathLst>
                <a:path w="2378710" h="1043939">
                  <a:moveTo>
                    <a:pt x="2378395" y="1043697"/>
                  </a:moveTo>
                  <a:lnTo>
                    <a:pt x="0" y="1043697"/>
                  </a:lnTo>
                  <a:lnTo>
                    <a:pt x="0" y="0"/>
                  </a:lnTo>
                  <a:lnTo>
                    <a:pt x="2378395" y="0"/>
                  </a:lnTo>
                  <a:lnTo>
                    <a:pt x="2378395" y="104369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/>
          <p:nvPr/>
        </p:nvSpPr>
        <p:spPr>
          <a:xfrm>
            <a:off x="4926279" y="1506156"/>
            <a:ext cx="346710" cy="354330"/>
          </a:xfrm>
          <a:custGeom>
            <a:avLst/>
            <a:gdLst/>
            <a:ahLst/>
            <a:cxnLst/>
            <a:rect l="l" t="t" r="r" b="b"/>
            <a:pathLst>
              <a:path w="346710" h="354330">
                <a:moveTo>
                  <a:pt x="346506" y="57759"/>
                </a:moveTo>
                <a:lnTo>
                  <a:pt x="329603" y="16916"/>
                </a:lnTo>
                <a:lnTo>
                  <a:pt x="288759" y="0"/>
                </a:lnTo>
                <a:lnTo>
                  <a:pt x="57759" y="0"/>
                </a:lnTo>
                <a:lnTo>
                  <a:pt x="35280" y="4546"/>
                </a:lnTo>
                <a:lnTo>
                  <a:pt x="16929" y="16916"/>
                </a:lnTo>
                <a:lnTo>
                  <a:pt x="4546" y="35280"/>
                </a:lnTo>
                <a:lnTo>
                  <a:pt x="0" y="57759"/>
                </a:lnTo>
                <a:lnTo>
                  <a:pt x="0" y="295948"/>
                </a:lnTo>
                <a:lnTo>
                  <a:pt x="4546" y="318427"/>
                </a:lnTo>
                <a:lnTo>
                  <a:pt x="16929" y="336791"/>
                </a:lnTo>
                <a:lnTo>
                  <a:pt x="35280" y="349161"/>
                </a:lnTo>
                <a:lnTo>
                  <a:pt x="57759" y="353707"/>
                </a:lnTo>
                <a:lnTo>
                  <a:pt x="288759" y="353707"/>
                </a:lnTo>
                <a:lnTo>
                  <a:pt x="311238" y="349161"/>
                </a:lnTo>
                <a:lnTo>
                  <a:pt x="329590" y="336791"/>
                </a:lnTo>
                <a:lnTo>
                  <a:pt x="341972" y="318427"/>
                </a:lnTo>
                <a:lnTo>
                  <a:pt x="346506" y="295948"/>
                </a:lnTo>
                <a:lnTo>
                  <a:pt x="346506" y="57759"/>
                </a:lnTo>
                <a:close/>
              </a:path>
            </a:pathLst>
          </a:custGeom>
          <a:solidFill>
            <a:srgbClr val="1D72FF">
              <a:alpha val="1884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latin typeface="Roboto"/>
                <a:cs typeface="Roboto"/>
              </a:rPr>
              <a:t>Calculating</a:t>
            </a:r>
            <a:r>
              <a:rPr spc="-105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the</a:t>
            </a:r>
            <a:r>
              <a:rPr spc="-105" dirty="0">
                <a:latin typeface="Roboto"/>
                <a:cs typeface="Roboto"/>
              </a:rPr>
              <a:t> </a:t>
            </a:r>
            <a:r>
              <a:rPr spc="-20" dirty="0">
                <a:latin typeface="Roboto"/>
                <a:cs typeface="Roboto"/>
              </a:rPr>
              <a:t>Gradient:</a:t>
            </a:r>
            <a:r>
              <a:rPr spc="-100" dirty="0">
                <a:latin typeface="Roboto"/>
                <a:cs typeface="Roboto"/>
              </a:rPr>
              <a:t> </a:t>
            </a:r>
            <a:r>
              <a:rPr spc="-10" dirty="0">
                <a:latin typeface="Roboto"/>
                <a:cs typeface="Roboto"/>
              </a:rPr>
              <a:t>Backpropagation</a:t>
            </a:r>
          </a:p>
        </p:txBody>
      </p:sp>
      <p:sp>
        <p:nvSpPr>
          <p:cNvPr id="3" name="object 3"/>
          <p:cNvSpPr/>
          <p:nvPr/>
        </p:nvSpPr>
        <p:spPr>
          <a:xfrm>
            <a:off x="756828" y="1403179"/>
            <a:ext cx="1005840" cy="1005840"/>
          </a:xfrm>
          <a:custGeom>
            <a:avLst/>
            <a:gdLst/>
            <a:ahLst/>
            <a:cxnLst/>
            <a:rect l="l" t="t" r="r" b="b"/>
            <a:pathLst>
              <a:path w="1005839" h="1005839">
                <a:moveTo>
                  <a:pt x="502649" y="1005298"/>
                </a:moveTo>
                <a:lnTo>
                  <a:pt x="454240" y="1002997"/>
                </a:lnTo>
                <a:lnTo>
                  <a:pt x="407134" y="996234"/>
                </a:lnTo>
                <a:lnTo>
                  <a:pt x="361540" y="985220"/>
                </a:lnTo>
                <a:lnTo>
                  <a:pt x="317669" y="970167"/>
                </a:lnTo>
                <a:lnTo>
                  <a:pt x="275732" y="951283"/>
                </a:lnTo>
                <a:lnTo>
                  <a:pt x="235939" y="928781"/>
                </a:lnTo>
                <a:lnTo>
                  <a:pt x="198502" y="902870"/>
                </a:lnTo>
                <a:lnTo>
                  <a:pt x="163630" y="873762"/>
                </a:lnTo>
                <a:lnTo>
                  <a:pt x="131535" y="841667"/>
                </a:lnTo>
                <a:lnTo>
                  <a:pt x="102427" y="806795"/>
                </a:lnTo>
                <a:lnTo>
                  <a:pt x="76516" y="769358"/>
                </a:lnTo>
                <a:lnTo>
                  <a:pt x="54014" y="729565"/>
                </a:lnTo>
                <a:lnTo>
                  <a:pt x="35130" y="687628"/>
                </a:lnTo>
                <a:lnTo>
                  <a:pt x="20077" y="643757"/>
                </a:lnTo>
                <a:lnTo>
                  <a:pt x="9063" y="598163"/>
                </a:lnTo>
                <a:lnTo>
                  <a:pt x="2300" y="551057"/>
                </a:lnTo>
                <a:lnTo>
                  <a:pt x="0" y="502649"/>
                </a:lnTo>
                <a:lnTo>
                  <a:pt x="2300" y="454240"/>
                </a:lnTo>
                <a:lnTo>
                  <a:pt x="9063" y="407134"/>
                </a:lnTo>
                <a:lnTo>
                  <a:pt x="20077" y="361540"/>
                </a:lnTo>
                <a:lnTo>
                  <a:pt x="35130" y="317669"/>
                </a:lnTo>
                <a:lnTo>
                  <a:pt x="54014" y="275732"/>
                </a:lnTo>
                <a:lnTo>
                  <a:pt x="76516" y="235939"/>
                </a:lnTo>
                <a:lnTo>
                  <a:pt x="102427" y="198502"/>
                </a:lnTo>
                <a:lnTo>
                  <a:pt x="131535" y="163630"/>
                </a:lnTo>
                <a:lnTo>
                  <a:pt x="163630" y="131535"/>
                </a:lnTo>
                <a:lnTo>
                  <a:pt x="198502" y="102427"/>
                </a:lnTo>
                <a:lnTo>
                  <a:pt x="235939" y="76516"/>
                </a:lnTo>
                <a:lnTo>
                  <a:pt x="275732" y="54014"/>
                </a:lnTo>
                <a:lnTo>
                  <a:pt x="317669" y="35130"/>
                </a:lnTo>
                <a:lnTo>
                  <a:pt x="361540" y="20077"/>
                </a:lnTo>
                <a:lnTo>
                  <a:pt x="407134" y="9063"/>
                </a:lnTo>
                <a:lnTo>
                  <a:pt x="454240" y="2300"/>
                </a:lnTo>
                <a:lnTo>
                  <a:pt x="502649" y="0"/>
                </a:lnTo>
                <a:lnTo>
                  <a:pt x="552330" y="2459"/>
                </a:lnTo>
                <a:lnTo>
                  <a:pt x="601169" y="9747"/>
                </a:lnTo>
                <a:lnTo>
                  <a:pt x="648837" y="21727"/>
                </a:lnTo>
                <a:lnTo>
                  <a:pt x="695005" y="38261"/>
                </a:lnTo>
                <a:lnTo>
                  <a:pt x="739342" y="59215"/>
                </a:lnTo>
                <a:lnTo>
                  <a:pt x="781519" y="84450"/>
                </a:lnTo>
                <a:lnTo>
                  <a:pt x="821207" y="113831"/>
                </a:lnTo>
                <a:lnTo>
                  <a:pt x="858075" y="147222"/>
                </a:lnTo>
                <a:lnTo>
                  <a:pt x="891466" y="184090"/>
                </a:lnTo>
                <a:lnTo>
                  <a:pt x="920847" y="223778"/>
                </a:lnTo>
                <a:lnTo>
                  <a:pt x="946082" y="265956"/>
                </a:lnTo>
                <a:lnTo>
                  <a:pt x="967036" y="310293"/>
                </a:lnTo>
                <a:lnTo>
                  <a:pt x="983570" y="356461"/>
                </a:lnTo>
                <a:lnTo>
                  <a:pt x="995550" y="404129"/>
                </a:lnTo>
                <a:lnTo>
                  <a:pt x="1002838" y="452968"/>
                </a:lnTo>
                <a:lnTo>
                  <a:pt x="1005298" y="502649"/>
                </a:lnTo>
                <a:lnTo>
                  <a:pt x="1002997" y="551057"/>
                </a:lnTo>
                <a:lnTo>
                  <a:pt x="996234" y="598163"/>
                </a:lnTo>
                <a:lnTo>
                  <a:pt x="985221" y="643757"/>
                </a:lnTo>
                <a:lnTo>
                  <a:pt x="970167" y="687628"/>
                </a:lnTo>
                <a:lnTo>
                  <a:pt x="951284" y="729565"/>
                </a:lnTo>
                <a:lnTo>
                  <a:pt x="928782" y="769358"/>
                </a:lnTo>
                <a:lnTo>
                  <a:pt x="902871" y="806795"/>
                </a:lnTo>
                <a:lnTo>
                  <a:pt x="873763" y="841667"/>
                </a:lnTo>
                <a:lnTo>
                  <a:pt x="841668" y="873762"/>
                </a:lnTo>
                <a:lnTo>
                  <a:pt x="806796" y="902870"/>
                </a:lnTo>
                <a:lnTo>
                  <a:pt x="769359" y="928781"/>
                </a:lnTo>
                <a:lnTo>
                  <a:pt x="729566" y="951283"/>
                </a:lnTo>
                <a:lnTo>
                  <a:pt x="687629" y="970167"/>
                </a:lnTo>
                <a:lnTo>
                  <a:pt x="643758" y="985220"/>
                </a:lnTo>
                <a:lnTo>
                  <a:pt x="598164" y="996234"/>
                </a:lnTo>
                <a:lnTo>
                  <a:pt x="551057" y="1002997"/>
                </a:lnTo>
                <a:lnTo>
                  <a:pt x="502649" y="1005298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32528" y="1745870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800" spc="-37" baseline="-30092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800" baseline="-30092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039513" y="1459194"/>
            <a:ext cx="942340" cy="942340"/>
          </a:xfrm>
          <a:custGeom>
            <a:avLst/>
            <a:gdLst/>
            <a:ahLst/>
            <a:cxnLst/>
            <a:rect l="l" t="t" r="r" b="b"/>
            <a:pathLst>
              <a:path w="942340" h="942339">
                <a:moveTo>
                  <a:pt x="471149" y="942298"/>
                </a:moveTo>
                <a:lnTo>
                  <a:pt x="422978" y="939865"/>
                </a:lnTo>
                <a:lnTo>
                  <a:pt x="376198" y="932726"/>
                </a:lnTo>
                <a:lnTo>
                  <a:pt x="331047" y="921116"/>
                </a:lnTo>
                <a:lnTo>
                  <a:pt x="287760" y="905273"/>
                </a:lnTo>
                <a:lnTo>
                  <a:pt x="246575" y="885433"/>
                </a:lnTo>
                <a:lnTo>
                  <a:pt x="207729" y="861833"/>
                </a:lnTo>
                <a:lnTo>
                  <a:pt x="171458" y="834710"/>
                </a:lnTo>
                <a:lnTo>
                  <a:pt x="137999" y="804302"/>
                </a:lnTo>
                <a:lnTo>
                  <a:pt x="107590" y="770844"/>
                </a:lnTo>
                <a:lnTo>
                  <a:pt x="80467" y="734573"/>
                </a:lnTo>
                <a:lnTo>
                  <a:pt x="56866" y="695727"/>
                </a:lnTo>
                <a:lnTo>
                  <a:pt x="37026" y="654541"/>
                </a:lnTo>
                <a:lnTo>
                  <a:pt x="21182" y="611254"/>
                </a:lnTo>
                <a:lnTo>
                  <a:pt x="9572" y="566102"/>
                </a:lnTo>
                <a:lnTo>
                  <a:pt x="2432" y="519321"/>
                </a:lnTo>
                <a:lnTo>
                  <a:pt x="0" y="471149"/>
                </a:lnTo>
                <a:lnTo>
                  <a:pt x="2432" y="422976"/>
                </a:lnTo>
                <a:lnTo>
                  <a:pt x="9572" y="376195"/>
                </a:lnTo>
                <a:lnTo>
                  <a:pt x="21182" y="331043"/>
                </a:lnTo>
                <a:lnTo>
                  <a:pt x="37026" y="287756"/>
                </a:lnTo>
                <a:lnTo>
                  <a:pt x="56866" y="246570"/>
                </a:lnTo>
                <a:lnTo>
                  <a:pt x="80467" y="207724"/>
                </a:lnTo>
                <a:lnTo>
                  <a:pt x="107590" y="171454"/>
                </a:lnTo>
                <a:lnTo>
                  <a:pt x="137999" y="137995"/>
                </a:lnTo>
                <a:lnTo>
                  <a:pt x="171458" y="107587"/>
                </a:lnTo>
                <a:lnTo>
                  <a:pt x="207729" y="80464"/>
                </a:lnTo>
                <a:lnTo>
                  <a:pt x="246575" y="56864"/>
                </a:lnTo>
                <a:lnTo>
                  <a:pt x="287760" y="37025"/>
                </a:lnTo>
                <a:lnTo>
                  <a:pt x="331047" y="21181"/>
                </a:lnTo>
                <a:lnTo>
                  <a:pt x="376198" y="9572"/>
                </a:lnTo>
                <a:lnTo>
                  <a:pt x="422978" y="2432"/>
                </a:lnTo>
                <a:lnTo>
                  <a:pt x="471149" y="0"/>
                </a:lnTo>
                <a:lnTo>
                  <a:pt x="524309" y="3007"/>
                </a:lnTo>
                <a:lnTo>
                  <a:pt x="576384" y="11901"/>
                </a:lnTo>
                <a:lnTo>
                  <a:pt x="626910" y="26492"/>
                </a:lnTo>
                <a:lnTo>
                  <a:pt x="675426" y="46587"/>
                </a:lnTo>
                <a:lnTo>
                  <a:pt x="721471" y="71997"/>
                </a:lnTo>
                <a:lnTo>
                  <a:pt x="764582" y="102531"/>
                </a:lnTo>
                <a:lnTo>
                  <a:pt x="804298" y="137997"/>
                </a:lnTo>
                <a:lnTo>
                  <a:pt x="839761" y="177715"/>
                </a:lnTo>
                <a:lnTo>
                  <a:pt x="870293" y="220826"/>
                </a:lnTo>
                <a:lnTo>
                  <a:pt x="895704" y="266870"/>
                </a:lnTo>
                <a:lnTo>
                  <a:pt x="915801" y="315385"/>
                </a:lnTo>
                <a:lnTo>
                  <a:pt x="930394" y="365911"/>
                </a:lnTo>
                <a:lnTo>
                  <a:pt x="939290" y="417986"/>
                </a:lnTo>
                <a:lnTo>
                  <a:pt x="942298" y="471149"/>
                </a:lnTo>
                <a:lnTo>
                  <a:pt x="939865" y="519321"/>
                </a:lnTo>
                <a:lnTo>
                  <a:pt x="932725" y="566102"/>
                </a:lnTo>
                <a:lnTo>
                  <a:pt x="921115" y="611254"/>
                </a:lnTo>
                <a:lnTo>
                  <a:pt x="905271" y="654541"/>
                </a:lnTo>
                <a:lnTo>
                  <a:pt x="885431" y="695727"/>
                </a:lnTo>
                <a:lnTo>
                  <a:pt x="861830" y="734573"/>
                </a:lnTo>
                <a:lnTo>
                  <a:pt x="834707" y="770844"/>
                </a:lnTo>
                <a:lnTo>
                  <a:pt x="804298" y="804302"/>
                </a:lnTo>
                <a:lnTo>
                  <a:pt x="770839" y="834710"/>
                </a:lnTo>
                <a:lnTo>
                  <a:pt x="734569" y="861833"/>
                </a:lnTo>
                <a:lnTo>
                  <a:pt x="695722" y="885433"/>
                </a:lnTo>
                <a:lnTo>
                  <a:pt x="654537" y="905273"/>
                </a:lnTo>
                <a:lnTo>
                  <a:pt x="611251" y="921116"/>
                </a:lnTo>
                <a:lnTo>
                  <a:pt x="566099" y="932726"/>
                </a:lnTo>
                <a:lnTo>
                  <a:pt x="519319" y="939865"/>
                </a:lnTo>
                <a:lnTo>
                  <a:pt x="471149" y="942298"/>
                </a:lnTo>
                <a:close/>
              </a:path>
            </a:pathLst>
          </a:custGeom>
          <a:solidFill>
            <a:srgbClr val="6EA8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372742" y="1770383"/>
            <a:ext cx="2762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1800" spc="-37" baseline="-30092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800" baseline="-30092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486043" y="1459194"/>
            <a:ext cx="942340" cy="942340"/>
          </a:xfrm>
          <a:custGeom>
            <a:avLst/>
            <a:gdLst/>
            <a:ahLst/>
            <a:cxnLst/>
            <a:rect l="l" t="t" r="r" b="b"/>
            <a:pathLst>
              <a:path w="942339" h="942339">
                <a:moveTo>
                  <a:pt x="471149" y="942298"/>
                </a:moveTo>
                <a:lnTo>
                  <a:pt x="422978" y="939865"/>
                </a:lnTo>
                <a:lnTo>
                  <a:pt x="376198" y="932726"/>
                </a:lnTo>
                <a:lnTo>
                  <a:pt x="331047" y="921116"/>
                </a:lnTo>
                <a:lnTo>
                  <a:pt x="287760" y="905273"/>
                </a:lnTo>
                <a:lnTo>
                  <a:pt x="246575" y="885433"/>
                </a:lnTo>
                <a:lnTo>
                  <a:pt x="207729" y="861833"/>
                </a:lnTo>
                <a:lnTo>
                  <a:pt x="171458" y="834710"/>
                </a:lnTo>
                <a:lnTo>
                  <a:pt x="137999" y="804302"/>
                </a:lnTo>
                <a:lnTo>
                  <a:pt x="107590" y="770844"/>
                </a:lnTo>
                <a:lnTo>
                  <a:pt x="80467" y="734573"/>
                </a:lnTo>
                <a:lnTo>
                  <a:pt x="56866" y="695727"/>
                </a:lnTo>
                <a:lnTo>
                  <a:pt x="37026" y="654541"/>
                </a:lnTo>
                <a:lnTo>
                  <a:pt x="21182" y="611254"/>
                </a:lnTo>
                <a:lnTo>
                  <a:pt x="9572" y="566102"/>
                </a:lnTo>
                <a:lnTo>
                  <a:pt x="2432" y="519321"/>
                </a:lnTo>
                <a:lnTo>
                  <a:pt x="0" y="471149"/>
                </a:lnTo>
                <a:lnTo>
                  <a:pt x="2432" y="422976"/>
                </a:lnTo>
                <a:lnTo>
                  <a:pt x="9572" y="376195"/>
                </a:lnTo>
                <a:lnTo>
                  <a:pt x="21182" y="331043"/>
                </a:lnTo>
                <a:lnTo>
                  <a:pt x="37026" y="287756"/>
                </a:lnTo>
                <a:lnTo>
                  <a:pt x="56866" y="246570"/>
                </a:lnTo>
                <a:lnTo>
                  <a:pt x="80467" y="207724"/>
                </a:lnTo>
                <a:lnTo>
                  <a:pt x="107590" y="171454"/>
                </a:lnTo>
                <a:lnTo>
                  <a:pt x="137999" y="137995"/>
                </a:lnTo>
                <a:lnTo>
                  <a:pt x="171458" y="107587"/>
                </a:lnTo>
                <a:lnTo>
                  <a:pt x="207729" y="80464"/>
                </a:lnTo>
                <a:lnTo>
                  <a:pt x="246575" y="56864"/>
                </a:lnTo>
                <a:lnTo>
                  <a:pt x="287760" y="37025"/>
                </a:lnTo>
                <a:lnTo>
                  <a:pt x="331047" y="21181"/>
                </a:lnTo>
                <a:lnTo>
                  <a:pt x="376198" y="9572"/>
                </a:lnTo>
                <a:lnTo>
                  <a:pt x="422978" y="2432"/>
                </a:lnTo>
                <a:lnTo>
                  <a:pt x="471149" y="0"/>
                </a:lnTo>
                <a:lnTo>
                  <a:pt x="524309" y="3007"/>
                </a:lnTo>
                <a:lnTo>
                  <a:pt x="576384" y="11901"/>
                </a:lnTo>
                <a:lnTo>
                  <a:pt x="626910" y="26492"/>
                </a:lnTo>
                <a:lnTo>
                  <a:pt x="675426" y="46587"/>
                </a:lnTo>
                <a:lnTo>
                  <a:pt x="721471" y="71997"/>
                </a:lnTo>
                <a:lnTo>
                  <a:pt x="764582" y="102531"/>
                </a:lnTo>
                <a:lnTo>
                  <a:pt x="804298" y="137997"/>
                </a:lnTo>
                <a:lnTo>
                  <a:pt x="839761" y="177715"/>
                </a:lnTo>
                <a:lnTo>
                  <a:pt x="870293" y="220826"/>
                </a:lnTo>
                <a:lnTo>
                  <a:pt x="895704" y="266870"/>
                </a:lnTo>
                <a:lnTo>
                  <a:pt x="915801" y="315385"/>
                </a:lnTo>
                <a:lnTo>
                  <a:pt x="930394" y="365911"/>
                </a:lnTo>
                <a:lnTo>
                  <a:pt x="939290" y="417986"/>
                </a:lnTo>
                <a:lnTo>
                  <a:pt x="942298" y="471149"/>
                </a:lnTo>
                <a:lnTo>
                  <a:pt x="939865" y="519321"/>
                </a:lnTo>
                <a:lnTo>
                  <a:pt x="932725" y="566102"/>
                </a:lnTo>
                <a:lnTo>
                  <a:pt x="921115" y="611254"/>
                </a:lnTo>
                <a:lnTo>
                  <a:pt x="905271" y="654541"/>
                </a:lnTo>
                <a:lnTo>
                  <a:pt x="885431" y="695727"/>
                </a:lnTo>
                <a:lnTo>
                  <a:pt x="861830" y="734573"/>
                </a:lnTo>
                <a:lnTo>
                  <a:pt x="834707" y="770844"/>
                </a:lnTo>
                <a:lnTo>
                  <a:pt x="804298" y="804302"/>
                </a:lnTo>
                <a:lnTo>
                  <a:pt x="770839" y="834710"/>
                </a:lnTo>
                <a:lnTo>
                  <a:pt x="734569" y="861833"/>
                </a:lnTo>
                <a:lnTo>
                  <a:pt x="695722" y="885433"/>
                </a:lnTo>
                <a:lnTo>
                  <a:pt x="654537" y="905273"/>
                </a:lnTo>
                <a:lnTo>
                  <a:pt x="611251" y="921116"/>
                </a:lnTo>
                <a:lnTo>
                  <a:pt x="566099" y="932726"/>
                </a:lnTo>
                <a:lnTo>
                  <a:pt x="519319" y="939865"/>
                </a:lnTo>
                <a:lnTo>
                  <a:pt x="471149" y="942298"/>
                </a:lnTo>
                <a:close/>
              </a:path>
            </a:pathLst>
          </a:custGeom>
          <a:solidFill>
            <a:srgbClr val="8E7C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819038" y="1770383"/>
            <a:ext cx="276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800" spc="-37" baseline="-30092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800" baseline="-30092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752601" y="1887811"/>
            <a:ext cx="6281420" cy="83820"/>
            <a:chOff x="1752601" y="1887811"/>
            <a:chExt cx="6281420" cy="83820"/>
          </a:xfrm>
        </p:grpSpPr>
        <p:sp>
          <p:nvSpPr>
            <p:cNvPr id="10" name="object 10"/>
            <p:cNvSpPr/>
            <p:nvPr/>
          </p:nvSpPr>
          <p:spPr>
            <a:xfrm>
              <a:off x="1762126" y="1905828"/>
              <a:ext cx="1609725" cy="23495"/>
            </a:xfrm>
            <a:custGeom>
              <a:avLst/>
              <a:gdLst/>
              <a:ahLst/>
              <a:cxnLst/>
              <a:rect l="l" t="t" r="r" b="b"/>
              <a:pathLst>
                <a:path w="1609725" h="23494">
                  <a:moveTo>
                    <a:pt x="0" y="0"/>
                  </a:moveTo>
                  <a:lnTo>
                    <a:pt x="1609516" y="22969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61668" y="1887811"/>
              <a:ext cx="105924" cy="819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428341" y="1930343"/>
              <a:ext cx="1497330" cy="0"/>
            </a:xfrm>
            <a:custGeom>
              <a:avLst/>
              <a:gdLst/>
              <a:ahLst/>
              <a:cxnLst/>
              <a:rect l="l" t="t" r="r" b="b"/>
              <a:pathLst>
                <a:path w="1497329">
                  <a:moveTo>
                    <a:pt x="0" y="0"/>
                  </a:moveTo>
                  <a:lnTo>
                    <a:pt x="1496996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15813" y="1889353"/>
              <a:ext cx="105499" cy="8197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981935" y="1930311"/>
              <a:ext cx="956310" cy="0"/>
            </a:xfrm>
            <a:custGeom>
              <a:avLst/>
              <a:gdLst/>
              <a:ahLst/>
              <a:cxnLst/>
              <a:rect l="l" t="t" r="r" b="b"/>
              <a:pathLst>
                <a:path w="956309">
                  <a:moveTo>
                    <a:pt x="0" y="0"/>
                  </a:moveTo>
                  <a:lnTo>
                    <a:pt x="956098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28509" y="1889318"/>
              <a:ext cx="105499" cy="81982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8117833" y="1770007"/>
            <a:ext cx="5060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latin typeface="Arial MT"/>
                <a:cs typeface="Arial MT"/>
              </a:rPr>
              <a:t>J(</a:t>
            </a:r>
            <a:r>
              <a:rPr sz="2000" spc="-20" dirty="0">
                <a:latin typeface="Microsoft Sans Serif"/>
                <a:cs typeface="Microsoft Sans Serif"/>
              </a:rPr>
              <a:t>Ө</a:t>
            </a:r>
            <a:r>
              <a:rPr sz="2000" spc="-20" dirty="0">
                <a:latin typeface="Arial MT"/>
                <a:cs typeface="Arial MT"/>
              </a:rPr>
              <a:t>)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43916" y="1574383"/>
            <a:ext cx="3098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 MT"/>
                <a:cs typeface="Arial MT"/>
              </a:rPr>
              <a:t>W</a:t>
            </a:r>
            <a:r>
              <a:rPr sz="1350" spc="-37" baseline="-33950" dirty="0">
                <a:latin typeface="Arial MT"/>
                <a:cs typeface="Arial MT"/>
              </a:rPr>
              <a:t>1</a:t>
            </a:r>
            <a:endParaRPr sz="1350" baseline="-3395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934711" y="1574383"/>
            <a:ext cx="3098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 MT"/>
                <a:cs typeface="Arial MT"/>
              </a:rPr>
              <a:t>W</a:t>
            </a:r>
            <a:r>
              <a:rPr sz="1350" spc="-37" baseline="-33950" dirty="0">
                <a:latin typeface="Arial MT"/>
                <a:cs typeface="Arial MT"/>
              </a:rPr>
              <a:t>2</a:t>
            </a:r>
            <a:endParaRPr sz="1350" baseline="-3395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966044" y="2756619"/>
            <a:ext cx="3453765" cy="1285240"/>
            <a:chOff x="2966044" y="2756619"/>
            <a:chExt cx="3453765" cy="1285240"/>
          </a:xfrm>
        </p:grpSpPr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66044" y="3141243"/>
              <a:ext cx="3009893" cy="68579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839192" y="2766144"/>
              <a:ext cx="388620" cy="262255"/>
            </a:xfrm>
            <a:custGeom>
              <a:avLst/>
              <a:gdLst/>
              <a:ahLst/>
              <a:cxnLst/>
              <a:rect l="l" t="t" r="r" b="b"/>
              <a:pathLst>
                <a:path w="388620" h="262255">
                  <a:moveTo>
                    <a:pt x="388549" y="0"/>
                  </a:moveTo>
                  <a:lnTo>
                    <a:pt x="0" y="262174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57992" y="2992694"/>
              <a:ext cx="108324" cy="9349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040891" y="2997569"/>
              <a:ext cx="2378710" cy="1043940"/>
            </a:xfrm>
            <a:custGeom>
              <a:avLst/>
              <a:gdLst/>
              <a:ahLst/>
              <a:cxnLst/>
              <a:rect l="l" t="t" r="r" b="b"/>
              <a:pathLst>
                <a:path w="2378710" h="1043939">
                  <a:moveTo>
                    <a:pt x="2378395" y="1043697"/>
                  </a:moveTo>
                  <a:lnTo>
                    <a:pt x="0" y="1043697"/>
                  </a:lnTo>
                  <a:lnTo>
                    <a:pt x="0" y="0"/>
                  </a:lnTo>
                  <a:lnTo>
                    <a:pt x="2378395" y="0"/>
                  </a:lnTo>
                  <a:lnTo>
                    <a:pt x="2378395" y="104369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3684716" y="2456454"/>
            <a:ext cx="15868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Apply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chain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rule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926279" y="1506156"/>
            <a:ext cx="346710" cy="354330"/>
          </a:xfrm>
          <a:custGeom>
            <a:avLst/>
            <a:gdLst/>
            <a:ahLst/>
            <a:cxnLst/>
            <a:rect l="l" t="t" r="r" b="b"/>
            <a:pathLst>
              <a:path w="346710" h="354330">
                <a:moveTo>
                  <a:pt x="346506" y="57759"/>
                </a:moveTo>
                <a:lnTo>
                  <a:pt x="329603" y="16916"/>
                </a:lnTo>
                <a:lnTo>
                  <a:pt x="288759" y="0"/>
                </a:lnTo>
                <a:lnTo>
                  <a:pt x="57759" y="0"/>
                </a:lnTo>
                <a:lnTo>
                  <a:pt x="35280" y="4546"/>
                </a:lnTo>
                <a:lnTo>
                  <a:pt x="16929" y="16916"/>
                </a:lnTo>
                <a:lnTo>
                  <a:pt x="4546" y="35280"/>
                </a:lnTo>
                <a:lnTo>
                  <a:pt x="0" y="57759"/>
                </a:lnTo>
                <a:lnTo>
                  <a:pt x="0" y="295948"/>
                </a:lnTo>
                <a:lnTo>
                  <a:pt x="4546" y="318427"/>
                </a:lnTo>
                <a:lnTo>
                  <a:pt x="16929" y="336791"/>
                </a:lnTo>
                <a:lnTo>
                  <a:pt x="35280" y="349161"/>
                </a:lnTo>
                <a:lnTo>
                  <a:pt x="57759" y="353707"/>
                </a:lnTo>
                <a:lnTo>
                  <a:pt x="288759" y="353707"/>
                </a:lnTo>
                <a:lnTo>
                  <a:pt x="311238" y="349161"/>
                </a:lnTo>
                <a:lnTo>
                  <a:pt x="329590" y="336791"/>
                </a:lnTo>
                <a:lnTo>
                  <a:pt x="341972" y="318427"/>
                </a:lnTo>
                <a:lnTo>
                  <a:pt x="346506" y="295948"/>
                </a:lnTo>
                <a:lnTo>
                  <a:pt x="346506" y="57759"/>
                </a:lnTo>
                <a:close/>
              </a:path>
            </a:pathLst>
          </a:custGeom>
          <a:solidFill>
            <a:srgbClr val="1D72FF">
              <a:alpha val="1884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latin typeface="Roboto"/>
                <a:cs typeface="Roboto"/>
              </a:rPr>
              <a:t>Calculating</a:t>
            </a:r>
            <a:r>
              <a:rPr spc="-105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the</a:t>
            </a:r>
            <a:r>
              <a:rPr spc="-105" dirty="0">
                <a:latin typeface="Roboto"/>
                <a:cs typeface="Roboto"/>
              </a:rPr>
              <a:t> </a:t>
            </a:r>
            <a:r>
              <a:rPr spc="-20" dirty="0">
                <a:latin typeface="Roboto"/>
                <a:cs typeface="Roboto"/>
              </a:rPr>
              <a:t>Gradient:</a:t>
            </a:r>
            <a:r>
              <a:rPr spc="-100" dirty="0">
                <a:latin typeface="Roboto"/>
                <a:cs typeface="Roboto"/>
              </a:rPr>
              <a:t> </a:t>
            </a:r>
            <a:r>
              <a:rPr spc="-10" dirty="0">
                <a:latin typeface="Roboto"/>
                <a:cs typeface="Roboto"/>
              </a:rPr>
              <a:t>Backpropagation</a:t>
            </a:r>
          </a:p>
        </p:txBody>
      </p:sp>
      <p:sp>
        <p:nvSpPr>
          <p:cNvPr id="3" name="object 3"/>
          <p:cNvSpPr/>
          <p:nvPr/>
        </p:nvSpPr>
        <p:spPr>
          <a:xfrm>
            <a:off x="756828" y="1403179"/>
            <a:ext cx="1005840" cy="1005840"/>
          </a:xfrm>
          <a:custGeom>
            <a:avLst/>
            <a:gdLst/>
            <a:ahLst/>
            <a:cxnLst/>
            <a:rect l="l" t="t" r="r" b="b"/>
            <a:pathLst>
              <a:path w="1005839" h="1005839">
                <a:moveTo>
                  <a:pt x="502649" y="1005298"/>
                </a:moveTo>
                <a:lnTo>
                  <a:pt x="454240" y="1002997"/>
                </a:lnTo>
                <a:lnTo>
                  <a:pt x="407134" y="996234"/>
                </a:lnTo>
                <a:lnTo>
                  <a:pt x="361540" y="985220"/>
                </a:lnTo>
                <a:lnTo>
                  <a:pt x="317669" y="970167"/>
                </a:lnTo>
                <a:lnTo>
                  <a:pt x="275732" y="951283"/>
                </a:lnTo>
                <a:lnTo>
                  <a:pt x="235939" y="928781"/>
                </a:lnTo>
                <a:lnTo>
                  <a:pt x="198502" y="902870"/>
                </a:lnTo>
                <a:lnTo>
                  <a:pt x="163630" y="873762"/>
                </a:lnTo>
                <a:lnTo>
                  <a:pt x="131535" y="841667"/>
                </a:lnTo>
                <a:lnTo>
                  <a:pt x="102427" y="806795"/>
                </a:lnTo>
                <a:lnTo>
                  <a:pt x="76516" y="769358"/>
                </a:lnTo>
                <a:lnTo>
                  <a:pt x="54014" y="729565"/>
                </a:lnTo>
                <a:lnTo>
                  <a:pt x="35130" y="687628"/>
                </a:lnTo>
                <a:lnTo>
                  <a:pt x="20077" y="643757"/>
                </a:lnTo>
                <a:lnTo>
                  <a:pt x="9063" y="598163"/>
                </a:lnTo>
                <a:lnTo>
                  <a:pt x="2300" y="551057"/>
                </a:lnTo>
                <a:lnTo>
                  <a:pt x="0" y="502649"/>
                </a:lnTo>
                <a:lnTo>
                  <a:pt x="2300" y="454240"/>
                </a:lnTo>
                <a:lnTo>
                  <a:pt x="9063" y="407134"/>
                </a:lnTo>
                <a:lnTo>
                  <a:pt x="20077" y="361540"/>
                </a:lnTo>
                <a:lnTo>
                  <a:pt x="35130" y="317669"/>
                </a:lnTo>
                <a:lnTo>
                  <a:pt x="54014" y="275732"/>
                </a:lnTo>
                <a:lnTo>
                  <a:pt x="76516" y="235939"/>
                </a:lnTo>
                <a:lnTo>
                  <a:pt x="102427" y="198502"/>
                </a:lnTo>
                <a:lnTo>
                  <a:pt x="131535" y="163630"/>
                </a:lnTo>
                <a:lnTo>
                  <a:pt x="163630" y="131535"/>
                </a:lnTo>
                <a:lnTo>
                  <a:pt x="198502" y="102427"/>
                </a:lnTo>
                <a:lnTo>
                  <a:pt x="235939" y="76516"/>
                </a:lnTo>
                <a:lnTo>
                  <a:pt x="275732" y="54014"/>
                </a:lnTo>
                <a:lnTo>
                  <a:pt x="317669" y="35130"/>
                </a:lnTo>
                <a:lnTo>
                  <a:pt x="361540" y="20077"/>
                </a:lnTo>
                <a:lnTo>
                  <a:pt x="407134" y="9063"/>
                </a:lnTo>
                <a:lnTo>
                  <a:pt x="454240" y="2300"/>
                </a:lnTo>
                <a:lnTo>
                  <a:pt x="502649" y="0"/>
                </a:lnTo>
                <a:lnTo>
                  <a:pt x="552330" y="2459"/>
                </a:lnTo>
                <a:lnTo>
                  <a:pt x="601169" y="9747"/>
                </a:lnTo>
                <a:lnTo>
                  <a:pt x="648837" y="21727"/>
                </a:lnTo>
                <a:lnTo>
                  <a:pt x="695005" y="38261"/>
                </a:lnTo>
                <a:lnTo>
                  <a:pt x="739342" y="59215"/>
                </a:lnTo>
                <a:lnTo>
                  <a:pt x="781519" y="84450"/>
                </a:lnTo>
                <a:lnTo>
                  <a:pt x="821207" y="113831"/>
                </a:lnTo>
                <a:lnTo>
                  <a:pt x="858075" y="147222"/>
                </a:lnTo>
                <a:lnTo>
                  <a:pt x="891466" y="184090"/>
                </a:lnTo>
                <a:lnTo>
                  <a:pt x="920847" y="223778"/>
                </a:lnTo>
                <a:lnTo>
                  <a:pt x="946082" y="265956"/>
                </a:lnTo>
                <a:lnTo>
                  <a:pt x="967036" y="310293"/>
                </a:lnTo>
                <a:lnTo>
                  <a:pt x="983570" y="356461"/>
                </a:lnTo>
                <a:lnTo>
                  <a:pt x="995550" y="404129"/>
                </a:lnTo>
                <a:lnTo>
                  <a:pt x="1002838" y="452968"/>
                </a:lnTo>
                <a:lnTo>
                  <a:pt x="1005298" y="502649"/>
                </a:lnTo>
                <a:lnTo>
                  <a:pt x="1002997" y="551057"/>
                </a:lnTo>
                <a:lnTo>
                  <a:pt x="996234" y="598163"/>
                </a:lnTo>
                <a:lnTo>
                  <a:pt x="985221" y="643757"/>
                </a:lnTo>
                <a:lnTo>
                  <a:pt x="970167" y="687628"/>
                </a:lnTo>
                <a:lnTo>
                  <a:pt x="951284" y="729565"/>
                </a:lnTo>
                <a:lnTo>
                  <a:pt x="928782" y="769358"/>
                </a:lnTo>
                <a:lnTo>
                  <a:pt x="902871" y="806795"/>
                </a:lnTo>
                <a:lnTo>
                  <a:pt x="873763" y="841667"/>
                </a:lnTo>
                <a:lnTo>
                  <a:pt x="841668" y="873762"/>
                </a:lnTo>
                <a:lnTo>
                  <a:pt x="806796" y="902870"/>
                </a:lnTo>
                <a:lnTo>
                  <a:pt x="769359" y="928781"/>
                </a:lnTo>
                <a:lnTo>
                  <a:pt x="729566" y="951283"/>
                </a:lnTo>
                <a:lnTo>
                  <a:pt x="687629" y="970167"/>
                </a:lnTo>
                <a:lnTo>
                  <a:pt x="643758" y="985220"/>
                </a:lnTo>
                <a:lnTo>
                  <a:pt x="598164" y="996234"/>
                </a:lnTo>
                <a:lnTo>
                  <a:pt x="551057" y="1002997"/>
                </a:lnTo>
                <a:lnTo>
                  <a:pt x="502649" y="1005298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32528" y="1745870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800" spc="-37" baseline="-30092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800" baseline="-30092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039513" y="1459194"/>
            <a:ext cx="942340" cy="942340"/>
          </a:xfrm>
          <a:custGeom>
            <a:avLst/>
            <a:gdLst/>
            <a:ahLst/>
            <a:cxnLst/>
            <a:rect l="l" t="t" r="r" b="b"/>
            <a:pathLst>
              <a:path w="942340" h="942339">
                <a:moveTo>
                  <a:pt x="471149" y="942298"/>
                </a:moveTo>
                <a:lnTo>
                  <a:pt x="422978" y="939865"/>
                </a:lnTo>
                <a:lnTo>
                  <a:pt x="376198" y="932726"/>
                </a:lnTo>
                <a:lnTo>
                  <a:pt x="331047" y="921116"/>
                </a:lnTo>
                <a:lnTo>
                  <a:pt x="287760" y="905273"/>
                </a:lnTo>
                <a:lnTo>
                  <a:pt x="246575" y="885433"/>
                </a:lnTo>
                <a:lnTo>
                  <a:pt x="207729" y="861833"/>
                </a:lnTo>
                <a:lnTo>
                  <a:pt x="171458" y="834710"/>
                </a:lnTo>
                <a:lnTo>
                  <a:pt x="137999" y="804302"/>
                </a:lnTo>
                <a:lnTo>
                  <a:pt x="107590" y="770844"/>
                </a:lnTo>
                <a:lnTo>
                  <a:pt x="80467" y="734573"/>
                </a:lnTo>
                <a:lnTo>
                  <a:pt x="56866" y="695727"/>
                </a:lnTo>
                <a:lnTo>
                  <a:pt x="37026" y="654541"/>
                </a:lnTo>
                <a:lnTo>
                  <a:pt x="21182" y="611254"/>
                </a:lnTo>
                <a:lnTo>
                  <a:pt x="9572" y="566102"/>
                </a:lnTo>
                <a:lnTo>
                  <a:pt x="2432" y="519321"/>
                </a:lnTo>
                <a:lnTo>
                  <a:pt x="0" y="471149"/>
                </a:lnTo>
                <a:lnTo>
                  <a:pt x="2432" y="422976"/>
                </a:lnTo>
                <a:lnTo>
                  <a:pt x="9572" y="376195"/>
                </a:lnTo>
                <a:lnTo>
                  <a:pt x="21182" y="331043"/>
                </a:lnTo>
                <a:lnTo>
                  <a:pt x="37026" y="287756"/>
                </a:lnTo>
                <a:lnTo>
                  <a:pt x="56866" y="246570"/>
                </a:lnTo>
                <a:lnTo>
                  <a:pt x="80467" y="207724"/>
                </a:lnTo>
                <a:lnTo>
                  <a:pt x="107590" y="171454"/>
                </a:lnTo>
                <a:lnTo>
                  <a:pt x="137999" y="137995"/>
                </a:lnTo>
                <a:lnTo>
                  <a:pt x="171458" y="107587"/>
                </a:lnTo>
                <a:lnTo>
                  <a:pt x="207729" y="80464"/>
                </a:lnTo>
                <a:lnTo>
                  <a:pt x="246575" y="56864"/>
                </a:lnTo>
                <a:lnTo>
                  <a:pt x="287760" y="37025"/>
                </a:lnTo>
                <a:lnTo>
                  <a:pt x="331047" y="21181"/>
                </a:lnTo>
                <a:lnTo>
                  <a:pt x="376198" y="9572"/>
                </a:lnTo>
                <a:lnTo>
                  <a:pt x="422978" y="2432"/>
                </a:lnTo>
                <a:lnTo>
                  <a:pt x="471149" y="0"/>
                </a:lnTo>
                <a:lnTo>
                  <a:pt x="524309" y="3007"/>
                </a:lnTo>
                <a:lnTo>
                  <a:pt x="576384" y="11901"/>
                </a:lnTo>
                <a:lnTo>
                  <a:pt x="626910" y="26492"/>
                </a:lnTo>
                <a:lnTo>
                  <a:pt x="675426" y="46587"/>
                </a:lnTo>
                <a:lnTo>
                  <a:pt x="721471" y="71997"/>
                </a:lnTo>
                <a:lnTo>
                  <a:pt x="764582" y="102531"/>
                </a:lnTo>
                <a:lnTo>
                  <a:pt x="804298" y="137997"/>
                </a:lnTo>
                <a:lnTo>
                  <a:pt x="839761" y="177715"/>
                </a:lnTo>
                <a:lnTo>
                  <a:pt x="870293" y="220826"/>
                </a:lnTo>
                <a:lnTo>
                  <a:pt x="895704" y="266870"/>
                </a:lnTo>
                <a:lnTo>
                  <a:pt x="915801" y="315385"/>
                </a:lnTo>
                <a:lnTo>
                  <a:pt x="930394" y="365911"/>
                </a:lnTo>
                <a:lnTo>
                  <a:pt x="939290" y="417986"/>
                </a:lnTo>
                <a:lnTo>
                  <a:pt x="942298" y="471149"/>
                </a:lnTo>
                <a:lnTo>
                  <a:pt x="939865" y="519321"/>
                </a:lnTo>
                <a:lnTo>
                  <a:pt x="932725" y="566102"/>
                </a:lnTo>
                <a:lnTo>
                  <a:pt x="921115" y="611254"/>
                </a:lnTo>
                <a:lnTo>
                  <a:pt x="905271" y="654541"/>
                </a:lnTo>
                <a:lnTo>
                  <a:pt x="885431" y="695727"/>
                </a:lnTo>
                <a:lnTo>
                  <a:pt x="861830" y="734573"/>
                </a:lnTo>
                <a:lnTo>
                  <a:pt x="834707" y="770844"/>
                </a:lnTo>
                <a:lnTo>
                  <a:pt x="804298" y="804302"/>
                </a:lnTo>
                <a:lnTo>
                  <a:pt x="770839" y="834710"/>
                </a:lnTo>
                <a:lnTo>
                  <a:pt x="734569" y="861833"/>
                </a:lnTo>
                <a:lnTo>
                  <a:pt x="695722" y="885433"/>
                </a:lnTo>
                <a:lnTo>
                  <a:pt x="654537" y="905273"/>
                </a:lnTo>
                <a:lnTo>
                  <a:pt x="611251" y="921116"/>
                </a:lnTo>
                <a:lnTo>
                  <a:pt x="566099" y="932726"/>
                </a:lnTo>
                <a:lnTo>
                  <a:pt x="519319" y="939865"/>
                </a:lnTo>
                <a:lnTo>
                  <a:pt x="471149" y="942298"/>
                </a:lnTo>
                <a:close/>
              </a:path>
            </a:pathLst>
          </a:custGeom>
          <a:solidFill>
            <a:srgbClr val="6EA8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385442" y="1770383"/>
            <a:ext cx="263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1800" spc="-37" baseline="-30092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800" baseline="-30092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486043" y="1459194"/>
            <a:ext cx="942340" cy="942340"/>
          </a:xfrm>
          <a:custGeom>
            <a:avLst/>
            <a:gdLst/>
            <a:ahLst/>
            <a:cxnLst/>
            <a:rect l="l" t="t" r="r" b="b"/>
            <a:pathLst>
              <a:path w="942339" h="942339">
                <a:moveTo>
                  <a:pt x="471149" y="942298"/>
                </a:moveTo>
                <a:lnTo>
                  <a:pt x="422978" y="939865"/>
                </a:lnTo>
                <a:lnTo>
                  <a:pt x="376198" y="932726"/>
                </a:lnTo>
                <a:lnTo>
                  <a:pt x="331047" y="921116"/>
                </a:lnTo>
                <a:lnTo>
                  <a:pt x="287760" y="905273"/>
                </a:lnTo>
                <a:lnTo>
                  <a:pt x="246575" y="885433"/>
                </a:lnTo>
                <a:lnTo>
                  <a:pt x="207729" y="861833"/>
                </a:lnTo>
                <a:lnTo>
                  <a:pt x="171458" y="834710"/>
                </a:lnTo>
                <a:lnTo>
                  <a:pt x="137999" y="804302"/>
                </a:lnTo>
                <a:lnTo>
                  <a:pt x="107590" y="770844"/>
                </a:lnTo>
                <a:lnTo>
                  <a:pt x="80467" y="734573"/>
                </a:lnTo>
                <a:lnTo>
                  <a:pt x="56866" y="695727"/>
                </a:lnTo>
                <a:lnTo>
                  <a:pt x="37026" y="654541"/>
                </a:lnTo>
                <a:lnTo>
                  <a:pt x="21182" y="611254"/>
                </a:lnTo>
                <a:lnTo>
                  <a:pt x="9572" y="566102"/>
                </a:lnTo>
                <a:lnTo>
                  <a:pt x="2432" y="519321"/>
                </a:lnTo>
                <a:lnTo>
                  <a:pt x="0" y="471149"/>
                </a:lnTo>
                <a:lnTo>
                  <a:pt x="2432" y="422976"/>
                </a:lnTo>
                <a:lnTo>
                  <a:pt x="9572" y="376195"/>
                </a:lnTo>
                <a:lnTo>
                  <a:pt x="21182" y="331043"/>
                </a:lnTo>
                <a:lnTo>
                  <a:pt x="37026" y="287756"/>
                </a:lnTo>
                <a:lnTo>
                  <a:pt x="56866" y="246570"/>
                </a:lnTo>
                <a:lnTo>
                  <a:pt x="80467" y="207724"/>
                </a:lnTo>
                <a:lnTo>
                  <a:pt x="107590" y="171454"/>
                </a:lnTo>
                <a:lnTo>
                  <a:pt x="137999" y="137995"/>
                </a:lnTo>
                <a:lnTo>
                  <a:pt x="171458" y="107587"/>
                </a:lnTo>
                <a:lnTo>
                  <a:pt x="207729" y="80464"/>
                </a:lnTo>
                <a:lnTo>
                  <a:pt x="246575" y="56864"/>
                </a:lnTo>
                <a:lnTo>
                  <a:pt x="287760" y="37025"/>
                </a:lnTo>
                <a:lnTo>
                  <a:pt x="331047" y="21181"/>
                </a:lnTo>
                <a:lnTo>
                  <a:pt x="376198" y="9572"/>
                </a:lnTo>
                <a:lnTo>
                  <a:pt x="422978" y="2432"/>
                </a:lnTo>
                <a:lnTo>
                  <a:pt x="471149" y="0"/>
                </a:lnTo>
                <a:lnTo>
                  <a:pt x="524309" y="3007"/>
                </a:lnTo>
                <a:lnTo>
                  <a:pt x="576384" y="11901"/>
                </a:lnTo>
                <a:lnTo>
                  <a:pt x="626910" y="26492"/>
                </a:lnTo>
                <a:lnTo>
                  <a:pt x="675426" y="46587"/>
                </a:lnTo>
                <a:lnTo>
                  <a:pt x="721471" y="71997"/>
                </a:lnTo>
                <a:lnTo>
                  <a:pt x="764582" y="102531"/>
                </a:lnTo>
                <a:lnTo>
                  <a:pt x="804298" y="137997"/>
                </a:lnTo>
                <a:lnTo>
                  <a:pt x="839761" y="177715"/>
                </a:lnTo>
                <a:lnTo>
                  <a:pt x="870293" y="220826"/>
                </a:lnTo>
                <a:lnTo>
                  <a:pt x="895704" y="266870"/>
                </a:lnTo>
                <a:lnTo>
                  <a:pt x="915801" y="315385"/>
                </a:lnTo>
                <a:lnTo>
                  <a:pt x="930394" y="365911"/>
                </a:lnTo>
                <a:lnTo>
                  <a:pt x="939290" y="417986"/>
                </a:lnTo>
                <a:lnTo>
                  <a:pt x="942298" y="471149"/>
                </a:lnTo>
                <a:lnTo>
                  <a:pt x="939865" y="519321"/>
                </a:lnTo>
                <a:lnTo>
                  <a:pt x="932725" y="566102"/>
                </a:lnTo>
                <a:lnTo>
                  <a:pt x="921115" y="611254"/>
                </a:lnTo>
                <a:lnTo>
                  <a:pt x="905271" y="654541"/>
                </a:lnTo>
                <a:lnTo>
                  <a:pt x="885431" y="695727"/>
                </a:lnTo>
                <a:lnTo>
                  <a:pt x="861830" y="734573"/>
                </a:lnTo>
                <a:lnTo>
                  <a:pt x="834707" y="770844"/>
                </a:lnTo>
                <a:lnTo>
                  <a:pt x="804298" y="804302"/>
                </a:lnTo>
                <a:lnTo>
                  <a:pt x="770839" y="834710"/>
                </a:lnTo>
                <a:lnTo>
                  <a:pt x="734569" y="861833"/>
                </a:lnTo>
                <a:lnTo>
                  <a:pt x="695722" y="885433"/>
                </a:lnTo>
                <a:lnTo>
                  <a:pt x="654537" y="905273"/>
                </a:lnTo>
                <a:lnTo>
                  <a:pt x="611251" y="921116"/>
                </a:lnTo>
                <a:lnTo>
                  <a:pt x="566099" y="932726"/>
                </a:lnTo>
                <a:lnTo>
                  <a:pt x="519319" y="939865"/>
                </a:lnTo>
                <a:lnTo>
                  <a:pt x="471149" y="942298"/>
                </a:lnTo>
                <a:close/>
              </a:path>
            </a:pathLst>
          </a:custGeom>
          <a:solidFill>
            <a:srgbClr val="8E7C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819038" y="1770383"/>
            <a:ext cx="276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800" spc="-37" baseline="-30092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800" baseline="-30092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752601" y="1887811"/>
            <a:ext cx="6281420" cy="83820"/>
            <a:chOff x="1752601" y="1887811"/>
            <a:chExt cx="6281420" cy="83820"/>
          </a:xfrm>
        </p:grpSpPr>
        <p:sp>
          <p:nvSpPr>
            <p:cNvPr id="10" name="object 10"/>
            <p:cNvSpPr/>
            <p:nvPr/>
          </p:nvSpPr>
          <p:spPr>
            <a:xfrm>
              <a:off x="1762126" y="1905828"/>
              <a:ext cx="1609725" cy="23495"/>
            </a:xfrm>
            <a:custGeom>
              <a:avLst/>
              <a:gdLst/>
              <a:ahLst/>
              <a:cxnLst/>
              <a:rect l="l" t="t" r="r" b="b"/>
              <a:pathLst>
                <a:path w="1609725" h="23494">
                  <a:moveTo>
                    <a:pt x="0" y="0"/>
                  </a:moveTo>
                  <a:lnTo>
                    <a:pt x="1609516" y="22969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61668" y="1887811"/>
              <a:ext cx="105924" cy="819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428340" y="1930343"/>
              <a:ext cx="1497330" cy="0"/>
            </a:xfrm>
            <a:custGeom>
              <a:avLst/>
              <a:gdLst/>
              <a:ahLst/>
              <a:cxnLst/>
              <a:rect l="l" t="t" r="r" b="b"/>
              <a:pathLst>
                <a:path w="1497329">
                  <a:moveTo>
                    <a:pt x="0" y="0"/>
                  </a:moveTo>
                  <a:lnTo>
                    <a:pt x="1496996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15813" y="1889353"/>
              <a:ext cx="105499" cy="8197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981935" y="1930311"/>
              <a:ext cx="956310" cy="0"/>
            </a:xfrm>
            <a:custGeom>
              <a:avLst/>
              <a:gdLst/>
              <a:ahLst/>
              <a:cxnLst/>
              <a:rect l="l" t="t" r="r" b="b"/>
              <a:pathLst>
                <a:path w="956309">
                  <a:moveTo>
                    <a:pt x="0" y="0"/>
                  </a:moveTo>
                  <a:lnTo>
                    <a:pt x="956098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28508" y="1889318"/>
              <a:ext cx="105499" cy="81982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8130533" y="1770007"/>
            <a:ext cx="4933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latin typeface="Arial MT"/>
                <a:cs typeface="Arial MT"/>
              </a:rPr>
              <a:t>J(</a:t>
            </a:r>
            <a:r>
              <a:rPr sz="2000" spc="-20" dirty="0">
                <a:latin typeface="Microsoft Sans Serif"/>
                <a:cs typeface="Microsoft Sans Serif"/>
              </a:rPr>
              <a:t>Ө</a:t>
            </a:r>
            <a:r>
              <a:rPr sz="2000" spc="-20" dirty="0">
                <a:latin typeface="Arial MT"/>
                <a:cs typeface="Arial MT"/>
              </a:rPr>
              <a:t>)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43916" y="1574383"/>
            <a:ext cx="3098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 MT"/>
                <a:cs typeface="Arial MT"/>
              </a:rPr>
              <a:t>W</a:t>
            </a:r>
            <a:r>
              <a:rPr sz="1350" spc="-37" baseline="-33950" dirty="0">
                <a:latin typeface="Arial MT"/>
                <a:cs typeface="Arial MT"/>
              </a:rPr>
              <a:t>1</a:t>
            </a:r>
            <a:endParaRPr sz="1350" baseline="-3395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934711" y="1574383"/>
            <a:ext cx="3098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 MT"/>
                <a:cs typeface="Arial MT"/>
              </a:rPr>
              <a:t>W</a:t>
            </a:r>
            <a:r>
              <a:rPr sz="1350" spc="-37" baseline="-33950" dirty="0">
                <a:latin typeface="Arial MT"/>
                <a:cs typeface="Arial MT"/>
              </a:rPr>
              <a:t>2</a:t>
            </a:r>
            <a:endParaRPr sz="1350" baseline="-3395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926290" y="1506154"/>
            <a:ext cx="3854450" cy="672465"/>
            <a:chOff x="4926290" y="1506154"/>
            <a:chExt cx="3854450" cy="672465"/>
          </a:xfrm>
        </p:grpSpPr>
        <p:sp>
          <p:nvSpPr>
            <p:cNvPr id="20" name="object 20"/>
            <p:cNvSpPr/>
            <p:nvPr/>
          </p:nvSpPr>
          <p:spPr>
            <a:xfrm>
              <a:off x="6039513" y="1605871"/>
              <a:ext cx="2741295" cy="572770"/>
            </a:xfrm>
            <a:custGeom>
              <a:avLst/>
              <a:gdLst/>
              <a:ahLst/>
              <a:cxnLst/>
              <a:rect l="l" t="t" r="r" b="b"/>
              <a:pathLst>
                <a:path w="2741295" h="572769">
                  <a:moveTo>
                    <a:pt x="2741094" y="572698"/>
                  </a:moveTo>
                  <a:lnTo>
                    <a:pt x="0" y="572698"/>
                  </a:lnTo>
                  <a:lnTo>
                    <a:pt x="0" y="0"/>
                  </a:lnTo>
                  <a:lnTo>
                    <a:pt x="2741094" y="0"/>
                  </a:lnTo>
                  <a:lnTo>
                    <a:pt x="2741094" y="572698"/>
                  </a:lnTo>
                  <a:close/>
                </a:path>
              </a:pathLst>
            </a:custGeom>
            <a:solidFill>
              <a:srgbClr val="FFFD0A">
                <a:alpha val="4191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926279" y="1506156"/>
              <a:ext cx="346710" cy="354330"/>
            </a:xfrm>
            <a:custGeom>
              <a:avLst/>
              <a:gdLst/>
              <a:ahLst/>
              <a:cxnLst/>
              <a:rect l="l" t="t" r="r" b="b"/>
              <a:pathLst>
                <a:path w="346710" h="354330">
                  <a:moveTo>
                    <a:pt x="346506" y="57759"/>
                  </a:moveTo>
                  <a:lnTo>
                    <a:pt x="329603" y="16916"/>
                  </a:lnTo>
                  <a:lnTo>
                    <a:pt x="288759" y="0"/>
                  </a:lnTo>
                  <a:lnTo>
                    <a:pt x="57759" y="0"/>
                  </a:lnTo>
                  <a:lnTo>
                    <a:pt x="35280" y="4546"/>
                  </a:lnTo>
                  <a:lnTo>
                    <a:pt x="16929" y="16916"/>
                  </a:lnTo>
                  <a:lnTo>
                    <a:pt x="4546" y="35280"/>
                  </a:lnTo>
                  <a:lnTo>
                    <a:pt x="0" y="57759"/>
                  </a:lnTo>
                  <a:lnTo>
                    <a:pt x="0" y="295948"/>
                  </a:lnTo>
                  <a:lnTo>
                    <a:pt x="4546" y="318427"/>
                  </a:lnTo>
                  <a:lnTo>
                    <a:pt x="16929" y="336791"/>
                  </a:lnTo>
                  <a:lnTo>
                    <a:pt x="35280" y="349161"/>
                  </a:lnTo>
                  <a:lnTo>
                    <a:pt x="57759" y="353707"/>
                  </a:lnTo>
                  <a:lnTo>
                    <a:pt x="288759" y="353707"/>
                  </a:lnTo>
                  <a:lnTo>
                    <a:pt x="311238" y="349161"/>
                  </a:lnTo>
                  <a:lnTo>
                    <a:pt x="329590" y="336791"/>
                  </a:lnTo>
                  <a:lnTo>
                    <a:pt x="341972" y="318427"/>
                  </a:lnTo>
                  <a:lnTo>
                    <a:pt x="346506" y="295948"/>
                  </a:lnTo>
                  <a:lnTo>
                    <a:pt x="346506" y="57759"/>
                  </a:lnTo>
                  <a:close/>
                </a:path>
              </a:pathLst>
            </a:custGeom>
            <a:solidFill>
              <a:srgbClr val="1D72FF">
                <a:alpha val="1884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2966044" y="2756619"/>
            <a:ext cx="3453765" cy="1431925"/>
            <a:chOff x="2966044" y="2756619"/>
            <a:chExt cx="3453765" cy="1431925"/>
          </a:xfrm>
        </p:grpSpPr>
        <p:sp>
          <p:nvSpPr>
            <p:cNvPr id="23" name="object 23"/>
            <p:cNvSpPr/>
            <p:nvPr/>
          </p:nvSpPr>
          <p:spPr>
            <a:xfrm>
              <a:off x="3999991" y="3997317"/>
              <a:ext cx="893444" cy="86995"/>
            </a:xfrm>
            <a:custGeom>
              <a:avLst/>
              <a:gdLst/>
              <a:ahLst/>
              <a:cxnLst/>
              <a:rect l="l" t="t" r="r" b="b"/>
              <a:pathLst>
                <a:path w="893445" h="86995">
                  <a:moveTo>
                    <a:pt x="893098" y="86699"/>
                  </a:moveTo>
                  <a:lnTo>
                    <a:pt x="0" y="86699"/>
                  </a:lnTo>
                  <a:lnTo>
                    <a:pt x="0" y="0"/>
                  </a:lnTo>
                  <a:lnTo>
                    <a:pt x="893098" y="0"/>
                  </a:lnTo>
                  <a:lnTo>
                    <a:pt x="893098" y="86699"/>
                  </a:lnTo>
                  <a:close/>
                </a:path>
              </a:pathLst>
            </a:custGeom>
            <a:solidFill>
              <a:srgbClr val="FFFD0A">
                <a:alpha val="4191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66044" y="3141243"/>
              <a:ext cx="3009893" cy="685798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4885890" y="2997569"/>
              <a:ext cx="1534160" cy="1190625"/>
            </a:xfrm>
            <a:custGeom>
              <a:avLst/>
              <a:gdLst/>
              <a:ahLst/>
              <a:cxnLst/>
              <a:rect l="l" t="t" r="r" b="b"/>
              <a:pathLst>
                <a:path w="1534160" h="1190625">
                  <a:moveTo>
                    <a:pt x="1533596" y="1190397"/>
                  </a:moveTo>
                  <a:lnTo>
                    <a:pt x="0" y="1190397"/>
                  </a:lnTo>
                  <a:lnTo>
                    <a:pt x="0" y="0"/>
                  </a:lnTo>
                  <a:lnTo>
                    <a:pt x="1533596" y="0"/>
                  </a:lnTo>
                  <a:lnTo>
                    <a:pt x="1533596" y="119039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839192" y="2766144"/>
              <a:ext cx="388620" cy="262255"/>
            </a:xfrm>
            <a:custGeom>
              <a:avLst/>
              <a:gdLst/>
              <a:ahLst/>
              <a:cxnLst/>
              <a:rect l="l" t="t" r="r" b="b"/>
              <a:pathLst>
                <a:path w="388620" h="262255">
                  <a:moveTo>
                    <a:pt x="388549" y="0"/>
                  </a:moveTo>
                  <a:lnTo>
                    <a:pt x="0" y="262174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57992" y="2992694"/>
              <a:ext cx="108324" cy="93499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3684716" y="2456454"/>
            <a:ext cx="15868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Apply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chain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rule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latin typeface="Roboto"/>
                <a:cs typeface="Roboto"/>
              </a:rPr>
              <a:t>Calculating</a:t>
            </a:r>
            <a:r>
              <a:rPr spc="-105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the</a:t>
            </a:r>
            <a:r>
              <a:rPr spc="-105" dirty="0">
                <a:latin typeface="Roboto"/>
                <a:cs typeface="Roboto"/>
              </a:rPr>
              <a:t> </a:t>
            </a:r>
            <a:r>
              <a:rPr spc="-20" dirty="0">
                <a:latin typeface="Roboto"/>
                <a:cs typeface="Roboto"/>
              </a:rPr>
              <a:t>Gradient:</a:t>
            </a:r>
            <a:r>
              <a:rPr spc="-100" dirty="0">
                <a:latin typeface="Roboto"/>
                <a:cs typeface="Roboto"/>
              </a:rPr>
              <a:t> </a:t>
            </a:r>
            <a:r>
              <a:rPr spc="-10" dirty="0">
                <a:latin typeface="Roboto"/>
                <a:cs typeface="Roboto"/>
              </a:rPr>
              <a:t>Backpropagation</a:t>
            </a:r>
          </a:p>
        </p:txBody>
      </p:sp>
      <p:sp>
        <p:nvSpPr>
          <p:cNvPr id="3" name="object 3"/>
          <p:cNvSpPr/>
          <p:nvPr/>
        </p:nvSpPr>
        <p:spPr>
          <a:xfrm>
            <a:off x="756828" y="1403179"/>
            <a:ext cx="1005840" cy="1005840"/>
          </a:xfrm>
          <a:custGeom>
            <a:avLst/>
            <a:gdLst/>
            <a:ahLst/>
            <a:cxnLst/>
            <a:rect l="l" t="t" r="r" b="b"/>
            <a:pathLst>
              <a:path w="1005839" h="1005839">
                <a:moveTo>
                  <a:pt x="502649" y="1005298"/>
                </a:moveTo>
                <a:lnTo>
                  <a:pt x="454240" y="1002997"/>
                </a:lnTo>
                <a:lnTo>
                  <a:pt x="407134" y="996234"/>
                </a:lnTo>
                <a:lnTo>
                  <a:pt x="361540" y="985220"/>
                </a:lnTo>
                <a:lnTo>
                  <a:pt x="317669" y="970167"/>
                </a:lnTo>
                <a:lnTo>
                  <a:pt x="275732" y="951283"/>
                </a:lnTo>
                <a:lnTo>
                  <a:pt x="235939" y="928781"/>
                </a:lnTo>
                <a:lnTo>
                  <a:pt x="198502" y="902870"/>
                </a:lnTo>
                <a:lnTo>
                  <a:pt x="163630" y="873762"/>
                </a:lnTo>
                <a:lnTo>
                  <a:pt x="131535" y="841667"/>
                </a:lnTo>
                <a:lnTo>
                  <a:pt x="102427" y="806795"/>
                </a:lnTo>
                <a:lnTo>
                  <a:pt x="76516" y="769358"/>
                </a:lnTo>
                <a:lnTo>
                  <a:pt x="54014" y="729565"/>
                </a:lnTo>
                <a:lnTo>
                  <a:pt x="35130" y="687628"/>
                </a:lnTo>
                <a:lnTo>
                  <a:pt x="20077" y="643757"/>
                </a:lnTo>
                <a:lnTo>
                  <a:pt x="9063" y="598163"/>
                </a:lnTo>
                <a:lnTo>
                  <a:pt x="2300" y="551057"/>
                </a:lnTo>
                <a:lnTo>
                  <a:pt x="0" y="502649"/>
                </a:lnTo>
                <a:lnTo>
                  <a:pt x="2300" y="454240"/>
                </a:lnTo>
                <a:lnTo>
                  <a:pt x="9063" y="407134"/>
                </a:lnTo>
                <a:lnTo>
                  <a:pt x="20077" y="361540"/>
                </a:lnTo>
                <a:lnTo>
                  <a:pt x="35130" y="317669"/>
                </a:lnTo>
                <a:lnTo>
                  <a:pt x="54014" y="275732"/>
                </a:lnTo>
                <a:lnTo>
                  <a:pt x="76516" y="235939"/>
                </a:lnTo>
                <a:lnTo>
                  <a:pt x="102427" y="198502"/>
                </a:lnTo>
                <a:lnTo>
                  <a:pt x="131535" y="163630"/>
                </a:lnTo>
                <a:lnTo>
                  <a:pt x="163630" y="131535"/>
                </a:lnTo>
                <a:lnTo>
                  <a:pt x="198502" y="102427"/>
                </a:lnTo>
                <a:lnTo>
                  <a:pt x="235939" y="76516"/>
                </a:lnTo>
                <a:lnTo>
                  <a:pt x="275732" y="54014"/>
                </a:lnTo>
                <a:lnTo>
                  <a:pt x="317669" y="35130"/>
                </a:lnTo>
                <a:lnTo>
                  <a:pt x="361540" y="20077"/>
                </a:lnTo>
                <a:lnTo>
                  <a:pt x="407134" y="9063"/>
                </a:lnTo>
                <a:lnTo>
                  <a:pt x="454240" y="2300"/>
                </a:lnTo>
                <a:lnTo>
                  <a:pt x="502649" y="0"/>
                </a:lnTo>
                <a:lnTo>
                  <a:pt x="552330" y="2459"/>
                </a:lnTo>
                <a:lnTo>
                  <a:pt x="601169" y="9747"/>
                </a:lnTo>
                <a:lnTo>
                  <a:pt x="648837" y="21727"/>
                </a:lnTo>
                <a:lnTo>
                  <a:pt x="695005" y="38261"/>
                </a:lnTo>
                <a:lnTo>
                  <a:pt x="739342" y="59215"/>
                </a:lnTo>
                <a:lnTo>
                  <a:pt x="781519" y="84450"/>
                </a:lnTo>
                <a:lnTo>
                  <a:pt x="821207" y="113831"/>
                </a:lnTo>
                <a:lnTo>
                  <a:pt x="858075" y="147222"/>
                </a:lnTo>
                <a:lnTo>
                  <a:pt x="891466" y="184090"/>
                </a:lnTo>
                <a:lnTo>
                  <a:pt x="920847" y="223778"/>
                </a:lnTo>
                <a:lnTo>
                  <a:pt x="946082" y="265956"/>
                </a:lnTo>
                <a:lnTo>
                  <a:pt x="967036" y="310293"/>
                </a:lnTo>
                <a:lnTo>
                  <a:pt x="983570" y="356461"/>
                </a:lnTo>
                <a:lnTo>
                  <a:pt x="995550" y="404129"/>
                </a:lnTo>
                <a:lnTo>
                  <a:pt x="1002838" y="452968"/>
                </a:lnTo>
                <a:lnTo>
                  <a:pt x="1005298" y="502649"/>
                </a:lnTo>
                <a:lnTo>
                  <a:pt x="1002997" y="551057"/>
                </a:lnTo>
                <a:lnTo>
                  <a:pt x="996234" y="598163"/>
                </a:lnTo>
                <a:lnTo>
                  <a:pt x="985221" y="643757"/>
                </a:lnTo>
                <a:lnTo>
                  <a:pt x="970167" y="687628"/>
                </a:lnTo>
                <a:lnTo>
                  <a:pt x="951284" y="729565"/>
                </a:lnTo>
                <a:lnTo>
                  <a:pt x="928782" y="769358"/>
                </a:lnTo>
                <a:lnTo>
                  <a:pt x="902871" y="806795"/>
                </a:lnTo>
                <a:lnTo>
                  <a:pt x="873763" y="841667"/>
                </a:lnTo>
                <a:lnTo>
                  <a:pt x="841668" y="873762"/>
                </a:lnTo>
                <a:lnTo>
                  <a:pt x="806796" y="902870"/>
                </a:lnTo>
                <a:lnTo>
                  <a:pt x="769359" y="928781"/>
                </a:lnTo>
                <a:lnTo>
                  <a:pt x="729566" y="951283"/>
                </a:lnTo>
                <a:lnTo>
                  <a:pt x="687629" y="970167"/>
                </a:lnTo>
                <a:lnTo>
                  <a:pt x="643758" y="985220"/>
                </a:lnTo>
                <a:lnTo>
                  <a:pt x="598164" y="996234"/>
                </a:lnTo>
                <a:lnTo>
                  <a:pt x="551057" y="1002997"/>
                </a:lnTo>
                <a:lnTo>
                  <a:pt x="502649" y="1005298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32528" y="1745870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800" spc="-37" baseline="-30092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800" baseline="-30092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039513" y="1459194"/>
            <a:ext cx="942340" cy="942340"/>
          </a:xfrm>
          <a:custGeom>
            <a:avLst/>
            <a:gdLst/>
            <a:ahLst/>
            <a:cxnLst/>
            <a:rect l="l" t="t" r="r" b="b"/>
            <a:pathLst>
              <a:path w="942340" h="942339">
                <a:moveTo>
                  <a:pt x="471149" y="942298"/>
                </a:moveTo>
                <a:lnTo>
                  <a:pt x="422978" y="939865"/>
                </a:lnTo>
                <a:lnTo>
                  <a:pt x="376198" y="932726"/>
                </a:lnTo>
                <a:lnTo>
                  <a:pt x="331047" y="921116"/>
                </a:lnTo>
                <a:lnTo>
                  <a:pt x="287760" y="905273"/>
                </a:lnTo>
                <a:lnTo>
                  <a:pt x="246575" y="885433"/>
                </a:lnTo>
                <a:lnTo>
                  <a:pt x="207729" y="861833"/>
                </a:lnTo>
                <a:lnTo>
                  <a:pt x="171458" y="834710"/>
                </a:lnTo>
                <a:lnTo>
                  <a:pt x="137999" y="804302"/>
                </a:lnTo>
                <a:lnTo>
                  <a:pt x="107590" y="770844"/>
                </a:lnTo>
                <a:lnTo>
                  <a:pt x="80467" y="734573"/>
                </a:lnTo>
                <a:lnTo>
                  <a:pt x="56866" y="695727"/>
                </a:lnTo>
                <a:lnTo>
                  <a:pt x="37026" y="654541"/>
                </a:lnTo>
                <a:lnTo>
                  <a:pt x="21182" y="611254"/>
                </a:lnTo>
                <a:lnTo>
                  <a:pt x="9572" y="566102"/>
                </a:lnTo>
                <a:lnTo>
                  <a:pt x="2432" y="519321"/>
                </a:lnTo>
                <a:lnTo>
                  <a:pt x="0" y="471149"/>
                </a:lnTo>
                <a:lnTo>
                  <a:pt x="2432" y="422976"/>
                </a:lnTo>
                <a:lnTo>
                  <a:pt x="9572" y="376195"/>
                </a:lnTo>
                <a:lnTo>
                  <a:pt x="21182" y="331043"/>
                </a:lnTo>
                <a:lnTo>
                  <a:pt x="37026" y="287756"/>
                </a:lnTo>
                <a:lnTo>
                  <a:pt x="56866" y="246570"/>
                </a:lnTo>
                <a:lnTo>
                  <a:pt x="80467" y="207724"/>
                </a:lnTo>
                <a:lnTo>
                  <a:pt x="107590" y="171454"/>
                </a:lnTo>
                <a:lnTo>
                  <a:pt x="137999" y="137995"/>
                </a:lnTo>
                <a:lnTo>
                  <a:pt x="171458" y="107587"/>
                </a:lnTo>
                <a:lnTo>
                  <a:pt x="207729" y="80464"/>
                </a:lnTo>
                <a:lnTo>
                  <a:pt x="246575" y="56864"/>
                </a:lnTo>
                <a:lnTo>
                  <a:pt x="287760" y="37025"/>
                </a:lnTo>
                <a:lnTo>
                  <a:pt x="331047" y="21181"/>
                </a:lnTo>
                <a:lnTo>
                  <a:pt x="376198" y="9572"/>
                </a:lnTo>
                <a:lnTo>
                  <a:pt x="422978" y="2432"/>
                </a:lnTo>
                <a:lnTo>
                  <a:pt x="471149" y="0"/>
                </a:lnTo>
                <a:lnTo>
                  <a:pt x="524309" y="3007"/>
                </a:lnTo>
                <a:lnTo>
                  <a:pt x="576384" y="11901"/>
                </a:lnTo>
                <a:lnTo>
                  <a:pt x="626910" y="26492"/>
                </a:lnTo>
                <a:lnTo>
                  <a:pt x="675426" y="46587"/>
                </a:lnTo>
                <a:lnTo>
                  <a:pt x="721471" y="71997"/>
                </a:lnTo>
                <a:lnTo>
                  <a:pt x="764582" y="102531"/>
                </a:lnTo>
                <a:lnTo>
                  <a:pt x="804298" y="137997"/>
                </a:lnTo>
                <a:lnTo>
                  <a:pt x="839761" y="177715"/>
                </a:lnTo>
                <a:lnTo>
                  <a:pt x="870293" y="220826"/>
                </a:lnTo>
                <a:lnTo>
                  <a:pt x="895704" y="266870"/>
                </a:lnTo>
                <a:lnTo>
                  <a:pt x="915801" y="315385"/>
                </a:lnTo>
                <a:lnTo>
                  <a:pt x="930394" y="365911"/>
                </a:lnTo>
                <a:lnTo>
                  <a:pt x="939290" y="417986"/>
                </a:lnTo>
                <a:lnTo>
                  <a:pt x="942298" y="471149"/>
                </a:lnTo>
                <a:lnTo>
                  <a:pt x="939865" y="519321"/>
                </a:lnTo>
                <a:lnTo>
                  <a:pt x="932725" y="566102"/>
                </a:lnTo>
                <a:lnTo>
                  <a:pt x="921115" y="611254"/>
                </a:lnTo>
                <a:lnTo>
                  <a:pt x="905271" y="654541"/>
                </a:lnTo>
                <a:lnTo>
                  <a:pt x="885431" y="695727"/>
                </a:lnTo>
                <a:lnTo>
                  <a:pt x="861830" y="734573"/>
                </a:lnTo>
                <a:lnTo>
                  <a:pt x="834707" y="770844"/>
                </a:lnTo>
                <a:lnTo>
                  <a:pt x="804298" y="804302"/>
                </a:lnTo>
                <a:lnTo>
                  <a:pt x="770839" y="834710"/>
                </a:lnTo>
                <a:lnTo>
                  <a:pt x="734569" y="861833"/>
                </a:lnTo>
                <a:lnTo>
                  <a:pt x="695722" y="885433"/>
                </a:lnTo>
                <a:lnTo>
                  <a:pt x="654537" y="905273"/>
                </a:lnTo>
                <a:lnTo>
                  <a:pt x="611251" y="921116"/>
                </a:lnTo>
                <a:lnTo>
                  <a:pt x="566099" y="932726"/>
                </a:lnTo>
                <a:lnTo>
                  <a:pt x="519319" y="939865"/>
                </a:lnTo>
                <a:lnTo>
                  <a:pt x="471149" y="942298"/>
                </a:lnTo>
                <a:close/>
              </a:path>
            </a:pathLst>
          </a:custGeom>
          <a:solidFill>
            <a:srgbClr val="6EA8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385442" y="1770383"/>
            <a:ext cx="263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1800" spc="-37" baseline="-30092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800" baseline="-30092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486043" y="1459194"/>
            <a:ext cx="942340" cy="942340"/>
          </a:xfrm>
          <a:custGeom>
            <a:avLst/>
            <a:gdLst/>
            <a:ahLst/>
            <a:cxnLst/>
            <a:rect l="l" t="t" r="r" b="b"/>
            <a:pathLst>
              <a:path w="942339" h="942339">
                <a:moveTo>
                  <a:pt x="471149" y="942298"/>
                </a:moveTo>
                <a:lnTo>
                  <a:pt x="422978" y="939865"/>
                </a:lnTo>
                <a:lnTo>
                  <a:pt x="376198" y="932726"/>
                </a:lnTo>
                <a:lnTo>
                  <a:pt x="331047" y="921116"/>
                </a:lnTo>
                <a:lnTo>
                  <a:pt x="287760" y="905273"/>
                </a:lnTo>
                <a:lnTo>
                  <a:pt x="246575" y="885433"/>
                </a:lnTo>
                <a:lnTo>
                  <a:pt x="207729" y="861833"/>
                </a:lnTo>
                <a:lnTo>
                  <a:pt x="171458" y="834710"/>
                </a:lnTo>
                <a:lnTo>
                  <a:pt x="137999" y="804302"/>
                </a:lnTo>
                <a:lnTo>
                  <a:pt x="107590" y="770844"/>
                </a:lnTo>
                <a:lnTo>
                  <a:pt x="80467" y="734573"/>
                </a:lnTo>
                <a:lnTo>
                  <a:pt x="56866" y="695727"/>
                </a:lnTo>
                <a:lnTo>
                  <a:pt x="37026" y="654541"/>
                </a:lnTo>
                <a:lnTo>
                  <a:pt x="21182" y="611254"/>
                </a:lnTo>
                <a:lnTo>
                  <a:pt x="9572" y="566102"/>
                </a:lnTo>
                <a:lnTo>
                  <a:pt x="2432" y="519321"/>
                </a:lnTo>
                <a:lnTo>
                  <a:pt x="0" y="471149"/>
                </a:lnTo>
                <a:lnTo>
                  <a:pt x="2432" y="422976"/>
                </a:lnTo>
                <a:lnTo>
                  <a:pt x="9572" y="376195"/>
                </a:lnTo>
                <a:lnTo>
                  <a:pt x="21182" y="331043"/>
                </a:lnTo>
                <a:lnTo>
                  <a:pt x="37026" y="287756"/>
                </a:lnTo>
                <a:lnTo>
                  <a:pt x="56866" y="246570"/>
                </a:lnTo>
                <a:lnTo>
                  <a:pt x="80467" y="207724"/>
                </a:lnTo>
                <a:lnTo>
                  <a:pt x="107590" y="171454"/>
                </a:lnTo>
                <a:lnTo>
                  <a:pt x="137999" y="137995"/>
                </a:lnTo>
                <a:lnTo>
                  <a:pt x="171458" y="107587"/>
                </a:lnTo>
                <a:lnTo>
                  <a:pt x="207729" y="80464"/>
                </a:lnTo>
                <a:lnTo>
                  <a:pt x="246575" y="56864"/>
                </a:lnTo>
                <a:lnTo>
                  <a:pt x="287760" y="37025"/>
                </a:lnTo>
                <a:lnTo>
                  <a:pt x="331047" y="21181"/>
                </a:lnTo>
                <a:lnTo>
                  <a:pt x="376198" y="9572"/>
                </a:lnTo>
                <a:lnTo>
                  <a:pt x="422978" y="2432"/>
                </a:lnTo>
                <a:lnTo>
                  <a:pt x="471149" y="0"/>
                </a:lnTo>
                <a:lnTo>
                  <a:pt x="524309" y="3007"/>
                </a:lnTo>
                <a:lnTo>
                  <a:pt x="576384" y="11901"/>
                </a:lnTo>
                <a:lnTo>
                  <a:pt x="626910" y="26492"/>
                </a:lnTo>
                <a:lnTo>
                  <a:pt x="675426" y="46587"/>
                </a:lnTo>
                <a:lnTo>
                  <a:pt x="721471" y="71997"/>
                </a:lnTo>
                <a:lnTo>
                  <a:pt x="764582" y="102531"/>
                </a:lnTo>
                <a:lnTo>
                  <a:pt x="804298" y="137997"/>
                </a:lnTo>
                <a:lnTo>
                  <a:pt x="839761" y="177715"/>
                </a:lnTo>
                <a:lnTo>
                  <a:pt x="870293" y="220826"/>
                </a:lnTo>
                <a:lnTo>
                  <a:pt x="895704" y="266870"/>
                </a:lnTo>
                <a:lnTo>
                  <a:pt x="915801" y="315385"/>
                </a:lnTo>
                <a:lnTo>
                  <a:pt x="930394" y="365911"/>
                </a:lnTo>
                <a:lnTo>
                  <a:pt x="939290" y="417986"/>
                </a:lnTo>
                <a:lnTo>
                  <a:pt x="942298" y="471149"/>
                </a:lnTo>
                <a:lnTo>
                  <a:pt x="939865" y="519321"/>
                </a:lnTo>
                <a:lnTo>
                  <a:pt x="932725" y="566102"/>
                </a:lnTo>
                <a:lnTo>
                  <a:pt x="921115" y="611254"/>
                </a:lnTo>
                <a:lnTo>
                  <a:pt x="905271" y="654541"/>
                </a:lnTo>
                <a:lnTo>
                  <a:pt x="885431" y="695727"/>
                </a:lnTo>
                <a:lnTo>
                  <a:pt x="861830" y="734573"/>
                </a:lnTo>
                <a:lnTo>
                  <a:pt x="834707" y="770844"/>
                </a:lnTo>
                <a:lnTo>
                  <a:pt x="804298" y="804302"/>
                </a:lnTo>
                <a:lnTo>
                  <a:pt x="770839" y="834710"/>
                </a:lnTo>
                <a:lnTo>
                  <a:pt x="734569" y="861833"/>
                </a:lnTo>
                <a:lnTo>
                  <a:pt x="695722" y="885433"/>
                </a:lnTo>
                <a:lnTo>
                  <a:pt x="654537" y="905273"/>
                </a:lnTo>
                <a:lnTo>
                  <a:pt x="611251" y="921116"/>
                </a:lnTo>
                <a:lnTo>
                  <a:pt x="566099" y="932726"/>
                </a:lnTo>
                <a:lnTo>
                  <a:pt x="519319" y="939865"/>
                </a:lnTo>
                <a:lnTo>
                  <a:pt x="471149" y="942298"/>
                </a:lnTo>
                <a:close/>
              </a:path>
            </a:pathLst>
          </a:custGeom>
          <a:solidFill>
            <a:srgbClr val="8E7C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831738" y="1770383"/>
            <a:ext cx="264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800" spc="-37" baseline="-30092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800" baseline="-30092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752601" y="1887811"/>
            <a:ext cx="6281420" cy="83820"/>
            <a:chOff x="1752601" y="1887811"/>
            <a:chExt cx="6281420" cy="83820"/>
          </a:xfrm>
        </p:grpSpPr>
        <p:sp>
          <p:nvSpPr>
            <p:cNvPr id="10" name="object 10"/>
            <p:cNvSpPr/>
            <p:nvPr/>
          </p:nvSpPr>
          <p:spPr>
            <a:xfrm>
              <a:off x="1762126" y="1905828"/>
              <a:ext cx="1609725" cy="23495"/>
            </a:xfrm>
            <a:custGeom>
              <a:avLst/>
              <a:gdLst/>
              <a:ahLst/>
              <a:cxnLst/>
              <a:rect l="l" t="t" r="r" b="b"/>
              <a:pathLst>
                <a:path w="1609725" h="23494">
                  <a:moveTo>
                    <a:pt x="0" y="0"/>
                  </a:moveTo>
                  <a:lnTo>
                    <a:pt x="1609516" y="22969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61668" y="1887811"/>
              <a:ext cx="105924" cy="819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428340" y="1930343"/>
              <a:ext cx="1497330" cy="0"/>
            </a:xfrm>
            <a:custGeom>
              <a:avLst/>
              <a:gdLst/>
              <a:ahLst/>
              <a:cxnLst/>
              <a:rect l="l" t="t" r="r" b="b"/>
              <a:pathLst>
                <a:path w="1497329">
                  <a:moveTo>
                    <a:pt x="0" y="0"/>
                  </a:moveTo>
                  <a:lnTo>
                    <a:pt x="1496996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15813" y="1889353"/>
              <a:ext cx="105499" cy="8197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981935" y="1930311"/>
              <a:ext cx="956310" cy="0"/>
            </a:xfrm>
            <a:custGeom>
              <a:avLst/>
              <a:gdLst/>
              <a:ahLst/>
              <a:cxnLst/>
              <a:rect l="l" t="t" r="r" b="b"/>
              <a:pathLst>
                <a:path w="956309">
                  <a:moveTo>
                    <a:pt x="0" y="0"/>
                  </a:moveTo>
                  <a:lnTo>
                    <a:pt x="956098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28508" y="1889318"/>
              <a:ext cx="105499" cy="81982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8130533" y="1770007"/>
            <a:ext cx="4933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latin typeface="Arial MT"/>
                <a:cs typeface="Arial MT"/>
              </a:rPr>
              <a:t>J(</a:t>
            </a:r>
            <a:r>
              <a:rPr sz="2000" spc="-20" dirty="0">
                <a:latin typeface="Microsoft Sans Serif"/>
                <a:cs typeface="Microsoft Sans Serif"/>
              </a:rPr>
              <a:t>Ө</a:t>
            </a:r>
            <a:r>
              <a:rPr sz="2000" spc="-20" dirty="0">
                <a:latin typeface="Arial MT"/>
                <a:cs typeface="Arial MT"/>
              </a:rPr>
              <a:t>)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43916" y="1574383"/>
            <a:ext cx="3098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 MT"/>
                <a:cs typeface="Arial MT"/>
              </a:rPr>
              <a:t>W</a:t>
            </a:r>
            <a:r>
              <a:rPr sz="1350" spc="-37" baseline="-33950" dirty="0">
                <a:latin typeface="Arial MT"/>
                <a:cs typeface="Arial MT"/>
              </a:rPr>
              <a:t>1</a:t>
            </a:r>
            <a:endParaRPr sz="1350" baseline="-3395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947411" y="1574383"/>
            <a:ext cx="2971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 MT"/>
                <a:cs typeface="Arial MT"/>
              </a:rPr>
              <a:t>W</a:t>
            </a:r>
            <a:r>
              <a:rPr sz="1350" spc="-37" baseline="-33950" dirty="0">
                <a:latin typeface="Arial MT"/>
                <a:cs typeface="Arial MT"/>
              </a:rPr>
              <a:t>2</a:t>
            </a:r>
            <a:endParaRPr sz="1350" baseline="-3395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532918" y="1506154"/>
            <a:ext cx="5248275" cy="672465"/>
            <a:chOff x="3532918" y="1506154"/>
            <a:chExt cx="5248275" cy="672465"/>
          </a:xfrm>
        </p:grpSpPr>
        <p:sp>
          <p:nvSpPr>
            <p:cNvPr id="20" name="object 20"/>
            <p:cNvSpPr/>
            <p:nvPr/>
          </p:nvSpPr>
          <p:spPr>
            <a:xfrm>
              <a:off x="6039512" y="1605871"/>
              <a:ext cx="2741295" cy="572770"/>
            </a:xfrm>
            <a:custGeom>
              <a:avLst/>
              <a:gdLst/>
              <a:ahLst/>
              <a:cxnLst/>
              <a:rect l="l" t="t" r="r" b="b"/>
              <a:pathLst>
                <a:path w="2741295" h="572769">
                  <a:moveTo>
                    <a:pt x="2741094" y="572698"/>
                  </a:moveTo>
                  <a:lnTo>
                    <a:pt x="0" y="572698"/>
                  </a:lnTo>
                  <a:lnTo>
                    <a:pt x="0" y="0"/>
                  </a:lnTo>
                  <a:lnTo>
                    <a:pt x="2741094" y="0"/>
                  </a:lnTo>
                  <a:lnTo>
                    <a:pt x="2741094" y="572698"/>
                  </a:lnTo>
                  <a:close/>
                </a:path>
              </a:pathLst>
            </a:custGeom>
            <a:solidFill>
              <a:srgbClr val="FFFD0A">
                <a:alpha val="4191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532918" y="1605871"/>
              <a:ext cx="2506980" cy="572770"/>
            </a:xfrm>
            <a:custGeom>
              <a:avLst/>
              <a:gdLst/>
              <a:ahLst/>
              <a:cxnLst/>
              <a:rect l="l" t="t" r="r" b="b"/>
              <a:pathLst>
                <a:path w="2506979" h="572769">
                  <a:moveTo>
                    <a:pt x="2506494" y="572698"/>
                  </a:moveTo>
                  <a:lnTo>
                    <a:pt x="0" y="572698"/>
                  </a:lnTo>
                  <a:lnTo>
                    <a:pt x="0" y="0"/>
                  </a:lnTo>
                  <a:lnTo>
                    <a:pt x="2506494" y="0"/>
                  </a:lnTo>
                  <a:lnTo>
                    <a:pt x="2506494" y="572698"/>
                  </a:lnTo>
                  <a:close/>
                </a:path>
              </a:pathLst>
            </a:custGeom>
            <a:solidFill>
              <a:srgbClr val="38FF0E">
                <a:alpha val="4191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926279" y="1506156"/>
              <a:ext cx="346710" cy="354330"/>
            </a:xfrm>
            <a:custGeom>
              <a:avLst/>
              <a:gdLst/>
              <a:ahLst/>
              <a:cxnLst/>
              <a:rect l="l" t="t" r="r" b="b"/>
              <a:pathLst>
                <a:path w="346710" h="354330">
                  <a:moveTo>
                    <a:pt x="346506" y="57759"/>
                  </a:moveTo>
                  <a:lnTo>
                    <a:pt x="329603" y="16916"/>
                  </a:lnTo>
                  <a:lnTo>
                    <a:pt x="288759" y="0"/>
                  </a:lnTo>
                  <a:lnTo>
                    <a:pt x="57759" y="0"/>
                  </a:lnTo>
                  <a:lnTo>
                    <a:pt x="35280" y="4546"/>
                  </a:lnTo>
                  <a:lnTo>
                    <a:pt x="16929" y="16916"/>
                  </a:lnTo>
                  <a:lnTo>
                    <a:pt x="4546" y="35280"/>
                  </a:lnTo>
                  <a:lnTo>
                    <a:pt x="0" y="57759"/>
                  </a:lnTo>
                  <a:lnTo>
                    <a:pt x="0" y="295948"/>
                  </a:lnTo>
                  <a:lnTo>
                    <a:pt x="4546" y="318427"/>
                  </a:lnTo>
                  <a:lnTo>
                    <a:pt x="16929" y="336791"/>
                  </a:lnTo>
                  <a:lnTo>
                    <a:pt x="35280" y="349161"/>
                  </a:lnTo>
                  <a:lnTo>
                    <a:pt x="57759" y="353707"/>
                  </a:lnTo>
                  <a:lnTo>
                    <a:pt x="288759" y="353707"/>
                  </a:lnTo>
                  <a:lnTo>
                    <a:pt x="311238" y="349161"/>
                  </a:lnTo>
                  <a:lnTo>
                    <a:pt x="329590" y="336791"/>
                  </a:lnTo>
                  <a:lnTo>
                    <a:pt x="341972" y="318427"/>
                  </a:lnTo>
                  <a:lnTo>
                    <a:pt x="346506" y="295948"/>
                  </a:lnTo>
                  <a:lnTo>
                    <a:pt x="346506" y="57759"/>
                  </a:lnTo>
                  <a:close/>
                </a:path>
              </a:pathLst>
            </a:custGeom>
            <a:solidFill>
              <a:srgbClr val="1D72FF">
                <a:alpha val="1884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/>
          <p:nvPr/>
        </p:nvSpPr>
        <p:spPr>
          <a:xfrm>
            <a:off x="3999991" y="3997316"/>
            <a:ext cx="893444" cy="86995"/>
          </a:xfrm>
          <a:custGeom>
            <a:avLst/>
            <a:gdLst/>
            <a:ahLst/>
            <a:cxnLst/>
            <a:rect l="l" t="t" r="r" b="b"/>
            <a:pathLst>
              <a:path w="893445" h="86995">
                <a:moveTo>
                  <a:pt x="893098" y="86699"/>
                </a:moveTo>
                <a:lnTo>
                  <a:pt x="0" y="86699"/>
                </a:lnTo>
                <a:lnTo>
                  <a:pt x="0" y="0"/>
                </a:lnTo>
                <a:lnTo>
                  <a:pt x="893098" y="0"/>
                </a:lnTo>
                <a:lnTo>
                  <a:pt x="893098" y="86699"/>
                </a:lnTo>
                <a:close/>
              </a:path>
            </a:pathLst>
          </a:custGeom>
          <a:solidFill>
            <a:srgbClr val="FFFD0A">
              <a:alpha val="419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072639" y="4000167"/>
            <a:ext cx="893444" cy="86995"/>
          </a:xfrm>
          <a:custGeom>
            <a:avLst/>
            <a:gdLst/>
            <a:ahLst/>
            <a:cxnLst/>
            <a:rect l="l" t="t" r="r" b="b"/>
            <a:pathLst>
              <a:path w="893445" h="86995">
                <a:moveTo>
                  <a:pt x="893098" y="86699"/>
                </a:moveTo>
                <a:lnTo>
                  <a:pt x="0" y="86699"/>
                </a:lnTo>
                <a:lnTo>
                  <a:pt x="0" y="0"/>
                </a:lnTo>
                <a:lnTo>
                  <a:pt x="893098" y="0"/>
                </a:lnTo>
                <a:lnTo>
                  <a:pt x="893098" y="86699"/>
                </a:lnTo>
                <a:close/>
              </a:path>
            </a:pathLst>
          </a:custGeom>
          <a:solidFill>
            <a:srgbClr val="38FF0E">
              <a:alpha val="419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object 2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66044" y="3141243"/>
            <a:ext cx="2743194" cy="685798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3684716" y="2456454"/>
            <a:ext cx="15868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Apply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chain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rule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757992" y="2756619"/>
            <a:ext cx="479425" cy="330200"/>
            <a:chOff x="3757992" y="2756619"/>
            <a:chExt cx="479425" cy="330200"/>
          </a:xfrm>
        </p:grpSpPr>
        <p:sp>
          <p:nvSpPr>
            <p:cNvPr id="28" name="object 28"/>
            <p:cNvSpPr/>
            <p:nvPr/>
          </p:nvSpPr>
          <p:spPr>
            <a:xfrm>
              <a:off x="3839192" y="2766144"/>
              <a:ext cx="388620" cy="262255"/>
            </a:xfrm>
            <a:custGeom>
              <a:avLst/>
              <a:gdLst/>
              <a:ahLst/>
              <a:cxnLst/>
              <a:rect l="l" t="t" r="r" b="b"/>
              <a:pathLst>
                <a:path w="388620" h="262255">
                  <a:moveTo>
                    <a:pt x="388549" y="0"/>
                  </a:moveTo>
                  <a:lnTo>
                    <a:pt x="0" y="262174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57992" y="2992694"/>
              <a:ext cx="108324" cy="934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latin typeface="Roboto"/>
                <a:cs typeface="Roboto"/>
              </a:rPr>
              <a:t>Calculating</a:t>
            </a:r>
            <a:r>
              <a:rPr spc="-105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the</a:t>
            </a:r>
            <a:r>
              <a:rPr spc="-105" dirty="0">
                <a:latin typeface="Roboto"/>
                <a:cs typeface="Roboto"/>
              </a:rPr>
              <a:t> </a:t>
            </a:r>
            <a:r>
              <a:rPr spc="-20" dirty="0">
                <a:latin typeface="Roboto"/>
                <a:cs typeface="Roboto"/>
              </a:rPr>
              <a:t>Gradient:</a:t>
            </a:r>
            <a:r>
              <a:rPr spc="-100" dirty="0">
                <a:latin typeface="Roboto"/>
                <a:cs typeface="Roboto"/>
              </a:rPr>
              <a:t> </a:t>
            </a:r>
            <a:r>
              <a:rPr spc="-10" dirty="0">
                <a:latin typeface="Roboto"/>
                <a:cs typeface="Roboto"/>
              </a:rPr>
              <a:t>Backpropagation</a:t>
            </a:r>
          </a:p>
        </p:txBody>
      </p:sp>
      <p:sp>
        <p:nvSpPr>
          <p:cNvPr id="3" name="object 3"/>
          <p:cNvSpPr/>
          <p:nvPr/>
        </p:nvSpPr>
        <p:spPr>
          <a:xfrm>
            <a:off x="756828" y="1403179"/>
            <a:ext cx="1005840" cy="1005840"/>
          </a:xfrm>
          <a:custGeom>
            <a:avLst/>
            <a:gdLst/>
            <a:ahLst/>
            <a:cxnLst/>
            <a:rect l="l" t="t" r="r" b="b"/>
            <a:pathLst>
              <a:path w="1005839" h="1005839">
                <a:moveTo>
                  <a:pt x="502649" y="1005298"/>
                </a:moveTo>
                <a:lnTo>
                  <a:pt x="454240" y="1002997"/>
                </a:lnTo>
                <a:lnTo>
                  <a:pt x="407134" y="996234"/>
                </a:lnTo>
                <a:lnTo>
                  <a:pt x="361540" y="985220"/>
                </a:lnTo>
                <a:lnTo>
                  <a:pt x="317669" y="970167"/>
                </a:lnTo>
                <a:lnTo>
                  <a:pt x="275732" y="951283"/>
                </a:lnTo>
                <a:lnTo>
                  <a:pt x="235939" y="928781"/>
                </a:lnTo>
                <a:lnTo>
                  <a:pt x="198502" y="902870"/>
                </a:lnTo>
                <a:lnTo>
                  <a:pt x="163630" y="873762"/>
                </a:lnTo>
                <a:lnTo>
                  <a:pt x="131535" y="841667"/>
                </a:lnTo>
                <a:lnTo>
                  <a:pt x="102427" y="806795"/>
                </a:lnTo>
                <a:lnTo>
                  <a:pt x="76516" y="769358"/>
                </a:lnTo>
                <a:lnTo>
                  <a:pt x="54014" y="729565"/>
                </a:lnTo>
                <a:lnTo>
                  <a:pt x="35130" y="687628"/>
                </a:lnTo>
                <a:lnTo>
                  <a:pt x="20077" y="643757"/>
                </a:lnTo>
                <a:lnTo>
                  <a:pt x="9063" y="598163"/>
                </a:lnTo>
                <a:lnTo>
                  <a:pt x="2300" y="551057"/>
                </a:lnTo>
                <a:lnTo>
                  <a:pt x="0" y="502649"/>
                </a:lnTo>
                <a:lnTo>
                  <a:pt x="2300" y="454240"/>
                </a:lnTo>
                <a:lnTo>
                  <a:pt x="9063" y="407134"/>
                </a:lnTo>
                <a:lnTo>
                  <a:pt x="20077" y="361540"/>
                </a:lnTo>
                <a:lnTo>
                  <a:pt x="35130" y="317669"/>
                </a:lnTo>
                <a:lnTo>
                  <a:pt x="54014" y="275732"/>
                </a:lnTo>
                <a:lnTo>
                  <a:pt x="76516" y="235939"/>
                </a:lnTo>
                <a:lnTo>
                  <a:pt x="102427" y="198502"/>
                </a:lnTo>
                <a:lnTo>
                  <a:pt x="131535" y="163630"/>
                </a:lnTo>
                <a:lnTo>
                  <a:pt x="163630" y="131535"/>
                </a:lnTo>
                <a:lnTo>
                  <a:pt x="198502" y="102427"/>
                </a:lnTo>
                <a:lnTo>
                  <a:pt x="235939" y="76516"/>
                </a:lnTo>
                <a:lnTo>
                  <a:pt x="275732" y="54014"/>
                </a:lnTo>
                <a:lnTo>
                  <a:pt x="317669" y="35130"/>
                </a:lnTo>
                <a:lnTo>
                  <a:pt x="361540" y="20077"/>
                </a:lnTo>
                <a:lnTo>
                  <a:pt x="407134" y="9063"/>
                </a:lnTo>
                <a:lnTo>
                  <a:pt x="454240" y="2300"/>
                </a:lnTo>
                <a:lnTo>
                  <a:pt x="502649" y="0"/>
                </a:lnTo>
                <a:lnTo>
                  <a:pt x="552330" y="2459"/>
                </a:lnTo>
                <a:lnTo>
                  <a:pt x="601169" y="9747"/>
                </a:lnTo>
                <a:lnTo>
                  <a:pt x="648837" y="21727"/>
                </a:lnTo>
                <a:lnTo>
                  <a:pt x="695005" y="38261"/>
                </a:lnTo>
                <a:lnTo>
                  <a:pt x="739342" y="59215"/>
                </a:lnTo>
                <a:lnTo>
                  <a:pt x="781519" y="84450"/>
                </a:lnTo>
                <a:lnTo>
                  <a:pt x="821207" y="113831"/>
                </a:lnTo>
                <a:lnTo>
                  <a:pt x="858075" y="147222"/>
                </a:lnTo>
                <a:lnTo>
                  <a:pt x="891466" y="184090"/>
                </a:lnTo>
                <a:lnTo>
                  <a:pt x="920847" y="223778"/>
                </a:lnTo>
                <a:lnTo>
                  <a:pt x="946082" y="265956"/>
                </a:lnTo>
                <a:lnTo>
                  <a:pt x="967036" y="310293"/>
                </a:lnTo>
                <a:lnTo>
                  <a:pt x="983570" y="356461"/>
                </a:lnTo>
                <a:lnTo>
                  <a:pt x="995550" y="404129"/>
                </a:lnTo>
                <a:lnTo>
                  <a:pt x="1002838" y="452968"/>
                </a:lnTo>
                <a:lnTo>
                  <a:pt x="1005298" y="502649"/>
                </a:lnTo>
                <a:lnTo>
                  <a:pt x="1002997" y="551057"/>
                </a:lnTo>
                <a:lnTo>
                  <a:pt x="996234" y="598163"/>
                </a:lnTo>
                <a:lnTo>
                  <a:pt x="985221" y="643757"/>
                </a:lnTo>
                <a:lnTo>
                  <a:pt x="970167" y="687628"/>
                </a:lnTo>
                <a:lnTo>
                  <a:pt x="951284" y="729565"/>
                </a:lnTo>
                <a:lnTo>
                  <a:pt x="928782" y="769358"/>
                </a:lnTo>
                <a:lnTo>
                  <a:pt x="902871" y="806795"/>
                </a:lnTo>
                <a:lnTo>
                  <a:pt x="873763" y="841667"/>
                </a:lnTo>
                <a:lnTo>
                  <a:pt x="841668" y="873762"/>
                </a:lnTo>
                <a:lnTo>
                  <a:pt x="806796" y="902870"/>
                </a:lnTo>
                <a:lnTo>
                  <a:pt x="769359" y="928781"/>
                </a:lnTo>
                <a:lnTo>
                  <a:pt x="729566" y="951283"/>
                </a:lnTo>
                <a:lnTo>
                  <a:pt x="687629" y="970167"/>
                </a:lnTo>
                <a:lnTo>
                  <a:pt x="643758" y="985220"/>
                </a:lnTo>
                <a:lnTo>
                  <a:pt x="598164" y="996234"/>
                </a:lnTo>
                <a:lnTo>
                  <a:pt x="551057" y="1002997"/>
                </a:lnTo>
                <a:lnTo>
                  <a:pt x="502649" y="1005298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32528" y="1745870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800" spc="-37" baseline="-30092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800" baseline="-30092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039513" y="1459194"/>
            <a:ext cx="942340" cy="942340"/>
          </a:xfrm>
          <a:custGeom>
            <a:avLst/>
            <a:gdLst/>
            <a:ahLst/>
            <a:cxnLst/>
            <a:rect l="l" t="t" r="r" b="b"/>
            <a:pathLst>
              <a:path w="942340" h="942339">
                <a:moveTo>
                  <a:pt x="471149" y="942298"/>
                </a:moveTo>
                <a:lnTo>
                  <a:pt x="422978" y="939865"/>
                </a:lnTo>
                <a:lnTo>
                  <a:pt x="376198" y="932726"/>
                </a:lnTo>
                <a:lnTo>
                  <a:pt x="331047" y="921116"/>
                </a:lnTo>
                <a:lnTo>
                  <a:pt x="287760" y="905273"/>
                </a:lnTo>
                <a:lnTo>
                  <a:pt x="246575" y="885433"/>
                </a:lnTo>
                <a:lnTo>
                  <a:pt x="207729" y="861833"/>
                </a:lnTo>
                <a:lnTo>
                  <a:pt x="171458" y="834710"/>
                </a:lnTo>
                <a:lnTo>
                  <a:pt x="137999" y="804302"/>
                </a:lnTo>
                <a:lnTo>
                  <a:pt x="107590" y="770844"/>
                </a:lnTo>
                <a:lnTo>
                  <a:pt x="80467" y="734573"/>
                </a:lnTo>
                <a:lnTo>
                  <a:pt x="56866" y="695727"/>
                </a:lnTo>
                <a:lnTo>
                  <a:pt x="37026" y="654541"/>
                </a:lnTo>
                <a:lnTo>
                  <a:pt x="21182" y="611254"/>
                </a:lnTo>
                <a:lnTo>
                  <a:pt x="9572" y="566102"/>
                </a:lnTo>
                <a:lnTo>
                  <a:pt x="2432" y="519321"/>
                </a:lnTo>
                <a:lnTo>
                  <a:pt x="0" y="471149"/>
                </a:lnTo>
                <a:lnTo>
                  <a:pt x="2432" y="422976"/>
                </a:lnTo>
                <a:lnTo>
                  <a:pt x="9572" y="376195"/>
                </a:lnTo>
                <a:lnTo>
                  <a:pt x="21182" y="331043"/>
                </a:lnTo>
                <a:lnTo>
                  <a:pt x="37026" y="287756"/>
                </a:lnTo>
                <a:lnTo>
                  <a:pt x="56866" y="246570"/>
                </a:lnTo>
                <a:lnTo>
                  <a:pt x="80467" y="207724"/>
                </a:lnTo>
                <a:lnTo>
                  <a:pt x="107590" y="171454"/>
                </a:lnTo>
                <a:lnTo>
                  <a:pt x="137999" y="137995"/>
                </a:lnTo>
                <a:lnTo>
                  <a:pt x="171458" y="107587"/>
                </a:lnTo>
                <a:lnTo>
                  <a:pt x="207729" y="80464"/>
                </a:lnTo>
                <a:lnTo>
                  <a:pt x="246575" y="56864"/>
                </a:lnTo>
                <a:lnTo>
                  <a:pt x="287760" y="37025"/>
                </a:lnTo>
                <a:lnTo>
                  <a:pt x="331047" y="21181"/>
                </a:lnTo>
                <a:lnTo>
                  <a:pt x="376198" y="9572"/>
                </a:lnTo>
                <a:lnTo>
                  <a:pt x="422978" y="2432"/>
                </a:lnTo>
                <a:lnTo>
                  <a:pt x="471149" y="0"/>
                </a:lnTo>
                <a:lnTo>
                  <a:pt x="524309" y="3007"/>
                </a:lnTo>
                <a:lnTo>
                  <a:pt x="576384" y="11901"/>
                </a:lnTo>
                <a:lnTo>
                  <a:pt x="626910" y="26492"/>
                </a:lnTo>
                <a:lnTo>
                  <a:pt x="675426" y="46587"/>
                </a:lnTo>
                <a:lnTo>
                  <a:pt x="721471" y="71997"/>
                </a:lnTo>
                <a:lnTo>
                  <a:pt x="764582" y="102531"/>
                </a:lnTo>
                <a:lnTo>
                  <a:pt x="804298" y="137997"/>
                </a:lnTo>
                <a:lnTo>
                  <a:pt x="839761" y="177715"/>
                </a:lnTo>
                <a:lnTo>
                  <a:pt x="870293" y="220826"/>
                </a:lnTo>
                <a:lnTo>
                  <a:pt x="895704" y="266870"/>
                </a:lnTo>
                <a:lnTo>
                  <a:pt x="915801" y="315385"/>
                </a:lnTo>
                <a:lnTo>
                  <a:pt x="930394" y="365911"/>
                </a:lnTo>
                <a:lnTo>
                  <a:pt x="939290" y="417986"/>
                </a:lnTo>
                <a:lnTo>
                  <a:pt x="942298" y="471149"/>
                </a:lnTo>
                <a:lnTo>
                  <a:pt x="939865" y="519321"/>
                </a:lnTo>
                <a:lnTo>
                  <a:pt x="932725" y="566102"/>
                </a:lnTo>
                <a:lnTo>
                  <a:pt x="921115" y="611254"/>
                </a:lnTo>
                <a:lnTo>
                  <a:pt x="905271" y="654541"/>
                </a:lnTo>
                <a:lnTo>
                  <a:pt x="885431" y="695727"/>
                </a:lnTo>
                <a:lnTo>
                  <a:pt x="861830" y="734573"/>
                </a:lnTo>
                <a:lnTo>
                  <a:pt x="834707" y="770844"/>
                </a:lnTo>
                <a:lnTo>
                  <a:pt x="804298" y="804302"/>
                </a:lnTo>
                <a:lnTo>
                  <a:pt x="770839" y="834710"/>
                </a:lnTo>
                <a:lnTo>
                  <a:pt x="734569" y="861833"/>
                </a:lnTo>
                <a:lnTo>
                  <a:pt x="695722" y="885433"/>
                </a:lnTo>
                <a:lnTo>
                  <a:pt x="654537" y="905273"/>
                </a:lnTo>
                <a:lnTo>
                  <a:pt x="611251" y="921116"/>
                </a:lnTo>
                <a:lnTo>
                  <a:pt x="566099" y="932726"/>
                </a:lnTo>
                <a:lnTo>
                  <a:pt x="519319" y="939865"/>
                </a:lnTo>
                <a:lnTo>
                  <a:pt x="471149" y="942298"/>
                </a:lnTo>
                <a:close/>
              </a:path>
            </a:pathLst>
          </a:custGeom>
          <a:solidFill>
            <a:srgbClr val="6EA8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372742" y="1770383"/>
            <a:ext cx="2762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1800" spc="-37" baseline="-30092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800" baseline="-30092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486043" y="1459194"/>
            <a:ext cx="942340" cy="942340"/>
          </a:xfrm>
          <a:custGeom>
            <a:avLst/>
            <a:gdLst/>
            <a:ahLst/>
            <a:cxnLst/>
            <a:rect l="l" t="t" r="r" b="b"/>
            <a:pathLst>
              <a:path w="942339" h="942339">
                <a:moveTo>
                  <a:pt x="471149" y="942298"/>
                </a:moveTo>
                <a:lnTo>
                  <a:pt x="422978" y="939865"/>
                </a:lnTo>
                <a:lnTo>
                  <a:pt x="376198" y="932726"/>
                </a:lnTo>
                <a:lnTo>
                  <a:pt x="331047" y="921116"/>
                </a:lnTo>
                <a:lnTo>
                  <a:pt x="287760" y="905273"/>
                </a:lnTo>
                <a:lnTo>
                  <a:pt x="246575" y="885433"/>
                </a:lnTo>
                <a:lnTo>
                  <a:pt x="207729" y="861833"/>
                </a:lnTo>
                <a:lnTo>
                  <a:pt x="171458" y="834710"/>
                </a:lnTo>
                <a:lnTo>
                  <a:pt x="137999" y="804302"/>
                </a:lnTo>
                <a:lnTo>
                  <a:pt x="107590" y="770844"/>
                </a:lnTo>
                <a:lnTo>
                  <a:pt x="80467" y="734573"/>
                </a:lnTo>
                <a:lnTo>
                  <a:pt x="56866" y="695727"/>
                </a:lnTo>
                <a:lnTo>
                  <a:pt x="37026" y="654541"/>
                </a:lnTo>
                <a:lnTo>
                  <a:pt x="21182" y="611254"/>
                </a:lnTo>
                <a:lnTo>
                  <a:pt x="9572" y="566102"/>
                </a:lnTo>
                <a:lnTo>
                  <a:pt x="2432" y="519321"/>
                </a:lnTo>
                <a:lnTo>
                  <a:pt x="0" y="471149"/>
                </a:lnTo>
                <a:lnTo>
                  <a:pt x="2432" y="422976"/>
                </a:lnTo>
                <a:lnTo>
                  <a:pt x="9572" y="376195"/>
                </a:lnTo>
                <a:lnTo>
                  <a:pt x="21182" y="331043"/>
                </a:lnTo>
                <a:lnTo>
                  <a:pt x="37026" y="287756"/>
                </a:lnTo>
                <a:lnTo>
                  <a:pt x="56866" y="246570"/>
                </a:lnTo>
                <a:lnTo>
                  <a:pt x="80467" y="207724"/>
                </a:lnTo>
                <a:lnTo>
                  <a:pt x="107590" y="171454"/>
                </a:lnTo>
                <a:lnTo>
                  <a:pt x="137999" y="137995"/>
                </a:lnTo>
                <a:lnTo>
                  <a:pt x="171458" y="107587"/>
                </a:lnTo>
                <a:lnTo>
                  <a:pt x="207729" y="80464"/>
                </a:lnTo>
                <a:lnTo>
                  <a:pt x="246575" y="56864"/>
                </a:lnTo>
                <a:lnTo>
                  <a:pt x="287760" y="37025"/>
                </a:lnTo>
                <a:lnTo>
                  <a:pt x="331047" y="21181"/>
                </a:lnTo>
                <a:lnTo>
                  <a:pt x="376198" y="9572"/>
                </a:lnTo>
                <a:lnTo>
                  <a:pt x="422978" y="2432"/>
                </a:lnTo>
                <a:lnTo>
                  <a:pt x="471149" y="0"/>
                </a:lnTo>
                <a:lnTo>
                  <a:pt x="524309" y="3007"/>
                </a:lnTo>
                <a:lnTo>
                  <a:pt x="576384" y="11901"/>
                </a:lnTo>
                <a:lnTo>
                  <a:pt x="626910" y="26492"/>
                </a:lnTo>
                <a:lnTo>
                  <a:pt x="675426" y="46587"/>
                </a:lnTo>
                <a:lnTo>
                  <a:pt x="721471" y="71997"/>
                </a:lnTo>
                <a:lnTo>
                  <a:pt x="764582" y="102531"/>
                </a:lnTo>
                <a:lnTo>
                  <a:pt x="804298" y="137997"/>
                </a:lnTo>
                <a:lnTo>
                  <a:pt x="839761" y="177715"/>
                </a:lnTo>
                <a:lnTo>
                  <a:pt x="870293" y="220826"/>
                </a:lnTo>
                <a:lnTo>
                  <a:pt x="895704" y="266870"/>
                </a:lnTo>
                <a:lnTo>
                  <a:pt x="915801" y="315385"/>
                </a:lnTo>
                <a:lnTo>
                  <a:pt x="930394" y="365911"/>
                </a:lnTo>
                <a:lnTo>
                  <a:pt x="939290" y="417986"/>
                </a:lnTo>
                <a:lnTo>
                  <a:pt x="942298" y="471149"/>
                </a:lnTo>
                <a:lnTo>
                  <a:pt x="939865" y="519321"/>
                </a:lnTo>
                <a:lnTo>
                  <a:pt x="932725" y="566102"/>
                </a:lnTo>
                <a:lnTo>
                  <a:pt x="921115" y="611254"/>
                </a:lnTo>
                <a:lnTo>
                  <a:pt x="905271" y="654541"/>
                </a:lnTo>
                <a:lnTo>
                  <a:pt x="885431" y="695727"/>
                </a:lnTo>
                <a:lnTo>
                  <a:pt x="861830" y="734573"/>
                </a:lnTo>
                <a:lnTo>
                  <a:pt x="834707" y="770844"/>
                </a:lnTo>
                <a:lnTo>
                  <a:pt x="804298" y="804302"/>
                </a:lnTo>
                <a:lnTo>
                  <a:pt x="770839" y="834710"/>
                </a:lnTo>
                <a:lnTo>
                  <a:pt x="734569" y="861833"/>
                </a:lnTo>
                <a:lnTo>
                  <a:pt x="695722" y="885433"/>
                </a:lnTo>
                <a:lnTo>
                  <a:pt x="654537" y="905273"/>
                </a:lnTo>
                <a:lnTo>
                  <a:pt x="611251" y="921116"/>
                </a:lnTo>
                <a:lnTo>
                  <a:pt x="566099" y="932726"/>
                </a:lnTo>
                <a:lnTo>
                  <a:pt x="519319" y="939865"/>
                </a:lnTo>
                <a:lnTo>
                  <a:pt x="471149" y="942298"/>
                </a:lnTo>
                <a:close/>
              </a:path>
            </a:pathLst>
          </a:custGeom>
          <a:solidFill>
            <a:srgbClr val="8E7C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819038" y="1770383"/>
            <a:ext cx="276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800" spc="-37" baseline="-30092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800" baseline="-30092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752601" y="1887811"/>
            <a:ext cx="6281420" cy="83820"/>
            <a:chOff x="1752601" y="1887811"/>
            <a:chExt cx="6281420" cy="83820"/>
          </a:xfrm>
        </p:grpSpPr>
        <p:sp>
          <p:nvSpPr>
            <p:cNvPr id="10" name="object 10"/>
            <p:cNvSpPr/>
            <p:nvPr/>
          </p:nvSpPr>
          <p:spPr>
            <a:xfrm>
              <a:off x="1762126" y="1905828"/>
              <a:ext cx="1609725" cy="23495"/>
            </a:xfrm>
            <a:custGeom>
              <a:avLst/>
              <a:gdLst/>
              <a:ahLst/>
              <a:cxnLst/>
              <a:rect l="l" t="t" r="r" b="b"/>
              <a:pathLst>
                <a:path w="1609725" h="23494">
                  <a:moveTo>
                    <a:pt x="0" y="0"/>
                  </a:moveTo>
                  <a:lnTo>
                    <a:pt x="1609516" y="22969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61668" y="1887811"/>
              <a:ext cx="105924" cy="819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428341" y="1930343"/>
              <a:ext cx="1497330" cy="0"/>
            </a:xfrm>
            <a:custGeom>
              <a:avLst/>
              <a:gdLst/>
              <a:ahLst/>
              <a:cxnLst/>
              <a:rect l="l" t="t" r="r" b="b"/>
              <a:pathLst>
                <a:path w="1497329">
                  <a:moveTo>
                    <a:pt x="0" y="0"/>
                  </a:moveTo>
                  <a:lnTo>
                    <a:pt x="1496996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15813" y="1889353"/>
              <a:ext cx="105499" cy="8197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981935" y="1930311"/>
              <a:ext cx="956310" cy="0"/>
            </a:xfrm>
            <a:custGeom>
              <a:avLst/>
              <a:gdLst/>
              <a:ahLst/>
              <a:cxnLst/>
              <a:rect l="l" t="t" r="r" b="b"/>
              <a:pathLst>
                <a:path w="956309">
                  <a:moveTo>
                    <a:pt x="0" y="0"/>
                  </a:moveTo>
                  <a:lnTo>
                    <a:pt x="956098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28509" y="1889318"/>
              <a:ext cx="105499" cy="81982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8117833" y="1770007"/>
            <a:ext cx="5060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latin typeface="Arial MT"/>
                <a:cs typeface="Arial MT"/>
              </a:rPr>
              <a:t>J(</a:t>
            </a:r>
            <a:r>
              <a:rPr sz="2000" spc="-20" dirty="0">
                <a:latin typeface="Microsoft Sans Serif"/>
                <a:cs typeface="Microsoft Sans Serif"/>
              </a:rPr>
              <a:t>Ө</a:t>
            </a:r>
            <a:r>
              <a:rPr sz="2000" spc="-20" dirty="0">
                <a:latin typeface="Arial MT"/>
                <a:cs typeface="Arial MT"/>
              </a:rPr>
              <a:t>)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43916" y="1574383"/>
            <a:ext cx="3098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 MT"/>
                <a:cs typeface="Arial MT"/>
              </a:rPr>
              <a:t>W</a:t>
            </a:r>
            <a:r>
              <a:rPr sz="1350" spc="-37" baseline="-33950" dirty="0">
                <a:latin typeface="Arial MT"/>
                <a:cs typeface="Arial MT"/>
              </a:rPr>
              <a:t>1</a:t>
            </a:r>
            <a:endParaRPr sz="1350" baseline="-3395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934711" y="1574383"/>
            <a:ext cx="3098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 MT"/>
                <a:cs typeface="Arial MT"/>
              </a:rPr>
              <a:t>W</a:t>
            </a:r>
            <a:r>
              <a:rPr sz="1350" spc="-37" baseline="-33950" dirty="0">
                <a:latin typeface="Arial MT"/>
                <a:cs typeface="Arial MT"/>
              </a:rPr>
              <a:t>2</a:t>
            </a:r>
            <a:endParaRPr sz="1350" baseline="-3395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028794" y="2997568"/>
            <a:ext cx="3904615" cy="1190625"/>
            <a:chOff x="3028794" y="2997568"/>
            <a:chExt cx="3904615" cy="1190625"/>
          </a:xfrm>
        </p:grpSpPr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28794" y="3171743"/>
              <a:ext cx="3514717" cy="68579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125341" y="2997568"/>
              <a:ext cx="2808605" cy="1190625"/>
            </a:xfrm>
            <a:custGeom>
              <a:avLst/>
              <a:gdLst/>
              <a:ahLst/>
              <a:cxnLst/>
              <a:rect l="l" t="t" r="r" b="b"/>
              <a:pathLst>
                <a:path w="2808604" h="1190625">
                  <a:moveTo>
                    <a:pt x="2807994" y="1190397"/>
                  </a:moveTo>
                  <a:lnTo>
                    <a:pt x="0" y="1190397"/>
                  </a:lnTo>
                  <a:lnTo>
                    <a:pt x="0" y="0"/>
                  </a:lnTo>
                  <a:lnTo>
                    <a:pt x="2807994" y="0"/>
                  </a:lnTo>
                  <a:lnTo>
                    <a:pt x="2807994" y="119039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/>
          <p:nvPr/>
        </p:nvSpPr>
        <p:spPr>
          <a:xfrm>
            <a:off x="2336254" y="1506156"/>
            <a:ext cx="346710" cy="354330"/>
          </a:xfrm>
          <a:custGeom>
            <a:avLst/>
            <a:gdLst/>
            <a:ahLst/>
            <a:cxnLst/>
            <a:rect l="l" t="t" r="r" b="b"/>
            <a:pathLst>
              <a:path w="346710" h="354330">
                <a:moveTo>
                  <a:pt x="346506" y="57759"/>
                </a:moveTo>
                <a:lnTo>
                  <a:pt x="329590" y="16916"/>
                </a:lnTo>
                <a:lnTo>
                  <a:pt x="288759" y="0"/>
                </a:lnTo>
                <a:lnTo>
                  <a:pt x="57759" y="0"/>
                </a:lnTo>
                <a:lnTo>
                  <a:pt x="35280" y="4546"/>
                </a:lnTo>
                <a:lnTo>
                  <a:pt x="16916" y="16916"/>
                </a:lnTo>
                <a:lnTo>
                  <a:pt x="4546" y="35280"/>
                </a:lnTo>
                <a:lnTo>
                  <a:pt x="0" y="57759"/>
                </a:lnTo>
                <a:lnTo>
                  <a:pt x="0" y="295948"/>
                </a:lnTo>
                <a:lnTo>
                  <a:pt x="4546" y="318427"/>
                </a:lnTo>
                <a:lnTo>
                  <a:pt x="16916" y="336791"/>
                </a:lnTo>
                <a:lnTo>
                  <a:pt x="35280" y="349161"/>
                </a:lnTo>
                <a:lnTo>
                  <a:pt x="57759" y="353707"/>
                </a:lnTo>
                <a:lnTo>
                  <a:pt x="288759" y="353707"/>
                </a:lnTo>
                <a:lnTo>
                  <a:pt x="311238" y="349161"/>
                </a:lnTo>
                <a:lnTo>
                  <a:pt x="329603" y="336791"/>
                </a:lnTo>
                <a:lnTo>
                  <a:pt x="341972" y="318427"/>
                </a:lnTo>
                <a:lnTo>
                  <a:pt x="346506" y="295948"/>
                </a:lnTo>
                <a:lnTo>
                  <a:pt x="346506" y="57759"/>
                </a:lnTo>
                <a:close/>
              </a:path>
            </a:pathLst>
          </a:custGeom>
          <a:solidFill>
            <a:srgbClr val="1D72FF">
              <a:alpha val="1884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latin typeface="Roboto"/>
                <a:cs typeface="Roboto"/>
              </a:rPr>
              <a:t>Calculating</a:t>
            </a:r>
            <a:r>
              <a:rPr spc="-105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the</a:t>
            </a:r>
            <a:r>
              <a:rPr spc="-105" dirty="0">
                <a:latin typeface="Roboto"/>
                <a:cs typeface="Roboto"/>
              </a:rPr>
              <a:t> </a:t>
            </a:r>
            <a:r>
              <a:rPr spc="-20" dirty="0">
                <a:latin typeface="Roboto"/>
                <a:cs typeface="Roboto"/>
              </a:rPr>
              <a:t>Gradient:</a:t>
            </a:r>
            <a:r>
              <a:rPr spc="-100" dirty="0">
                <a:latin typeface="Roboto"/>
                <a:cs typeface="Roboto"/>
              </a:rPr>
              <a:t> </a:t>
            </a:r>
            <a:r>
              <a:rPr spc="-10" dirty="0">
                <a:latin typeface="Roboto"/>
                <a:cs typeface="Roboto"/>
              </a:rPr>
              <a:t>Backpropagation</a:t>
            </a:r>
          </a:p>
        </p:txBody>
      </p:sp>
      <p:sp>
        <p:nvSpPr>
          <p:cNvPr id="3" name="object 3"/>
          <p:cNvSpPr/>
          <p:nvPr/>
        </p:nvSpPr>
        <p:spPr>
          <a:xfrm>
            <a:off x="756828" y="1403179"/>
            <a:ext cx="1005840" cy="1005840"/>
          </a:xfrm>
          <a:custGeom>
            <a:avLst/>
            <a:gdLst/>
            <a:ahLst/>
            <a:cxnLst/>
            <a:rect l="l" t="t" r="r" b="b"/>
            <a:pathLst>
              <a:path w="1005839" h="1005839">
                <a:moveTo>
                  <a:pt x="502649" y="1005298"/>
                </a:moveTo>
                <a:lnTo>
                  <a:pt x="454240" y="1002997"/>
                </a:lnTo>
                <a:lnTo>
                  <a:pt x="407134" y="996234"/>
                </a:lnTo>
                <a:lnTo>
                  <a:pt x="361540" y="985220"/>
                </a:lnTo>
                <a:lnTo>
                  <a:pt x="317669" y="970167"/>
                </a:lnTo>
                <a:lnTo>
                  <a:pt x="275732" y="951283"/>
                </a:lnTo>
                <a:lnTo>
                  <a:pt x="235939" y="928781"/>
                </a:lnTo>
                <a:lnTo>
                  <a:pt x="198502" y="902870"/>
                </a:lnTo>
                <a:lnTo>
                  <a:pt x="163630" y="873762"/>
                </a:lnTo>
                <a:lnTo>
                  <a:pt x="131535" y="841667"/>
                </a:lnTo>
                <a:lnTo>
                  <a:pt x="102427" y="806795"/>
                </a:lnTo>
                <a:lnTo>
                  <a:pt x="76516" y="769358"/>
                </a:lnTo>
                <a:lnTo>
                  <a:pt x="54014" y="729565"/>
                </a:lnTo>
                <a:lnTo>
                  <a:pt x="35130" y="687628"/>
                </a:lnTo>
                <a:lnTo>
                  <a:pt x="20077" y="643757"/>
                </a:lnTo>
                <a:lnTo>
                  <a:pt x="9063" y="598163"/>
                </a:lnTo>
                <a:lnTo>
                  <a:pt x="2300" y="551057"/>
                </a:lnTo>
                <a:lnTo>
                  <a:pt x="0" y="502649"/>
                </a:lnTo>
                <a:lnTo>
                  <a:pt x="2300" y="454240"/>
                </a:lnTo>
                <a:lnTo>
                  <a:pt x="9063" y="407134"/>
                </a:lnTo>
                <a:lnTo>
                  <a:pt x="20077" y="361540"/>
                </a:lnTo>
                <a:lnTo>
                  <a:pt x="35130" y="317669"/>
                </a:lnTo>
                <a:lnTo>
                  <a:pt x="54014" y="275732"/>
                </a:lnTo>
                <a:lnTo>
                  <a:pt x="76516" y="235939"/>
                </a:lnTo>
                <a:lnTo>
                  <a:pt x="102427" y="198502"/>
                </a:lnTo>
                <a:lnTo>
                  <a:pt x="131535" y="163630"/>
                </a:lnTo>
                <a:lnTo>
                  <a:pt x="163630" y="131535"/>
                </a:lnTo>
                <a:lnTo>
                  <a:pt x="198502" y="102427"/>
                </a:lnTo>
                <a:lnTo>
                  <a:pt x="235939" y="76516"/>
                </a:lnTo>
                <a:lnTo>
                  <a:pt x="275732" y="54014"/>
                </a:lnTo>
                <a:lnTo>
                  <a:pt x="317669" y="35130"/>
                </a:lnTo>
                <a:lnTo>
                  <a:pt x="361540" y="20077"/>
                </a:lnTo>
                <a:lnTo>
                  <a:pt x="407134" y="9063"/>
                </a:lnTo>
                <a:lnTo>
                  <a:pt x="454240" y="2300"/>
                </a:lnTo>
                <a:lnTo>
                  <a:pt x="502649" y="0"/>
                </a:lnTo>
                <a:lnTo>
                  <a:pt x="552330" y="2459"/>
                </a:lnTo>
                <a:lnTo>
                  <a:pt x="601169" y="9747"/>
                </a:lnTo>
                <a:lnTo>
                  <a:pt x="648837" y="21727"/>
                </a:lnTo>
                <a:lnTo>
                  <a:pt x="695005" y="38261"/>
                </a:lnTo>
                <a:lnTo>
                  <a:pt x="739342" y="59215"/>
                </a:lnTo>
                <a:lnTo>
                  <a:pt x="781519" y="84450"/>
                </a:lnTo>
                <a:lnTo>
                  <a:pt x="821207" y="113831"/>
                </a:lnTo>
                <a:lnTo>
                  <a:pt x="858075" y="147222"/>
                </a:lnTo>
                <a:lnTo>
                  <a:pt x="891466" y="184090"/>
                </a:lnTo>
                <a:lnTo>
                  <a:pt x="920847" y="223778"/>
                </a:lnTo>
                <a:lnTo>
                  <a:pt x="946082" y="265956"/>
                </a:lnTo>
                <a:lnTo>
                  <a:pt x="967036" y="310293"/>
                </a:lnTo>
                <a:lnTo>
                  <a:pt x="983570" y="356461"/>
                </a:lnTo>
                <a:lnTo>
                  <a:pt x="995550" y="404129"/>
                </a:lnTo>
                <a:lnTo>
                  <a:pt x="1002838" y="452968"/>
                </a:lnTo>
                <a:lnTo>
                  <a:pt x="1005298" y="502649"/>
                </a:lnTo>
                <a:lnTo>
                  <a:pt x="1002997" y="551057"/>
                </a:lnTo>
                <a:lnTo>
                  <a:pt x="996234" y="598163"/>
                </a:lnTo>
                <a:lnTo>
                  <a:pt x="985221" y="643757"/>
                </a:lnTo>
                <a:lnTo>
                  <a:pt x="970167" y="687628"/>
                </a:lnTo>
                <a:lnTo>
                  <a:pt x="951284" y="729565"/>
                </a:lnTo>
                <a:lnTo>
                  <a:pt x="928782" y="769358"/>
                </a:lnTo>
                <a:lnTo>
                  <a:pt x="902871" y="806795"/>
                </a:lnTo>
                <a:lnTo>
                  <a:pt x="873763" y="841667"/>
                </a:lnTo>
                <a:lnTo>
                  <a:pt x="841668" y="873762"/>
                </a:lnTo>
                <a:lnTo>
                  <a:pt x="806796" y="902870"/>
                </a:lnTo>
                <a:lnTo>
                  <a:pt x="769359" y="928781"/>
                </a:lnTo>
                <a:lnTo>
                  <a:pt x="729566" y="951283"/>
                </a:lnTo>
                <a:lnTo>
                  <a:pt x="687629" y="970167"/>
                </a:lnTo>
                <a:lnTo>
                  <a:pt x="643758" y="985220"/>
                </a:lnTo>
                <a:lnTo>
                  <a:pt x="598164" y="996234"/>
                </a:lnTo>
                <a:lnTo>
                  <a:pt x="551057" y="1002997"/>
                </a:lnTo>
                <a:lnTo>
                  <a:pt x="502649" y="1005298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32528" y="1745870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800" spc="-37" baseline="-30092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800" baseline="-30092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039513" y="1459194"/>
            <a:ext cx="942340" cy="942340"/>
          </a:xfrm>
          <a:custGeom>
            <a:avLst/>
            <a:gdLst/>
            <a:ahLst/>
            <a:cxnLst/>
            <a:rect l="l" t="t" r="r" b="b"/>
            <a:pathLst>
              <a:path w="942340" h="942339">
                <a:moveTo>
                  <a:pt x="471149" y="942298"/>
                </a:moveTo>
                <a:lnTo>
                  <a:pt x="422978" y="939865"/>
                </a:lnTo>
                <a:lnTo>
                  <a:pt x="376198" y="932726"/>
                </a:lnTo>
                <a:lnTo>
                  <a:pt x="331047" y="921116"/>
                </a:lnTo>
                <a:lnTo>
                  <a:pt x="287760" y="905273"/>
                </a:lnTo>
                <a:lnTo>
                  <a:pt x="246575" y="885433"/>
                </a:lnTo>
                <a:lnTo>
                  <a:pt x="207729" y="861833"/>
                </a:lnTo>
                <a:lnTo>
                  <a:pt x="171458" y="834710"/>
                </a:lnTo>
                <a:lnTo>
                  <a:pt x="137999" y="804302"/>
                </a:lnTo>
                <a:lnTo>
                  <a:pt x="107590" y="770844"/>
                </a:lnTo>
                <a:lnTo>
                  <a:pt x="80467" y="734573"/>
                </a:lnTo>
                <a:lnTo>
                  <a:pt x="56866" y="695727"/>
                </a:lnTo>
                <a:lnTo>
                  <a:pt x="37026" y="654541"/>
                </a:lnTo>
                <a:lnTo>
                  <a:pt x="21182" y="611254"/>
                </a:lnTo>
                <a:lnTo>
                  <a:pt x="9572" y="566102"/>
                </a:lnTo>
                <a:lnTo>
                  <a:pt x="2432" y="519321"/>
                </a:lnTo>
                <a:lnTo>
                  <a:pt x="0" y="471149"/>
                </a:lnTo>
                <a:lnTo>
                  <a:pt x="2432" y="422976"/>
                </a:lnTo>
                <a:lnTo>
                  <a:pt x="9572" y="376195"/>
                </a:lnTo>
                <a:lnTo>
                  <a:pt x="21182" y="331043"/>
                </a:lnTo>
                <a:lnTo>
                  <a:pt x="37026" y="287756"/>
                </a:lnTo>
                <a:lnTo>
                  <a:pt x="56866" y="246570"/>
                </a:lnTo>
                <a:lnTo>
                  <a:pt x="80467" y="207724"/>
                </a:lnTo>
                <a:lnTo>
                  <a:pt x="107590" y="171454"/>
                </a:lnTo>
                <a:lnTo>
                  <a:pt x="137999" y="137995"/>
                </a:lnTo>
                <a:lnTo>
                  <a:pt x="171458" y="107587"/>
                </a:lnTo>
                <a:lnTo>
                  <a:pt x="207729" y="80464"/>
                </a:lnTo>
                <a:lnTo>
                  <a:pt x="246575" y="56864"/>
                </a:lnTo>
                <a:lnTo>
                  <a:pt x="287760" y="37025"/>
                </a:lnTo>
                <a:lnTo>
                  <a:pt x="331047" y="21181"/>
                </a:lnTo>
                <a:lnTo>
                  <a:pt x="376198" y="9572"/>
                </a:lnTo>
                <a:lnTo>
                  <a:pt x="422978" y="2432"/>
                </a:lnTo>
                <a:lnTo>
                  <a:pt x="471149" y="0"/>
                </a:lnTo>
                <a:lnTo>
                  <a:pt x="524309" y="3007"/>
                </a:lnTo>
                <a:lnTo>
                  <a:pt x="576384" y="11901"/>
                </a:lnTo>
                <a:lnTo>
                  <a:pt x="626910" y="26492"/>
                </a:lnTo>
                <a:lnTo>
                  <a:pt x="675426" y="46587"/>
                </a:lnTo>
                <a:lnTo>
                  <a:pt x="721471" y="71997"/>
                </a:lnTo>
                <a:lnTo>
                  <a:pt x="764582" y="102531"/>
                </a:lnTo>
                <a:lnTo>
                  <a:pt x="804298" y="137997"/>
                </a:lnTo>
                <a:lnTo>
                  <a:pt x="839761" y="177715"/>
                </a:lnTo>
                <a:lnTo>
                  <a:pt x="870293" y="220826"/>
                </a:lnTo>
                <a:lnTo>
                  <a:pt x="895704" y="266870"/>
                </a:lnTo>
                <a:lnTo>
                  <a:pt x="915801" y="315385"/>
                </a:lnTo>
                <a:lnTo>
                  <a:pt x="930394" y="365911"/>
                </a:lnTo>
                <a:lnTo>
                  <a:pt x="939290" y="417986"/>
                </a:lnTo>
                <a:lnTo>
                  <a:pt x="942298" y="471149"/>
                </a:lnTo>
                <a:lnTo>
                  <a:pt x="939865" y="519321"/>
                </a:lnTo>
                <a:lnTo>
                  <a:pt x="932725" y="566102"/>
                </a:lnTo>
                <a:lnTo>
                  <a:pt x="921115" y="611254"/>
                </a:lnTo>
                <a:lnTo>
                  <a:pt x="905271" y="654541"/>
                </a:lnTo>
                <a:lnTo>
                  <a:pt x="885431" y="695727"/>
                </a:lnTo>
                <a:lnTo>
                  <a:pt x="861830" y="734573"/>
                </a:lnTo>
                <a:lnTo>
                  <a:pt x="834707" y="770844"/>
                </a:lnTo>
                <a:lnTo>
                  <a:pt x="804298" y="804302"/>
                </a:lnTo>
                <a:lnTo>
                  <a:pt x="770839" y="834710"/>
                </a:lnTo>
                <a:lnTo>
                  <a:pt x="734569" y="861833"/>
                </a:lnTo>
                <a:lnTo>
                  <a:pt x="695722" y="885433"/>
                </a:lnTo>
                <a:lnTo>
                  <a:pt x="654537" y="905273"/>
                </a:lnTo>
                <a:lnTo>
                  <a:pt x="611251" y="921116"/>
                </a:lnTo>
                <a:lnTo>
                  <a:pt x="566099" y="932726"/>
                </a:lnTo>
                <a:lnTo>
                  <a:pt x="519319" y="939865"/>
                </a:lnTo>
                <a:lnTo>
                  <a:pt x="471149" y="942298"/>
                </a:lnTo>
                <a:close/>
              </a:path>
            </a:pathLst>
          </a:custGeom>
          <a:solidFill>
            <a:srgbClr val="6EA8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372742" y="1770383"/>
            <a:ext cx="2762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1800" spc="-37" baseline="-30092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800" baseline="-30092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486043" y="1459194"/>
            <a:ext cx="942340" cy="942340"/>
          </a:xfrm>
          <a:custGeom>
            <a:avLst/>
            <a:gdLst/>
            <a:ahLst/>
            <a:cxnLst/>
            <a:rect l="l" t="t" r="r" b="b"/>
            <a:pathLst>
              <a:path w="942339" h="942339">
                <a:moveTo>
                  <a:pt x="471149" y="942298"/>
                </a:moveTo>
                <a:lnTo>
                  <a:pt x="422978" y="939865"/>
                </a:lnTo>
                <a:lnTo>
                  <a:pt x="376198" y="932726"/>
                </a:lnTo>
                <a:lnTo>
                  <a:pt x="331047" y="921116"/>
                </a:lnTo>
                <a:lnTo>
                  <a:pt x="287760" y="905273"/>
                </a:lnTo>
                <a:lnTo>
                  <a:pt x="246575" y="885433"/>
                </a:lnTo>
                <a:lnTo>
                  <a:pt x="207729" y="861833"/>
                </a:lnTo>
                <a:lnTo>
                  <a:pt x="171458" y="834710"/>
                </a:lnTo>
                <a:lnTo>
                  <a:pt x="137999" y="804302"/>
                </a:lnTo>
                <a:lnTo>
                  <a:pt x="107590" y="770844"/>
                </a:lnTo>
                <a:lnTo>
                  <a:pt x="80467" y="734573"/>
                </a:lnTo>
                <a:lnTo>
                  <a:pt x="56866" y="695727"/>
                </a:lnTo>
                <a:lnTo>
                  <a:pt x="37026" y="654541"/>
                </a:lnTo>
                <a:lnTo>
                  <a:pt x="21182" y="611254"/>
                </a:lnTo>
                <a:lnTo>
                  <a:pt x="9572" y="566102"/>
                </a:lnTo>
                <a:lnTo>
                  <a:pt x="2432" y="519321"/>
                </a:lnTo>
                <a:lnTo>
                  <a:pt x="0" y="471149"/>
                </a:lnTo>
                <a:lnTo>
                  <a:pt x="2432" y="422976"/>
                </a:lnTo>
                <a:lnTo>
                  <a:pt x="9572" y="376195"/>
                </a:lnTo>
                <a:lnTo>
                  <a:pt x="21182" y="331043"/>
                </a:lnTo>
                <a:lnTo>
                  <a:pt x="37026" y="287756"/>
                </a:lnTo>
                <a:lnTo>
                  <a:pt x="56866" y="246570"/>
                </a:lnTo>
                <a:lnTo>
                  <a:pt x="80467" y="207724"/>
                </a:lnTo>
                <a:lnTo>
                  <a:pt x="107590" y="171454"/>
                </a:lnTo>
                <a:lnTo>
                  <a:pt x="137999" y="137995"/>
                </a:lnTo>
                <a:lnTo>
                  <a:pt x="171458" y="107587"/>
                </a:lnTo>
                <a:lnTo>
                  <a:pt x="207729" y="80464"/>
                </a:lnTo>
                <a:lnTo>
                  <a:pt x="246575" y="56864"/>
                </a:lnTo>
                <a:lnTo>
                  <a:pt x="287760" y="37025"/>
                </a:lnTo>
                <a:lnTo>
                  <a:pt x="331047" y="21181"/>
                </a:lnTo>
                <a:lnTo>
                  <a:pt x="376198" y="9572"/>
                </a:lnTo>
                <a:lnTo>
                  <a:pt x="422978" y="2432"/>
                </a:lnTo>
                <a:lnTo>
                  <a:pt x="471149" y="0"/>
                </a:lnTo>
                <a:lnTo>
                  <a:pt x="524309" y="3007"/>
                </a:lnTo>
                <a:lnTo>
                  <a:pt x="576384" y="11901"/>
                </a:lnTo>
                <a:lnTo>
                  <a:pt x="626910" y="26492"/>
                </a:lnTo>
                <a:lnTo>
                  <a:pt x="675426" y="46587"/>
                </a:lnTo>
                <a:lnTo>
                  <a:pt x="721471" y="71997"/>
                </a:lnTo>
                <a:lnTo>
                  <a:pt x="764582" y="102531"/>
                </a:lnTo>
                <a:lnTo>
                  <a:pt x="804298" y="137997"/>
                </a:lnTo>
                <a:lnTo>
                  <a:pt x="839761" y="177715"/>
                </a:lnTo>
                <a:lnTo>
                  <a:pt x="870293" y="220826"/>
                </a:lnTo>
                <a:lnTo>
                  <a:pt x="895704" y="266870"/>
                </a:lnTo>
                <a:lnTo>
                  <a:pt x="915801" y="315385"/>
                </a:lnTo>
                <a:lnTo>
                  <a:pt x="930394" y="365911"/>
                </a:lnTo>
                <a:lnTo>
                  <a:pt x="939290" y="417986"/>
                </a:lnTo>
                <a:lnTo>
                  <a:pt x="942298" y="471149"/>
                </a:lnTo>
                <a:lnTo>
                  <a:pt x="939865" y="519321"/>
                </a:lnTo>
                <a:lnTo>
                  <a:pt x="932725" y="566102"/>
                </a:lnTo>
                <a:lnTo>
                  <a:pt x="921115" y="611254"/>
                </a:lnTo>
                <a:lnTo>
                  <a:pt x="905271" y="654541"/>
                </a:lnTo>
                <a:lnTo>
                  <a:pt x="885431" y="695727"/>
                </a:lnTo>
                <a:lnTo>
                  <a:pt x="861830" y="734573"/>
                </a:lnTo>
                <a:lnTo>
                  <a:pt x="834707" y="770844"/>
                </a:lnTo>
                <a:lnTo>
                  <a:pt x="804298" y="804302"/>
                </a:lnTo>
                <a:lnTo>
                  <a:pt x="770839" y="834710"/>
                </a:lnTo>
                <a:lnTo>
                  <a:pt x="734569" y="861833"/>
                </a:lnTo>
                <a:lnTo>
                  <a:pt x="695722" y="885433"/>
                </a:lnTo>
                <a:lnTo>
                  <a:pt x="654537" y="905273"/>
                </a:lnTo>
                <a:lnTo>
                  <a:pt x="611251" y="921116"/>
                </a:lnTo>
                <a:lnTo>
                  <a:pt x="566099" y="932726"/>
                </a:lnTo>
                <a:lnTo>
                  <a:pt x="519319" y="939865"/>
                </a:lnTo>
                <a:lnTo>
                  <a:pt x="471149" y="942298"/>
                </a:lnTo>
                <a:close/>
              </a:path>
            </a:pathLst>
          </a:custGeom>
          <a:solidFill>
            <a:srgbClr val="8E7C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819038" y="1770383"/>
            <a:ext cx="276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800" spc="-37" baseline="-30092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800" baseline="-30092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752601" y="1887811"/>
            <a:ext cx="6281420" cy="83820"/>
            <a:chOff x="1752601" y="1887811"/>
            <a:chExt cx="6281420" cy="83820"/>
          </a:xfrm>
        </p:grpSpPr>
        <p:sp>
          <p:nvSpPr>
            <p:cNvPr id="10" name="object 10"/>
            <p:cNvSpPr/>
            <p:nvPr/>
          </p:nvSpPr>
          <p:spPr>
            <a:xfrm>
              <a:off x="1762126" y="1905828"/>
              <a:ext cx="1609725" cy="23495"/>
            </a:xfrm>
            <a:custGeom>
              <a:avLst/>
              <a:gdLst/>
              <a:ahLst/>
              <a:cxnLst/>
              <a:rect l="l" t="t" r="r" b="b"/>
              <a:pathLst>
                <a:path w="1609725" h="23494">
                  <a:moveTo>
                    <a:pt x="0" y="0"/>
                  </a:moveTo>
                  <a:lnTo>
                    <a:pt x="1609516" y="22969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61668" y="1887811"/>
              <a:ext cx="105924" cy="819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428340" y="1930343"/>
              <a:ext cx="1497330" cy="0"/>
            </a:xfrm>
            <a:custGeom>
              <a:avLst/>
              <a:gdLst/>
              <a:ahLst/>
              <a:cxnLst/>
              <a:rect l="l" t="t" r="r" b="b"/>
              <a:pathLst>
                <a:path w="1497329">
                  <a:moveTo>
                    <a:pt x="0" y="0"/>
                  </a:moveTo>
                  <a:lnTo>
                    <a:pt x="1496996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15813" y="1889353"/>
              <a:ext cx="105499" cy="8197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981935" y="1930311"/>
              <a:ext cx="956310" cy="0"/>
            </a:xfrm>
            <a:custGeom>
              <a:avLst/>
              <a:gdLst/>
              <a:ahLst/>
              <a:cxnLst/>
              <a:rect l="l" t="t" r="r" b="b"/>
              <a:pathLst>
                <a:path w="956309">
                  <a:moveTo>
                    <a:pt x="0" y="0"/>
                  </a:moveTo>
                  <a:lnTo>
                    <a:pt x="956098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28508" y="1889318"/>
              <a:ext cx="105499" cy="81982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8117833" y="1770007"/>
            <a:ext cx="5060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latin typeface="Arial MT"/>
                <a:cs typeface="Arial MT"/>
              </a:rPr>
              <a:t>J(</a:t>
            </a:r>
            <a:r>
              <a:rPr sz="2000" spc="-20" dirty="0">
                <a:latin typeface="Microsoft Sans Serif"/>
                <a:cs typeface="Microsoft Sans Serif"/>
              </a:rPr>
              <a:t>Ө</a:t>
            </a:r>
            <a:r>
              <a:rPr sz="2000" spc="-20" dirty="0">
                <a:latin typeface="Arial MT"/>
                <a:cs typeface="Arial MT"/>
              </a:rPr>
              <a:t>)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43916" y="1574383"/>
            <a:ext cx="3098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 MT"/>
                <a:cs typeface="Arial MT"/>
              </a:rPr>
              <a:t>W</a:t>
            </a:r>
            <a:r>
              <a:rPr sz="1350" spc="-37" baseline="-33950" dirty="0">
                <a:latin typeface="Arial MT"/>
                <a:cs typeface="Arial MT"/>
              </a:rPr>
              <a:t>1</a:t>
            </a:r>
            <a:endParaRPr sz="1350" baseline="-3395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934711" y="1574383"/>
            <a:ext cx="3098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 MT"/>
                <a:cs typeface="Arial MT"/>
              </a:rPr>
              <a:t>W</a:t>
            </a:r>
            <a:r>
              <a:rPr sz="1350" spc="-37" baseline="-33950" dirty="0">
                <a:latin typeface="Arial MT"/>
                <a:cs typeface="Arial MT"/>
              </a:rPr>
              <a:t>2</a:t>
            </a:r>
            <a:endParaRPr sz="1350" baseline="-3395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028794" y="2756619"/>
            <a:ext cx="3904615" cy="1431925"/>
            <a:chOff x="3028794" y="2756619"/>
            <a:chExt cx="3904615" cy="1431925"/>
          </a:xfrm>
        </p:grpSpPr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28794" y="3171743"/>
              <a:ext cx="3514717" cy="68579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125341" y="2997569"/>
              <a:ext cx="2808605" cy="1190625"/>
            </a:xfrm>
            <a:custGeom>
              <a:avLst/>
              <a:gdLst/>
              <a:ahLst/>
              <a:cxnLst/>
              <a:rect l="l" t="t" r="r" b="b"/>
              <a:pathLst>
                <a:path w="2808604" h="1190625">
                  <a:moveTo>
                    <a:pt x="2807994" y="1190397"/>
                  </a:moveTo>
                  <a:lnTo>
                    <a:pt x="0" y="1190397"/>
                  </a:lnTo>
                  <a:lnTo>
                    <a:pt x="0" y="0"/>
                  </a:lnTo>
                  <a:lnTo>
                    <a:pt x="2807994" y="0"/>
                  </a:lnTo>
                  <a:lnTo>
                    <a:pt x="2807994" y="119039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839192" y="2766144"/>
              <a:ext cx="388620" cy="262255"/>
            </a:xfrm>
            <a:custGeom>
              <a:avLst/>
              <a:gdLst/>
              <a:ahLst/>
              <a:cxnLst/>
              <a:rect l="l" t="t" r="r" b="b"/>
              <a:pathLst>
                <a:path w="388620" h="262255">
                  <a:moveTo>
                    <a:pt x="388549" y="0"/>
                  </a:moveTo>
                  <a:lnTo>
                    <a:pt x="0" y="262174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57992" y="2992694"/>
              <a:ext cx="108324" cy="93499"/>
            </a:xfrm>
            <a:prstGeom prst="rect">
              <a:avLst/>
            </a:prstGeom>
          </p:spPr>
        </p:pic>
      </p:grpSp>
      <p:sp>
        <p:nvSpPr>
          <p:cNvPr id="24" name="object 24"/>
          <p:cNvSpPr/>
          <p:nvPr/>
        </p:nvSpPr>
        <p:spPr>
          <a:xfrm>
            <a:off x="2336254" y="1506156"/>
            <a:ext cx="346710" cy="354330"/>
          </a:xfrm>
          <a:custGeom>
            <a:avLst/>
            <a:gdLst/>
            <a:ahLst/>
            <a:cxnLst/>
            <a:rect l="l" t="t" r="r" b="b"/>
            <a:pathLst>
              <a:path w="346710" h="354330">
                <a:moveTo>
                  <a:pt x="346506" y="57759"/>
                </a:moveTo>
                <a:lnTo>
                  <a:pt x="329590" y="16916"/>
                </a:lnTo>
                <a:lnTo>
                  <a:pt x="288759" y="0"/>
                </a:lnTo>
                <a:lnTo>
                  <a:pt x="57759" y="0"/>
                </a:lnTo>
                <a:lnTo>
                  <a:pt x="35280" y="4546"/>
                </a:lnTo>
                <a:lnTo>
                  <a:pt x="16916" y="16916"/>
                </a:lnTo>
                <a:lnTo>
                  <a:pt x="4546" y="35280"/>
                </a:lnTo>
                <a:lnTo>
                  <a:pt x="0" y="57759"/>
                </a:lnTo>
                <a:lnTo>
                  <a:pt x="0" y="295948"/>
                </a:lnTo>
                <a:lnTo>
                  <a:pt x="4546" y="318427"/>
                </a:lnTo>
                <a:lnTo>
                  <a:pt x="16916" y="336791"/>
                </a:lnTo>
                <a:lnTo>
                  <a:pt x="35280" y="349161"/>
                </a:lnTo>
                <a:lnTo>
                  <a:pt x="57759" y="353707"/>
                </a:lnTo>
                <a:lnTo>
                  <a:pt x="288759" y="353707"/>
                </a:lnTo>
                <a:lnTo>
                  <a:pt x="311238" y="349161"/>
                </a:lnTo>
                <a:lnTo>
                  <a:pt x="329603" y="336791"/>
                </a:lnTo>
                <a:lnTo>
                  <a:pt x="341972" y="318427"/>
                </a:lnTo>
                <a:lnTo>
                  <a:pt x="346506" y="295948"/>
                </a:lnTo>
                <a:lnTo>
                  <a:pt x="346506" y="57759"/>
                </a:lnTo>
                <a:close/>
              </a:path>
            </a:pathLst>
          </a:custGeom>
          <a:solidFill>
            <a:srgbClr val="1D72FF">
              <a:alpha val="1884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684716" y="2456454"/>
            <a:ext cx="15868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Apply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chain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rule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latin typeface="Roboto"/>
                <a:cs typeface="Roboto"/>
              </a:rPr>
              <a:t>Calculating</a:t>
            </a:r>
            <a:r>
              <a:rPr spc="-105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the</a:t>
            </a:r>
            <a:r>
              <a:rPr spc="-105" dirty="0">
                <a:latin typeface="Roboto"/>
                <a:cs typeface="Roboto"/>
              </a:rPr>
              <a:t> </a:t>
            </a:r>
            <a:r>
              <a:rPr spc="-20" dirty="0">
                <a:latin typeface="Roboto"/>
                <a:cs typeface="Roboto"/>
              </a:rPr>
              <a:t>Gradient:</a:t>
            </a:r>
            <a:r>
              <a:rPr spc="-100" dirty="0">
                <a:latin typeface="Roboto"/>
                <a:cs typeface="Roboto"/>
              </a:rPr>
              <a:t> </a:t>
            </a:r>
            <a:r>
              <a:rPr spc="-10" dirty="0">
                <a:latin typeface="Roboto"/>
                <a:cs typeface="Roboto"/>
              </a:rPr>
              <a:t>Backpropagation</a:t>
            </a:r>
          </a:p>
        </p:txBody>
      </p:sp>
      <p:sp>
        <p:nvSpPr>
          <p:cNvPr id="3" name="object 3"/>
          <p:cNvSpPr/>
          <p:nvPr/>
        </p:nvSpPr>
        <p:spPr>
          <a:xfrm>
            <a:off x="756828" y="1403179"/>
            <a:ext cx="1005840" cy="1005840"/>
          </a:xfrm>
          <a:custGeom>
            <a:avLst/>
            <a:gdLst/>
            <a:ahLst/>
            <a:cxnLst/>
            <a:rect l="l" t="t" r="r" b="b"/>
            <a:pathLst>
              <a:path w="1005839" h="1005839">
                <a:moveTo>
                  <a:pt x="502649" y="1005298"/>
                </a:moveTo>
                <a:lnTo>
                  <a:pt x="454240" y="1002997"/>
                </a:lnTo>
                <a:lnTo>
                  <a:pt x="407134" y="996234"/>
                </a:lnTo>
                <a:lnTo>
                  <a:pt x="361540" y="985220"/>
                </a:lnTo>
                <a:lnTo>
                  <a:pt x="317669" y="970167"/>
                </a:lnTo>
                <a:lnTo>
                  <a:pt x="275732" y="951283"/>
                </a:lnTo>
                <a:lnTo>
                  <a:pt x="235939" y="928781"/>
                </a:lnTo>
                <a:lnTo>
                  <a:pt x="198502" y="902870"/>
                </a:lnTo>
                <a:lnTo>
                  <a:pt x="163630" y="873762"/>
                </a:lnTo>
                <a:lnTo>
                  <a:pt x="131535" y="841667"/>
                </a:lnTo>
                <a:lnTo>
                  <a:pt x="102427" y="806795"/>
                </a:lnTo>
                <a:lnTo>
                  <a:pt x="76516" y="769358"/>
                </a:lnTo>
                <a:lnTo>
                  <a:pt x="54014" y="729565"/>
                </a:lnTo>
                <a:lnTo>
                  <a:pt x="35130" y="687628"/>
                </a:lnTo>
                <a:lnTo>
                  <a:pt x="20077" y="643757"/>
                </a:lnTo>
                <a:lnTo>
                  <a:pt x="9063" y="598163"/>
                </a:lnTo>
                <a:lnTo>
                  <a:pt x="2300" y="551057"/>
                </a:lnTo>
                <a:lnTo>
                  <a:pt x="0" y="502649"/>
                </a:lnTo>
                <a:lnTo>
                  <a:pt x="2300" y="454240"/>
                </a:lnTo>
                <a:lnTo>
                  <a:pt x="9063" y="407134"/>
                </a:lnTo>
                <a:lnTo>
                  <a:pt x="20077" y="361540"/>
                </a:lnTo>
                <a:lnTo>
                  <a:pt x="35130" y="317669"/>
                </a:lnTo>
                <a:lnTo>
                  <a:pt x="54014" y="275732"/>
                </a:lnTo>
                <a:lnTo>
                  <a:pt x="76516" y="235939"/>
                </a:lnTo>
                <a:lnTo>
                  <a:pt x="102427" y="198502"/>
                </a:lnTo>
                <a:lnTo>
                  <a:pt x="131535" y="163630"/>
                </a:lnTo>
                <a:lnTo>
                  <a:pt x="163630" y="131535"/>
                </a:lnTo>
                <a:lnTo>
                  <a:pt x="198502" y="102427"/>
                </a:lnTo>
                <a:lnTo>
                  <a:pt x="235939" y="76516"/>
                </a:lnTo>
                <a:lnTo>
                  <a:pt x="275732" y="54014"/>
                </a:lnTo>
                <a:lnTo>
                  <a:pt x="317669" y="35130"/>
                </a:lnTo>
                <a:lnTo>
                  <a:pt x="361540" y="20077"/>
                </a:lnTo>
                <a:lnTo>
                  <a:pt x="407134" y="9063"/>
                </a:lnTo>
                <a:lnTo>
                  <a:pt x="454240" y="2300"/>
                </a:lnTo>
                <a:lnTo>
                  <a:pt x="502649" y="0"/>
                </a:lnTo>
                <a:lnTo>
                  <a:pt x="552330" y="2459"/>
                </a:lnTo>
                <a:lnTo>
                  <a:pt x="601169" y="9747"/>
                </a:lnTo>
                <a:lnTo>
                  <a:pt x="648837" y="21727"/>
                </a:lnTo>
                <a:lnTo>
                  <a:pt x="695005" y="38261"/>
                </a:lnTo>
                <a:lnTo>
                  <a:pt x="739342" y="59215"/>
                </a:lnTo>
                <a:lnTo>
                  <a:pt x="781519" y="84450"/>
                </a:lnTo>
                <a:lnTo>
                  <a:pt x="821207" y="113831"/>
                </a:lnTo>
                <a:lnTo>
                  <a:pt x="858075" y="147222"/>
                </a:lnTo>
                <a:lnTo>
                  <a:pt x="891466" y="184090"/>
                </a:lnTo>
                <a:lnTo>
                  <a:pt x="920847" y="223778"/>
                </a:lnTo>
                <a:lnTo>
                  <a:pt x="946082" y="265956"/>
                </a:lnTo>
                <a:lnTo>
                  <a:pt x="967036" y="310293"/>
                </a:lnTo>
                <a:lnTo>
                  <a:pt x="983570" y="356461"/>
                </a:lnTo>
                <a:lnTo>
                  <a:pt x="995550" y="404129"/>
                </a:lnTo>
                <a:lnTo>
                  <a:pt x="1002838" y="452968"/>
                </a:lnTo>
                <a:lnTo>
                  <a:pt x="1005298" y="502649"/>
                </a:lnTo>
                <a:lnTo>
                  <a:pt x="1002997" y="551057"/>
                </a:lnTo>
                <a:lnTo>
                  <a:pt x="996234" y="598163"/>
                </a:lnTo>
                <a:lnTo>
                  <a:pt x="985221" y="643757"/>
                </a:lnTo>
                <a:lnTo>
                  <a:pt x="970167" y="687628"/>
                </a:lnTo>
                <a:lnTo>
                  <a:pt x="951284" y="729565"/>
                </a:lnTo>
                <a:lnTo>
                  <a:pt x="928782" y="769358"/>
                </a:lnTo>
                <a:lnTo>
                  <a:pt x="902871" y="806795"/>
                </a:lnTo>
                <a:lnTo>
                  <a:pt x="873763" y="841667"/>
                </a:lnTo>
                <a:lnTo>
                  <a:pt x="841668" y="873762"/>
                </a:lnTo>
                <a:lnTo>
                  <a:pt x="806796" y="902870"/>
                </a:lnTo>
                <a:lnTo>
                  <a:pt x="769359" y="928781"/>
                </a:lnTo>
                <a:lnTo>
                  <a:pt x="729566" y="951283"/>
                </a:lnTo>
                <a:lnTo>
                  <a:pt x="687629" y="970167"/>
                </a:lnTo>
                <a:lnTo>
                  <a:pt x="643758" y="985220"/>
                </a:lnTo>
                <a:lnTo>
                  <a:pt x="598164" y="996234"/>
                </a:lnTo>
                <a:lnTo>
                  <a:pt x="551057" y="1002997"/>
                </a:lnTo>
                <a:lnTo>
                  <a:pt x="502649" y="1005298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32528" y="1745870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800" spc="-37" baseline="-30092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800" baseline="-30092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039513" y="1459194"/>
            <a:ext cx="942340" cy="942340"/>
          </a:xfrm>
          <a:custGeom>
            <a:avLst/>
            <a:gdLst/>
            <a:ahLst/>
            <a:cxnLst/>
            <a:rect l="l" t="t" r="r" b="b"/>
            <a:pathLst>
              <a:path w="942340" h="942339">
                <a:moveTo>
                  <a:pt x="471149" y="942298"/>
                </a:moveTo>
                <a:lnTo>
                  <a:pt x="422978" y="939865"/>
                </a:lnTo>
                <a:lnTo>
                  <a:pt x="376198" y="932726"/>
                </a:lnTo>
                <a:lnTo>
                  <a:pt x="331047" y="921116"/>
                </a:lnTo>
                <a:lnTo>
                  <a:pt x="287760" y="905273"/>
                </a:lnTo>
                <a:lnTo>
                  <a:pt x="246575" y="885433"/>
                </a:lnTo>
                <a:lnTo>
                  <a:pt x="207729" y="861833"/>
                </a:lnTo>
                <a:lnTo>
                  <a:pt x="171458" y="834710"/>
                </a:lnTo>
                <a:lnTo>
                  <a:pt x="137999" y="804302"/>
                </a:lnTo>
                <a:lnTo>
                  <a:pt x="107590" y="770844"/>
                </a:lnTo>
                <a:lnTo>
                  <a:pt x="80467" y="734573"/>
                </a:lnTo>
                <a:lnTo>
                  <a:pt x="56866" y="695727"/>
                </a:lnTo>
                <a:lnTo>
                  <a:pt x="37026" y="654541"/>
                </a:lnTo>
                <a:lnTo>
                  <a:pt x="21182" y="611254"/>
                </a:lnTo>
                <a:lnTo>
                  <a:pt x="9572" y="566102"/>
                </a:lnTo>
                <a:lnTo>
                  <a:pt x="2432" y="519321"/>
                </a:lnTo>
                <a:lnTo>
                  <a:pt x="0" y="471149"/>
                </a:lnTo>
                <a:lnTo>
                  <a:pt x="2432" y="422976"/>
                </a:lnTo>
                <a:lnTo>
                  <a:pt x="9572" y="376195"/>
                </a:lnTo>
                <a:lnTo>
                  <a:pt x="21182" y="331043"/>
                </a:lnTo>
                <a:lnTo>
                  <a:pt x="37026" y="287756"/>
                </a:lnTo>
                <a:lnTo>
                  <a:pt x="56866" y="246570"/>
                </a:lnTo>
                <a:lnTo>
                  <a:pt x="80467" y="207724"/>
                </a:lnTo>
                <a:lnTo>
                  <a:pt x="107590" y="171454"/>
                </a:lnTo>
                <a:lnTo>
                  <a:pt x="137999" y="137995"/>
                </a:lnTo>
                <a:lnTo>
                  <a:pt x="171458" y="107587"/>
                </a:lnTo>
                <a:lnTo>
                  <a:pt x="207729" y="80464"/>
                </a:lnTo>
                <a:lnTo>
                  <a:pt x="246575" y="56864"/>
                </a:lnTo>
                <a:lnTo>
                  <a:pt x="287760" y="37025"/>
                </a:lnTo>
                <a:lnTo>
                  <a:pt x="331047" y="21181"/>
                </a:lnTo>
                <a:lnTo>
                  <a:pt x="376198" y="9572"/>
                </a:lnTo>
                <a:lnTo>
                  <a:pt x="422978" y="2432"/>
                </a:lnTo>
                <a:lnTo>
                  <a:pt x="471149" y="0"/>
                </a:lnTo>
                <a:lnTo>
                  <a:pt x="524309" y="3007"/>
                </a:lnTo>
                <a:lnTo>
                  <a:pt x="576384" y="11901"/>
                </a:lnTo>
                <a:lnTo>
                  <a:pt x="626910" y="26492"/>
                </a:lnTo>
                <a:lnTo>
                  <a:pt x="675426" y="46587"/>
                </a:lnTo>
                <a:lnTo>
                  <a:pt x="721471" y="71997"/>
                </a:lnTo>
                <a:lnTo>
                  <a:pt x="764582" y="102531"/>
                </a:lnTo>
                <a:lnTo>
                  <a:pt x="804298" y="137997"/>
                </a:lnTo>
                <a:lnTo>
                  <a:pt x="839761" y="177715"/>
                </a:lnTo>
                <a:lnTo>
                  <a:pt x="870293" y="220826"/>
                </a:lnTo>
                <a:lnTo>
                  <a:pt x="895704" y="266870"/>
                </a:lnTo>
                <a:lnTo>
                  <a:pt x="915801" y="315385"/>
                </a:lnTo>
                <a:lnTo>
                  <a:pt x="930394" y="365911"/>
                </a:lnTo>
                <a:lnTo>
                  <a:pt x="939290" y="417986"/>
                </a:lnTo>
                <a:lnTo>
                  <a:pt x="942298" y="471149"/>
                </a:lnTo>
                <a:lnTo>
                  <a:pt x="939865" y="519321"/>
                </a:lnTo>
                <a:lnTo>
                  <a:pt x="932725" y="566102"/>
                </a:lnTo>
                <a:lnTo>
                  <a:pt x="921115" y="611254"/>
                </a:lnTo>
                <a:lnTo>
                  <a:pt x="905271" y="654541"/>
                </a:lnTo>
                <a:lnTo>
                  <a:pt x="885431" y="695727"/>
                </a:lnTo>
                <a:lnTo>
                  <a:pt x="861830" y="734573"/>
                </a:lnTo>
                <a:lnTo>
                  <a:pt x="834707" y="770844"/>
                </a:lnTo>
                <a:lnTo>
                  <a:pt x="804298" y="804302"/>
                </a:lnTo>
                <a:lnTo>
                  <a:pt x="770839" y="834710"/>
                </a:lnTo>
                <a:lnTo>
                  <a:pt x="734569" y="861833"/>
                </a:lnTo>
                <a:lnTo>
                  <a:pt x="695722" y="885433"/>
                </a:lnTo>
                <a:lnTo>
                  <a:pt x="654537" y="905273"/>
                </a:lnTo>
                <a:lnTo>
                  <a:pt x="611251" y="921116"/>
                </a:lnTo>
                <a:lnTo>
                  <a:pt x="566099" y="932726"/>
                </a:lnTo>
                <a:lnTo>
                  <a:pt x="519319" y="939865"/>
                </a:lnTo>
                <a:lnTo>
                  <a:pt x="471149" y="942298"/>
                </a:lnTo>
                <a:close/>
              </a:path>
            </a:pathLst>
          </a:custGeom>
          <a:solidFill>
            <a:srgbClr val="6EA8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385442" y="1770383"/>
            <a:ext cx="263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1800" spc="-37" baseline="-30092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800" baseline="-30092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486043" y="1459194"/>
            <a:ext cx="942340" cy="942340"/>
          </a:xfrm>
          <a:custGeom>
            <a:avLst/>
            <a:gdLst/>
            <a:ahLst/>
            <a:cxnLst/>
            <a:rect l="l" t="t" r="r" b="b"/>
            <a:pathLst>
              <a:path w="942339" h="942339">
                <a:moveTo>
                  <a:pt x="471149" y="942298"/>
                </a:moveTo>
                <a:lnTo>
                  <a:pt x="422978" y="939865"/>
                </a:lnTo>
                <a:lnTo>
                  <a:pt x="376198" y="932726"/>
                </a:lnTo>
                <a:lnTo>
                  <a:pt x="331047" y="921116"/>
                </a:lnTo>
                <a:lnTo>
                  <a:pt x="287760" y="905273"/>
                </a:lnTo>
                <a:lnTo>
                  <a:pt x="246575" y="885433"/>
                </a:lnTo>
                <a:lnTo>
                  <a:pt x="207729" y="861833"/>
                </a:lnTo>
                <a:lnTo>
                  <a:pt x="171458" y="834710"/>
                </a:lnTo>
                <a:lnTo>
                  <a:pt x="137999" y="804302"/>
                </a:lnTo>
                <a:lnTo>
                  <a:pt x="107590" y="770844"/>
                </a:lnTo>
                <a:lnTo>
                  <a:pt x="80467" y="734573"/>
                </a:lnTo>
                <a:lnTo>
                  <a:pt x="56866" y="695727"/>
                </a:lnTo>
                <a:lnTo>
                  <a:pt x="37026" y="654541"/>
                </a:lnTo>
                <a:lnTo>
                  <a:pt x="21182" y="611254"/>
                </a:lnTo>
                <a:lnTo>
                  <a:pt x="9572" y="566102"/>
                </a:lnTo>
                <a:lnTo>
                  <a:pt x="2432" y="519321"/>
                </a:lnTo>
                <a:lnTo>
                  <a:pt x="0" y="471149"/>
                </a:lnTo>
                <a:lnTo>
                  <a:pt x="2432" y="422976"/>
                </a:lnTo>
                <a:lnTo>
                  <a:pt x="9572" y="376195"/>
                </a:lnTo>
                <a:lnTo>
                  <a:pt x="21182" y="331043"/>
                </a:lnTo>
                <a:lnTo>
                  <a:pt x="37026" y="287756"/>
                </a:lnTo>
                <a:lnTo>
                  <a:pt x="56866" y="246570"/>
                </a:lnTo>
                <a:lnTo>
                  <a:pt x="80467" y="207724"/>
                </a:lnTo>
                <a:lnTo>
                  <a:pt x="107590" y="171454"/>
                </a:lnTo>
                <a:lnTo>
                  <a:pt x="137999" y="137995"/>
                </a:lnTo>
                <a:lnTo>
                  <a:pt x="171458" y="107587"/>
                </a:lnTo>
                <a:lnTo>
                  <a:pt x="207729" y="80464"/>
                </a:lnTo>
                <a:lnTo>
                  <a:pt x="246575" y="56864"/>
                </a:lnTo>
                <a:lnTo>
                  <a:pt x="287760" y="37025"/>
                </a:lnTo>
                <a:lnTo>
                  <a:pt x="331047" y="21181"/>
                </a:lnTo>
                <a:lnTo>
                  <a:pt x="376198" y="9572"/>
                </a:lnTo>
                <a:lnTo>
                  <a:pt x="422978" y="2432"/>
                </a:lnTo>
                <a:lnTo>
                  <a:pt x="471149" y="0"/>
                </a:lnTo>
                <a:lnTo>
                  <a:pt x="524309" y="3007"/>
                </a:lnTo>
                <a:lnTo>
                  <a:pt x="576384" y="11901"/>
                </a:lnTo>
                <a:lnTo>
                  <a:pt x="626910" y="26492"/>
                </a:lnTo>
                <a:lnTo>
                  <a:pt x="675426" y="46587"/>
                </a:lnTo>
                <a:lnTo>
                  <a:pt x="721471" y="71997"/>
                </a:lnTo>
                <a:lnTo>
                  <a:pt x="764582" y="102531"/>
                </a:lnTo>
                <a:lnTo>
                  <a:pt x="804298" y="137997"/>
                </a:lnTo>
                <a:lnTo>
                  <a:pt x="839761" y="177715"/>
                </a:lnTo>
                <a:lnTo>
                  <a:pt x="870293" y="220826"/>
                </a:lnTo>
                <a:lnTo>
                  <a:pt x="895704" y="266870"/>
                </a:lnTo>
                <a:lnTo>
                  <a:pt x="915801" y="315385"/>
                </a:lnTo>
                <a:lnTo>
                  <a:pt x="930394" y="365911"/>
                </a:lnTo>
                <a:lnTo>
                  <a:pt x="939290" y="417986"/>
                </a:lnTo>
                <a:lnTo>
                  <a:pt x="942298" y="471149"/>
                </a:lnTo>
                <a:lnTo>
                  <a:pt x="939865" y="519321"/>
                </a:lnTo>
                <a:lnTo>
                  <a:pt x="932725" y="566102"/>
                </a:lnTo>
                <a:lnTo>
                  <a:pt x="921115" y="611254"/>
                </a:lnTo>
                <a:lnTo>
                  <a:pt x="905271" y="654541"/>
                </a:lnTo>
                <a:lnTo>
                  <a:pt x="885431" y="695727"/>
                </a:lnTo>
                <a:lnTo>
                  <a:pt x="861830" y="734573"/>
                </a:lnTo>
                <a:lnTo>
                  <a:pt x="834707" y="770844"/>
                </a:lnTo>
                <a:lnTo>
                  <a:pt x="804298" y="804302"/>
                </a:lnTo>
                <a:lnTo>
                  <a:pt x="770839" y="834710"/>
                </a:lnTo>
                <a:lnTo>
                  <a:pt x="734569" y="861833"/>
                </a:lnTo>
                <a:lnTo>
                  <a:pt x="695722" y="885433"/>
                </a:lnTo>
                <a:lnTo>
                  <a:pt x="654537" y="905273"/>
                </a:lnTo>
                <a:lnTo>
                  <a:pt x="611251" y="921116"/>
                </a:lnTo>
                <a:lnTo>
                  <a:pt x="566099" y="932726"/>
                </a:lnTo>
                <a:lnTo>
                  <a:pt x="519319" y="939865"/>
                </a:lnTo>
                <a:lnTo>
                  <a:pt x="471149" y="942298"/>
                </a:lnTo>
                <a:close/>
              </a:path>
            </a:pathLst>
          </a:custGeom>
          <a:solidFill>
            <a:srgbClr val="8E7C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831738" y="1770383"/>
            <a:ext cx="264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800" spc="-37" baseline="-30092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800" baseline="-30092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752601" y="1887811"/>
            <a:ext cx="6281420" cy="83820"/>
            <a:chOff x="1752601" y="1887811"/>
            <a:chExt cx="6281420" cy="83820"/>
          </a:xfrm>
        </p:grpSpPr>
        <p:sp>
          <p:nvSpPr>
            <p:cNvPr id="10" name="object 10"/>
            <p:cNvSpPr/>
            <p:nvPr/>
          </p:nvSpPr>
          <p:spPr>
            <a:xfrm>
              <a:off x="1762126" y="1905828"/>
              <a:ext cx="1609725" cy="23495"/>
            </a:xfrm>
            <a:custGeom>
              <a:avLst/>
              <a:gdLst/>
              <a:ahLst/>
              <a:cxnLst/>
              <a:rect l="l" t="t" r="r" b="b"/>
              <a:pathLst>
                <a:path w="1609725" h="23494">
                  <a:moveTo>
                    <a:pt x="0" y="0"/>
                  </a:moveTo>
                  <a:lnTo>
                    <a:pt x="1609516" y="22969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61668" y="1887811"/>
              <a:ext cx="105924" cy="819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428340" y="1930343"/>
              <a:ext cx="1497330" cy="0"/>
            </a:xfrm>
            <a:custGeom>
              <a:avLst/>
              <a:gdLst/>
              <a:ahLst/>
              <a:cxnLst/>
              <a:rect l="l" t="t" r="r" b="b"/>
              <a:pathLst>
                <a:path w="1497329">
                  <a:moveTo>
                    <a:pt x="0" y="0"/>
                  </a:moveTo>
                  <a:lnTo>
                    <a:pt x="1496996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15813" y="1889353"/>
              <a:ext cx="105499" cy="8197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981935" y="1930311"/>
              <a:ext cx="956310" cy="0"/>
            </a:xfrm>
            <a:custGeom>
              <a:avLst/>
              <a:gdLst/>
              <a:ahLst/>
              <a:cxnLst/>
              <a:rect l="l" t="t" r="r" b="b"/>
              <a:pathLst>
                <a:path w="956309">
                  <a:moveTo>
                    <a:pt x="0" y="0"/>
                  </a:moveTo>
                  <a:lnTo>
                    <a:pt x="956098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28508" y="1889318"/>
              <a:ext cx="105499" cy="81982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8130533" y="1770007"/>
            <a:ext cx="4933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latin typeface="Arial MT"/>
                <a:cs typeface="Arial MT"/>
              </a:rPr>
              <a:t>J(</a:t>
            </a:r>
            <a:r>
              <a:rPr sz="2000" spc="-20" dirty="0">
                <a:latin typeface="Microsoft Sans Serif"/>
                <a:cs typeface="Microsoft Sans Serif"/>
              </a:rPr>
              <a:t>Ө</a:t>
            </a:r>
            <a:r>
              <a:rPr sz="2000" spc="-20" dirty="0">
                <a:latin typeface="Arial MT"/>
                <a:cs typeface="Arial MT"/>
              </a:rPr>
              <a:t>)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43916" y="1574383"/>
            <a:ext cx="3098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 MT"/>
                <a:cs typeface="Arial MT"/>
              </a:rPr>
              <a:t>W</a:t>
            </a:r>
            <a:r>
              <a:rPr sz="1350" spc="-37" baseline="-33950" dirty="0">
                <a:latin typeface="Arial MT"/>
                <a:cs typeface="Arial MT"/>
              </a:rPr>
              <a:t>1</a:t>
            </a:r>
            <a:endParaRPr sz="1350" baseline="-3395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947411" y="1574383"/>
            <a:ext cx="2971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 MT"/>
                <a:cs typeface="Arial MT"/>
              </a:rPr>
              <a:t>W</a:t>
            </a:r>
            <a:r>
              <a:rPr sz="1350" spc="-37" baseline="-33950" dirty="0">
                <a:latin typeface="Arial MT"/>
                <a:cs typeface="Arial MT"/>
              </a:rPr>
              <a:t>2</a:t>
            </a:r>
            <a:endParaRPr sz="1350" baseline="-3395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336265" y="1506154"/>
            <a:ext cx="6444615" cy="672465"/>
            <a:chOff x="2336265" y="1506154"/>
            <a:chExt cx="6444615" cy="672465"/>
          </a:xfrm>
        </p:grpSpPr>
        <p:sp>
          <p:nvSpPr>
            <p:cNvPr id="20" name="object 20"/>
            <p:cNvSpPr/>
            <p:nvPr/>
          </p:nvSpPr>
          <p:spPr>
            <a:xfrm>
              <a:off x="6039512" y="1605871"/>
              <a:ext cx="2741295" cy="572770"/>
            </a:xfrm>
            <a:custGeom>
              <a:avLst/>
              <a:gdLst/>
              <a:ahLst/>
              <a:cxnLst/>
              <a:rect l="l" t="t" r="r" b="b"/>
              <a:pathLst>
                <a:path w="2741295" h="572769">
                  <a:moveTo>
                    <a:pt x="2741094" y="572698"/>
                  </a:moveTo>
                  <a:lnTo>
                    <a:pt x="0" y="572698"/>
                  </a:lnTo>
                  <a:lnTo>
                    <a:pt x="0" y="0"/>
                  </a:lnTo>
                  <a:lnTo>
                    <a:pt x="2741094" y="0"/>
                  </a:lnTo>
                  <a:lnTo>
                    <a:pt x="2741094" y="572698"/>
                  </a:lnTo>
                  <a:close/>
                </a:path>
              </a:pathLst>
            </a:custGeom>
            <a:solidFill>
              <a:srgbClr val="FFFD0A">
                <a:alpha val="4191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532917" y="1605871"/>
              <a:ext cx="2506980" cy="572770"/>
            </a:xfrm>
            <a:custGeom>
              <a:avLst/>
              <a:gdLst/>
              <a:ahLst/>
              <a:cxnLst/>
              <a:rect l="l" t="t" r="r" b="b"/>
              <a:pathLst>
                <a:path w="2506979" h="572769">
                  <a:moveTo>
                    <a:pt x="2506494" y="572698"/>
                  </a:moveTo>
                  <a:lnTo>
                    <a:pt x="0" y="572698"/>
                  </a:lnTo>
                  <a:lnTo>
                    <a:pt x="0" y="0"/>
                  </a:lnTo>
                  <a:lnTo>
                    <a:pt x="2506494" y="0"/>
                  </a:lnTo>
                  <a:lnTo>
                    <a:pt x="2506494" y="572698"/>
                  </a:lnTo>
                  <a:close/>
                </a:path>
              </a:pathLst>
            </a:custGeom>
            <a:solidFill>
              <a:srgbClr val="38FF0E">
                <a:alpha val="4191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336253" y="1506156"/>
              <a:ext cx="346710" cy="354330"/>
            </a:xfrm>
            <a:custGeom>
              <a:avLst/>
              <a:gdLst/>
              <a:ahLst/>
              <a:cxnLst/>
              <a:rect l="l" t="t" r="r" b="b"/>
              <a:pathLst>
                <a:path w="346710" h="354330">
                  <a:moveTo>
                    <a:pt x="346506" y="57759"/>
                  </a:moveTo>
                  <a:lnTo>
                    <a:pt x="329590" y="16916"/>
                  </a:lnTo>
                  <a:lnTo>
                    <a:pt x="288759" y="0"/>
                  </a:lnTo>
                  <a:lnTo>
                    <a:pt x="57759" y="0"/>
                  </a:lnTo>
                  <a:lnTo>
                    <a:pt x="35280" y="4546"/>
                  </a:lnTo>
                  <a:lnTo>
                    <a:pt x="16916" y="16916"/>
                  </a:lnTo>
                  <a:lnTo>
                    <a:pt x="4546" y="35280"/>
                  </a:lnTo>
                  <a:lnTo>
                    <a:pt x="0" y="57759"/>
                  </a:lnTo>
                  <a:lnTo>
                    <a:pt x="0" y="295948"/>
                  </a:lnTo>
                  <a:lnTo>
                    <a:pt x="4546" y="318427"/>
                  </a:lnTo>
                  <a:lnTo>
                    <a:pt x="16916" y="336791"/>
                  </a:lnTo>
                  <a:lnTo>
                    <a:pt x="35280" y="349161"/>
                  </a:lnTo>
                  <a:lnTo>
                    <a:pt x="57759" y="353707"/>
                  </a:lnTo>
                  <a:lnTo>
                    <a:pt x="288759" y="353707"/>
                  </a:lnTo>
                  <a:lnTo>
                    <a:pt x="311238" y="349161"/>
                  </a:lnTo>
                  <a:lnTo>
                    <a:pt x="329603" y="336791"/>
                  </a:lnTo>
                  <a:lnTo>
                    <a:pt x="341972" y="318427"/>
                  </a:lnTo>
                  <a:lnTo>
                    <a:pt x="346506" y="295948"/>
                  </a:lnTo>
                  <a:lnTo>
                    <a:pt x="346506" y="57759"/>
                  </a:lnTo>
                  <a:close/>
                </a:path>
              </a:pathLst>
            </a:custGeom>
            <a:solidFill>
              <a:srgbClr val="1D72FF">
                <a:alpha val="1884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3028794" y="3068718"/>
            <a:ext cx="5720080" cy="1225550"/>
            <a:chOff x="3028794" y="3068718"/>
            <a:chExt cx="5720080" cy="1225550"/>
          </a:xfrm>
        </p:grpSpPr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28794" y="3171743"/>
              <a:ext cx="3514717" cy="685798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758104" y="3068726"/>
              <a:ext cx="2990850" cy="1225550"/>
            </a:xfrm>
            <a:custGeom>
              <a:avLst/>
              <a:gdLst/>
              <a:ahLst/>
              <a:cxnLst/>
              <a:rect l="l" t="t" r="r" b="b"/>
              <a:pathLst>
                <a:path w="2990850" h="1225550">
                  <a:moveTo>
                    <a:pt x="2990253" y="412026"/>
                  </a:moveTo>
                  <a:lnTo>
                    <a:pt x="2807995" y="412026"/>
                  </a:lnTo>
                  <a:lnTo>
                    <a:pt x="2807995" y="0"/>
                  </a:lnTo>
                  <a:lnTo>
                    <a:pt x="0" y="0"/>
                  </a:lnTo>
                  <a:lnTo>
                    <a:pt x="0" y="813295"/>
                  </a:lnTo>
                  <a:lnTo>
                    <a:pt x="182257" y="813295"/>
                  </a:lnTo>
                  <a:lnTo>
                    <a:pt x="182257" y="1225321"/>
                  </a:lnTo>
                  <a:lnTo>
                    <a:pt x="2990253" y="1225321"/>
                  </a:lnTo>
                  <a:lnTo>
                    <a:pt x="2990253" y="41202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/>
          <p:nvPr/>
        </p:nvSpPr>
        <p:spPr>
          <a:xfrm>
            <a:off x="4125341" y="3997316"/>
            <a:ext cx="761365" cy="86995"/>
          </a:xfrm>
          <a:custGeom>
            <a:avLst/>
            <a:gdLst/>
            <a:ahLst/>
            <a:cxnLst/>
            <a:rect l="l" t="t" r="r" b="b"/>
            <a:pathLst>
              <a:path w="761364" h="86995">
                <a:moveTo>
                  <a:pt x="760798" y="86699"/>
                </a:moveTo>
                <a:lnTo>
                  <a:pt x="0" y="86699"/>
                </a:lnTo>
                <a:lnTo>
                  <a:pt x="0" y="0"/>
                </a:lnTo>
                <a:lnTo>
                  <a:pt x="760798" y="0"/>
                </a:lnTo>
                <a:lnTo>
                  <a:pt x="760798" y="86699"/>
                </a:lnTo>
                <a:close/>
              </a:path>
            </a:pathLst>
          </a:custGeom>
          <a:solidFill>
            <a:srgbClr val="FFFD0A">
              <a:alpha val="419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072639" y="4000167"/>
            <a:ext cx="761365" cy="86995"/>
          </a:xfrm>
          <a:custGeom>
            <a:avLst/>
            <a:gdLst/>
            <a:ahLst/>
            <a:cxnLst/>
            <a:rect l="l" t="t" r="r" b="b"/>
            <a:pathLst>
              <a:path w="761364" h="86995">
                <a:moveTo>
                  <a:pt x="760798" y="86699"/>
                </a:moveTo>
                <a:lnTo>
                  <a:pt x="0" y="86699"/>
                </a:lnTo>
                <a:lnTo>
                  <a:pt x="0" y="0"/>
                </a:lnTo>
                <a:lnTo>
                  <a:pt x="760798" y="0"/>
                </a:lnTo>
                <a:lnTo>
                  <a:pt x="760798" y="86699"/>
                </a:lnTo>
                <a:close/>
              </a:path>
            </a:pathLst>
          </a:custGeom>
          <a:solidFill>
            <a:srgbClr val="38FF0E">
              <a:alpha val="419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3684716" y="2456454"/>
            <a:ext cx="15868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Apply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chain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rule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757992" y="2756619"/>
            <a:ext cx="479425" cy="330200"/>
            <a:chOff x="3757992" y="2756619"/>
            <a:chExt cx="479425" cy="330200"/>
          </a:xfrm>
        </p:grpSpPr>
        <p:sp>
          <p:nvSpPr>
            <p:cNvPr id="30" name="object 30"/>
            <p:cNvSpPr/>
            <p:nvPr/>
          </p:nvSpPr>
          <p:spPr>
            <a:xfrm>
              <a:off x="3839192" y="2766144"/>
              <a:ext cx="388620" cy="262255"/>
            </a:xfrm>
            <a:custGeom>
              <a:avLst/>
              <a:gdLst/>
              <a:ahLst/>
              <a:cxnLst/>
              <a:rect l="l" t="t" r="r" b="b"/>
              <a:pathLst>
                <a:path w="388620" h="262255">
                  <a:moveTo>
                    <a:pt x="388549" y="0"/>
                  </a:moveTo>
                  <a:lnTo>
                    <a:pt x="0" y="262174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57992" y="2992694"/>
              <a:ext cx="108324" cy="934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latin typeface="Roboto"/>
                <a:cs typeface="Roboto"/>
              </a:rPr>
              <a:t>Calculating</a:t>
            </a:r>
            <a:r>
              <a:rPr spc="-105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the</a:t>
            </a:r>
            <a:r>
              <a:rPr spc="-105" dirty="0">
                <a:latin typeface="Roboto"/>
                <a:cs typeface="Roboto"/>
              </a:rPr>
              <a:t> </a:t>
            </a:r>
            <a:r>
              <a:rPr spc="-20" dirty="0">
                <a:latin typeface="Roboto"/>
                <a:cs typeface="Roboto"/>
              </a:rPr>
              <a:t>Gradient:</a:t>
            </a:r>
            <a:r>
              <a:rPr spc="-100" dirty="0">
                <a:latin typeface="Roboto"/>
                <a:cs typeface="Roboto"/>
              </a:rPr>
              <a:t> </a:t>
            </a:r>
            <a:r>
              <a:rPr spc="-10" dirty="0">
                <a:latin typeface="Roboto"/>
                <a:cs typeface="Roboto"/>
              </a:rPr>
              <a:t>Backpropagation</a:t>
            </a:r>
          </a:p>
        </p:txBody>
      </p:sp>
      <p:sp>
        <p:nvSpPr>
          <p:cNvPr id="3" name="object 3"/>
          <p:cNvSpPr/>
          <p:nvPr/>
        </p:nvSpPr>
        <p:spPr>
          <a:xfrm>
            <a:off x="756828" y="1403179"/>
            <a:ext cx="1005840" cy="1005840"/>
          </a:xfrm>
          <a:custGeom>
            <a:avLst/>
            <a:gdLst/>
            <a:ahLst/>
            <a:cxnLst/>
            <a:rect l="l" t="t" r="r" b="b"/>
            <a:pathLst>
              <a:path w="1005839" h="1005839">
                <a:moveTo>
                  <a:pt x="502649" y="1005298"/>
                </a:moveTo>
                <a:lnTo>
                  <a:pt x="454240" y="1002997"/>
                </a:lnTo>
                <a:lnTo>
                  <a:pt x="407134" y="996234"/>
                </a:lnTo>
                <a:lnTo>
                  <a:pt x="361540" y="985220"/>
                </a:lnTo>
                <a:lnTo>
                  <a:pt x="317669" y="970167"/>
                </a:lnTo>
                <a:lnTo>
                  <a:pt x="275732" y="951283"/>
                </a:lnTo>
                <a:lnTo>
                  <a:pt x="235939" y="928781"/>
                </a:lnTo>
                <a:lnTo>
                  <a:pt x="198502" y="902870"/>
                </a:lnTo>
                <a:lnTo>
                  <a:pt x="163630" y="873762"/>
                </a:lnTo>
                <a:lnTo>
                  <a:pt x="131535" y="841667"/>
                </a:lnTo>
                <a:lnTo>
                  <a:pt x="102427" y="806795"/>
                </a:lnTo>
                <a:lnTo>
                  <a:pt x="76516" y="769358"/>
                </a:lnTo>
                <a:lnTo>
                  <a:pt x="54014" y="729565"/>
                </a:lnTo>
                <a:lnTo>
                  <a:pt x="35130" y="687628"/>
                </a:lnTo>
                <a:lnTo>
                  <a:pt x="20077" y="643757"/>
                </a:lnTo>
                <a:lnTo>
                  <a:pt x="9063" y="598163"/>
                </a:lnTo>
                <a:lnTo>
                  <a:pt x="2300" y="551057"/>
                </a:lnTo>
                <a:lnTo>
                  <a:pt x="0" y="502649"/>
                </a:lnTo>
                <a:lnTo>
                  <a:pt x="2300" y="454240"/>
                </a:lnTo>
                <a:lnTo>
                  <a:pt x="9063" y="407134"/>
                </a:lnTo>
                <a:lnTo>
                  <a:pt x="20077" y="361540"/>
                </a:lnTo>
                <a:lnTo>
                  <a:pt x="35130" y="317669"/>
                </a:lnTo>
                <a:lnTo>
                  <a:pt x="54014" y="275732"/>
                </a:lnTo>
                <a:lnTo>
                  <a:pt x="76516" y="235939"/>
                </a:lnTo>
                <a:lnTo>
                  <a:pt x="102427" y="198502"/>
                </a:lnTo>
                <a:lnTo>
                  <a:pt x="131535" y="163630"/>
                </a:lnTo>
                <a:lnTo>
                  <a:pt x="163630" y="131535"/>
                </a:lnTo>
                <a:lnTo>
                  <a:pt x="198502" y="102427"/>
                </a:lnTo>
                <a:lnTo>
                  <a:pt x="235939" y="76516"/>
                </a:lnTo>
                <a:lnTo>
                  <a:pt x="275732" y="54014"/>
                </a:lnTo>
                <a:lnTo>
                  <a:pt x="317669" y="35130"/>
                </a:lnTo>
                <a:lnTo>
                  <a:pt x="361540" y="20077"/>
                </a:lnTo>
                <a:lnTo>
                  <a:pt x="407134" y="9063"/>
                </a:lnTo>
                <a:lnTo>
                  <a:pt x="454240" y="2300"/>
                </a:lnTo>
                <a:lnTo>
                  <a:pt x="502649" y="0"/>
                </a:lnTo>
                <a:lnTo>
                  <a:pt x="552330" y="2459"/>
                </a:lnTo>
                <a:lnTo>
                  <a:pt x="601169" y="9747"/>
                </a:lnTo>
                <a:lnTo>
                  <a:pt x="648837" y="21727"/>
                </a:lnTo>
                <a:lnTo>
                  <a:pt x="695005" y="38261"/>
                </a:lnTo>
                <a:lnTo>
                  <a:pt x="739342" y="59215"/>
                </a:lnTo>
                <a:lnTo>
                  <a:pt x="781519" y="84450"/>
                </a:lnTo>
                <a:lnTo>
                  <a:pt x="821207" y="113831"/>
                </a:lnTo>
                <a:lnTo>
                  <a:pt x="858075" y="147222"/>
                </a:lnTo>
                <a:lnTo>
                  <a:pt x="891466" y="184090"/>
                </a:lnTo>
                <a:lnTo>
                  <a:pt x="920847" y="223778"/>
                </a:lnTo>
                <a:lnTo>
                  <a:pt x="946082" y="265956"/>
                </a:lnTo>
                <a:lnTo>
                  <a:pt x="967036" y="310293"/>
                </a:lnTo>
                <a:lnTo>
                  <a:pt x="983570" y="356461"/>
                </a:lnTo>
                <a:lnTo>
                  <a:pt x="995550" y="404129"/>
                </a:lnTo>
                <a:lnTo>
                  <a:pt x="1002838" y="452968"/>
                </a:lnTo>
                <a:lnTo>
                  <a:pt x="1005298" y="502649"/>
                </a:lnTo>
                <a:lnTo>
                  <a:pt x="1002997" y="551057"/>
                </a:lnTo>
                <a:lnTo>
                  <a:pt x="996234" y="598163"/>
                </a:lnTo>
                <a:lnTo>
                  <a:pt x="985221" y="643757"/>
                </a:lnTo>
                <a:lnTo>
                  <a:pt x="970167" y="687628"/>
                </a:lnTo>
                <a:lnTo>
                  <a:pt x="951284" y="729565"/>
                </a:lnTo>
                <a:lnTo>
                  <a:pt x="928782" y="769358"/>
                </a:lnTo>
                <a:lnTo>
                  <a:pt x="902871" y="806795"/>
                </a:lnTo>
                <a:lnTo>
                  <a:pt x="873763" y="841667"/>
                </a:lnTo>
                <a:lnTo>
                  <a:pt x="841668" y="873762"/>
                </a:lnTo>
                <a:lnTo>
                  <a:pt x="806796" y="902870"/>
                </a:lnTo>
                <a:lnTo>
                  <a:pt x="769359" y="928781"/>
                </a:lnTo>
                <a:lnTo>
                  <a:pt x="729566" y="951283"/>
                </a:lnTo>
                <a:lnTo>
                  <a:pt x="687629" y="970167"/>
                </a:lnTo>
                <a:lnTo>
                  <a:pt x="643758" y="985220"/>
                </a:lnTo>
                <a:lnTo>
                  <a:pt x="598164" y="996234"/>
                </a:lnTo>
                <a:lnTo>
                  <a:pt x="551057" y="1002997"/>
                </a:lnTo>
                <a:lnTo>
                  <a:pt x="502649" y="1005298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32528" y="1745870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800" spc="-37" baseline="-30092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800" baseline="-30092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039513" y="1459194"/>
            <a:ext cx="942340" cy="942340"/>
          </a:xfrm>
          <a:custGeom>
            <a:avLst/>
            <a:gdLst/>
            <a:ahLst/>
            <a:cxnLst/>
            <a:rect l="l" t="t" r="r" b="b"/>
            <a:pathLst>
              <a:path w="942340" h="942339">
                <a:moveTo>
                  <a:pt x="471149" y="942298"/>
                </a:moveTo>
                <a:lnTo>
                  <a:pt x="422978" y="939865"/>
                </a:lnTo>
                <a:lnTo>
                  <a:pt x="376198" y="932726"/>
                </a:lnTo>
                <a:lnTo>
                  <a:pt x="331047" y="921116"/>
                </a:lnTo>
                <a:lnTo>
                  <a:pt x="287760" y="905273"/>
                </a:lnTo>
                <a:lnTo>
                  <a:pt x="246575" y="885433"/>
                </a:lnTo>
                <a:lnTo>
                  <a:pt x="207729" y="861833"/>
                </a:lnTo>
                <a:lnTo>
                  <a:pt x="171458" y="834710"/>
                </a:lnTo>
                <a:lnTo>
                  <a:pt x="137999" y="804302"/>
                </a:lnTo>
                <a:lnTo>
                  <a:pt x="107590" y="770844"/>
                </a:lnTo>
                <a:lnTo>
                  <a:pt x="80467" y="734573"/>
                </a:lnTo>
                <a:lnTo>
                  <a:pt x="56866" y="695727"/>
                </a:lnTo>
                <a:lnTo>
                  <a:pt x="37026" y="654541"/>
                </a:lnTo>
                <a:lnTo>
                  <a:pt x="21182" y="611254"/>
                </a:lnTo>
                <a:lnTo>
                  <a:pt x="9572" y="566102"/>
                </a:lnTo>
                <a:lnTo>
                  <a:pt x="2432" y="519321"/>
                </a:lnTo>
                <a:lnTo>
                  <a:pt x="0" y="471149"/>
                </a:lnTo>
                <a:lnTo>
                  <a:pt x="2432" y="422976"/>
                </a:lnTo>
                <a:lnTo>
                  <a:pt x="9572" y="376195"/>
                </a:lnTo>
                <a:lnTo>
                  <a:pt x="21182" y="331043"/>
                </a:lnTo>
                <a:lnTo>
                  <a:pt x="37026" y="287756"/>
                </a:lnTo>
                <a:lnTo>
                  <a:pt x="56866" y="246570"/>
                </a:lnTo>
                <a:lnTo>
                  <a:pt x="80467" y="207724"/>
                </a:lnTo>
                <a:lnTo>
                  <a:pt x="107590" y="171454"/>
                </a:lnTo>
                <a:lnTo>
                  <a:pt x="137999" y="137995"/>
                </a:lnTo>
                <a:lnTo>
                  <a:pt x="171458" y="107587"/>
                </a:lnTo>
                <a:lnTo>
                  <a:pt x="207729" y="80464"/>
                </a:lnTo>
                <a:lnTo>
                  <a:pt x="246575" y="56864"/>
                </a:lnTo>
                <a:lnTo>
                  <a:pt x="287760" y="37025"/>
                </a:lnTo>
                <a:lnTo>
                  <a:pt x="331047" y="21181"/>
                </a:lnTo>
                <a:lnTo>
                  <a:pt x="376198" y="9572"/>
                </a:lnTo>
                <a:lnTo>
                  <a:pt x="422978" y="2432"/>
                </a:lnTo>
                <a:lnTo>
                  <a:pt x="471149" y="0"/>
                </a:lnTo>
                <a:lnTo>
                  <a:pt x="524309" y="3007"/>
                </a:lnTo>
                <a:lnTo>
                  <a:pt x="576384" y="11901"/>
                </a:lnTo>
                <a:lnTo>
                  <a:pt x="626910" y="26492"/>
                </a:lnTo>
                <a:lnTo>
                  <a:pt x="675426" y="46587"/>
                </a:lnTo>
                <a:lnTo>
                  <a:pt x="721471" y="71997"/>
                </a:lnTo>
                <a:lnTo>
                  <a:pt x="764582" y="102531"/>
                </a:lnTo>
                <a:lnTo>
                  <a:pt x="804298" y="137997"/>
                </a:lnTo>
                <a:lnTo>
                  <a:pt x="839761" y="177715"/>
                </a:lnTo>
                <a:lnTo>
                  <a:pt x="870293" y="220826"/>
                </a:lnTo>
                <a:lnTo>
                  <a:pt x="895704" y="266870"/>
                </a:lnTo>
                <a:lnTo>
                  <a:pt x="915801" y="315385"/>
                </a:lnTo>
                <a:lnTo>
                  <a:pt x="930394" y="365911"/>
                </a:lnTo>
                <a:lnTo>
                  <a:pt x="939290" y="417986"/>
                </a:lnTo>
                <a:lnTo>
                  <a:pt x="942298" y="471149"/>
                </a:lnTo>
                <a:lnTo>
                  <a:pt x="939865" y="519321"/>
                </a:lnTo>
                <a:lnTo>
                  <a:pt x="932725" y="566102"/>
                </a:lnTo>
                <a:lnTo>
                  <a:pt x="921115" y="611254"/>
                </a:lnTo>
                <a:lnTo>
                  <a:pt x="905271" y="654541"/>
                </a:lnTo>
                <a:lnTo>
                  <a:pt x="885431" y="695727"/>
                </a:lnTo>
                <a:lnTo>
                  <a:pt x="861830" y="734573"/>
                </a:lnTo>
                <a:lnTo>
                  <a:pt x="834707" y="770844"/>
                </a:lnTo>
                <a:lnTo>
                  <a:pt x="804298" y="804302"/>
                </a:lnTo>
                <a:lnTo>
                  <a:pt x="770839" y="834710"/>
                </a:lnTo>
                <a:lnTo>
                  <a:pt x="734569" y="861833"/>
                </a:lnTo>
                <a:lnTo>
                  <a:pt x="695722" y="885433"/>
                </a:lnTo>
                <a:lnTo>
                  <a:pt x="654537" y="905273"/>
                </a:lnTo>
                <a:lnTo>
                  <a:pt x="611251" y="921116"/>
                </a:lnTo>
                <a:lnTo>
                  <a:pt x="566099" y="932726"/>
                </a:lnTo>
                <a:lnTo>
                  <a:pt x="519319" y="939865"/>
                </a:lnTo>
                <a:lnTo>
                  <a:pt x="471149" y="942298"/>
                </a:lnTo>
                <a:close/>
              </a:path>
            </a:pathLst>
          </a:custGeom>
          <a:solidFill>
            <a:srgbClr val="6EA8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385442" y="1770383"/>
            <a:ext cx="263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1800" spc="-37" baseline="-30092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800" baseline="-30092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486043" y="1459194"/>
            <a:ext cx="942340" cy="942340"/>
          </a:xfrm>
          <a:custGeom>
            <a:avLst/>
            <a:gdLst/>
            <a:ahLst/>
            <a:cxnLst/>
            <a:rect l="l" t="t" r="r" b="b"/>
            <a:pathLst>
              <a:path w="942339" h="942339">
                <a:moveTo>
                  <a:pt x="471149" y="942298"/>
                </a:moveTo>
                <a:lnTo>
                  <a:pt x="422978" y="939865"/>
                </a:lnTo>
                <a:lnTo>
                  <a:pt x="376198" y="932726"/>
                </a:lnTo>
                <a:lnTo>
                  <a:pt x="331047" y="921116"/>
                </a:lnTo>
                <a:lnTo>
                  <a:pt x="287760" y="905273"/>
                </a:lnTo>
                <a:lnTo>
                  <a:pt x="246575" y="885433"/>
                </a:lnTo>
                <a:lnTo>
                  <a:pt x="207729" y="861833"/>
                </a:lnTo>
                <a:lnTo>
                  <a:pt x="171458" y="834710"/>
                </a:lnTo>
                <a:lnTo>
                  <a:pt x="137999" y="804302"/>
                </a:lnTo>
                <a:lnTo>
                  <a:pt x="107590" y="770844"/>
                </a:lnTo>
                <a:lnTo>
                  <a:pt x="80467" y="734573"/>
                </a:lnTo>
                <a:lnTo>
                  <a:pt x="56866" y="695727"/>
                </a:lnTo>
                <a:lnTo>
                  <a:pt x="37026" y="654541"/>
                </a:lnTo>
                <a:lnTo>
                  <a:pt x="21182" y="611254"/>
                </a:lnTo>
                <a:lnTo>
                  <a:pt x="9572" y="566102"/>
                </a:lnTo>
                <a:lnTo>
                  <a:pt x="2432" y="519321"/>
                </a:lnTo>
                <a:lnTo>
                  <a:pt x="0" y="471149"/>
                </a:lnTo>
                <a:lnTo>
                  <a:pt x="2432" y="422976"/>
                </a:lnTo>
                <a:lnTo>
                  <a:pt x="9572" y="376195"/>
                </a:lnTo>
                <a:lnTo>
                  <a:pt x="21182" y="331043"/>
                </a:lnTo>
                <a:lnTo>
                  <a:pt x="37026" y="287756"/>
                </a:lnTo>
                <a:lnTo>
                  <a:pt x="56866" y="246570"/>
                </a:lnTo>
                <a:lnTo>
                  <a:pt x="80467" y="207724"/>
                </a:lnTo>
                <a:lnTo>
                  <a:pt x="107590" y="171454"/>
                </a:lnTo>
                <a:lnTo>
                  <a:pt x="137999" y="137995"/>
                </a:lnTo>
                <a:lnTo>
                  <a:pt x="171458" y="107587"/>
                </a:lnTo>
                <a:lnTo>
                  <a:pt x="207729" y="80464"/>
                </a:lnTo>
                <a:lnTo>
                  <a:pt x="246575" y="56864"/>
                </a:lnTo>
                <a:lnTo>
                  <a:pt x="287760" y="37025"/>
                </a:lnTo>
                <a:lnTo>
                  <a:pt x="331047" y="21181"/>
                </a:lnTo>
                <a:lnTo>
                  <a:pt x="376198" y="9572"/>
                </a:lnTo>
                <a:lnTo>
                  <a:pt x="422978" y="2432"/>
                </a:lnTo>
                <a:lnTo>
                  <a:pt x="471149" y="0"/>
                </a:lnTo>
                <a:lnTo>
                  <a:pt x="524309" y="3007"/>
                </a:lnTo>
                <a:lnTo>
                  <a:pt x="576384" y="11901"/>
                </a:lnTo>
                <a:lnTo>
                  <a:pt x="626910" y="26492"/>
                </a:lnTo>
                <a:lnTo>
                  <a:pt x="675426" y="46587"/>
                </a:lnTo>
                <a:lnTo>
                  <a:pt x="721471" y="71997"/>
                </a:lnTo>
                <a:lnTo>
                  <a:pt x="764582" y="102531"/>
                </a:lnTo>
                <a:lnTo>
                  <a:pt x="804298" y="137997"/>
                </a:lnTo>
                <a:lnTo>
                  <a:pt x="839761" y="177715"/>
                </a:lnTo>
                <a:lnTo>
                  <a:pt x="870293" y="220826"/>
                </a:lnTo>
                <a:lnTo>
                  <a:pt x="895704" y="266870"/>
                </a:lnTo>
                <a:lnTo>
                  <a:pt x="915801" y="315385"/>
                </a:lnTo>
                <a:lnTo>
                  <a:pt x="930394" y="365911"/>
                </a:lnTo>
                <a:lnTo>
                  <a:pt x="939290" y="417986"/>
                </a:lnTo>
                <a:lnTo>
                  <a:pt x="942298" y="471149"/>
                </a:lnTo>
                <a:lnTo>
                  <a:pt x="939865" y="519321"/>
                </a:lnTo>
                <a:lnTo>
                  <a:pt x="932725" y="566102"/>
                </a:lnTo>
                <a:lnTo>
                  <a:pt x="921115" y="611254"/>
                </a:lnTo>
                <a:lnTo>
                  <a:pt x="905271" y="654541"/>
                </a:lnTo>
                <a:lnTo>
                  <a:pt x="885431" y="695727"/>
                </a:lnTo>
                <a:lnTo>
                  <a:pt x="861830" y="734573"/>
                </a:lnTo>
                <a:lnTo>
                  <a:pt x="834707" y="770844"/>
                </a:lnTo>
                <a:lnTo>
                  <a:pt x="804298" y="804302"/>
                </a:lnTo>
                <a:lnTo>
                  <a:pt x="770839" y="834710"/>
                </a:lnTo>
                <a:lnTo>
                  <a:pt x="734569" y="861833"/>
                </a:lnTo>
                <a:lnTo>
                  <a:pt x="695722" y="885433"/>
                </a:lnTo>
                <a:lnTo>
                  <a:pt x="654537" y="905273"/>
                </a:lnTo>
                <a:lnTo>
                  <a:pt x="611251" y="921116"/>
                </a:lnTo>
                <a:lnTo>
                  <a:pt x="566099" y="932726"/>
                </a:lnTo>
                <a:lnTo>
                  <a:pt x="519319" y="939865"/>
                </a:lnTo>
                <a:lnTo>
                  <a:pt x="471149" y="942298"/>
                </a:lnTo>
                <a:close/>
              </a:path>
            </a:pathLst>
          </a:custGeom>
          <a:solidFill>
            <a:srgbClr val="8E7C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831738" y="1770383"/>
            <a:ext cx="264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800" spc="-37" baseline="-30092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800" baseline="-30092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752601" y="1887811"/>
            <a:ext cx="6281420" cy="83820"/>
            <a:chOff x="1752601" y="1887811"/>
            <a:chExt cx="6281420" cy="83820"/>
          </a:xfrm>
        </p:grpSpPr>
        <p:sp>
          <p:nvSpPr>
            <p:cNvPr id="10" name="object 10"/>
            <p:cNvSpPr/>
            <p:nvPr/>
          </p:nvSpPr>
          <p:spPr>
            <a:xfrm>
              <a:off x="1762126" y="1905828"/>
              <a:ext cx="1609725" cy="23495"/>
            </a:xfrm>
            <a:custGeom>
              <a:avLst/>
              <a:gdLst/>
              <a:ahLst/>
              <a:cxnLst/>
              <a:rect l="l" t="t" r="r" b="b"/>
              <a:pathLst>
                <a:path w="1609725" h="23494">
                  <a:moveTo>
                    <a:pt x="0" y="0"/>
                  </a:moveTo>
                  <a:lnTo>
                    <a:pt x="1609516" y="22969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61668" y="1887811"/>
              <a:ext cx="105924" cy="819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428340" y="1930343"/>
              <a:ext cx="1497330" cy="0"/>
            </a:xfrm>
            <a:custGeom>
              <a:avLst/>
              <a:gdLst/>
              <a:ahLst/>
              <a:cxnLst/>
              <a:rect l="l" t="t" r="r" b="b"/>
              <a:pathLst>
                <a:path w="1497329">
                  <a:moveTo>
                    <a:pt x="0" y="0"/>
                  </a:moveTo>
                  <a:lnTo>
                    <a:pt x="1496996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15813" y="1889353"/>
              <a:ext cx="105499" cy="8197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981935" y="1930311"/>
              <a:ext cx="956310" cy="0"/>
            </a:xfrm>
            <a:custGeom>
              <a:avLst/>
              <a:gdLst/>
              <a:ahLst/>
              <a:cxnLst/>
              <a:rect l="l" t="t" r="r" b="b"/>
              <a:pathLst>
                <a:path w="956309">
                  <a:moveTo>
                    <a:pt x="0" y="0"/>
                  </a:moveTo>
                  <a:lnTo>
                    <a:pt x="956098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28508" y="1889318"/>
              <a:ext cx="105499" cy="81982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8130533" y="1770007"/>
            <a:ext cx="4933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latin typeface="Arial MT"/>
                <a:cs typeface="Arial MT"/>
              </a:rPr>
              <a:t>J(</a:t>
            </a:r>
            <a:r>
              <a:rPr sz="2000" spc="-20" dirty="0">
                <a:latin typeface="Microsoft Sans Serif"/>
                <a:cs typeface="Microsoft Sans Serif"/>
              </a:rPr>
              <a:t>Ө</a:t>
            </a:r>
            <a:r>
              <a:rPr sz="2000" spc="-20" dirty="0">
                <a:latin typeface="Arial MT"/>
                <a:cs typeface="Arial MT"/>
              </a:rPr>
              <a:t>)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43916" y="1574383"/>
            <a:ext cx="3098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 MT"/>
                <a:cs typeface="Arial MT"/>
              </a:rPr>
              <a:t>W</a:t>
            </a:r>
            <a:r>
              <a:rPr sz="1350" spc="-37" baseline="-33950" dirty="0">
                <a:latin typeface="Arial MT"/>
                <a:cs typeface="Arial MT"/>
              </a:rPr>
              <a:t>1</a:t>
            </a:r>
            <a:endParaRPr sz="1350" baseline="-3395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947411" y="1574383"/>
            <a:ext cx="2971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 MT"/>
                <a:cs typeface="Arial MT"/>
              </a:rPr>
              <a:t>W</a:t>
            </a:r>
            <a:r>
              <a:rPr sz="1350" spc="-37" baseline="-33950" dirty="0">
                <a:latin typeface="Arial MT"/>
                <a:cs typeface="Arial MT"/>
              </a:rPr>
              <a:t>2</a:t>
            </a:r>
            <a:endParaRPr sz="1350" baseline="-3395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336265" y="1506154"/>
            <a:ext cx="6444615" cy="672465"/>
            <a:chOff x="2336265" y="1506154"/>
            <a:chExt cx="6444615" cy="672465"/>
          </a:xfrm>
        </p:grpSpPr>
        <p:sp>
          <p:nvSpPr>
            <p:cNvPr id="20" name="object 20"/>
            <p:cNvSpPr/>
            <p:nvPr/>
          </p:nvSpPr>
          <p:spPr>
            <a:xfrm>
              <a:off x="6039512" y="1605871"/>
              <a:ext cx="2741295" cy="572770"/>
            </a:xfrm>
            <a:custGeom>
              <a:avLst/>
              <a:gdLst/>
              <a:ahLst/>
              <a:cxnLst/>
              <a:rect l="l" t="t" r="r" b="b"/>
              <a:pathLst>
                <a:path w="2741295" h="572769">
                  <a:moveTo>
                    <a:pt x="2741094" y="572698"/>
                  </a:moveTo>
                  <a:lnTo>
                    <a:pt x="0" y="572698"/>
                  </a:lnTo>
                  <a:lnTo>
                    <a:pt x="0" y="0"/>
                  </a:lnTo>
                  <a:lnTo>
                    <a:pt x="2741094" y="0"/>
                  </a:lnTo>
                  <a:lnTo>
                    <a:pt x="2741094" y="572698"/>
                  </a:lnTo>
                  <a:close/>
                </a:path>
              </a:pathLst>
            </a:custGeom>
            <a:solidFill>
              <a:srgbClr val="FFFD0A">
                <a:alpha val="4191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532917" y="1605871"/>
              <a:ext cx="2506980" cy="572770"/>
            </a:xfrm>
            <a:custGeom>
              <a:avLst/>
              <a:gdLst/>
              <a:ahLst/>
              <a:cxnLst/>
              <a:rect l="l" t="t" r="r" b="b"/>
              <a:pathLst>
                <a:path w="2506979" h="572769">
                  <a:moveTo>
                    <a:pt x="2506494" y="572698"/>
                  </a:moveTo>
                  <a:lnTo>
                    <a:pt x="0" y="572698"/>
                  </a:lnTo>
                  <a:lnTo>
                    <a:pt x="0" y="0"/>
                  </a:lnTo>
                  <a:lnTo>
                    <a:pt x="2506494" y="0"/>
                  </a:lnTo>
                  <a:lnTo>
                    <a:pt x="2506494" y="572698"/>
                  </a:lnTo>
                  <a:close/>
                </a:path>
              </a:pathLst>
            </a:custGeom>
            <a:solidFill>
              <a:srgbClr val="38FF0E">
                <a:alpha val="4191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336253" y="1506156"/>
              <a:ext cx="346710" cy="354330"/>
            </a:xfrm>
            <a:custGeom>
              <a:avLst/>
              <a:gdLst/>
              <a:ahLst/>
              <a:cxnLst/>
              <a:rect l="l" t="t" r="r" b="b"/>
              <a:pathLst>
                <a:path w="346710" h="354330">
                  <a:moveTo>
                    <a:pt x="346506" y="57759"/>
                  </a:moveTo>
                  <a:lnTo>
                    <a:pt x="329590" y="16916"/>
                  </a:lnTo>
                  <a:lnTo>
                    <a:pt x="288759" y="0"/>
                  </a:lnTo>
                  <a:lnTo>
                    <a:pt x="57759" y="0"/>
                  </a:lnTo>
                  <a:lnTo>
                    <a:pt x="35280" y="4546"/>
                  </a:lnTo>
                  <a:lnTo>
                    <a:pt x="16916" y="16916"/>
                  </a:lnTo>
                  <a:lnTo>
                    <a:pt x="4546" y="35280"/>
                  </a:lnTo>
                  <a:lnTo>
                    <a:pt x="0" y="57759"/>
                  </a:lnTo>
                  <a:lnTo>
                    <a:pt x="0" y="295948"/>
                  </a:lnTo>
                  <a:lnTo>
                    <a:pt x="4546" y="318427"/>
                  </a:lnTo>
                  <a:lnTo>
                    <a:pt x="16916" y="336791"/>
                  </a:lnTo>
                  <a:lnTo>
                    <a:pt x="35280" y="349161"/>
                  </a:lnTo>
                  <a:lnTo>
                    <a:pt x="57759" y="353707"/>
                  </a:lnTo>
                  <a:lnTo>
                    <a:pt x="288759" y="353707"/>
                  </a:lnTo>
                  <a:lnTo>
                    <a:pt x="311238" y="349161"/>
                  </a:lnTo>
                  <a:lnTo>
                    <a:pt x="329603" y="336791"/>
                  </a:lnTo>
                  <a:lnTo>
                    <a:pt x="341972" y="318427"/>
                  </a:lnTo>
                  <a:lnTo>
                    <a:pt x="346506" y="295948"/>
                  </a:lnTo>
                  <a:lnTo>
                    <a:pt x="346506" y="57759"/>
                  </a:lnTo>
                  <a:close/>
                </a:path>
              </a:pathLst>
            </a:custGeom>
            <a:solidFill>
              <a:srgbClr val="1D72FF">
                <a:alpha val="1884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3028794" y="2801844"/>
            <a:ext cx="5720080" cy="1492250"/>
            <a:chOff x="3028794" y="2801844"/>
            <a:chExt cx="5720080" cy="1492250"/>
          </a:xfrm>
        </p:grpSpPr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28794" y="3171743"/>
              <a:ext cx="3514717" cy="685798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587963" y="2811369"/>
              <a:ext cx="388620" cy="262255"/>
            </a:xfrm>
            <a:custGeom>
              <a:avLst/>
              <a:gdLst/>
              <a:ahLst/>
              <a:cxnLst/>
              <a:rect l="l" t="t" r="r" b="b"/>
              <a:pathLst>
                <a:path w="388620" h="262255">
                  <a:moveTo>
                    <a:pt x="388549" y="0"/>
                  </a:moveTo>
                  <a:lnTo>
                    <a:pt x="0" y="262174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06763" y="3037918"/>
              <a:ext cx="108324" cy="93499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5758104" y="3068726"/>
              <a:ext cx="2990850" cy="1225550"/>
            </a:xfrm>
            <a:custGeom>
              <a:avLst/>
              <a:gdLst/>
              <a:ahLst/>
              <a:cxnLst/>
              <a:rect l="l" t="t" r="r" b="b"/>
              <a:pathLst>
                <a:path w="2990850" h="1225550">
                  <a:moveTo>
                    <a:pt x="2990253" y="412026"/>
                  </a:moveTo>
                  <a:lnTo>
                    <a:pt x="2807995" y="412026"/>
                  </a:lnTo>
                  <a:lnTo>
                    <a:pt x="2807995" y="0"/>
                  </a:lnTo>
                  <a:lnTo>
                    <a:pt x="0" y="0"/>
                  </a:lnTo>
                  <a:lnTo>
                    <a:pt x="0" y="813295"/>
                  </a:lnTo>
                  <a:lnTo>
                    <a:pt x="182257" y="813295"/>
                  </a:lnTo>
                  <a:lnTo>
                    <a:pt x="182257" y="1225321"/>
                  </a:lnTo>
                  <a:lnTo>
                    <a:pt x="2990253" y="1225321"/>
                  </a:lnTo>
                  <a:lnTo>
                    <a:pt x="2990253" y="41202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/>
          <p:nvPr/>
        </p:nvSpPr>
        <p:spPr>
          <a:xfrm>
            <a:off x="4125341" y="3997316"/>
            <a:ext cx="761365" cy="86995"/>
          </a:xfrm>
          <a:custGeom>
            <a:avLst/>
            <a:gdLst/>
            <a:ahLst/>
            <a:cxnLst/>
            <a:rect l="l" t="t" r="r" b="b"/>
            <a:pathLst>
              <a:path w="761364" h="86995">
                <a:moveTo>
                  <a:pt x="760798" y="86699"/>
                </a:moveTo>
                <a:lnTo>
                  <a:pt x="0" y="86699"/>
                </a:lnTo>
                <a:lnTo>
                  <a:pt x="0" y="0"/>
                </a:lnTo>
                <a:lnTo>
                  <a:pt x="760798" y="0"/>
                </a:lnTo>
                <a:lnTo>
                  <a:pt x="760798" y="86699"/>
                </a:lnTo>
                <a:close/>
              </a:path>
            </a:pathLst>
          </a:custGeom>
          <a:solidFill>
            <a:srgbClr val="FFFD0A">
              <a:alpha val="419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072639" y="4000167"/>
            <a:ext cx="761365" cy="86995"/>
          </a:xfrm>
          <a:custGeom>
            <a:avLst/>
            <a:gdLst/>
            <a:ahLst/>
            <a:cxnLst/>
            <a:rect l="l" t="t" r="r" b="b"/>
            <a:pathLst>
              <a:path w="761364" h="86995">
                <a:moveTo>
                  <a:pt x="760798" y="86699"/>
                </a:moveTo>
                <a:lnTo>
                  <a:pt x="0" y="86699"/>
                </a:lnTo>
                <a:lnTo>
                  <a:pt x="0" y="0"/>
                </a:lnTo>
                <a:lnTo>
                  <a:pt x="760798" y="0"/>
                </a:lnTo>
                <a:lnTo>
                  <a:pt x="760798" y="86699"/>
                </a:lnTo>
                <a:close/>
              </a:path>
            </a:pathLst>
          </a:custGeom>
          <a:solidFill>
            <a:srgbClr val="38FF0E">
              <a:alpha val="419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3684716" y="2456454"/>
            <a:ext cx="15868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Apply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chain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rule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757992" y="2756619"/>
            <a:ext cx="479425" cy="330200"/>
            <a:chOff x="3757992" y="2756619"/>
            <a:chExt cx="479425" cy="330200"/>
          </a:xfrm>
        </p:grpSpPr>
        <p:sp>
          <p:nvSpPr>
            <p:cNvPr id="32" name="object 32"/>
            <p:cNvSpPr/>
            <p:nvPr/>
          </p:nvSpPr>
          <p:spPr>
            <a:xfrm>
              <a:off x="3839192" y="2766144"/>
              <a:ext cx="388620" cy="262255"/>
            </a:xfrm>
            <a:custGeom>
              <a:avLst/>
              <a:gdLst/>
              <a:ahLst/>
              <a:cxnLst/>
              <a:rect l="l" t="t" r="r" b="b"/>
              <a:pathLst>
                <a:path w="388620" h="262255">
                  <a:moveTo>
                    <a:pt x="388549" y="0"/>
                  </a:moveTo>
                  <a:lnTo>
                    <a:pt x="0" y="262174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57992" y="2992694"/>
              <a:ext cx="108324" cy="93499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5433493" y="2501678"/>
            <a:ext cx="15868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Apply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chain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rule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latin typeface="Roboto"/>
                <a:cs typeface="Roboto"/>
              </a:rPr>
              <a:t>Calculating</a:t>
            </a:r>
            <a:r>
              <a:rPr spc="-105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the</a:t>
            </a:r>
            <a:r>
              <a:rPr spc="-105" dirty="0">
                <a:latin typeface="Roboto"/>
                <a:cs typeface="Roboto"/>
              </a:rPr>
              <a:t> </a:t>
            </a:r>
            <a:r>
              <a:rPr spc="-20" dirty="0">
                <a:latin typeface="Roboto"/>
                <a:cs typeface="Roboto"/>
              </a:rPr>
              <a:t>Gradient:</a:t>
            </a:r>
            <a:r>
              <a:rPr spc="-100" dirty="0">
                <a:latin typeface="Roboto"/>
                <a:cs typeface="Roboto"/>
              </a:rPr>
              <a:t> </a:t>
            </a:r>
            <a:r>
              <a:rPr spc="-10" dirty="0">
                <a:latin typeface="Roboto"/>
                <a:cs typeface="Roboto"/>
              </a:rPr>
              <a:t>Backpropagation</a:t>
            </a:r>
          </a:p>
        </p:txBody>
      </p:sp>
      <p:sp>
        <p:nvSpPr>
          <p:cNvPr id="3" name="object 3"/>
          <p:cNvSpPr/>
          <p:nvPr/>
        </p:nvSpPr>
        <p:spPr>
          <a:xfrm>
            <a:off x="756828" y="1403179"/>
            <a:ext cx="1005840" cy="1005840"/>
          </a:xfrm>
          <a:custGeom>
            <a:avLst/>
            <a:gdLst/>
            <a:ahLst/>
            <a:cxnLst/>
            <a:rect l="l" t="t" r="r" b="b"/>
            <a:pathLst>
              <a:path w="1005839" h="1005839">
                <a:moveTo>
                  <a:pt x="502649" y="1005298"/>
                </a:moveTo>
                <a:lnTo>
                  <a:pt x="454240" y="1002997"/>
                </a:lnTo>
                <a:lnTo>
                  <a:pt x="407134" y="996234"/>
                </a:lnTo>
                <a:lnTo>
                  <a:pt x="361540" y="985220"/>
                </a:lnTo>
                <a:lnTo>
                  <a:pt x="317669" y="970167"/>
                </a:lnTo>
                <a:lnTo>
                  <a:pt x="275732" y="951283"/>
                </a:lnTo>
                <a:lnTo>
                  <a:pt x="235939" y="928781"/>
                </a:lnTo>
                <a:lnTo>
                  <a:pt x="198502" y="902870"/>
                </a:lnTo>
                <a:lnTo>
                  <a:pt x="163630" y="873762"/>
                </a:lnTo>
                <a:lnTo>
                  <a:pt x="131535" y="841667"/>
                </a:lnTo>
                <a:lnTo>
                  <a:pt x="102427" y="806795"/>
                </a:lnTo>
                <a:lnTo>
                  <a:pt x="76516" y="769358"/>
                </a:lnTo>
                <a:lnTo>
                  <a:pt x="54014" y="729565"/>
                </a:lnTo>
                <a:lnTo>
                  <a:pt x="35130" y="687628"/>
                </a:lnTo>
                <a:lnTo>
                  <a:pt x="20077" y="643757"/>
                </a:lnTo>
                <a:lnTo>
                  <a:pt x="9063" y="598163"/>
                </a:lnTo>
                <a:lnTo>
                  <a:pt x="2300" y="551057"/>
                </a:lnTo>
                <a:lnTo>
                  <a:pt x="0" y="502649"/>
                </a:lnTo>
                <a:lnTo>
                  <a:pt x="2300" y="454240"/>
                </a:lnTo>
                <a:lnTo>
                  <a:pt x="9063" y="407134"/>
                </a:lnTo>
                <a:lnTo>
                  <a:pt x="20077" y="361540"/>
                </a:lnTo>
                <a:lnTo>
                  <a:pt x="35130" y="317669"/>
                </a:lnTo>
                <a:lnTo>
                  <a:pt x="54014" y="275732"/>
                </a:lnTo>
                <a:lnTo>
                  <a:pt x="76516" y="235939"/>
                </a:lnTo>
                <a:lnTo>
                  <a:pt x="102427" y="198502"/>
                </a:lnTo>
                <a:lnTo>
                  <a:pt x="131535" y="163630"/>
                </a:lnTo>
                <a:lnTo>
                  <a:pt x="163630" y="131535"/>
                </a:lnTo>
                <a:lnTo>
                  <a:pt x="198502" y="102427"/>
                </a:lnTo>
                <a:lnTo>
                  <a:pt x="235939" y="76516"/>
                </a:lnTo>
                <a:lnTo>
                  <a:pt x="275732" y="54014"/>
                </a:lnTo>
                <a:lnTo>
                  <a:pt x="317669" y="35130"/>
                </a:lnTo>
                <a:lnTo>
                  <a:pt x="361540" y="20077"/>
                </a:lnTo>
                <a:lnTo>
                  <a:pt x="407134" y="9063"/>
                </a:lnTo>
                <a:lnTo>
                  <a:pt x="454240" y="2300"/>
                </a:lnTo>
                <a:lnTo>
                  <a:pt x="502649" y="0"/>
                </a:lnTo>
                <a:lnTo>
                  <a:pt x="552330" y="2459"/>
                </a:lnTo>
                <a:lnTo>
                  <a:pt x="601169" y="9747"/>
                </a:lnTo>
                <a:lnTo>
                  <a:pt x="648837" y="21727"/>
                </a:lnTo>
                <a:lnTo>
                  <a:pt x="695005" y="38261"/>
                </a:lnTo>
                <a:lnTo>
                  <a:pt x="739342" y="59215"/>
                </a:lnTo>
                <a:lnTo>
                  <a:pt x="781519" y="84450"/>
                </a:lnTo>
                <a:lnTo>
                  <a:pt x="821207" y="113831"/>
                </a:lnTo>
                <a:lnTo>
                  <a:pt x="858075" y="147222"/>
                </a:lnTo>
                <a:lnTo>
                  <a:pt x="891466" y="184090"/>
                </a:lnTo>
                <a:lnTo>
                  <a:pt x="920847" y="223778"/>
                </a:lnTo>
                <a:lnTo>
                  <a:pt x="946082" y="265956"/>
                </a:lnTo>
                <a:lnTo>
                  <a:pt x="967036" y="310293"/>
                </a:lnTo>
                <a:lnTo>
                  <a:pt x="983570" y="356461"/>
                </a:lnTo>
                <a:lnTo>
                  <a:pt x="995550" y="404129"/>
                </a:lnTo>
                <a:lnTo>
                  <a:pt x="1002838" y="452968"/>
                </a:lnTo>
                <a:lnTo>
                  <a:pt x="1005298" y="502649"/>
                </a:lnTo>
                <a:lnTo>
                  <a:pt x="1002997" y="551057"/>
                </a:lnTo>
                <a:lnTo>
                  <a:pt x="996234" y="598163"/>
                </a:lnTo>
                <a:lnTo>
                  <a:pt x="985221" y="643757"/>
                </a:lnTo>
                <a:lnTo>
                  <a:pt x="970167" y="687628"/>
                </a:lnTo>
                <a:lnTo>
                  <a:pt x="951284" y="729565"/>
                </a:lnTo>
                <a:lnTo>
                  <a:pt x="928782" y="769358"/>
                </a:lnTo>
                <a:lnTo>
                  <a:pt x="902871" y="806795"/>
                </a:lnTo>
                <a:lnTo>
                  <a:pt x="873763" y="841667"/>
                </a:lnTo>
                <a:lnTo>
                  <a:pt x="841668" y="873762"/>
                </a:lnTo>
                <a:lnTo>
                  <a:pt x="806796" y="902870"/>
                </a:lnTo>
                <a:lnTo>
                  <a:pt x="769359" y="928781"/>
                </a:lnTo>
                <a:lnTo>
                  <a:pt x="729566" y="951283"/>
                </a:lnTo>
                <a:lnTo>
                  <a:pt x="687629" y="970167"/>
                </a:lnTo>
                <a:lnTo>
                  <a:pt x="643758" y="985220"/>
                </a:lnTo>
                <a:lnTo>
                  <a:pt x="598164" y="996234"/>
                </a:lnTo>
                <a:lnTo>
                  <a:pt x="551057" y="1002997"/>
                </a:lnTo>
                <a:lnTo>
                  <a:pt x="502649" y="1005298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45228" y="1745870"/>
            <a:ext cx="241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800" spc="-37" baseline="-30092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800" baseline="-30092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039513" y="1459194"/>
            <a:ext cx="942340" cy="942340"/>
          </a:xfrm>
          <a:custGeom>
            <a:avLst/>
            <a:gdLst/>
            <a:ahLst/>
            <a:cxnLst/>
            <a:rect l="l" t="t" r="r" b="b"/>
            <a:pathLst>
              <a:path w="942340" h="942339">
                <a:moveTo>
                  <a:pt x="471149" y="942298"/>
                </a:moveTo>
                <a:lnTo>
                  <a:pt x="422978" y="939865"/>
                </a:lnTo>
                <a:lnTo>
                  <a:pt x="376198" y="932726"/>
                </a:lnTo>
                <a:lnTo>
                  <a:pt x="331047" y="921116"/>
                </a:lnTo>
                <a:lnTo>
                  <a:pt x="287760" y="905273"/>
                </a:lnTo>
                <a:lnTo>
                  <a:pt x="246575" y="885433"/>
                </a:lnTo>
                <a:lnTo>
                  <a:pt x="207729" y="861833"/>
                </a:lnTo>
                <a:lnTo>
                  <a:pt x="171458" y="834710"/>
                </a:lnTo>
                <a:lnTo>
                  <a:pt x="137999" y="804302"/>
                </a:lnTo>
                <a:lnTo>
                  <a:pt x="107590" y="770844"/>
                </a:lnTo>
                <a:lnTo>
                  <a:pt x="80467" y="734573"/>
                </a:lnTo>
                <a:lnTo>
                  <a:pt x="56866" y="695727"/>
                </a:lnTo>
                <a:lnTo>
                  <a:pt x="37026" y="654541"/>
                </a:lnTo>
                <a:lnTo>
                  <a:pt x="21182" y="611254"/>
                </a:lnTo>
                <a:lnTo>
                  <a:pt x="9572" y="566102"/>
                </a:lnTo>
                <a:lnTo>
                  <a:pt x="2432" y="519321"/>
                </a:lnTo>
                <a:lnTo>
                  <a:pt x="0" y="471149"/>
                </a:lnTo>
                <a:lnTo>
                  <a:pt x="2432" y="422976"/>
                </a:lnTo>
                <a:lnTo>
                  <a:pt x="9572" y="376195"/>
                </a:lnTo>
                <a:lnTo>
                  <a:pt x="21182" y="331043"/>
                </a:lnTo>
                <a:lnTo>
                  <a:pt x="37026" y="287756"/>
                </a:lnTo>
                <a:lnTo>
                  <a:pt x="56866" y="246570"/>
                </a:lnTo>
                <a:lnTo>
                  <a:pt x="80467" y="207724"/>
                </a:lnTo>
                <a:lnTo>
                  <a:pt x="107590" y="171454"/>
                </a:lnTo>
                <a:lnTo>
                  <a:pt x="137999" y="137995"/>
                </a:lnTo>
                <a:lnTo>
                  <a:pt x="171458" y="107587"/>
                </a:lnTo>
                <a:lnTo>
                  <a:pt x="207729" y="80464"/>
                </a:lnTo>
                <a:lnTo>
                  <a:pt x="246575" y="56864"/>
                </a:lnTo>
                <a:lnTo>
                  <a:pt x="287760" y="37025"/>
                </a:lnTo>
                <a:lnTo>
                  <a:pt x="331047" y="21181"/>
                </a:lnTo>
                <a:lnTo>
                  <a:pt x="376198" y="9572"/>
                </a:lnTo>
                <a:lnTo>
                  <a:pt x="422978" y="2432"/>
                </a:lnTo>
                <a:lnTo>
                  <a:pt x="471149" y="0"/>
                </a:lnTo>
                <a:lnTo>
                  <a:pt x="524309" y="3007"/>
                </a:lnTo>
                <a:lnTo>
                  <a:pt x="576384" y="11901"/>
                </a:lnTo>
                <a:lnTo>
                  <a:pt x="626910" y="26492"/>
                </a:lnTo>
                <a:lnTo>
                  <a:pt x="675426" y="46587"/>
                </a:lnTo>
                <a:lnTo>
                  <a:pt x="721471" y="71997"/>
                </a:lnTo>
                <a:lnTo>
                  <a:pt x="764582" y="102531"/>
                </a:lnTo>
                <a:lnTo>
                  <a:pt x="804298" y="137997"/>
                </a:lnTo>
                <a:lnTo>
                  <a:pt x="839761" y="177715"/>
                </a:lnTo>
                <a:lnTo>
                  <a:pt x="870293" y="220826"/>
                </a:lnTo>
                <a:lnTo>
                  <a:pt x="895704" y="266870"/>
                </a:lnTo>
                <a:lnTo>
                  <a:pt x="915801" y="315385"/>
                </a:lnTo>
                <a:lnTo>
                  <a:pt x="930394" y="365911"/>
                </a:lnTo>
                <a:lnTo>
                  <a:pt x="939290" y="417986"/>
                </a:lnTo>
                <a:lnTo>
                  <a:pt x="942298" y="471149"/>
                </a:lnTo>
                <a:lnTo>
                  <a:pt x="939865" y="519321"/>
                </a:lnTo>
                <a:lnTo>
                  <a:pt x="932725" y="566102"/>
                </a:lnTo>
                <a:lnTo>
                  <a:pt x="921115" y="611254"/>
                </a:lnTo>
                <a:lnTo>
                  <a:pt x="905271" y="654541"/>
                </a:lnTo>
                <a:lnTo>
                  <a:pt x="885431" y="695727"/>
                </a:lnTo>
                <a:lnTo>
                  <a:pt x="861830" y="734573"/>
                </a:lnTo>
                <a:lnTo>
                  <a:pt x="834707" y="770844"/>
                </a:lnTo>
                <a:lnTo>
                  <a:pt x="804298" y="804302"/>
                </a:lnTo>
                <a:lnTo>
                  <a:pt x="770839" y="834710"/>
                </a:lnTo>
                <a:lnTo>
                  <a:pt x="734569" y="861833"/>
                </a:lnTo>
                <a:lnTo>
                  <a:pt x="695722" y="885433"/>
                </a:lnTo>
                <a:lnTo>
                  <a:pt x="654537" y="905273"/>
                </a:lnTo>
                <a:lnTo>
                  <a:pt x="611251" y="921116"/>
                </a:lnTo>
                <a:lnTo>
                  <a:pt x="566099" y="932726"/>
                </a:lnTo>
                <a:lnTo>
                  <a:pt x="519319" y="939865"/>
                </a:lnTo>
                <a:lnTo>
                  <a:pt x="471149" y="942298"/>
                </a:lnTo>
                <a:close/>
              </a:path>
            </a:pathLst>
          </a:custGeom>
          <a:solidFill>
            <a:srgbClr val="6EA8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385442" y="1770383"/>
            <a:ext cx="263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1800" spc="-37" baseline="-30092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800" baseline="-30092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486043" y="1459194"/>
            <a:ext cx="942340" cy="942340"/>
          </a:xfrm>
          <a:custGeom>
            <a:avLst/>
            <a:gdLst/>
            <a:ahLst/>
            <a:cxnLst/>
            <a:rect l="l" t="t" r="r" b="b"/>
            <a:pathLst>
              <a:path w="942339" h="942339">
                <a:moveTo>
                  <a:pt x="471149" y="942298"/>
                </a:moveTo>
                <a:lnTo>
                  <a:pt x="422978" y="939865"/>
                </a:lnTo>
                <a:lnTo>
                  <a:pt x="376198" y="932726"/>
                </a:lnTo>
                <a:lnTo>
                  <a:pt x="331047" y="921116"/>
                </a:lnTo>
                <a:lnTo>
                  <a:pt x="287760" y="905273"/>
                </a:lnTo>
                <a:lnTo>
                  <a:pt x="246575" y="885433"/>
                </a:lnTo>
                <a:lnTo>
                  <a:pt x="207729" y="861833"/>
                </a:lnTo>
                <a:lnTo>
                  <a:pt x="171458" y="834710"/>
                </a:lnTo>
                <a:lnTo>
                  <a:pt x="137999" y="804302"/>
                </a:lnTo>
                <a:lnTo>
                  <a:pt x="107590" y="770844"/>
                </a:lnTo>
                <a:lnTo>
                  <a:pt x="80467" y="734573"/>
                </a:lnTo>
                <a:lnTo>
                  <a:pt x="56866" y="695727"/>
                </a:lnTo>
                <a:lnTo>
                  <a:pt x="37026" y="654541"/>
                </a:lnTo>
                <a:lnTo>
                  <a:pt x="21182" y="611254"/>
                </a:lnTo>
                <a:lnTo>
                  <a:pt x="9572" y="566102"/>
                </a:lnTo>
                <a:lnTo>
                  <a:pt x="2432" y="519321"/>
                </a:lnTo>
                <a:lnTo>
                  <a:pt x="0" y="471149"/>
                </a:lnTo>
                <a:lnTo>
                  <a:pt x="2432" y="422976"/>
                </a:lnTo>
                <a:lnTo>
                  <a:pt x="9572" y="376195"/>
                </a:lnTo>
                <a:lnTo>
                  <a:pt x="21182" y="331043"/>
                </a:lnTo>
                <a:lnTo>
                  <a:pt x="37026" y="287756"/>
                </a:lnTo>
                <a:lnTo>
                  <a:pt x="56866" y="246570"/>
                </a:lnTo>
                <a:lnTo>
                  <a:pt x="80467" y="207724"/>
                </a:lnTo>
                <a:lnTo>
                  <a:pt x="107590" y="171454"/>
                </a:lnTo>
                <a:lnTo>
                  <a:pt x="137999" y="137995"/>
                </a:lnTo>
                <a:lnTo>
                  <a:pt x="171458" y="107587"/>
                </a:lnTo>
                <a:lnTo>
                  <a:pt x="207729" y="80464"/>
                </a:lnTo>
                <a:lnTo>
                  <a:pt x="246575" y="56864"/>
                </a:lnTo>
                <a:lnTo>
                  <a:pt x="287760" y="37025"/>
                </a:lnTo>
                <a:lnTo>
                  <a:pt x="331047" y="21181"/>
                </a:lnTo>
                <a:lnTo>
                  <a:pt x="376198" y="9572"/>
                </a:lnTo>
                <a:lnTo>
                  <a:pt x="422978" y="2432"/>
                </a:lnTo>
                <a:lnTo>
                  <a:pt x="471149" y="0"/>
                </a:lnTo>
                <a:lnTo>
                  <a:pt x="524309" y="3007"/>
                </a:lnTo>
                <a:lnTo>
                  <a:pt x="576384" y="11901"/>
                </a:lnTo>
                <a:lnTo>
                  <a:pt x="626910" y="26492"/>
                </a:lnTo>
                <a:lnTo>
                  <a:pt x="675426" y="46587"/>
                </a:lnTo>
                <a:lnTo>
                  <a:pt x="721471" y="71997"/>
                </a:lnTo>
                <a:lnTo>
                  <a:pt x="764582" y="102531"/>
                </a:lnTo>
                <a:lnTo>
                  <a:pt x="804298" y="137997"/>
                </a:lnTo>
                <a:lnTo>
                  <a:pt x="839761" y="177715"/>
                </a:lnTo>
                <a:lnTo>
                  <a:pt x="870293" y="220826"/>
                </a:lnTo>
                <a:lnTo>
                  <a:pt x="895704" y="266870"/>
                </a:lnTo>
                <a:lnTo>
                  <a:pt x="915801" y="315385"/>
                </a:lnTo>
                <a:lnTo>
                  <a:pt x="930394" y="365911"/>
                </a:lnTo>
                <a:lnTo>
                  <a:pt x="939290" y="417986"/>
                </a:lnTo>
                <a:lnTo>
                  <a:pt x="942298" y="471149"/>
                </a:lnTo>
                <a:lnTo>
                  <a:pt x="939865" y="519321"/>
                </a:lnTo>
                <a:lnTo>
                  <a:pt x="932725" y="566102"/>
                </a:lnTo>
                <a:lnTo>
                  <a:pt x="921115" y="611254"/>
                </a:lnTo>
                <a:lnTo>
                  <a:pt x="905271" y="654541"/>
                </a:lnTo>
                <a:lnTo>
                  <a:pt x="885431" y="695727"/>
                </a:lnTo>
                <a:lnTo>
                  <a:pt x="861830" y="734573"/>
                </a:lnTo>
                <a:lnTo>
                  <a:pt x="834707" y="770844"/>
                </a:lnTo>
                <a:lnTo>
                  <a:pt x="804298" y="804302"/>
                </a:lnTo>
                <a:lnTo>
                  <a:pt x="770839" y="834710"/>
                </a:lnTo>
                <a:lnTo>
                  <a:pt x="734569" y="861833"/>
                </a:lnTo>
                <a:lnTo>
                  <a:pt x="695722" y="885433"/>
                </a:lnTo>
                <a:lnTo>
                  <a:pt x="654537" y="905273"/>
                </a:lnTo>
                <a:lnTo>
                  <a:pt x="611251" y="921116"/>
                </a:lnTo>
                <a:lnTo>
                  <a:pt x="566099" y="932726"/>
                </a:lnTo>
                <a:lnTo>
                  <a:pt x="519319" y="939865"/>
                </a:lnTo>
                <a:lnTo>
                  <a:pt x="471149" y="942298"/>
                </a:lnTo>
                <a:close/>
              </a:path>
            </a:pathLst>
          </a:custGeom>
          <a:solidFill>
            <a:srgbClr val="8E7C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831738" y="1770383"/>
            <a:ext cx="264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800" spc="-37" baseline="-30092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800" baseline="-30092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752601" y="1887811"/>
            <a:ext cx="6281420" cy="83820"/>
            <a:chOff x="1752601" y="1887811"/>
            <a:chExt cx="6281420" cy="83820"/>
          </a:xfrm>
        </p:grpSpPr>
        <p:sp>
          <p:nvSpPr>
            <p:cNvPr id="10" name="object 10"/>
            <p:cNvSpPr/>
            <p:nvPr/>
          </p:nvSpPr>
          <p:spPr>
            <a:xfrm>
              <a:off x="1762126" y="1905828"/>
              <a:ext cx="1609725" cy="23495"/>
            </a:xfrm>
            <a:custGeom>
              <a:avLst/>
              <a:gdLst/>
              <a:ahLst/>
              <a:cxnLst/>
              <a:rect l="l" t="t" r="r" b="b"/>
              <a:pathLst>
                <a:path w="1609725" h="23494">
                  <a:moveTo>
                    <a:pt x="0" y="0"/>
                  </a:moveTo>
                  <a:lnTo>
                    <a:pt x="1609516" y="22969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61668" y="1887811"/>
              <a:ext cx="105924" cy="819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428340" y="1930343"/>
              <a:ext cx="1497330" cy="0"/>
            </a:xfrm>
            <a:custGeom>
              <a:avLst/>
              <a:gdLst/>
              <a:ahLst/>
              <a:cxnLst/>
              <a:rect l="l" t="t" r="r" b="b"/>
              <a:pathLst>
                <a:path w="1497329">
                  <a:moveTo>
                    <a:pt x="0" y="0"/>
                  </a:moveTo>
                  <a:lnTo>
                    <a:pt x="1496996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15813" y="1889353"/>
              <a:ext cx="105499" cy="8197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981935" y="1930311"/>
              <a:ext cx="956310" cy="0"/>
            </a:xfrm>
            <a:custGeom>
              <a:avLst/>
              <a:gdLst/>
              <a:ahLst/>
              <a:cxnLst/>
              <a:rect l="l" t="t" r="r" b="b"/>
              <a:pathLst>
                <a:path w="956309">
                  <a:moveTo>
                    <a:pt x="0" y="0"/>
                  </a:moveTo>
                  <a:lnTo>
                    <a:pt x="956098" y="0"/>
                  </a:lnTo>
                </a:path>
              </a:pathLst>
            </a:custGeom>
            <a:ln w="19049">
              <a:solidFill>
                <a:srgbClr val="779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28508" y="1889318"/>
              <a:ext cx="105499" cy="81982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8130533" y="1770007"/>
            <a:ext cx="4933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latin typeface="Arial MT"/>
                <a:cs typeface="Arial MT"/>
              </a:rPr>
              <a:t>J(</a:t>
            </a:r>
            <a:r>
              <a:rPr sz="2000" spc="-20" dirty="0">
                <a:latin typeface="Microsoft Sans Serif"/>
                <a:cs typeface="Microsoft Sans Serif"/>
              </a:rPr>
              <a:t>Ө</a:t>
            </a:r>
            <a:r>
              <a:rPr sz="2000" spc="-20" dirty="0">
                <a:latin typeface="Arial MT"/>
                <a:cs typeface="Arial MT"/>
              </a:rPr>
              <a:t>)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56616" y="1574383"/>
            <a:ext cx="2971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 MT"/>
                <a:cs typeface="Arial MT"/>
              </a:rPr>
              <a:t>W</a:t>
            </a:r>
            <a:r>
              <a:rPr sz="1350" spc="-37" baseline="-33950" dirty="0">
                <a:latin typeface="Arial MT"/>
                <a:cs typeface="Arial MT"/>
              </a:rPr>
              <a:t>1</a:t>
            </a:r>
            <a:endParaRPr sz="1350" baseline="-3395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947411" y="1574383"/>
            <a:ext cx="2971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 MT"/>
                <a:cs typeface="Arial MT"/>
              </a:rPr>
              <a:t>W</a:t>
            </a:r>
            <a:r>
              <a:rPr sz="1350" spc="-37" baseline="-33950" dirty="0">
                <a:latin typeface="Arial MT"/>
                <a:cs typeface="Arial MT"/>
              </a:rPr>
              <a:t>2</a:t>
            </a:r>
            <a:endParaRPr sz="1350" baseline="-3395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026322" y="1506154"/>
            <a:ext cx="7754620" cy="672465"/>
            <a:chOff x="1026322" y="1506154"/>
            <a:chExt cx="7754620" cy="672465"/>
          </a:xfrm>
        </p:grpSpPr>
        <p:sp>
          <p:nvSpPr>
            <p:cNvPr id="20" name="object 20"/>
            <p:cNvSpPr/>
            <p:nvPr/>
          </p:nvSpPr>
          <p:spPr>
            <a:xfrm>
              <a:off x="6039512" y="1605871"/>
              <a:ext cx="2741295" cy="572770"/>
            </a:xfrm>
            <a:custGeom>
              <a:avLst/>
              <a:gdLst/>
              <a:ahLst/>
              <a:cxnLst/>
              <a:rect l="l" t="t" r="r" b="b"/>
              <a:pathLst>
                <a:path w="2741295" h="572769">
                  <a:moveTo>
                    <a:pt x="2741094" y="572698"/>
                  </a:moveTo>
                  <a:lnTo>
                    <a:pt x="0" y="572698"/>
                  </a:lnTo>
                  <a:lnTo>
                    <a:pt x="0" y="0"/>
                  </a:lnTo>
                  <a:lnTo>
                    <a:pt x="2741094" y="0"/>
                  </a:lnTo>
                  <a:lnTo>
                    <a:pt x="2741094" y="572698"/>
                  </a:lnTo>
                  <a:close/>
                </a:path>
              </a:pathLst>
            </a:custGeom>
            <a:solidFill>
              <a:srgbClr val="FFFD0A">
                <a:alpha val="4191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532917" y="1605871"/>
              <a:ext cx="2506980" cy="572770"/>
            </a:xfrm>
            <a:custGeom>
              <a:avLst/>
              <a:gdLst/>
              <a:ahLst/>
              <a:cxnLst/>
              <a:rect l="l" t="t" r="r" b="b"/>
              <a:pathLst>
                <a:path w="2506979" h="572769">
                  <a:moveTo>
                    <a:pt x="2506494" y="572698"/>
                  </a:moveTo>
                  <a:lnTo>
                    <a:pt x="0" y="572698"/>
                  </a:lnTo>
                  <a:lnTo>
                    <a:pt x="0" y="0"/>
                  </a:lnTo>
                  <a:lnTo>
                    <a:pt x="2506494" y="0"/>
                  </a:lnTo>
                  <a:lnTo>
                    <a:pt x="2506494" y="572698"/>
                  </a:lnTo>
                  <a:close/>
                </a:path>
              </a:pathLst>
            </a:custGeom>
            <a:solidFill>
              <a:srgbClr val="38FF0E">
                <a:alpha val="4191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026322" y="1605871"/>
              <a:ext cx="2506980" cy="572770"/>
            </a:xfrm>
            <a:custGeom>
              <a:avLst/>
              <a:gdLst/>
              <a:ahLst/>
              <a:cxnLst/>
              <a:rect l="l" t="t" r="r" b="b"/>
              <a:pathLst>
                <a:path w="2506979" h="572769">
                  <a:moveTo>
                    <a:pt x="2506494" y="572698"/>
                  </a:moveTo>
                  <a:lnTo>
                    <a:pt x="0" y="572698"/>
                  </a:lnTo>
                  <a:lnTo>
                    <a:pt x="0" y="0"/>
                  </a:lnTo>
                  <a:lnTo>
                    <a:pt x="2506494" y="0"/>
                  </a:lnTo>
                  <a:lnTo>
                    <a:pt x="2506494" y="572698"/>
                  </a:lnTo>
                  <a:close/>
                </a:path>
              </a:pathLst>
            </a:custGeom>
            <a:solidFill>
              <a:srgbClr val="0DFFED">
                <a:alpha val="4191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336254" y="1506156"/>
              <a:ext cx="346710" cy="354330"/>
            </a:xfrm>
            <a:custGeom>
              <a:avLst/>
              <a:gdLst/>
              <a:ahLst/>
              <a:cxnLst/>
              <a:rect l="l" t="t" r="r" b="b"/>
              <a:pathLst>
                <a:path w="346710" h="354330">
                  <a:moveTo>
                    <a:pt x="346506" y="57759"/>
                  </a:moveTo>
                  <a:lnTo>
                    <a:pt x="329590" y="16916"/>
                  </a:lnTo>
                  <a:lnTo>
                    <a:pt x="288759" y="0"/>
                  </a:lnTo>
                  <a:lnTo>
                    <a:pt x="57759" y="0"/>
                  </a:lnTo>
                  <a:lnTo>
                    <a:pt x="35280" y="4546"/>
                  </a:lnTo>
                  <a:lnTo>
                    <a:pt x="16916" y="16916"/>
                  </a:lnTo>
                  <a:lnTo>
                    <a:pt x="4546" y="35280"/>
                  </a:lnTo>
                  <a:lnTo>
                    <a:pt x="0" y="57759"/>
                  </a:lnTo>
                  <a:lnTo>
                    <a:pt x="0" y="295948"/>
                  </a:lnTo>
                  <a:lnTo>
                    <a:pt x="4546" y="318427"/>
                  </a:lnTo>
                  <a:lnTo>
                    <a:pt x="16916" y="336791"/>
                  </a:lnTo>
                  <a:lnTo>
                    <a:pt x="35280" y="349161"/>
                  </a:lnTo>
                  <a:lnTo>
                    <a:pt x="57759" y="353707"/>
                  </a:lnTo>
                  <a:lnTo>
                    <a:pt x="288759" y="353707"/>
                  </a:lnTo>
                  <a:lnTo>
                    <a:pt x="311238" y="349161"/>
                  </a:lnTo>
                  <a:lnTo>
                    <a:pt x="329603" y="336791"/>
                  </a:lnTo>
                  <a:lnTo>
                    <a:pt x="341972" y="318427"/>
                  </a:lnTo>
                  <a:lnTo>
                    <a:pt x="346506" y="295948"/>
                  </a:lnTo>
                  <a:lnTo>
                    <a:pt x="346506" y="57759"/>
                  </a:lnTo>
                  <a:close/>
                </a:path>
              </a:pathLst>
            </a:custGeom>
            <a:solidFill>
              <a:srgbClr val="1D72FF">
                <a:alpha val="1884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3028794" y="2801844"/>
            <a:ext cx="3514725" cy="1056005"/>
            <a:chOff x="3028794" y="2801844"/>
            <a:chExt cx="3514725" cy="1056005"/>
          </a:xfrm>
        </p:grpSpPr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28794" y="3171743"/>
              <a:ext cx="3514717" cy="685798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587963" y="2811369"/>
              <a:ext cx="388620" cy="262255"/>
            </a:xfrm>
            <a:custGeom>
              <a:avLst/>
              <a:gdLst/>
              <a:ahLst/>
              <a:cxnLst/>
              <a:rect l="l" t="t" r="r" b="b"/>
              <a:pathLst>
                <a:path w="388620" h="262255">
                  <a:moveTo>
                    <a:pt x="388549" y="0"/>
                  </a:moveTo>
                  <a:lnTo>
                    <a:pt x="0" y="262174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06763" y="3037918"/>
              <a:ext cx="108324" cy="93499"/>
            </a:xfrm>
            <a:prstGeom prst="rect">
              <a:avLst/>
            </a:prstGeom>
          </p:spPr>
        </p:pic>
      </p:grpSp>
      <p:sp>
        <p:nvSpPr>
          <p:cNvPr id="28" name="object 28"/>
          <p:cNvSpPr/>
          <p:nvPr/>
        </p:nvSpPr>
        <p:spPr>
          <a:xfrm>
            <a:off x="4125341" y="3997316"/>
            <a:ext cx="761365" cy="86995"/>
          </a:xfrm>
          <a:custGeom>
            <a:avLst/>
            <a:gdLst/>
            <a:ahLst/>
            <a:cxnLst/>
            <a:rect l="l" t="t" r="r" b="b"/>
            <a:pathLst>
              <a:path w="761364" h="86995">
                <a:moveTo>
                  <a:pt x="760798" y="86699"/>
                </a:moveTo>
                <a:lnTo>
                  <a:pt x="0" y="86699"/>
                </a:lnTo>
                <a:lnTo>
                  <a:pt x="0" y="0"/>
                </a:lnTo>
                <a:lnTo>
                  <a:pt x="760798" y="0"/>
                </a:lnTo>
                <a:lnTo>
                  <a:pt x="760798" y="86699"/>
                </a:lnTo>
                <a:close/>
              </a:path>
            </a:pathLst>
          </a:custGeom>
          <a:solidFill>
            <a:srgbClr val="FFFD0A">
              <a:alpha val="419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072639" y="4000167"/>
            <a:ext cx="761365" cy="86995"/>
          </a:xfrm>
          <a:custGeom>
            <a:avLst/>
            <a:gdLst/>
            <a:ahLst/>
            <a:cxnLst/>
            <a:rect l="l" t="t" r="r" b="b"/>
            <a:pathLst>
              <a:path w="761364" h="86995">
                <a:moveTo>
                  <a:pt x="760798" y="86699"/>
                </a:moveTo>
                <a:lnTo>
                  <a:pt x="0" y="86699"/>
                </a:lnTo>
                <a:lnTo>
                  <a:pt x="0" y="0"/>
                </a:lnTo>
                <a:lnTo>
                  <a:pt x="760798" y="0"/>
                </a:lnTo>
                <a:lnTo>
                  <a:pt x="760798" y="86699"/>
                </a:lnTo>
                <a:close/>
              </a:path>
            </a:pathLst>
          </a:custGeom>
          <a:solidFill>
            <a:srgbClr val="38FF0E">
              <a:alpha val="419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940362" y="3997316"/>
            <a:ext cx="761365" cy="86995"/>
          </a:xfrm>
          <a:custGeom>
            <a:avLst/>
            <a:gdLst/>
            <a:ahLst/>
            <a:cxnLst/>
            <a:rect l="l" t="t" r="r" b="b"/>
            <a:pathLst>
              <a:path w="761365" h="86995">
                <a:moveTo>
                  <a:pt x="760798" y="86699"/>
                </a:moveTo>
                <a:lnTo>
                  <a:pt x="0" y="86699"/>
                </a:lnTo>
                <a:lnTo>
                  <a:pt x="0" y="0"/>
                </a:lnTo>
                <a:lnTo>
                  <a:pt x="760798" y="0"/>
                </a:lnTo>
                <a:lnTo>
                  <a:pt x="760798" y="86699"/>
                </a:lnTo>
                <a:close/>
              </a:path>
            </a:pathLst>
          </a:custGeom>
          <a:solidFill>
            <a:srgbClr val="0DFFED">
              <a:alpha val="4156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3684716" y="2456454"/>
            <a:ext cx="15868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Apply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chain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rule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757992" y="2756619"/>
            <a:ext cx="479425" cy="330200"/>
            <a:chOff x="3757992" y="2756619"/>
            <a:chExt cx="479425" cy="330200"/>
          </a:xfrm>
        </p:grpSpPr>
        <p:sp>
          <p:nvSpPr>
            <p:cNvPr id="33" name="object 33"/>
            <p:cNvSpPr/>
            <p:nvPr/>
          </p:nvSpPr>
          <p:spPr>
            <a:xfrm>
              <a:off x="3839192" y="2766144"/>
              <a:ext cx="388620" cy="262255"/>
            </a:xfrm>
            <a:custGeom>
              <a:avLst/>
              <a:gdLst/>
              <a:ahLst/>
              <a:cxnLst/>
              <a:rect l="l" t="t" r="r" b="b"/>
              <a:pathLst>
                <a:path w="388620" h="262255">
                  <a:moveTo>
                    <a:pt x="388549" y="0"/>
                  </a:moveTo>
                  <a:lnTo>
                    <a:pt x="0" y="262174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57992" y="2992694"/>
              <a:ext cx="108324" cy="93499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5433493" y="2501678"/>
            <a:ext cx="15868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Apply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chain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rule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09855" y="2142836"/>
            <a:ext cx="59207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Roboto"/>
                <a:cs typeface="Roboto"/>
              </a:rPr>
              <a:t>Training</a:t>
            </a:r>
            <a:r>
              <a:rPr b="1" spc="-15" dirty="0">
                <a:latin typeface="Roboto"/>
                <a:cs typeface="Roboto"/>
              </a:rPr>
              <a:t> </a:t>
            </a:r>
            <a:r>
              <a:rPr b="1" dirty="0">
                <a:latin typeface="Roboto"/>
                <a:cs typeface="Roboto"/>
              </a:rPr>
              <a:t>Neural</a:t>
            </a:r>
            <a:r>
              <a:rPr b="1" spc="-10" dirty="0">
                <a:latin typeface="Roboto"/>
                <a:cs typeface="Roboto"/>
              </a:rPr>
              <a:t> </a:t>
            </a:r>
            <a:r>
              <a:rPr b="1" dirty="0">
                <a:latin typeface="Roboto"/>
                <a:cs typeface="Roboto"/>
              </a:rPr>
              <a:t>Networks</a:t>
            </a:r>
            <a:r>
              <a:rPr b="1" spc="-10" dirty="0">
                <a:latin typeface="Roboto"/>
                <a:cs typeface="Roboto"/>
              </a:rPr>
              <a:t> </a:t>
            </a:r>
            <a:r>
              <a:rPr b="1" dirty="0">
                <a:latin typeface="Roboto"/>
                <a:cs typeface="Roboto"/>
              </a:rPr>
              <a:t>In</a:t>
            </a:r>
            <a:r>
              <a:rPr b="1" spc="-10" dirty="0">
                <a:latin typeface="Roboto"/>
                <a:cs typeface="Roboto"/>
              </a:rPr>
              <a:t> Practice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Roboto"/>
                <a:cs typeface="Roboto"/>
              </a:rPr>
              <a:t>Loss</a:t>
            </a:r>
            <a:r>
              <a:rPr spc="-85" dirty="0">
                <a:latin typeface="Roboto"/>
                <a:cs typeface="Roboto"/>
              </a:rPr>
              <a:t> </a:t>
            </a:r>
            <a:r>
              <a:rPr spc="-20" dirty="0">
                <a:latin typeface="Roboto"/>
                <a:cs typeface="Roboto"/>
              </a:rPr>
              <a:t>function</a:t>
            </a:r>
            <a:r>
              <a:rPr spc="-80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can</a:t>
            </a:r>
            <a:r>
              <a:rPr spc="-85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be</a:t>
            </a:r>
            <a:r>
              <a:rPr spc="-80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difficult</a:t>
            </a:r>
            <a:r>
              <a:rPr spc="-80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to</a:t>
            </a:r>
            <a:r>
              <a:rPr spc="-85" dirty="0">
                <a:latin typeface="Roboto"/>
                <a:cs typeface="Roboto"/>
              </a:rPr>
              <a:t> </a:t>
            </a:r>
            <a:r>
              <a:rPr spc="-10" dirty="0">
                <a:latin typeface="Roboto"/>
                <a:cs typeface="Roboto"/>
              </a:rPr>
              <a:t>optimize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92469" y="1502396"/>
            <a:ext cx="3887592" cy="2650244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Roboto"/>
                <a:cs typeface="Roboto"/>
              </a:rPr>
              <a:t>Loss</a:t>
            </a:r>
            <a:r>
              <a:rPr spc="-85" dirty="0">
                <a:latin typeface="Roboto"/>
                <a:cs typeface="Roboto"/>
              </a:rPr>
              <a:t> </a:t>
            </a:r>
            <a:r>
              <a:rPr spc="-20" dirty="0">
                <a:latin typeface="Roboto"/>
                <a:cs typeface="Roboto"/>
              </a:rPr>
              <a:t>function</a:t>
            </a:r>
            <a:r>
              <a:rPr spc="-80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can</a:t>
            </a:r>
            <a:r>
              <a:rPr spc="-85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be</a:t>
            </a:r>
            <a:r>
              <a:rPr spc="-80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difficult</a:t>
            </a:r>
            <a:r>
              <a:rPr spc="-80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to</a:t>
            </a:r>
            <a:r>
              <a:rPr spc="-85" dirty="0">
                <a:latin typeface="Roboto"/>
                <a:cs typeface="Roboto"/>
              </a:rPr>
              <a:t> </a:t>
            </a:r>
            <a:r>
              <a:rPr spc="-10" dirty="0">
                <a:latin typeface="Roboto"/>
                <a:cs typeface="Roboto"/>
              </a:rPr>
              <a:t>optimize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15146" y="2691880"/>
            <a:ext cx="1435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Update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Rule: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78891" y="2467432"/>
            <a:ext cx="2009770" cy="647686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Roboto"/>
                <a:cs typeface="Roboto"/>
              </a:rPr>
              <a:t>Loss</a:t>
            </a:r>
            <a:r>
              <a:rPr spc="-85" dirty="0">
                <a:latin typeface="Roboto"/>
                <a:cs typeface="Roboto"/>
              </a:rPr>
              <a:t> </a:t>
            </a:r>
            <a:r>
              <a:rPr spc="-20" dirty="0">
                <a:latin typeface="Roboto"/>
                <a:cs typeface="Roboto"/>
              </a:rPr>
              <a:t>function</a:t>
            </a:r>
            <a:r>
              <a:rPr spc="-80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can</a:t>
            </a:r>
            <a:r>
              <a:rPr spc="-85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be</a:t>
            </a:r>
            <a:r>
              <a:rPr spc="-80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difficult</a:t>
            </a:r>
            <a:r>
              <a:rPr spc="-80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to</a:t>
            </a:r>
            <a:r>
              <a:rPr spc="-85" dirty="0">
                <a:latin typeface="Roboto"/>
                <a:cs typeface="Roboto"/>
              </a:rPr>
              <a:t> </a:t>
            </a:r>
            <a:r>
              <a:rPr spc="-10" dirty="0">
                <a:latin typeface="Roboto"/>
                <a:cs typeface="Roboto"/>
              </a:rPr>
              <a:t>optimize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178891" y="2019395"/>
            <a:ext cx="2009775" cy="1096010"/>
            <a:chOff x="4178891" y="2019395"/>
            <a:chExt cx="2009775" cy="1096010"/>
          </a:xfrm>
        </p:grpSpPr>
        <p:sp>
          <p:nvSpPr>
            <p:cNvPr id="4" name="object 4"/>
            <p:cNvSpPr/>
            <p:nvPr/>
          </p:nvSpPr>
          <p:spPr>
            <a:xfrm>
              <a:off x="5214714" y="2675119"/>
              <a:ext cx="267970" cy="304800"/>
            </a:xfrm>
            <a:custGeom>
              <a:avLst/>
              <a:gdLst/>
              <a:ahLst/>
              <a:cxnLst/>
              <a:rect l="l" t="t" r="r" b="b"/>
              <a:pathLst>
                <a:path w="267970" h="304800">
                  <a:moveTo>
                    <a:pt x="222999" y="304799"/>
                  </a:moveTo>
                  <a:lnTo>
                    <a:pt x="44599" y="304799"/>
                  </a:lnTo>
                  <a:lnTo>
                    <a:pt x="27242" y="301293"/>
                  </a:lnTo>
                  <a:lnTo>
                    <a:pt x="13065" y="291733"/>
                  </a:lnTo>
                  <a:lnTo>
                    <a:pt x="3505" y="277556"/>
                  </a:lnTo>
                  <a:lnTo>
                    <a:pt x="0" y="260199"/>
                  </a:lnTo>
                  <a:lnTo>
                    <a:pt x="0" y="44599"/>
                  </a:lnTo>
                  <a:lnTo>
                    <a:pt x="3505" y="27242"/>
                  </a:lnTo>
                  <a:lnTo>
                    <a:pt x="13088" y="13049"/>
                  </a:lnTo>
                  <a:lnTo>
                    <a:pt x="27242" y="3505"/>
                  </a:lnTo>
                  <a:lnTo>
                    <a:pt x="44599" y="0"/>
                  </a:lnTo>
                  <a:lnTo>
                    <a:pt x="222999" y="0"/>
                  </a:lnTo>
                  <a:lnTo>
                    <a:pt x="260100" y="19849"/>
                  </a:lnTo>
                  <a:lnTo>
                    <a:pt x="267599" y="44599"/>
                  </a:lnTo>
                  <a:lnTo>
                    <a:pt x="267599" y="260199"/>
                  </a:lnTo>
                  <a:lnTo>
                    <a:pt x="264093" y="277556"/>
                  </a:lnTo>
                  <a:lnTo>
                    <a:pt x="254533" y="291733"/>
                  </a:lnTo>
                  <a:lnTo>
                    <a:pt x="240356" y="301293"/>
                  </a:lnTo>
                  <a:lnTo>
                    <a:pt x="222999" y="304799"/>
                  </a:lnTo>
                  <a:close/>
                </a:path>
              </a:pathLst>
            </a:custGeom>
            <a:solidFill>
              <a:srgbClr val="1D72FF">
                <a:alpha val="1884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1464" y="2028920"/>
              <a:ext cx="627380" cy="569595"/>
            </a:xfrm>
            <a:custGeom>
              <a:avLst/>
              <a:gdLst/>
              <a:ahLst/>
              <a:cxnLst/>
              <a:rect l="l" t="t" r="r" b="b"/>
              <a:pathLst>
                <a:path w="627379" h="569594">
                  <a:moveTo>
                    <a:pt x="627273" y="0"/>
                  </a:moveTo>
                  <a:lnTo>
                    <a:pt x="0" y="569373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07939" y="2565469"/>
              <a:ext cx="104199" cy="10044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78891" y="2467432"/>
              <a:ext cx="2009770" cy="64768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214714" y="2675119"/>
              <a:ext cx="267970" cy="304800"/>
            </a:xfrm>
            <a:custGeom>
              <a:avLst/>
              <a:gdLst/>
              <a:ahLst/>
              <a:cxnLst/>
              <a:rect l="l" t="t" r="r" b="b"/>
              <a:pathLst>
                <a:path w="267970" h="304800">
                  <a:moveTo>
                    <a:pt x="222999" y="304799"/>
                  </a:moveTo>
                  <a:lnTo>
                    <a:pt x="44599" y="304799"/>
                  </a:lnTo>
                  <a:lnTo>
                    <a:pt x="27242" y="301293"/>
                  </a:lnTo>
                  <a:lnTo>
                    <a:pt x="13065" y="291733"/>
                  </a:lnTo>
                  <a:lnTo>
                    <a:pt x="3505" y="277556"/>
                  </a:lnTo>
                  <a:lnTo>
                    <a:pt x="0" y="260199"/>
                  </a:lnTo>
                  <a:lnTo>
                    <a:pt x="0" y="44599"/>
                  </a:lnTo>
                  <a:lnTo>
                    <a:pt x="3505" y="27242"/>
                  </a:lnTo>
                  <a:lnTo>
                    <a:pt x="13088" y="13049"/>
                  </a:lnTo>
                  <a:lnTo>
                    <a:pt x="27242" y="3505"/>
                  </a:lnTo>
                  <a:lnTo>
                    <a:pt x="44599" y="0"/>
                  </a:lnTo>
                  <a:lnTo>
                    <a:pt x="222999" y="0"/>
                  </a:lnTo>
                  <a:lnTo>
                    <a:pt x="260100" y="19849"/>
                  </a:lnTo>
                  <a:lnTo>
                    <a:pt x="267599" y="44599"/>
                  </a:lnTo>
                  <a:lnTo>
                    <a:pt x="267599" y="260199"/>
                  </a:lnTo>
                  <a:lnTo>
                    <a:pt x="264093" y="277556"/>
                  </a:lnTo>
                  <a:lnTo>
                    <a:pt x="254533" y="291733"/>
                  </a:lnTo>
                  <a:lnTo>
                    <a:pt x="240356" y="301293"/>
                  </a:lnTo>
                  <a:lnTo>
                    <a:pt x="222999" y="304799"/>
                  </a:lnTo>
                  <a:close/>
                </a:path>
              </a:pathLst>
            </a:custGeom>
            <a:solidFill>
              <a:srgbClr val="1D72FF">
                <a:alpha val="1884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915146" y="2691880"/>
            <a:ext cx="1435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Update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Rule: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25940" y="1661550"/>
            <a:ext cx="31451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How</a:t>
            </a:r>
            <a:r>
              <a:rPr sz="18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to</a:t>
            </a:r>
            <a:r>
              <a:rPr sz="18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Choose</a:t>
            </a:r>
            <a:r>
              <a:rPr sz="18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Learning</a:t>
            </a:r>
            <a:r>
              <a:rPr sz="18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Rate?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latin typeface="Roboto"/>
                <a:cs typeface="Roboto"/>
              </a:rPr>
              <a:t>Learning</a:t>
            </a:r>
            <a:r>
              <a:rPr spc="-90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Rate</a:t>
            </a:r>
            <a:r>
              <a:rPr spc="-90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&amp;</a:t>
            </a:r>
            <a:r>
              <a:rPr spc="-90" dirty="0">
                <a:latin typeface="Roboto"/>
                <a:cs typeface="Roboto"/>
              </a:rPr>
              <a:t> </a:t>
            </a:r>
            <a:r>
              <a:rPr spc="-10" dirty="0">
                <a:latin typeface="Roboto"/>
                <a:cs typeface="Roboto"/>
              </a:rPr>
              <a:t>Optimization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8" y="1216356"/>
            <a:ext cx="2417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Small</a:t>
            </a:r>
            <a:r>
              <a:rPr sz="1800" spc="-8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Learning</a:t>
            </a:r>
            <a:r>
              <a:rPr sz="1800" spc="-8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Roboto"/>
                <a:cs typeface="Roboto"/>
              </a:rPr>
              <a:t>Rate</a:t>
            </a:r>
            <a:endParaRPr sz="1800">
              <a:latin typeface="Roboto"/>
              <a:cs typeface="Robo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47324" y="1688521"/>
            <a:ext cx="5309235" cy="2862580"/>
            <a:chOff x="447324" y="1688521"/>
            <a:chExt cx="5309235" cy="28625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0948" y="1874830"/>
              <a:ext cx="5125537" cy="260188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47324" y="1688521"/>
              <a:ext cx="2650490" cy="2862580"/>
            </a:xfrm>
            <a:custGeom>
              <a:avLst/>
              <a:gdLst/>
              <a:ahLst/>
              <a:cxnLst/>
              <a:rect l="l" t="t" r="r" b="b"/>
              <a:pathLst>
                <a:path w="2650490" h="2862579">
                  <a:moveTo>
                    <a:pt x="2650494" y="2862294"/>
                  </a:moveTo>
                  <a:lnTo>
                    <a:pt x="0" y="2862294"/>
                  </a:lnTo>
                  <a:lnTo>
                    <a:pt x="0" y="0"/>
                  </a:lnTo>
                  <a:lnTo>
                    <a:pt x="2650494" y="0"/>
                  </a:lnTo>
                  <a:lnTo>
                    <a:pt x="2650494" y="28622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latin typeface="Roboto"/>
                <a:cs typeface="Roboto"/>
              </a:rPr>
              <a:t>Learning</a:t>
            </a:r>
            <a:r>
              <a:rPr spc="-90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Rate</a:t>
            </a:r>
            <a:r>
              <a:rPr spc="-90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&amp;</a:t>
            </a:r>
            <a:r>
              <a:rPr spc="-90" dirty="0">
                <a:latin typeface="Roboto"/>
                <a:cs typeface="Roboto"/>
              </a:rPr>
              <a:t> </a:t>
            </a:r>
            <a:r>
              <a:rPr spc="-10" dirty="0">
                <a:latin typeface="Roboto"/>
                <a:cs typeface="Roboto"/>
              </a:rPr>
              <a:t>Optimization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8" y="1216356"/>
            <a:ext cx="2289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Large</a:t>
            </a:r>
            <a:r>
              <a:rPr sz="1800" spc="-8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learning</a:t>
            </a:r>
            <a:r>
              <a:rPr sz="1800" spc="-8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Roboto"/>
                <a:cs typeface="Roboto"/>
              </a:rPr>
              <a:t>rate</a:t>
            </a:r>
            <a:endParaRPr sz="1800">
              <a:latin typeface="Roboto"/>
              <a:cs typeface="Robo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000343" y="1688521"/>
            <a:ext cx="5509895" cy="2862580"/>
            <a:chOff x="3000343" y="1688521"/>
            <a:chExt cx="5509895" cy="28625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00343" y="1874830"/>
              <a:ext cx="5125537" cy="260188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561363" y="1688521"/>
              <a:ext cx="2948940" cy="2862580"/>
            </a:xfrm>
            <a:custGeom>
              <a:avLst/>
              <a:gdLst/>
              <a:ahLst/>
              <a:cxnLst/>
              <a:rect l="l" t="t" r="r" b="b"/>
              <a:pathLst>
                <a:path w="2948940" h="2862579">
                  <a:moveTo>
                    <a:pt x="2948394" y="2862294"/>
                  </a:moveTo>
                  <a:lnTo>
                    <a:pt x="0" y="2862294"/>
                  </a:lnTo>
                  <a:lnTo>
                    <a:pt x="0" y="0"/>
                  </a:lnTo>
                  <a:lnTo>
                    <a:pt x="2948394" y="0"/>
                  </a:lnTo>
                  <a:lnTo>
                    <a:pt x="2948394" y="28622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Roboto"/>
                <a:cs typeface="Roboto"/>
              </a:rPr>
              <a:t>How</a:t>
            </a:r>
            <a:r>
              <a:rPr spc="-75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to</a:t>
            </a:r>
            <a:r>
              <a:rPr spc="-70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deal</a:t>
            </a:r>
            <a:r>
              <a:rPr spc="-70" dirty="0">
                <a:latin typeface="Roboto"/>
                <a:cs typeface="Roboto"/>
              </a:rPr>
              <a:t> </a:t>
            </a:r>
            <a:r>
              <a:rPr spc="-10" dirty="0">
                <a:latin typeface="Roboto"/>
                <a:cs typeface="Roboto"/>
              </a:rPr>
              <a:t>with</a:t>
            </a:r>
            <a:r>
              <a:rPr spc="-70" dirty="0">
                <a:latin typeface="Roboto"/>
                <a:cs typeface="Roboto"/>
              </a:rPr>
              <a:t> </a:t>
            </a:r>
            <a:r>
              <a:rPr spc="-10" dirty="0">
                <a:latin typeface="Roboto"/>
                <a:cs typeface="Roboto"/>
              </a:rPr>
              <a:t>this?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4795" y="1216356"/>
            <a:ext cx="63220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9259" algn="l"/>
              </a:tabLst>
            </a:pPr>
            <a:r>
              <a:rPr sz="1800" spc="-25" dirty="0">
                <a:solidFill>
                  <a:srgbClr val="595959"/>
                </a:solidFill>
                <a:latin typeface="Roboto"/>
                <a:cs typeface="Roboto"/>
              </a:rPr>
              <a:t>1.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	Try</a:t>
            </a:r>
            <a:r>
              <a:rPr sz="1800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lots</a:t>
            </a:r>
            <a:r>
              <a:rPr sz="18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of</a:t>
            </a:r>
            <a:r>
              <a:rPr sz="1800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different</a:t>
            </a:r>
            <a:r>
              <a:rPr sz="18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learning</a:t>
            </a:r>
            <a:r>
              <a:rPr sz="18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rates</a:t>
            </a:r>
            <a:r>
              <a:rPr sz="1800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to</a:t>
            </a:r>
            <a:r>
              <a:rPr sz="18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see</a:t>
            </a:r>
            <a:r>
              <a:rPr sz="18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what</a:t>
            </a:r>
            <a:r>
              <a:rPr sz="1800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is</a:t>
            </a:r>
            <a:r>
              <a:rPr sz="18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40" dirty="0">
                <a:solidFill>
                  <a:srgbClr val="595959"/>
                </a:solidFill>
                <a:latin typeface="Roboto"/>
                <a:cs typeface="Roboto"/>
              </a:rPr>
              <a:t>‘just</a:t>
            </a:r>
            <a:r>
              <a:rPr sz="18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right’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Roboto"/>
                <a:cs typeface="Roboto"/>
              </a:rPr>
              <a:t>How</a:t>
            </a:r>
            <a:r>
              <a:rPr spc="-75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to</a:t>
            </a:r>
            <a:r>
              <a:rPr spc="-70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deal</a:t>
            </a:r>
            <a:r>
              <a:rPr spc="-70" dirty="0">
                <a:latin typeface="Roboto"/>
                <a:cs typeface="Roboto"/>
              </a:rPr>
              <a:t> </a:t>
            </a:r>
            <a:r>
              <a:rPr spc="-10" dirty="0">
                <a:latin typeface="Roboto"/>
                <a:cs typeface="Roboto"/>
              </a:rPr>
              <a:t>with</a:t>
            </a:r>
            <a:r>
              <a:rPr spc="-70" dirty="0">
                <a:latin typeface="Roboto"/>
                <a:cs typeface="Roboto"/>
              </a:rPr>
              <a:t> </a:t>
            </a:r>
            <a:r>
              <a:rPr spc="-10" dirty="0">
                <a:latin typeface="Roboto"/>
                <a:cs typeface="Roboto"/>
              </a:rPr>
              <a:t>this?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4795" y="1176351"/>
            <a:ext cx="6322060" cy="65405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429259" indent="-416559">
              <a:lnSpc>
                <a:spcPct val="100000"/>
              </a:lnSpc>
              <a:spcBef>
                <a:spcPts val="414"/>
              </a:spcBef>
              <a:buAutoNum type="arabicPeriod"/>
              <a:tabLst>
                <a:tab pos="429259" algn="l"/>
              </a:tabLst>
            </a:pP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Try</a:t>
            </a:r>
            <a:r>
              <a:rPr sz="1800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lots</a:t>
            </a:r>
            <a:r>
              <a:rPr sz="18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of</a:t>
            </a:r>
            <a:r>
              <a:rPr sz="1800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different</a:t>
            </a:r>
            <a:r>
              <a:rPr sz="18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learning</a:t>
            </a:r>
            <a:r>
              <a:rPr sz="18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rates</a:t>
            </a:r>
            <a:r>
              <a:rPr sz="1800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to</a:t>
            </a:r>
            <a:r>
              <a:rPr sz="18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see</a:t>
            </a:r>
            <a:r>
              <a:rPr sz="18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what</a:t>
            </a:r>
            <a:r>
              <a:rPr sz="1800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is</a:t>
            </a:r>
            <a:r>
              <a:rPr sz="18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40" dirty="0">
                <a:solidFill>
                  <a:srgbClr val="595959"/>
                </a:solidFill>
                <a:latin typeface="Roboto"/>
                <a:cs typeface="Roboto"/>
              </a:rPr>
              <a:t>‘just</a:t>
            </a:r>
            <a:r>
              <a:rPr sz="18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right’</a:t>
            </a:r>
            <a:endParaRPr sz="1800">
              <a:latin typeface="Roboto"/>
              <a:cs typeface="Roboto"/>
            </a:endParaRPr>
          </a:p>
          <a:p>
            <a:pPr marL="429259" indent="-416559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429259" algn="l"/>
              </a:tabLst>
            </a:pP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Do</a:t>
            </a:r>
            <a:r>
              <a:rPr sz="18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8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smarter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Roboto"/>
                <a:cs typeface="Roboto"/>
              </a:rPr>
              <a:t>How</a:t>
            </a:r>
            <a:r>
              <a:rPr spc="-75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to</a:t>
            </a:r>
            <a:r>
              <a:rPr spc="-70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deal</a:t>
            </a:r>
            <a:r>
              <a:rPr spc="-70" dirty="0">
                <a:latin typeface="Roboto"/>
                <a:cs typeface="Roboto"/>
              </a:rPr>
              <a:t> </a:t>
            </a:r>
            <a:r>
              <a:rPr spc="-10" dirty="0">
                <a:latin typeface="Roboto"/>
                <a:cs typeface="Roboto"/>
              </a:rPr>
              <a:t>with</a:t>
            </a:r>
            <a:r>
              <a:rPr spc="-70" dirty="0">
                <a:latin typeface="Roboto"/>
                <a:cs typeface="Roboto"/>
              </a:rPr>
              <a:t> </a:t>
            </a:r>
            <a:r>
              <a:rPr spc="-10" dirty="0">
                <a:latin typeface="Roboto"/>
                <a:cs typeface="Roboto"/>
              </a:rPr>
              <a:t>this?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5754" y="1176351"/>
            <a:ext cx="6331585" cy="65405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438784" indent="-417195">
              <a:lnSpc>
                <a:spcPct val="100000"/>
              </a:lnSpc>
              <a:spcBef>
                <a:spcPts val="414"/>
              </a:spcBef>
              <a:buAutoNum type="arabicPeriod"/>
              <a:tabLst>
                <a:tab pos="438784" algn="l"/>
              </a:tabLst>
            </a:pP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Try</a:t>
            </a:r>
            <a:r>
              <a:rPr sz="1800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lots</a:t>
            </a:r>
            <a:r>
              <a:rPr sz="18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of</a:t>
            </a:r>
            <a:r>
              <a:rPr sz="1800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different</a:t>
            </a:r>
            <a:r>
              <a:rPr sz="18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learning</a:t>
            </a:r>
            <a:r>
              <a:rPr sz="18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rates</a:t>
            </a:r>
            <a:r>
              <a:rPr sz="1800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to</a:t>
            </a:r>
            <a:r>
              <a:rPr sz="18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see</a:t>
            </a:r>
            <a:r>
              <a:rPr sz="18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what</a:t>
            </a:r>
            <a:r>
              <a:rPr sz="1800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is</a:t>
            </a:r>
            <a:r>
              <a:rPr sz="18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40" dirty="0">
                <a:solidFill>
                  <a:srgbClr val="595959"/>
                </a:solidFill>
                <a:latin typeface="Roboto"/>
                <a:cs typeface="Roboto"/>
              </a:rPr>
              <a:t>‘just</a:t>
            </a:r>
            <a:r>
              <a:rPr sz="18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right’</a:t>
            </a:r>
            <a:endParaRPr sz="1800">
              <a:latin typeface="Roboto"/>
              <a:cs typeface="Roboto"/>
            </a:endParaRPr>
          </a:p>
          <a:p>
            <a:pPr marL="438784" indent="-426084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438784" algn="l"/>
              </a:tabLst>
            </a:pPr>
            <a:r>
              <a:rPr sz="1800" b="1" dirty="0">
                <a:solidFill>
                  <a:srgbClr val="595959"/>
                </a:solidFill>
                <a:latin typeface="Roboto"/>
                <a:cs typeface="Roboto"/>
              </a:rPr>
              <a:t>Do</a:t>
            </a:r>
            <a:r>
              <a:rPr sz="1800" b="1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b="1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800" b="1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b="1" dirty="0">
                <a:solidFill>
                  <a:srgbClr val="595959"/>
                </a:solidFill>
                <a:latin typeface="Roboto"/>
                <a:cs typeface="Roboto"/>
              </a:rPr>
              <a:t>smarter</a:t>
            </a:r>
            <a:r>
              <a:rPr sz="1800" b="1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b="1" dirty="0">
                <a:solidFill>
                  <a:srgbClr val="595959"/>
                </a:solidFill>
                <a:latin typeface="Roboto"/>
                <a:cs typeface="Roboto"/>
              </a:rPr>
              <a:t>:</a:t>
            </a:r>
            <a:r>
              <a:rPr sz="1800" b="1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b="1" dirty="0">
                <a:solidFill>
                  <a:srgbClr val="595959"/>
                </a:solidFill>
                <a:latin typeface="Roboto"/>
                <a:cs typeface="Roboto"/>
              </a:rPr>
              <a:t>Adaptive</a:t>
            </a:r>
            <a:r>
              <a:rPr sz="1800" b="1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b="1" dirty="0">
                <a:solidFill>
                  <a:srgbClr val="595959"/>
                </a:solidFill>
                <a:latin typeface="Roboto"/>
                <a:cs typeface="Roboto"/>
              </a:rPr>
              <a:t>Learning</a:t>
            </a:r>
            <a:r>
              <a:rPr sz="1800" b="1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b="1" spc="-20" dirty="0">
                <a:solidFill>
                  <a:srgbClr val="595959"/>
                </a:solidFill>
                <a:latin typeface="Roboto"/>
                <a:cs typeface="Roboto"/>
              </a:rPr>
              <a:t>Rate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Roboto"/>
                <a:cs typeface="Roboto"/>
              </a:rPr>
              <a:t>Adaptive</a:t>
            </a:r>
            <a:r>
              <a:rPr spc="-130" dirty="0">
                <a:latin typeface="Roboto"/>
                <a:cs typeface="Roboto"/>
              </a:rPr>
              <a:t> </a:t>
            </a:r>
            <a:r>
              <a:rPr spc="-20" dirty="0">
                <a:latin typeface="Roboto"/>
                <a:cs typeface="Roboto"/>
              </a:rPr>
              <a:t>Learning</a:t>
            </a:r>
            <a:r>
              <a:rPr spc="-125" dirty="0">
                <a:latin typeface="Roboto"/>
                <a:cs typeface="Roboto"/>
              </a:rPr>
              <a:t> </a:t>
            </a:r>
            <a:r>
              <a:rPr spc="-20" dirty="0">
                <a:latin typeface="Roboto"/>
                <a:cs typeface="Roboto"/>
              </a:rPr>
              <a:t>Rate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8" y="1176351"/>
            <a:ext cx="4927600" cy="165290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14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Learning</a:t>
            </a:r>
            <a:r>
              <a:rPr sz="1800" spc="-8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rate</a:t>
            </a:r>
            <a:r>
              <a:rPr sz="1800" spc="-7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is</a:t>
            </a:r>
            <a:r>
              <a:rPr sz="1800" spc="-7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no</a:t>
            </a:r>
            <a:r>
              <a:rPr sz="1800" spc="-7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longer</a:t>
            </a:r>
            <a:r>
              <a:rPr sz="1800" spc="-6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fixed</a:t>
            </a:r>
            <a:endParaRPr sz="1800">
              <a:latin typeface="Roboto"/>
              <a:cs typeface="Roboto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8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be</a:t>
            </a:r>
            <a:r>
              <a:rPr sz="18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made</a:t>
            </a:r>
            <a:r>
              <a:rPr sz="18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larger</a:t>
            </a:r>
            <a:r>
              <a:rPr sz="18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or</a:t>
            </a:r>
            <a:r>
              <a:rPr sz="18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smaller</a:t>
            </a:r>
            <a:r>
              <a:rPr sz="18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Roboto"/>
                <a:cs typeface="Roboto"/>
              </a:rPr>
              <a:t>depending</a:t>
            </a:r>
            <a:r>
              <a:rPr sz="18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Roboto"/>
                <a:cs typeface="Roboto"/>
              </a:rPr>
              <a:t>on:</a:t>
            </a:r>
            <a:endParaRPr sz="1800">
              <a:latin typeface="Roboto"/>
              <a:cs typeface="Roboto"/>
            </a:endParaRPr>
          </a:p>
          <a:p>
            <a:pPr marL="836294" lvl="1" indent="-335915">
              <a:lnSpc>
                <a:spcPct val="100000"/>
              </a:lnSpc>
              <a:spcBef>
                <a:spcPts val="330"/>
              </a:spcBef>
              <a:buFont typeface="Arial MT"/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how</a:t>
            </a:r>
            <a:r>
              <a:rPr sz="1400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large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gradient</a:t>
            </a:r>
            <a:r>
              <a:rPr sz="1400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5" dirty="0">
                <a:solidFill>
                  <a:srgbClr val="595959"/>
                </a:solidFill>
                <a:latin typeface="Roboto"/>
                <a:cs typeface="Roboto"/>
              </a:rPr>
              <a:t>is</a:t>
            </a:r>
            <a:endParaRPr sz="1400">
              <a:latin typeface="Roboto"/>
              <a:cs typeface="Roboto"/>
            </a:endParaRPr>
          </a:p>
          <a:p>
            <a:pPr marL="836294" lvl="1" indent="-335915">
              <a:lnSpc>
                <a:spcPct val="100000"/>
              </a:lnSpc>
              <a:spcBef>
                <a:spcPts val="270"/>
              </a:spcBef>
              <a:buFont typeface="Arial MT"/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how</a:t>
            </a:r>
            <a:r>
              <a:rPr sz="14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fast</a:t>
            </a:r>
            <a:r>
              <a:rPr sz="14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learning</a:t>
            </a: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is</a:t>
            </a:r>
            <a:r>
              <a:rPr sz="14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happening</a:t>
            </a:r>
            <a:endParaRPr sz="1400">
              <a:latin typeface="Roboto"/>
              <a:cs typeface="Roboto"/>
            </a:endParaRPr>
          </a:p>
          <a:p>
            <a:pPr marL="836294" lvl="1" indent="-335915">
              <a:lnSpc>
                <a:spcPct val="100000"/>
              </a:lnSpc>
              <a:spcBef>
                <a:spcPts val="270"/>
              </a:spcBef>
              <a:buFont typeface="Arial MT"/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size</a:t>
            </a: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of</a:t>
            </a: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particular</a:t>
            </a:r>
            <a:r>
              <a:rPr sz="14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weights</a:t>
            </a:r>
            <a:endParaRPr sz="1400">
              <a:latin typeface="Roboto"/>
              <a:cs typeface="Roboto"/>
            </a:endParaRPr>
          </a:p>
          <a:p>
            <a:pPr marL="836294" lvl="1" indent="-335915">
              <a:lnSpc>
                <a:spcPct val="100000"/>
              </a:lnSpc>
              <a:spcBef>
                <a:spcPts val="270"/>
              </a:spcBef>
              <a:buFont typeface="Arial MT"/>
              <a:buChar char="○"/>
              <a:tabLst>
                <a:tab pos="836294" algn="l"/>
              </a:tabLst>
            </a:pPr>
            <a:r>
              <a:rPr sz="1400" spc="-25" dirty="0">
                <a:solidFill>
                  <a:srgbClr val="595959"/>
                </a:solidFill>
                <a:latin typeface="Roboto"/>
                <a:cs typeface="Roboto"/>
              </a:rPr>
              <a:t>etc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5248" y="1176351"/>
            <a:ext cx="1570355" cy="191135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14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spc="-20" dirty="0">
                <a:solidFill>
                  <a:srgbClr val="595959"/>
                </a:solidFill>
                <a:latin typeface="Roboto"/>
                <a:cs typeface="Roboto"/>
              </a:rPr>
              <a:t>ADAM</a:t>
            </a:r>
            <a:endParaRPr sz="1800">
              <a:latin typeface="Roboto"/>
              <a:cs typeface="Roboto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Momentum</a:t>
            </a:r>
            <a:endParaRPr sz="1800">
              <a:latin typeface="Roboto"/>
              <a:cs typeface="Roboto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spc="-25" dirty="0">
                <a:solidFill>
                  <a:srgbClr val="595959"/>
                </a:solidFill>
                <a:latin typeface="Roboto"/>
                <a:cs typeface="Roboto"/>
              </a:rPr>
              <a:t>NAG</a:t>
            </a:r>
            <a:endParaRPr sz="1800">
              <a:latin typeface="Roboto"/>
              <a:cs typeface="Roboto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Adagrad</a:t>
            </a:r>
            <a:endParaRPr sz="1800">
              <a:latin typeface="Roboto"/>
              <a:cs typeface="Roboto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Adadelta</a:t>
            </a:r>
            <a:endParaRPr sz="1800">
              <a:latin typeface="Roboto"/>
              <a:cs typeface="Roboto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RMSProp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4" y="3816675"/>
            <a:ext cx="79578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For</a:t>
            </a:r>
            <a:r>
              <a:rPr sz="1800" spc="1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details:</a:t>
            </a:r>
            <a:r>
              <a:rPr sz="1800" spc="1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check</a:t>
            </a:r>
            <a:r>
              <a:rPr sz="1800" spc="1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out</a:t>
            </a:r>
            <a:r>
              <a:rPr sz="1800" spc="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u="heavy" spc="-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http://sebastianruder.com/optimizing-</a:t>
            </a:r>
            <a:r>
              <a:rPr sz="1800" u="heavy" spc="-3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gradient-</a:t>
            </a:r>
            <a:r>
              <a:rPr sz="18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descent/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Roboto"/>
                <a:cs typeface="Roboto"/>
              </a:rPr>
              <a:t>Adaptive</a:t>
            </a:r>
            <a:r>
              <a:rPr spc="-135" dirty="0">
                <a:latin typeface="Roboto"/>
                <a:cs typeface="Roboto"/>
              </a:rPr>
              <a:t> </a:t>
            </a:r>
            <a:r>
              <a:rPr spc="-20" dirty="0">
                <a:latin typeface="Roboto"/>
                <a:cs typeface="Roboto"/>
              </a:rPr>
              <a:t>Learning</a:t>
            </a:r>
            <a:r>
              <a:rPr spc="-130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Rate</a:t>
            </a:r>
            <a:r>
              <a:rPr spc="-130" dirty="0">
                <a:latin typeface="Roboto"/>
                <a:cs typeface="Roboto"/>
              </a:rPr>
              <a:t> </a:t>
            </a:r>
            <a:r>
              <a:rPr spc="-10" dirty="0">
                <a:latin typeface="Roboto"/>
                <a:cs typeface="Roboto"/>
              </a:rPr>
              <a:t>Algorithms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Roboto"/>
                <a:cs typeface="Roboto"/>
              </a:rPr>
              <a:t>Escaping</a:t>
            </a:r>
            <a:r>
              <a:rPr spc="-140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Saddle</a:t>
            </a:r>
            <a:r>
              <a:rPr spc="-140" dirty="0">
                <a:latin typeface="Roboto"/>
                <a:cs typeface="Roboto"/>
              </a:rPr>
              <a:t> </a:t>
            </a:r>
            <a:r>
              <a:rPr spc="-10" dirty="0">
                <a:latin typeface="Roboto"/>
                <a:cs typeface="Roboto"/>
              </a:rPr>
              <a:t>Points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68549" y="1719396"/>
            <a:ext cx="3732791" cy="2765519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Roboto"/>
                <a:cs typeface="Roboto"/>
              </a:rPr>
              <a:t>Escaping</a:t>
            </a:r>
            <a:r>
              <a:rPr spc="-140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Saddle</a:t>
            </a:r>
            <a:r>
              <a:rPr spc="-140" dirty="0">
                <a:latin typeface="Roboto"/>
                <a:cs typeface="Roboto"/>
              </a:rPr>
              <a:t> </a:t>
            </a:r>
            <a:r>
              <a:rPr spc="-10" dirty="0">
                <a:latin typeface="Roboto"/>
                <a:cs typeface="Roboto"/>
              </a:rPr>
              <a:t>Points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87527" y="1207422"/>
            <a:ext cx="3719808" cy="3306493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422" y="1928524"/>
            <a:ext cx="6313805" cy="880744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160270" marR="5080" indent="-2148205">
              <a:lnSpc>
                <a:spcPct val="100400"/>
              </a:lnSpc>
              <a:spcBef>
                <a:spcPts val="85"/>
              </a:spcBef>
            </a:pPr>
            <a:r>
              <a:rPr b="1" dirty="0">
                <a:latin typeface="Roboto"/>
                <a:cs typeface="Roboto"/>
              </a:rPr>
              <a:t>Training</a:t>
            </a:r>
            <a:r>
              <a:rPr b="1" spc="-20" dirty="0">
                <a:latin typeface="Roboto"/>
                <a:cs typeface="Roboto"/>
              </a:rPr>
              <a:t> </a:t>
            </a:r>
            <a:r>
              <a:rPr b="1" dirty="0">
                <a:latin typeface="Roboto"/>
                <a:cs typeface="Roboto"/>
              </a:rPr>
              <a:t>Neural</a:t>
            </a:r>
            <a:r>
              <a:rPr b="1" spc="-15" dirty="0">
                <a:latin typeface="Roboto"/>
                <a:cs typeface="Roboto"/>
              </a:rPr>
              <a:t> </a:t>
            </a:r>
            <a:r>
              <a:rPr b="1" dirty="0">
                <a:latin typeface="Roboto"/>
                <a:cs typeface="Roboto"/>
              </a:rPr>
              <a:t>Networks</a:t>
            </a:r>
            <a:r>
              <a:rPr b="1" spc="-15" dirty="0">
                <a:latin typeface="Roboto"/>
                <a:cs typeface="Roboto"/>
              </a:rPr>
              <a:t> </a:t>
            </a:r>
            <a:r>
              <a:rPr b="1" dirty="0">
                <a:latin typeface="Roboto"/>
                <a:cs typeface="Roboto"/>
              </a:rPr>
              <a:t>In</a:t>
            </a:r>
            <a:r>
              <a:rPr b="1" spc="-15" dirty="0">
                <a:latin typeface="Roboto"/>
                <a:cs typeface="Roboto"/>
              </a:rPr>
              <a:t> </a:t>
            </a:r>
            <a:r>
              <a:rPr b="1" dirty="0">
                <a:latin typeface="Roboto"/>
                <a:cs typeface="Roboto"/>
              </a:rPr>
              <a:t>Practice</a:t>
            </a:r>
            <a:r>
              <a:rPr b="1" spc="-20" dirty="0">
                <a:latin typeface="Roboto"/>
                <a:cs typeface="Roboto"/>
              </a:rPr>
              <a:t> </a:t>
            </a:r>
            <a:r>
              <a:rPr b="1" spc="-25" dirty="0">
                <a:latin typeface="Roboto"/>
                <a:cs typeface="Roboto"/>
              </a:rPr>
              <a:t>2: </a:t>
            </a:r>
            <a:r>
              <a:rPr b="1" spc="-10" dirty="0">
                <a:latin typeface="Roboto"/>
                <a:cs typeface="Roboto"/>
              </a:rPr>
              <a:t>MiniBatches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Roboto"/>
                <a:cs typeface="Roboto"/>
              </a:rPr>
              <a:t>Why</a:t>
            </a:r>
            <a:r>
              <a:rPr spc="-105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is</a:t>
            </a:r>
            <a:r>
              <a:rPr spc="-105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it</a:t>
            </a:r>
            <a:r>
              <a:rPr spc="-95" dirty="0">
                <a:latin typeface="Roboto"/>
                <a:cs typeface="Roboto"/>
              </a:rPr>
              <a:t> </a:t>
            </a:r>
            <a:r>
              <a:rPr b="1" dirty="0">
                <a:latin typeface="Roboto"/>
                <a:cs typeface="Roboto"/>
              </a:rPr>
              <a:t>Stochastic</a:t>
            </a:r>
            <a:r>
              <a:rPr b="1" spc="-90" dirty="0">
                <a:latin typeface="Roboto"/>
                <a:cs typeface="Roboto"/>
              </a:rPr>
              <a:t> </a:t>
            </a:r>
            <a:r>
              <a:rPr spc="-20" dirty="0">
                <a:latin typeface="Roboto"/>
                <a:cs typeface="Roboto"/>
              </a:rPr>
              <a:t>Gradient</a:t>
            </a:r>
            <a:r>
              <a:rPr spc="-105" dirty="0">
                <a:latin typeface="Roboto"/>
                <a:cs typeface="Roboto"/>
              </a:rPr>
              <a:t> </a:t>
            </a:r>
            <a:r>
              <a:rPr spc="-10" dirty="0">
                <a:latin typeface="Roboto"/>
                <a:cs typeface="Roboto"/>
              </a:rPr>
              <a:t>Descent?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8" y="1176351"/>
            <a:ext cx="2428240" cy="65405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14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Initialize</a:t>
            </a:r>
            <a:r>
              <a:rPr sz="18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θ</a:t>
            </a:r>
            <a:r>
              <a:rPr sz="18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randomly</a:t>
            </a:r>
            <a:endParaRPr sz="1800">
              <a:latin typeface="Roboto"/>
              <a:cs typeface="Roboto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For</a:t>
            </a:r>
            <a:r>
              <a:rPr sz="18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N</a:t>
            </a:r>
            <a:r>
              <a:rPr sz="1800" spc="-1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Epochs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3191" y="1847036"/>
            <a:ext cx="2875915" cy="1229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7980" indent="-335280">
              <a:lnSpc>
                <a:spcPct val="100000"/>
              </a:lnSpc>
              <a:spcBef>
                <a:spcPts val="100"/>
              </a:spcBef>
              <a:buFont typeface="Arial MT"/>
              <a:buChar char="○"/>
              <a:tabLst>
                <a:tab pos="347980" algn="l"/>
              </a:tabLst>
            </a:pP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For</a:t>
            </a:r>
            <a:r>
              <a:rPr sz="14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each</a:t>
            </a:r>
            <a:r>
              <a:rPr sz="14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training</a:t>
            </a:r>
            <a:r>
              <a:rPr sz="14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example</a:t>
            </a:r>
            <a:r>
              <a:rPr sz="14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(x,</a:t>
            </a:r>
            <a:r>
              <a:rPr sz="14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5" dirty="0">
                <a:solidFill>
                  <a:srgbClr val="595959"/>
                </a:solidFill>
                <a:latin typeface="Roboto"/>
                <a:cs typeface="Roboto"/>
              </a:rPr>
              <a:t>y):</a:t>
            </a:r>
            <a:endParaRPr sz="14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535"/>
              </a:spcBef>
              <a:buClr>
                <a:srgbClr val="595959"/>
              </a:buClr>
              <a:buFont typeface="Arial MT"/>
              <a:buChar char="○"/>
            </a:pPr>
            <a:endParaRPr sz="1400">
              <a:latin typeface="Roboto"/>
              <a:cs typeface="Roboto"/>
            </a:endParaRPr>
          </a:p>
          <a:p>
            <a:pPr marL="805180" lvl="1" indent="-335280">
              <a:lnSpc>
                <a:spcPct val="100000"/>
              </a:lnSpc>
              <a:spcBef>
                <a:spcPts val="5"/>
              </a:spcBef>
              <a:buFont typeface="Arial MT"/>
              <a:buChar char="■"/>
              <a:tabLst>
                <a:tab pos="805180" algn="l"/>
              </a:tabLst>
            </a:pP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Compute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Loss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Gradient:</a:t>
            </a:r>
            <a:endParaRPr sz="1400">
              <a:latin typeface="Roboto"/>
              <a:cs typeface="Roboto"/>
            </a:endParaRPr>
          </a:p>
          <a:p>
            <a:pPr lvl="1">
              <a:lnSpc>
                <a:spcPct val="100000"/>
              </a:lnSpc>
              <a:spcBef>
                <a:spcPts val="535"/>
              </a:spcBef>
              <a:buClr>
                <a:srgbClr val="595959"/>
              </a:buClr>
              <a:buFont typeface="Arial MT"/>
              <a:buChar char="■"/>
            </a:pPr>
            <a:endParaRPr sz="1400">
              <a:latin typeface="Roboto"/>
              <a:cs typeface="Roboto"/>
            </a:endParaRPr>
          </a:p>
          <a:p>
            <a:pPr marL="805180" lvl="1" indent="-335280">
              <a:lnSpc>
                <a:spcPct val="100000"/>
              </a:lnSpc>
              <a:spcBef>
                <a:spcPts val="5"/>
              </a:spcBef>
              <a:buFont typeface="Arial MT"/>
              <a:buChar char="■"/>
              <a:tabLst>
                <a:tab pos="805180" algn="l"/>
              </a:tabLst>
            </a:pP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Update</a:t>
            </a:r>
            <a:r>
              <a:rPr sz="14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θ</a:t>
            </a:r>
            <a:r>
              <a:rPr sz="14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with</a:t>
            </a:r>
            <a:r>
              <a:rPr sz="14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update</a:t>
            </a:r>
            <a:r>
              <a:rPr sz="14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rule:</a:t>
            </a:r>
            <a:endParaRPr sz="1400">
              <a:latin typeface="Roboto"/>
              <a:cs typeface="Roboto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28605" y="1818946"/>
            <a:ext cx="3315376" cy="1823321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3811417" y="1898623"/>
            <a:ext cx="1083945" cy="969644"/>
            <a:chOff x="3811417" y="1898623"/>
            <a:chExt cx="1083945" cy="969644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16767" y="2263545"/>
              <a:ext cx="518598" cy="46399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811417" y="2123248"/>
              <a:ext cx="729615" cy="744855"/>
            </a:xfrm>
            <a:custGeom>
              <a:avLst/>
              <a:gdLst/>
              <a:ahLst/>
              <a:cxnLst/>
              <a:rect l="l" t="t" r="r" b="b"/>
              <a:pathLst>
                <a:path w="729614" h="744855">
                  <a:moveTo>
                    <a:pt x="607748" y="744596"/>
                  </a:moveTo>
                  <a:lnTo>
                    <a:pt x="121549" y="744596"/>
                  </a:lnTo>
                  <a:lnTo>
                    <a:pt x="74239" y="735043"/>
                  </a:lnTo>
                  <a:lnTo>
                    <a:pt x="35603" y="708992"/>
                  </a:lnTo>
                  <a:lnTo>
                    <a:pt x="9552" y="670356"/>
                  </a:lnTo>
                  <a:lnTo>
                    <a:pt x="0" y="623046"/>
                  </a:lnTo>
                  <a:lnTo>
                    <a:pt x="0" y="121552"/>
                  </a:lnTo>
                  <a:lnTo>
                    <a:pt x="9552" y="74238"/>
                  </a:lnTo>
                  <a:lnTo>
                    <a:pt x="35605" y="35599"/>
                  </a:lnTo>
                  <a:lnTo>
                    <a:pt x="74239" y="9552"/>
                  </a:lnTo>
                  <a:lnTo>
                    <a:pt x="121549" y="0"/>
                  </a:lnTo>
                  <a:lnTo>
                    <a:pt x="607748" y="0"/>
                  </a:lnTo>
                  <a:lnTo>
                    <a:pt x="654258" y="9251"/>
                  </a:lnTo>
                  <a:lnTo>
                    <a:pt x="693699" y="35601"/>
                  </a:lnTo>
                  <a:lnTo>
                    <a:pt x="720048" y="75036"/>
                  </a:lnTo>
                  <a:lnTo>
                    <a:pt x="729298" y="121552"/>
                  </a:lnTo>
                  <a:lnTo>
                    <a:pt x="729298" y="623046"/>
                  </a:lnTo>
                  <a:lnTo>
                    <a:pt x="719745" y="670356"/>
                  </a:lnTo>
                  <a:lnTo>
                    <a:pt x="693695" y="708992"/>
                  </a:lnTo>
                  <a:lnTo>
                    <a:pt x="655059" y="735043"/>
                  </a:lnTo>
                  <a:lnTo>
                    <a:pt x="607748" y="744596"/>
                  </a:lnTo>
                  <a:close/>
                </a:path>
              </a:pathLst>
            </a:custGeom>
            <a:solidFill>
              <a:srgbClr val="1D72FF">
                <a:alpha val="1884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94415" y="1908148"/>
              <a:ext cx="291465" cy="220979"/>
            </a:xfrm>
            <a:custGeom>
              <a:avLst/>
              <a:gdLst/>
              <a:ahLst/>
              <a:cxnLst/>
              <a:rect l="l" t="t" r="r" b="b"/>
              <a:pathLst>
                <a:path w="291464" h="220980">
                  <a:moveTo>
                    <a:pt x="290849" y="0"/>
                  </a:moveTo>
                  <a:lnTo>
                    <a:pt x="0" y="220704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16015" y="2094263"/>
              <a:ext cx="106949" cy="96374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06996" y="3278743"/>
            <a:ext cx="2009770" cy="647698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647696" y="1420755"/>
            <a:ext cx="1556385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254000" marR="5080" indent="-241935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 MT"/>
                <a:cs typeface="Arial MT"/>
              </a:rPr>
              <a:t>Only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estimate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of </a:t>
            </a:r>
            <a:r>
              <a:rPr sz="1400" dirty="0">
                <a:latin typeface="Arial MT"/>
                <a:cs typeface="Arial MT"/>
              </a:rPr>
              <a:t>true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gradient!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E73A9168-A29A-0CEE-BCD9-C01D82791031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590800" y="4716893"/>
            <a:ext cx="4179570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05"/>
              </a:lnSpc>
            </a:pPr>
            <a:r>
              <a:rPr lang="fr-FR" spc="-50" dirty="0"/>
              <a:t>ESILV</a:t>
            </a:r>
            <a:r>
              <a:rPr spc="-50" dirty="0"/>
              <a:t> </a:t>
            </a:r>
            <a:r>
              <a:rPr spc="-45" dirty="0"/>
              <a:t> </a:t>
            </a:r>
            <a:r>
              <a:rPr dirty="0">
                <a:solidFill>
                  <a:srgbClr val="0097A7"/>
                </a:solidFill>
              </a:rPr>
              <a:t>|</a:t>
            </a:r>
            <a:r>
              <a:rPr spc="-45" dirty="0">
                <a:solidFill>
                  <a:srgbClr val="0097A7"/>
                </a:solidFill>
              </a:rPr>
              <a:t> </a:t>
            </a:r>
            <a:r>
              <a:rPr spc="-10" dirty="0"/>
              <a:t>Intro</a:t>
            </a:r>
            <a:r>
              <a:rPr spc="-50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Deep</a:t>
            </a:r>
            <a:r>
              <a:rPr spc="-50" dirty="0"/>
              <a:t> </a:t>
            </a:r>
            <a:r>
              <a:rPr spc="-10" dirty="0"/>
              <a:t>Learning</a:t>
            </a:r>
            <a:r>
              <a:rPr spc="-40" dirty="0"/>
              <a:t> </a:t>
            </a:r>
            <a:r>
              <a:rPr dirty="0">
                <a:solidFill>
                  <a:srgbClr val="0097A7"/>
                </a:solidFill>
              </a:rPr>
              <a:t>|</a:t>
            </a:r>
            <a:r>
              <a:rPr spc="-50" dirty="0">
                <a:solidFill>
                  <a:srgbClr val="0097A7"/>
                </a:solidFill>
              </a:rPr>
              <a:t> </a:t>
            </a:r>
            <a:r>
              <a:rPr lang="fr-FR" spc="-50" dirty="0">
                <a:solidFill>
                  <a:srgbClr val="0097A7"/>
                </a:solidFill>
              </a:rPr>
              <a:t> </a:t>
            </a:r>
            <a:r>
              <a:rPr lang="fr-FR" spc="-50" dirty="0" err="1">
                <a:solidFill>
                  <a:srgbClr val="0097A7"/>
                </a:solidFill>
              </a:rPr>
              <a:t>K.Kadri</a:t>
            </a:r>
            <a:endParaRPr spc="-2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9848" y="1176351"/>
            <a:ext cx="4422140" cy="90995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404495" indent="-366395">
              <a:lnSpc>
                <a:spcPct val="100000"/>
              </a:lnSpc>
              <a:spcBef>
                <a:spcPts val="414"/>
              </a:spcBef>
              <a:buFont typeface="Arial MT"/>
              <a:buChar char="●"/>
              <a:tabLst>
                <a:tab pos="404495" algn="l"/>
              </a:tabLst>
            </a:pP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Initialize</a:t>
            </a:r>
            <a:r>
              <a:rPr sz="18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θ</a:t>
            </a:r>
            <a:r>
              <a:rPr sz="18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randomly</a:t>
            </a:r>
            <a:endParaRPr sz="1800">
              <a:latin typeface="Roboto"/>
              <a:cs typeface="Roboto"/>
            </a:endParaRPr>
          </a:p>
          <a:p>
            <a:pPr marL="404495" indent="-366395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404495" algn="l"/>
              </a:tabLst>
            </a:pP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For</a:t>
            </a:r>
            <a:r>
              <a:rPr sz="1800" spc="-2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N</a:t>
            </a:r>
            <a:r>
              <a:rPr sz="1800" spc="-1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Epochs</a:t>
            </a:r>
            <a:endParaRPr sz="1800">
              <a:latin typeface="Roboto"/>
              <a:cs typeface="Roboto"/>
            </a:endParaRPr>
          </a:p>
          <a:p>
            <a:pPr marL="861694" lvl="1" indent="-335915">
              <a:lnSpc>
                <a:spcPct val="100000"/>
              </a:lnSpc>
              <a:spcBef>
                <a:spcPts val="330"/>
              </a:spcBef>
              <a:buFont typeface="Arial MT"/>
              <a:buChar char="○"/>
              <a:tabLst>
                <a:tab pos="861694" algn="l"/>
              </a:tabLst>
            </a:pP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For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each</a:t>
            </a:r>
            <a:r>
              <a:rPr sz="14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training</a:t>
            </a:r>
            <a:r>
              <a:rPr sz="14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b="1" dirty="0">
                <a:solidFill>
                  <a:srgbClr val="1C4487"/>
                </a:solidFill>
                <a:latin typeface="Roboto"/>
                <a:cs typeface="Roboto"/>
              </a:rPr>
              <a:t>batch</a:t>
            </a:r>
            <a:r>
              <a:rPr sz="1400" b="1" spc="-50" dirty="0">
                <a:solidFill>
                  <a:srgbClr val="1C4487"/>
                </a:solidFill>
                <a:latin typeface="Roboto"/>
                <a:cs typeface="Roboto"/>
              </a:rPr>
              <a:t> </a:t>
            </a:r>
            <a:r>
              <a:rPr sz="1400" b="1" dirty="0">
                <a:solidFill>
                  <a:srgbClr val="1C4487"/>
                </a:solidFill>
                <a:latin typeface="Roboto"/>
                <a:cs typeface="Roboto"/>
              </a:rPr>
              <a:t>{(x0,</a:t>
            </a:r>
            <a:r>
              <a:rPr sz="1400" b="1" spc="-45" dirty="0">
                <a:solidFill>
                  <a:srgbClr val="1C4487"/>
                </a:solidFill>
                <a:latin typeface="Roboto"/>
                <a:cs typeface="Roboto"/>
              </a:rPr>
              <a:t> </a:t>
            </a:r>
            <a:r>
              <a:rPr sz="1400" b="1" dirty="0">
                <a:solidFill>
                  <a:srgbClr val="1C4487"/>
                </a:solidFill>
                <a:latin typeface="Roboto"/>
                <a:cs typeface="Roboto"/>
              </a:rPr>
              <a:t>y0),</a:t>
            </a:r>
            <a:r>
              <a:rPr sz="1400" b="1" spc="-50" dirty="0">
                <a:solidFill>
                  <a:srgbClr val="1C4487"/>
                </a:solidFill>
                <a:latin typeface="Roboto"/>
                <a:cs typeface="Roboto"/>
              </a:rPr>
              <a:t> </a:t>
            </a:r>
            <a:r>
              <a:rPr sz="1400" b="1" dirty="0">
                <a:solidFill>
                  <a:srgbClr val="1C4487"/>
                </a:solidFill>
                <a:latin typeface="Roboto"/>
                <a:cs typeface="Roboto"/>
              </a:rPr>
              <a:t>…</a:t>
            </a:r>
            <a:r>
              <a:rPr sz="1400" b="1" spc="-45" dirty="0">
                <a:solidFill>
                  <a:srgbClr val="1C4487"/>
                </a:solidFill>
                <a:latin typeface="Roboto"/>
                <a:cs typeface="Roboto"/>
              </a:rPr>
              <a:t> </a:t>
            </a:r>
            <a:r>
              <a:rPr sz="1400" b="1" dirty="0">
                <a:solidFill>
                  <a:srgbClr val="1C4487"/>
                </a:solidFill>
                <a:latin typeface="Roboto"/>
                <a:cs typeface="Roboto"/>
              </a:rPr>
              <a:t>,</a:t>
            </a:r>
            <a:r>
              <a:rPr sz="1400" b="1" spc="-50" dirty="0">
                <a:solidFill>
                  <a:srgbClr val="1C4487"/>
                </a:solidFill>
                <a:latin typeface="Roboto"/>
                <a:cs typeface="Roboto"/>
              </a:rPr>
              <a:t> </a:t>
            </a:r>
            <a:r>
              <a:rPr sz="1400" b="1" dirty="0">
                <a:solidFill>
                  <a:srgbClr val="1C4487"/>
                </a:solidFill>
                <a:latin typeface="Roboto"/>
                <a:cs typeface="Roboto"/>
              </a:rPr>
              <a:t>(x</a:t>
            </a:r>
            <a:r>
              <a:rPr sz="1200" b="1" baseline="-31250" dirty="0">
                <a:solidFill>
                  <a:srgbClr val="1C4487"/>
                </a:solidFill>
                <a:latin typeface="Roboto"/>
                <a:cs typeface="Roboto"/>
              </a:rPr>
              <a:t>B</a:t>
            </a:r>
            <a:r>
              <a:rPr sz="1400" b="1" dirty="0">
                <a:solidFill>
                  <a:srgbClr val="1C4487"/>
                </a:solidFill>
                <a:latin typeface="Roboto"/>
                <a:cs typeface="Roboto"/>
              </a:rPr>
              <a:t>,</a:t>
            </a:r>
            <a:r>
              <a:rPr sz="1400" b="1" spc="-45" dirty="0">
                <a:solidFill>
                  <a:srgbClr val="1C4487"/>
                </a:solidFill>
                <a:latin typeface="Roboto"/>
                <a:cs typeface="Roboto"/>
              </a:rPr>
              <a:t> </a:t>
            </a:r>
            <a:r>
              <a:rPr sz="1400" b="1" spc="-10" dirty="0">
                <a:solidFill>
                  <a:srgbClr val="1C4487"/>
                </a:solidFill>
                <a:latin typeface="Roboto"/>
                <a:cs typeface="Roboto"/>
              </a:rPr>
              <a:t>y</a:t>
            </a:r>
            <a:r>
              <a:rPr sz="1350" b="1" spc="-15" baseline="-30864" dirty="0">
                <a:solidFill>
                  <a:srgbClr val="1C4487"/>
                </a:solidFill>
                <a:latin typeface="Roboto"/>
                <a:cs typeface="Roboto"/>
              </a:rPr>
              <a:t>B</a:t>
            </a:r>
            <a:r>
              <a:rPr sz="1400" b="1" spc="-10" dirty="0">
                <a:solidFill>
                  <a:srgbClr val="1C4487"/>
                </a:solidFill>
                <a:latin typeface="Roboto"/>
                <a:cs typeface="Roboto"/>
              </a:rPr>
              <a:t>)}: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20394" y="2342335"/>
            <a:ext cx="2418715" cy="734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7980" indent="-335280">
              <a:lnSpc>
                <a:spcPct val="100000"/>
              </a:lnSpc>
              <a:spcBef>
                <a:spcPts val="100"/>
              </a:spcBef>
              <a:buFont typeface="Arial MT"/>
              <a:buChar char="■"/>
              <a:tabLst>
                <a:tab pos="347980" algn="l"/>
              </a:tabLst>
            </a:pP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Compute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Loss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Gradient:</a:t>
            </a:r>
            <a:endParaRPr sz="14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535"/>
              </a:spcBef>
              <a:buClr>
                <a:srgbClr val="595959"/>
              </a:buClr>
              <a:buFont typeface="Arial MT"/>
              <a:buChar char="■"/>
            </a:pPr>
            <a:endParaRPr sz="1400">
              <a:latin typeface="Roboto"/>
              <a:cs typeface="Roboto"/>
            </a:endParaRPr>
          </a:p>
          <a:p>
            <a:pPr marL="347980" indent="-335280">
              <a:lnSpc>
                <a:spcPct val="100000"/>
              </a:lnSpc>
              <a:spcBef>
                <a:spcPts val="5"/>
              </a:spcBef>
              <a:buFont typeface="Arial MT"/>
              <a:buChar char="■"/>
              <a:tabLst>
                <a:tab pos="347980" algn="l"/>
              </a:tabLst>
            </a:pP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Update</a:t>
            </a:r>
            <a:r>
              <a:rPr sz="14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θ</a:t>
            </a:r>
            <a:r>
              <a:rPr sz="14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with</a:t>
            </a:r>
            <a:r>
              <a:rPr sz="14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update</a:t>
            </a:r>
            <a:r>
              <a:rPr sz="14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rule: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>
                <a:latin typeface="Roboto"/>
                <a:cs typeface="Roboto"/>
              </a:rPr>
              <a:t>Minibatches</a:t>
            </a:r>
            <a:r>
              <a:rPr spc="-110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Reduce</a:t>
            </a:r>
            <a:r>
              <a:rPr spc="-105" dirty="0">
                <a:latin typeface="Roboto"/>
                <a:cs typeface="Roboto"/>
              </a:rPr>
              <a:t> </a:t>
            </a:r>
            <a:r>
              <a:rPr spc="-20" dirty="0">
                <a:latin typeface="Roboto"/>
                <a:cs typeface="Roboto"/>
              </a:rPr>
              <a:t>Gradient</a:t>
            </a:r>
            <a:r>
              <a:rPr spc="-110" dirty="0">
                <a:latin typeface="Roboto"/>
                <a:cs typeface="Roboto"/>
              </a:rPr>
              <a:t> </a:t>
            </a:r>
            <a:r>
              <a:rPr spc="-10" dirty="0">
                <a:latin typeface="Roboto"/>
                <a:cs typeface="Roboto"/>
              </a:rPr>
              <a:t>Variance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28605" y="1818946"/>
            <a:ext cx="3315376" cy="182332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6996" y="3278743"/>
            <a:ext cx="2009770" cy="647698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3811417" y="1823923"/>
            <a:ext cx="1927860" cy="1043940"/>
            <a:chOff x="3811417" y="1823923"/>
            <a:chExt cx="1927860" cy="104394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54242" y="2251495"/>
              <a:ext cx="1774111" cy="57269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811417" y="2123245"/>
              <a:ext cx="1927860" cy="744855"/>
            </a:xfrm>
            <a:custGeom>
              <a:avLst/>
              <a:gdLst/>
              <a:ahLst/>
              <a:cxnLst/>
              <a:rect l="l" t="t" r="r" b="b"/>
              <a:pathLst>
                <a:path w="1927860" h="744855">
                  <a:moveTo>
                    <a:pt x="1803396" y="744598"/>
                  </a:moveTo>
                  <a:lnTo>
                    <a:pt x="124099" y="744598"/>
                  </a:lnTo>
                  <a:lnTo>
                    <a:pt x="75789" y="734847"/>
                  </a:lnTo>
                  <a:lnTo>
                    <a:pt x="36343" y="708254"/>
                  </a:lnTo>
                  <a:lnTo>
                    <a:pt x="9750" y="668808"/>
                  </a:lnTo>
                  <a:lnTo>
                    <a:pt x="0" y="620498"/>
                  </a:lnTo>
                  <a:lnTo>
                    <a:pt x="0" y="124102"/>
                  </a:lnTo>
                  <a:lnTo>
                    <a:pt x="9750" y="75796"/>
                  </a:lnTo>
                  <a:lnTo>
                    <a:pt x="36345" y="36347"/>
                  </a:lnTo>
                  <a:lnTo>
                    <a:pt x="75789" y="9752"/>
                  </a:lnTo>
                  <a:lnTo>
                    <a:pt x="124099" y="0"/>
                  </a:lnTo>
                  <a:lnTo>
                    <a:pt x="1803396" y="0"/>
                  </a:lnTo>
                  <a:lnTo>
                    <a:pt x="1850880" y="9446"/>
                  </a:lnTo>
                  <a:lnTo>
                    <a:pt x="1891147" y="36348"/>
                  </a:lnTo>
                  <a:lnTo>
                    <a:pt x="1918049" y="76609"/>
                  </a:lnTo>
                  <a:lnTo>
                    <a:pt x="1927496" y="124102"/>
                  </a:lnTo>
                  <a:lnTo>
                    <a:pt x="1927496" y="620498"/>
                  </a:lnTo>
                  <a:lnTo>
                    <a:pt x="1917741" y="668808"/>
                  </a:lnTo>
                  <a:lnTo>
                    <a:pt x="1891143" y="708254"/>
                  </a:lnTo>
                  <a:lnTo>
                    <a:pt x="1851695" y="734847"/>
                  </a:lnTo>
                  <a:lnTo>
                    <a:pt x="1803396" y="744598"/>
                  </a:lnTo>
                  <a:close/>
                </a:path>
              </a:pathLst>
            </a:custGeom>
            <a:solidFill>
              <a:srgbClr val="1D72FF">
                <a:alpha val="1884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272014" y="1833448"/>
              <a:ext cx="291465" cy="220979"/>
            </a:xfrm>
            <a:custGeom>
              <a:avLst/>
              <a:gdLst/>
              <a:ahLst/>
              <a:cxnLst/>
              <a:rect l="l" t="t" r="r" b="b"/>
              <a:pathLst>
                <a:path w="291464" h="220980">
                  <a:moveTo>
                    <a:pt x="290849" y="0"/>
                  </a:moveTo>
                  <a:lnTo>
                    <a:pt x="0" y="220704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93614" y="2019563"/>
              <a:ext cx="106949" cy="96374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5522863" y="1346060"/>
            <a:ext cx="1161415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219710" marR="5080" indent="-207645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 MT"/>
                <a:cs typeface="Arial MT"/>
              </a:rPr>
              <a:t>More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accurate estimate!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31C5F34E-CB72-085B-9A10-10510740B990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590800" y="4716893"/>
            <a:ext cx="4179570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05"/>
              </a:lnSpc>
            </a:pPr>
            <a:r>
              <a:rPr lang="fr-FR" spc="-50" dirty="0"/>
              <a:t>ESILV</a:t>
            </a:r>
            <a:r>
              <a:rPr spc="-50" dirty="0"/>
              <a:t> </a:t>
            </a:r>
            <a:r>
              <a:rPr spc="-45" dirty="0"/>
              <a:t> </a:t>
            </a:r>
            <a:r>
              <a:rPr dirty="0">
                <a:solidFill>
                  <a:srgbClr val="0097A7"/>
                </a:solidFill>
              </a:rPr>
              <a:t>|</a:t>
            </a:r>
            <a:r>
              <a:rPr spc="-45" dirty="0">
                <a:solidFill>
                  <a:srgbClr val="0097A7"/>
                </a:solidFill>
              </a:rPr>
              <a:t> </a:t>
            </a:r>
            <a:r>
              <a:rPr spc="-10" dirty="0"/>
              <a:t>Intro</a:t>
            </a:r>
            <a:r>
              <a:rPr spc="-50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Deep</a:t>
            </a:r>
            <a:r>
              <a:rPr spc="-50" dirty="0"/>
              <a:t> </a:t>
            </a:r>
            <a:r>
              <a:rPr spc="-10" dirty="0"/>
              <a:t>Learning</a:t>
            </a:r>
            <a:r>
              <a:rPr spc="-40" dirty="0"/>
              <a:t> </a:t>
            </a:r>
            <a:r>
              <a:rPr dirty="0">
                <a:solidFill>
                  <a:srgbClr val="0097A7"/>
                </a:solidFill>
              </a:rPr>
              <a:t>|</a:t>
            </a:r>
            <a:r>
              <a:rPr spc="-50" dirty="0">
                <a:solidFill>
                  <a:srgbClr val="0097A7"/>
                </a:solidFill>
              </a:rPr>
              <a:t> </a:t>
            </a:r>
            <a:r>
              <a:rPr lang="fr-FR" spc="-50" dirty="0">
                <a:solidFill>
                  <a:srgbClr val="0097A7"/>
                </a:solidFill>
              </a:rPr>
              <a:t> </a:t>
            </a:r>
            <a:r>
              <a:rPr lang="fr-FR" spc="-50" dirty="0" err="1">
                <a:solidFill>
                  <a:srgbClr val="0097A7"/>
                </a:solidFill>
              </a:rPr>
              <a:t>K.Kadri</a:t>
            </a:r>
            <a:endParaRPr spc="-2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5248" y="1176351"/>
            <a:ext cx="6804025" cy="147193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14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More</a:t>
            </a:r>
            <a:r>
              <a:rPr sz="18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accurate</a:t>
            </a:r>
            <a:r>
              <a:rPr sz="18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Roboto"/>
                <a:cs typeface="Roboto"/>
              </a:rPr>
              <a:t>estimation</a:t>
            </a:r>
            <a:r>
              <a:rPr sz="18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of</a:t>
            </a:r>
            <a:r>
              <a:rPr sz="18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gradient</a:t>
            </a:r>
            <a:endParaRPr sz="1800">
              <a:latin typeface="Roboto"/>
              <a:cs typeface="Roboto"/>
            </a:endParaRPr>
          </a:p>
          <a:p>
            <a:pPr marL="836294" lvl="1" indent="-367030">
              <a:lnSpc>
                <a:spcPct val="100000"/>
              </a:lnSpc>
              <a:spcBef>
                <a:spcPts val="715"/>
              </a:spcBef>
              <a:buSzPct val="128571"/>
              <a:buFont typeface="Arial MT"/>
              <a:buChar char="○"/>
              <a:tabLst>
                <a:tab pos="836294" algn="l"/>
              </a:tabLst>
            </a:pP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Smoother</a:t>
            </a:r>
            <a:r>
              <a:rPr sz="1400" spc="-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convergence</a:t>
            </a:r>
            <a:endParaRPr sz="1400">
              <a:latin typeface="Roboto"/>
              <a:cs typeface="Roboto"/>
            </a:endParaRPr>
          </a:p>
          <a:p>
            <a:pPr marL="836294" lvl="1" indent="-335915">
              <a:lnSpc>
                <a:spcPct val="100000"/>
              </a:lnSpc>
              <a:spcBef>
                <a:spcPts val="409"/>
              </a:spcBef>
              <a:buFont typeface="Arial MT"/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Allows</a:t>
            </a: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for</a:t>
            </a:r>
            <a:r>
              <a:rPr sz="14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larger</a:t>
            </a: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learning</a:t>
            </a:r>
            <a:r>
              <a:rPr sz="14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rates</a:t>
            </a:r>
            <a:endParaRPr sz="1400">
              <a:latin typeface="Roboto"/>
              <a:cs typeface="Roboto"/>
            </a:endParaRPr>
          </a:p>
          <a:p>
            <a:pPr marL="379095" indent="-366395">
              <a:lnSpc>
                <a:spcPct val="100000"/>
              </a:lnSpc>
              <a:spcBef>
                <a:spcPts val="254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spc="-20" dirty="0">
                <a:solidFill>
                  <a:srgbClr val="595959"/>
                </a:solidFill>
                <a:latin typeface="Roboto"/>
                <a:cs typeface="Roboto"/>
              </a:rPr>
              <a:t>Minibatches</a:t>
            </a:r>
            <a:r>
              <a:rPr sz="18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lead</a:t>
            </a:r>
            <a:r>
              <a:rPr sz="18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to</a:t>
            </a:r>
            <a:r>
              <a:rPr sz="18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595959"/>
                </a:solidFill>
                <a:latin typeface="Roboto"/>
                <a:cs typeface="Roboto"/>
              </a:rPr>
              <a:t>fast</a:t>
            </a:r>
            <a:r>
              <a:rPr sz="18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boto"/>
                <a:cs typeface="Roboto"/>
              </a:rPr>
              <a:t>training!</a:t>
            </a:r>
            <a:endParaRPr sz="1800">
              <a:latin typeface="Roboto"/>
              <a:cs typeface="Roboto"/>
            </a:endParaRPr>
          </a:p>
          <a:p>
            <a:pPr marL="836294" lvl="1" indent="-335915">
              <a:lnSpc>
                <a:spcPct val="100000"/>
              </a:lnSpc>
              <a:spcBef>
                <a:spcPts val="330"/>
              </a:spcBef>
              <a:buFont typeface="Arial MT"/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parallelize</a:t>
            </a: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computation</a:t>
            </a:r>
            <a:r>
              <a:rPr sz="14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+</a:t>
            </a: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achieve</a:t>
            </a:r>
            <a:r>
              <a:rPr sz="14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significant</a:t>
            </a: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speed</a:t>
            </a: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increases</a:t>
            </a:r>
            <a:r>
              <a:rPr sz="1400" spc="-4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on</a:t>
            </a: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GPU’s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4" y="503825"/>
            <a:ext cx="43402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Roboto"/>
                <a:cs typeface="Roboto"/>
              </a:rPr>
              <a:t>Advantages</a:t>
            </a:r>
            <a:r>
              <a:rPr spc="-35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of</a:t>
            </a:r>
            <a:r>
              <a:rPr spc="-30" dirty="0">
                <a:latin typeface="Roboto"/>
                <a:cs typeface="Roboto"/>
              </a:rPr>
              <a:t> </a:t>
            </a:r>
            <a:r>
              <a:rPr spc="-10" dirty="0">
                <a:latin typeface="Roboto"/>
                <a:cs typeface="Roboto"/>
              </a:rPr>
              <a:t>Minibatches</a:t>
            </a:r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970071E8-3C2F-DDE1-640D-F4A12F2C6FFD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590800" y="4716893"/>
            <a:ext cx="4179570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05"/>
              </a:lnSpc>
            </a:pPr>
            <a:r>
              <a:rPr lang="fr-FR" spc="-50" dirty="0"/>
              <a:t>ESILV</a:t>
            </a:r>
            <a:r>
              <a:rPr spc="-50" dirty="0"/>
              <a:t> </a:t>
            </a:r>
            <a:r>
              <a:rPr spc="-45" dirty="0"/>
              <a:t> </a:t>
            </a:r>
            <a:r>
              <a:rPr dirty="0">
                <a:solidFill>
                  <a:srgbClr val="0097A7"/>
                </a:solidFill>
              </a:rPr>
              <a:t>|</a:t>
            </a:r>
            <a:r>
              <a:rPr spc="-45" dirty="0">
                <a:solidFill>
                  <a:srgbClr val="0097A7"/>
                </a:solidFill>
              </a:rPr>
              <a:t> </a:t>
            </a:r>
            <a:r>
              <a:rPr spc="-10" dirty="0"/>
              <a:t>Intro</a:t>
            </a:r>
            <a:r>
              <a:rPr spc="-50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Deep</a:t>
            </a:r>
            <a:r>
              <a:rPr spc="-50" dirty="0"/>
              <a:t> </a:t>
            </a:r>
            <a:r>
              <a:rPr spc="-10" dirty="0"/>
              <a:t>Learning</a:t>
            </a:r>
            <a:r>
              <a:rPr spc="-40" dirty="0"/>
              <a:t> </a:t>
            </a:r>
            <a:r>
              <a:rPr dirty="0">
                <a:solidFill>
                  <a:srgbClr val="0097A7"/>
                </a:solidFill>
              </a:rPr>
              <a:t>|</a:t>
            </a:r>
            <a:r>
              <a:rPr spc="-50" dirty="0">
                <a:solidFill>
                  <a:srgbClr val="0097A7"/>
                </a:solidFill>
              </a:rPr>
              <a:t> </a:t>
            </a:r>
            <a:r>
              <a:rPr lang="fr-FR" spc="-50" dirty="0">
                <a:solidFill>
                  <a:srgbClr val="0097A7"/>
                </a:solidFill>
              </a:rPr>
              <a:t> </a:t>
            </a:r>
            <a:r>
              <a:rPr lang="fr-FR" spc="-50" dirty="0" err="1">
                <a:solidFill>
                  <a:srgbClr val="0097A7"/>
                </a:solidFill>
              </a:rPr>
              <a:t>K.Kadri</a:t>
            </a:r>
            <a:endParaRPr spc="-2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422" y="1928524"/>
            <a:ext cx="6313805" cy="880744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607820" marR="5080" indent="-1595755">
              <a:lnSpc>
                <a:spcPct val="100400"/>
              </a:lnSpc>
              <a:spcBef>
                <a:spcPts val="85"/>
              </a:spcBef>
            </a:pPr>
            <a:r>
              <a:rPr b="1" dirty="0">
                <a:latin typeface="Roboto"/>
                <a:cs typeface="Roboto"/>
              </a:rPr>
              <a:t>Training</a:t>
            </a:r>
            <a:r>
              <a:rPr b="1" spc="-20" dirty="0">
                <a:latin typeface="Roboto"/>
                <a:cs typeface="Roboto"/>
              </a:rPr>
              <a:t> </a:t>
            </a:r>
            <a:r>
              <a:rPr b="1" dirty="0">
                <a:latin typeface="Roboto"/>
                <a:cs typeface="Roboto"/>
              </a:rPr>
              <a:t>Neural</a:t>
            </a:r>
            <a:r>
              <a:rPr b="1" spc="-15" dirty="0">
                <a:latin typeface="Roboto"/>
                <a:cs typeface="Roboto"/>
              </a:rPr>
              <a:t> </a:t>
            </a:r>
            <a:r>
              <a:rPr b="1" dirty="0">
                <a:latin typeface="Roboto"/>
                <a:cs typeface="Roboto"/>
              </a:rPr>
              <a:t>Networks</a:t>
            </a:r>
            <a:r>
              <a:rPr b="1" spc="-15" dirty="0">
                <a:latin typeface="Roboto"/>
                <a:cs typeface="Roboto"/>
              </a:rPr>
              <a:t> </a:t>
            </a:r>
            <a:r>
              <a:rPr b="1" dirty="0">
                <a:latin typeface="Roboto"/>
                <a:cs typeface="Roboto"/>
              </a:rPr>
              <a:t>In</a:t>
            </a:r>
            <a:r>
              <a:rPr b="1" spc="-15" dirty="0">
                <a:latin typeface="Roboto"/>
                <a:cs typeface="Roboto"/>
              </a:rPr>
              <a:t> </a:t>
            </a:r>
            <a:r>
              <a:rPr b="1" dirty="0">
                <a:latin typeface="Roboto"/>
                <a:cs typeface="Roboto"/>
              </a:rPr>
              <a:t>Practice</a:t>
            </a:r>
            <a:r>
              <a:rPr b="1" spc="-20" dirty="0">
                <a:latin typeface="Roboto"/>
                <a:cs typeface="Roboto"/>
              </a:rPr>
              <a:t> </a:t>
            </a:r>
            <a:r>
              <a:rPr b="1" spc="-25" dirty="0">
                <a:latin typeface="Roboto"/>
                <a:cs typeface="Roboto"/>
              </a:rPr>
              <a:t>3: </a:t>
            </a:r>
            <a:r>
              <a:rPr b="1" dirty="0">
                <a:latin typeface="Roboto"/>
                <a:cs typeface="Roboto"/>
              </a:rPr>
              <a:t>Fighting</a:t>
            </a:r>
            <a:r>
              <a:rPr b="1" spc="-145" dirty="0">
                <a:latin typeface="Roboto"/>
                <a:cs typeface="Roboto"/>
              </a:rPr>
              <a:t> </a:t>
            </a:r>
            <a:r>
              <a:rPr b="1" spc="-10" dirty="0">
                <a:latin typeface="Roboto"/>
                <a:cs typeface="Roboto"/>
              </a:rPr>
              <a:t>Overfitting</a:t>
            </a:r>
          </a:p>
        </p:txBody>
      </p:sp>
      <p:sp>
        <p:nvSpPr>
          <p:cNvPr id="4" name="object 8">
            <a:extLst>
              <a:ext uri="{FF2B5EF4-FFF2-40B4-BE49-F238E27FC236}">
                <a16:creationId xmlns:a16="http://schemas.microsoft.com/office/drawing/2014/main" id="{C770863F-202B-F301-37EC-ACF23A800135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590800" y="4716893"/>
            <a:ext cx="4179570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05"/>
              </a:lnSpc>
            </a:pPr>
            <a:r>
              <a:rPr lang="fr-FR" spc="-50" dirty="0"/>
              <a:t>ESILV</a:t>
            </a:r>
            <a:r>
              <a:rPr spc="-50" dirty="0"/>
              <a:t> </a:t>
            </a:r>
            <a:r>
              <a:rPr spc="-45" dirty="0"/>
              <a:t> </a:t>
            </a:r>
            <a:r>
              <a:rPr dirty="0">
                <a:solidFill>
                  <a:srgbClr val="0097A7"/>
                </a:solidFill>
              </a:rPr>
              <a:t>|</a:t>
            </a:r>
            <a:r>
              <a:rPr spc="-45" dirty="0">
                <a:solidFill>
                  <a:srgbClr val="0097A7"/>
                </a:solidFill>
              </a:rPr>
              <a:t> </a:t>
            </a:r>
            <a:r>
              <a:rPr spc="-10" dirty="0"/>
              <a:t>Intro</a:t>
            </a:r>
            <a:r>
              <a:rPr spc="-50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Deep</a:t>
            </a:r>
            <a:r>
              <a:rPr spc="-50" dirty="0"/>
              <a:t> </a:t>
            </a:r>
            <a:r>
              <a:rPr spc="-10" dirty="0"/>
              <a:t>Learning</a:t>
            </a:r>
            <a:r>
              <a:rPr spc="-40" dirty="0"/>
              <a:t> </a:t>
            </a:r>
            <a:r>
              <a:rPr dirty="0">
                <a:solidFill>
                  <a:srgbClr val="0097A7"/>
                </a:solidFill>
              </a:rPr>
              <a:t>|</a:t>
            </a:r>
            <a:r>
              <a:rPr spc="-50" dirty="0">
                <a:solidFill>
                  <a:srgbClr val="0097A7"/>
                </a:solidFill>
              </a:rPr>
              <a:t> </a:t>
            </a:r>
            <a:r>
              <a:rPr lang="fr-FR" spc="-50" dirty="0">
                <a:solidFill>
                  <a:srgbClr val="0097A7"/>
                </a:solidFill>
              </a:rPr>
              <a:t> </a:t>
            </a:r>
            <a:r>
              <a:rPr lang="fr-FR" spc="-50" dirty="0" err="1">
                <a:solidFill>
                  <a:srgbClr val="0097A7"/>
                </a:solidFill>
              </a:rPr>
              <a:t>K.Kadri</a:t>
            </a:r>
            <a:endParaRPr spc="-2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70" dirty="0"/>
              <a:t> </a:t>
            </a:r>
            <a:r>
              <a:rPr dirty="0"/>
              <a:t>Problem</a:t>
            </a:r>
            <a:r>
              <a:rPr spc="-70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spc="-10" dirty="0"/>
              <a:t>Overfitting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1208" y="1934695"/>
            <a:ext cx="6659218" cy="1913123"/>
          </a:xfrm>
          <a:prstGeom prst="rect">
            <a:avLst/>
          </a:prstGeom>
        </p:spPr>
      </p:pic>
      <p:sp>
        <p:nvSpPr>
          <p:cNvPr id="5" name="object 8">
            <a:extLst>
              <a:ext uri="{FF2B5EF4-FFF2-40B4-BE49-F238E27FC236}">
                <a16:creationId xmlns:a16="http://schemas.microsoft.com/office/drawing/2014/main" id="{03ABEB6C-304D-355B-FE1E-4C3408D26C6D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590800" y="4716893"/>
            <a:ext cx="4179570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05"/>
              </a:lnSpc>
            </a:pPr>
            <a:r>
              <a:rPr lang="fr-FR" spc="-50" dirty="0"/>
              <a:t>ESILV</a:t>
            </a:r>
            <a:r>
              <a:rPr spc="-50" dirty="0"/>
              <a:t> </a:t>
            </a:r>
            <a:r>
              <a:rPr spc="-45" dirty="0"/>
              <a:t> </a:t>
            </a:r>
            <a:r>
              <a:rPr dirty="0">
                <a:solidFill>
                  <a:srgbClr val="0097A7"/>
                </a:solidFill>
              </a:rPr>
              <a:t>|</a:t>
            </a:r>
            <a:r>
              <a:rPr spc="-45" dirty="0">
                <a:solidFill>
                  <a:srgbClr val="0097A7"/>
                </a:solidFill>
              </a:rPr>
              <a:t> </a:t>
            </a:r>
            <a:r>
              <a:rPr spc="-10" dirty="0"/>
              <a:t>Intro</a:t>
            </a:r>
            <a:r>
              <a:rPr spc="-50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Deep</a:t>
            </a:r>
            <a:r>
              <a:rPr spc="-50" dirty="0"/>
              <a:t> </a:t>
            </a:r>
            <a:r>
              <a:rPr spc="-10" dirty="0"/>
              <a:t>Learning</a:t>
            </a:r>
            <a:r>
              <a:rPr spc="-40" dirty="0"/>
              <a:t> </a:t>
            </a:r>
            <a:r>
              <a:rPr dirty="0">
                <a:solidFill>
                  <a:srgbClr val="0097A7"/>
                </a:solidFill>
              </a:rPr>
              <a:t>|</a:t>
            </a:r>
            <a:r>
              <a:rPr spc="-50" dirty="0">
                <a:solidFill>
                  <a:srgbClr val="0097A7"/>
                </a:solidFill>
              </a:rPr>
              <a:t> </a:t>
            </a:r>
            <a:r>
              <a:rPr lang="fr-FR" spc="-50" dirty="0">
                <a:solidFill>
                  <a:srgbClr val="0097A7"/>
                </a:solidFill>
              </a:rPr>
              <a:t> </a:t>
            </a:r>
            <a:r>
              <a:rPr lang="fr-FR" spc="-50" dirty="0" err="1">
                <a:solidFill>
                  <a:srgbClr val="0097A7"/>
                </a:solidFill>
              </a:rPr>
              <a:t>K.Kadri</a:t>
            </a:r>
            <a:endParaRPr spc="-2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Regularization</a:t>
            </a:r>
            <a:r>
              <a:rPr spc="-110" dirty="0"/>
              <a:t> </a:t>
            </a:r>
            <a:r>
              <a:rPr spc="-10" dirty="0"/>
              <a:t>Techniques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2675" y="1176351"/>
            <a:ext cx="2679700" cy="128270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431800" indent="-419100">
              <a:lnSpc>
                <a:spcPct val="100000"/>
              </a:lnSpc>
              <a:spcBef>
                <a:spcPts val="414"/>
              </a:spcBef>
              <a:buAutoNum type="arabicPeriod"/>
              <a:tabLst>
                <a:tab pos="431800" algn="l"/>
              </a:tabLst>
            </a:pP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Dropout</a:t>
            </a:r>
            <a:endParaRPr sz="1800">
              <a:latin typeface="Arial MT"/>
              <a:cs typeface="Arial MT"/>
            </a:endParaRPr>
          </a:p>
          <a:p>
            <a:pPr marL="431800" indent="-419100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431800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Early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Stopping</a:t>
            </a:r>
            <a:endParaRPr sz="1800">
              <a:latin typeface="Arial MT"/>
              <a:cs typeface="Arial MT"/>
            </a:endParaRPr>
          </a:p>
          <a:p>
            <a:pPr marL="431800" indent="-419100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431800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Weight</a:t>
            </a:r>
            <a:r>
              <a:rPr sz="1800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Regularization</a:t>
            </a:r>
            <a:endParaRPr sz="1800">
              <a:latin typeface="Arial MT"/>
              <a:cs typeface="Arial MT"/>
            </a:endParaRPr>
          </a:p>
          <a:p>
            <a:pPr marL="431800" indent="-419100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431800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...many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more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1EAD3830-556E-6602-F31B-CFA3D30701A1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590800" y="4716893"/>
            <a:ext cx="4179570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05"/>
              </a:lnSpc>
            </a:pPr>
            <a:r>
              <a:rPr lang="fr-FR" spc="-50" dirty="0"/>
              <a:t>ESILV</a:t>
            </a:r>
            <a:r>
              <a:rPr spc="-50" dirty="0"/>
              <a:t> </a:t>
            </a:r>
            <a:r>
              <a:rPr spc="-45" dirty="0"/>
              <a:t> </a:t>
            </a:r>
            <a:r>
              <a:rPr dirty="0">
                <a:solidFill>
                  <a:srgbClr val="0097A7"/>
                </a:solidFill>
              </a:rPr>
              <a:t>|</a:t>
            </a:r>
            <a:r>
              <a:rPr spc="-45" dirty="0">
                <a:solidFill>
                  <a:srgbClr val="0097A7"/>
                </a:solidFill>
              </a:rPr>
              <a:t> </a:t>
            </a:r>
            <a:r>
              <a:rPr spc="-10" dirty="0"/>
              <a:t>Intro</a:t>
            </a:r>
            <a:r>
              <a:rPr spc="-50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Deep</a:t>
            </a:r>
            <a:r>
              <a:rPr spc="-50" dirty="0"/>
              <a:t> </a:t>
            </a:r>
            <a:r>
              <a:rPr spc="-10" dirty="0"/>
              <a:t>Learning</a:t>
            </a:r>
            <a:r>
              <a:rPr spc="-40" dirty="0"/>
              <a:t> </a:t>
            </a:r>
            <a:r>
              <a:rPr dirty="0">
                <a:solidFill>
                  <a:srgbClr val="0097A7"/>
                </a:solidFill>
              </a:rPr>
              <a:t>|</a:t>
            </a:r>
            <a:r>
              <a:rPr spc="-50" dirty="0">
                <a:solidFill>
                  <a:srgbClr val="0097A7"/>
                </a:solidFill>
              </a:rPr>
              <a:t> </a:t>
            </a:r>
            <a:r>
              <a:rPr lang="fr-FR" spc="-50" dirty="0">
                <a:solidFill>
                  <a:srgbClr val="0097A7"/>
                </a:solidFill>
              </a:rPr>
              <a:t> </a:t>
            </a:r>
            <a:r>
              <a:rPr lang="fr-FR" spc="-50" dirty="0" err="1">
                <a:solidFill>
                  <a:srgbClr val="0097A7"/>
                </a:solidFill>
              </a:rPr>
              <a:t>K.Kadri</a:t>
            </a:r>
            <a:endParaRPr spc="-2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Regularization</a:t>
            </a:r>
            <a:r>
              <a:rPr spc="-60" dirty="0"/>
              <a:t> </a:t>
            </a:r>
            <a:r>
              <a:rPr dirty="0"/>
              <a:t>I:</a:t>
            </a:r>
            <a:r>
              <a:rPr spc="-60" dirty="0"/>
              <a:t> </a:t>
            </a:r>
            <a:r>
              <a:rPr spc="-10" dirty="0"/>
              <a:t>Dropout</a:t>
            </a:r>
          </a:p>
        </p:txBody>
      </p:sp>
      <p:sp>
        <p:nvSpPr>
          <p:cNvPr id="3" name="object 3"/>
          <p:cNvSpPr/>
          <p:nvPr/>
        </p:nvSpPr>
        <p:spPr>
          <a:xfrm>
            <a:off x="1840426" y="2674619"/>
            <a:ext cx="516890" cy="516890"/>
          </a:xfrm>
          <a:custGeom>
            <a:avLst/>
            <a:gdLst/>
            <a:ahLst/>
            <a:cxnLst/>
            <a:rect l="l" t="t" r="r" b="b"/>
            <a:pathLst>
              <a:path w="516889" h="516889">
                <a:moveTo>
                  <a:pt x="258299" y="516598"/>
                </a:moveTo>
                <a:lnTo>
                  <a:pt x="211869" y="512437"/>
                </a:lnTo>
                <a:lnTo>
                  <a:pt x="168170" y="500438"/>
                </a:lnTo>
                <a:lnTo>
                  <a:pt x="127930" y="481332"/>
                </a:lnTo>
                <a:lnTo>
                  <a:pt x="91880" y="455848"/>
                </a:lnTo>
                <a:lnTo>
                  <a:pt x="60748" y="424716"/>
                </a:lnTo>
                <a:lnTo>
                  <a:pt x="35265" y="388665"/>
                </a:lnTo>
                <a:lnTo>
                  <a:pt x="16159" y="348426"/>
                </a:lnTo>
                <a:lnTo>
                  <a:pt x="4161" y="304727"/>
                </a:lnTo>
                <a:lnTo>
                  <a:pt x="0" y="258299"/>
                </a:lnTo>
                <a:lnTo>
                  <a:pt x="4161" y="211871"/>
                </a:lnTo>
                <a:lnTo>
                  <a:pt x="16159" y="168172"/>
                </a:lnTo>
                <a:lnTo>
                  <a:pt x="35265" y="127933"/>
                </a:lnTo>
                <a:lnTo>
                  <a:pt x="60748" y="91882"/>
                </a:lnTo>
                <a:lnTo>
                  <a:pt x="91880" y="60750"/>
                </a:lnTo>
                <a:lnTo>
                  <a:pt x="127930" y="35266"/>
                </a:lnTo>
                <a:lnTo>
                  <a:pt x="168170" y="16160"/>
                </a:lnTo>
                <a:lnTo>
                  <a:pt x="211869" y="4161"/>
                </a:lnTo>
                <a:lnTo>
                  <a:pt x="258299" y="0"/>
                </a:lnTo>
                <a:lnTo>
                  <a:pt x="308926" y="5010"/>
                </a:lnTo>
                <a:lnTo>
                  <a:pt x="357146" y="19665"/>
                </a:lnTo>
                <a:lnTo>
                  <a:pt x="401603" y="43400"/>
                </a:lnTo>
                <a:lnTo>
                  <a:pt x="440944" y="75649"/>
                </a:lnTo>
                <a:lnTo>
                  <a:pt x="473200" y="114995"/>
                </a:lnTo>
                <a:lnTo>
                  <a:pt x="496936" y="159455"/>
                </a:lnTo>
                <a:lnTo>
                  <a:pt x="511589" y="207675"/>
                </a:lnTo>
                <a:lnTo>
                  <a:pt x="516598" y="258299"/>
                </a:lnTo>
                <a:lnTo>
                  <a:pt x="512437" y="304727"/>
                </a:lnTo>
                <a:lnTo>
                  <a:pt x="500439" y="348426"/>
                </a:lnTo>
                <a:lnTo>
                  <a:pt x="481333" y="388665"/>
                </a:lnTo>
                <a:lnTo>
                  <a:pt x="455850" y="424716"/>
                </a:lnTo>
                <a:lnTo>
                  <a:pt x="424718" y="455848"/>
                </a:lnTo>
                <a:lnTo>
                  <a:pt x="388668" y="481332"/>
                </a:lnTo>
                <a:lnTo>
                  <a:pt x="348428" y="500438"/>
                </a:lnTo>
                <a:lnTo>
                  <a:pt x="304729" y="512437"/>
                </a:lnTo>
                <a:lnTo>
                  <a:pt x="258299" y="516598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963708" y="2808339"/>
            <a:ext cx="21462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3950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350" baseline="-3395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856626" y="3263843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5" h="484504">
                <a:moveTo>
                  <a:pt x="242099" y="484199"/>
                </a:moveTo>
                <a:lnTo>
                  <a:pt x="193308" y="479280"/>
                </a:lnTo>
                <a:lnTo>
                  <a:pt x="147863" y="465172"/>
                </a:lnTo>
                <a:lnTo>
                  <a:pt x="106739" y="442850"/>
                </a:lnTo>
                <a:lnTo>
                  <a:pt x="70909" y="413286"/>
                </a:lnTo>
                <a:lnTo>
                  <a:pt x="41346" y="377456"/>
                </a:lnTo>
                <a:lnTo>
                  <a:pt x="19025" y="336332"/>
                </a:lnTo>
                <a:lnTo>
                  <a:pt x="4918" y="290888"/>
                </a:lnTo>
                <a:lnTo>
                  <a:pt x="0" y="242099"/>
                </a:lnTo>
                <a:lnTo>
                  <a:pt x="4918" y="193310"/>
                </a:lnTo>
                <a:lnTo>
                  <a:pt x="19025" y="147866"/>
                </a:lnTo>
                <a:lnTo>
                  <a:pt x="41346" y="106742"/>
                </a:lnTo>
                <a:lnTo>
                  <a:pt x="70909" y="70912"/>
                </a:lnTo>
                <a:lnTo>
                  <a:pt x="106739" y="41348"/>
                </a:lnTo>
                <a:lnTo>
                  <a:pt x="147863" y="19026"/>
                </a:lnTo>
                <a:lnTo>
                  <a:pt x="193308" y="4918"/>
                </a:lnTo>
                <a:lnTo>
                  <a:pt x="242099" y="0"/>
                </a:lnTo>
                <a:lnTo>
                  <a:pt x="289550" y="4694"/>
                </a:lnTo>
                <a:lnTo>
                  <a:pt x="334746" y="18428"/>
                </a:lnTo>
                <a:lnTo>
                  <a:pt x="376415" y="40679"/>
                </a:lnTo>
                <a:lnTo>
                  <a:pt x="413289" y="70924"/>
                </a:lnTo>
                <a:lnTo>
                  <a:pt x="443522" y="107795"/>
                </a:lnTo>
                <a:lnTo>
                  <a:pt x="465770" y="149462"/>
                </a:lnTo>
                <a:lnTo>
                  <a:pt x="479504" y="194653"/>
                </a:lnTo>
                <a:lnTo>
                  <a:pt x="484199" y="242099"/>
                </a:lnTo>
                <a:lnTo>
                  <a:pt x="479280" y="290888"/>
                </a:lnTo>
                <a:lnTo>
                  <a:pt x="465173" y="336332"/>
                </a:lnTo>
                <a:lnTo>
                  <a:pt x="442852" y="377456"/>
                </a:lnTo>
                <a:lnTo>
                  <a:pt x="413289" y="413286"/>
                </a:lnTo>
                <a:lnTo>
                  <a:pt x="377459" y="442850"/>
                </a:lnTo>
                <a:lnTo>
                  <a:pt x="336335" y="465172"/>
                </a:lnTo>
                <a:lnTo>
                  <a:pt x="290890" y="479280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975157" y="3381356"/>
            <a:ext cx="21462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856626" y="3820667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5" h="484504">
                <a:moveTo>
                  <a:pt x="242099" y="484199"/>
                </a:moveTo>
                <a:lnTo>
                  <a:pt x="193308" y="479281"/>
                </a:lnTo>
                <a:lnTo>
                  <a:pt x="147863" y="465176"/>
                </a:lnTo>
                <a:lnTo>
                  <a:pt x="106739" y="442856"/>
                </a:lnTo>
                <a:lnTo>
                  <a:pt x="70909" y="413296"/>
                </a:lnTo>
                <a:lnTo>
                  <a:pt x="41346" y="377467"/>
                </a:lnTo>
                <a:lnTo>
                  <a:pt x="19025" y="336342"/>
                </a:lnTo>
                <a:lnTo>
                  <a:pt x="4918" y="290895"/>
                </a:lnTo>
                <a:lnTo>
                  <a:pt x="0" y="242099"/>
                </a:lnTo>
                <a:lnTo>
                  <a:pt x="4918" y="193310"/>
                </a:lnTo>
                <a:lnTo>
                  <a:pt x="19025" y="147866"/>
                </a:lnTo>
                <a:lnTo>
                  <a:pt x="41346" y="106742"/>
                </a:lnTo>
                <a:lnTo>
                  <a:pt x="70909" y="70912"/>
                </a:lnTo>
                <a:lnTo>
                  <a:pt x="106739" y="41348"/>
                </a:lnTo>
                <a:lnTo>
                  <a:pt x="147863" y="19026"/>
                </a:lnTo>
                <a:lnTo>
                  <a:pt x="193308" y="4918"/>
                </a:lnTo>
                <a:lnTo>
                  <a:pt x="242099" y="0"/>
                </a:lnTo>
                <a:lnTo>
                  <a:pt x="289550" y="4694"/>
                </a:lnTo>
                <a:lnTo>
                  <a:pt x="334746" y="18428"/>
                </a:lnTo>
                <a:lnTo>
                  <a:pt x="376415" y="40679"/>
                </a:lnTo>
                <a:lnTo>
                  <a:pt x="413289" y="70924"/>
                </a:lnTo>
                <a:lnTo>
                  <a:pt x="443522" y="107795"/>
                </a:lnTo>
                <a:lnTo>
                  <a:pt x="465770" y="149462"/>
                </a:lnTo>
                <a:lnTo>
                  <a:pt x="479504" y="194653"/>
                </a:lnTo>
                <a:lnTo>
                  <a:pt x="484199" y="242099"/>
                </a:lnTo>
                <a:lnTo>
                  <a:pt x="479280" y="290895"/>
                </a:lnTo>
                <a:lnTo>
                  <a:pt x="465173" y="336342"/>
                </a:lnTo>
                <a:lnTo>
                  <a:pt x="442852" y="377467"/>
                </a:lnTo>
                <a:lnTo>
                  <a:pt x="413289" y="413296"/>
                </a:lnTo>
                <a:lnTo>
                  <a:pt x="377459" y="442856"/>
                </a:lnTo>
                <a:lnTo>
                  <a:pt x="336335" y="465176"/>
                </a:lnTo>
                <a:lnTo>
                  <a:pt x="290890" y="479281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975157" y="3938186"/>
            <a:ext cx="2203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073815" y="3541042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10" y="479281"/>
                </a:lnTo>
                <a:lnTo>
                  <a:pt x="147866" y="465176"/>
                </a:lnTo>
                <a:lnTo>
                  <a:pt x="106742" y="442856"/>
                </a:lnTo>
                <a:lnTo>
                  <a:pt x="70912" y="413296"/>
                </a:lnTo>
                <a:lnTo>
                  <a:pt x="41348" y="377467"/>
                </a:lnTo>
                <a:lnTo>
                  <a:pt x="19026" y="336342"/>
                </a:lnTo>
                <a:lnTo>
                  <a:pt x="4918" y="290895"/>
                </a:lnTo>
                <a:lnTo>
                  <a:pt x="0" y="242099"/>
                </a:lnTo>
                <a:lnTo>
                  <a:pt x="4918" y="193310"/>
                </a:lnTo>
                <a:lnTo>
                  <a:pt x="19026" y="147866"/>
                </a:lnTo>
                <a:lnTo>
                  <a:pt x="41348" y="106742"/>
                </a:lnTo>
                <a:lnTo>
                  <a:pt x="70912" y="70912"/>
                </a:lnTo>
                <a:lnTo>
                  <a:pt x="106742" y="41348"/>
                </a:lnTo>
                <a:lnTo>
                  <a:pt x="147866" y="19026"/>
                </a:lnTo>
                <a:lnTo>
                  <a:pt x="193310" y="4918"/>
                </a:lnTo>
                <a:lnTo>
                  <a:pt x="242099" y="0"/>
                </a:lnTo>
                <a:lnTo>
                  <a:pt x="289559" y="4697"/>
                </a:lnTo>
                <a:lnTo>
                  <a:pt x="334758" y="18437"/>
                </a:lnTo>
                <a:lnTo>
                  <a:pt x="376427" y="40689"/>
                </a:lnTo>
                <a:lnTo>
                  <a:pt x="413299" y="70924"/>
                </a:lnTo>
                <a:lnTo>
                  <a:pt x="443530" y="107795"/>
                </a:lnTo>
                <a:lnTo>
                  <a:pt x="465774" y="149462"/>
                </a:lnTo>
                <a:lnTo>
                  <a:pt x="479505" y="194653"/>
                </a:lnTo>
                <a:lnTo>
                  <a:pt x="484199" y="242099"/>
                </a:lnTo>
                <a:lnTo>
                  <a:pt x="479281" y="290895"/>
                </a:lnTo>
                <a:lnTo>
                  <a:pt x="465176" y="336342"/>
                </a:lnTo>
                <a:lnTo>
                  <a:pt x="442856" y="377467"/>
                </a:lnTo>
                <a:lnTo>
                  <a:pt x="413296" y="413296"/>
                </a:lnTo>
                <a:lnTo>
                  <a:pt x="377467" y="442856"/>
                </a:lnTo>
                <a:lnTo>
                  <a:pt x="336342" y="465176"/>
                </a:lnTo>
                <a:lnTo>
                  <a:pt x="290895" y="479281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8E7C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192352" y="3658561"/>
            <a:ext cx="231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68931" y="2115735"/>
            <a:ext cx="460375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22225" marR="5080" indent="-10160">
              <a:lnSpc>
                <a:spcPts val="1650"/>
              </a:lnSpc>
              <a:spcBef>
                <a:spcPts val="180"/>
              </a:spcBef>
            </a:pPr>
            <a:r>
              <a:rPr sz="1400" b="1" spc="-10" dirty="0">
                <a:solidFill>
                  <a:srgbClr val="FFAA3F"/>
                </a:solidFill>
                <a:latin typeface="Arial"/>
                <a:cs typeface="Arial"/>
              </a:rPr>
              <a:t>Input layer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89510" y="2101181"/>
            <a:ext cx="607695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46355" marR="5080" indent="-34290">
              <a:lnSpc>
                <a:spcPts val="1650"/>
              </a:lnSpc>
              <a:spcBef>
                <a:spcPts val="180"/>
              </a:spcBef>
            </a:pPr>
            <a:r>
              <a:rPr sz="1400" b="1" spc="-10" dirty="0">
                <a:solidFill>
                  <a:srgbClr val="8E7CC3"/>
                </a:solidFill>
                <a:latin typeface="Arial"/>
                <a:cs typeface="Arial"/>
              </a:rPr>
              <a:t>hidden layers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18051" y="2101181"/>
            <a:ext cx="578485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81280" marR="5080" indent="-69215">
              <a:lnSpc>
                <a:spcPts val="1650"/>
              </a:lnSpc>
              <a:spcBef>
                <a:spcPts val="180"/>
              </a:spcBef>
            </a:pPr>
            <a:r>
              <a:rPr sz="1400" b="1" spc="-10" dirty="0">
                <a:solidFill>
                  <a:srgbClr val="6EA8DB"/>
                </a:solidFill>
                <a:latin typeface="Arial"/>
                <a:cs typeface="Arial"/>
              </a:rPr>
              <a:t>output layer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071740" y="2986644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03" y="479280"/>
                </a:lnTo>
                <a:lnTo>
                  <a:pt x="147856" y="465172"/>
                </a:lnTo>
                <a:lnTo>
                  <a:pt x="106731" y="442850"/>
                </a:lnTo>
                <a:lnTo>
                  <a:pt x="70902" y="413286"/>
                </a:lnTo>
                <a:lnTo>
                  <a:pt x="41342" y="377456"/>
                </a:lnTo>
                <a:lnTo>
                  <a:pt x="19023" y="336332"/>
                </a:lnTo>
                <a:lnTo>
                  <a:pt x="4917" y="290888"/>
                </a:lnTo>
                <a:lnTo>
                  <a:pt x="0" y="242099"/>
                </a:lnTo>
                <a:lnTo>
                  <a:pt x="4917" y="193303"/>
                </a:lnTo>
                <a:lnTo>
                  <a:pt x="19023" y="147856"/>
                </a:lnTo>
                <a:lnTo>
                  <a:pt x="41342" y="106731"/>
                </a:lnTo>
                <a:lnTo>
                  <a:pt x="70906" y="70899"/>
                </a:lnTo>
                <a:lnTo>
                  <a:pt x="106731" y="41342"/>
                </a:lnTo>
                <a:lnTo>
                  <a:pt x="147856" y="19023"/>
                </a:lnTo>
                <a:lnTo>
                  <a:pt x="193303" y="4917"/>
                </a:lnTo>
                <a:lnTo>
                  <a:pt x="242099" y="0"/>
                </a:lnTo>
                <a:lnTo>
                  <a:pt x="289545" y="4693"/>
                </a:lnTo>
                <a:lnTo>
                  <a:pt x="334736" y="18424"/>
                </a:lnTo>
                <a:lnTo>
                  <a:pt x="376403" y="40668"/>
                </a:lnTo>
                <a:lnTo>
                  <a:pt x="413276" y="70902"/>
                </a:lnTo>
                <a:lnTo>
                  <a:pt x="443509" y="107771"/>
                </a:lnTo>
                <a:lnTo>
                  <a:pt x="465761" y="149440"/>
                </a:lnTo>
                <a:lnTo>
                  <a:pt x="479501" y="194639"/>
                </a:lnTo>
                <a:lnTo>
                  <a:pt x="484199" y="242099"/>
                </a:lnTo>
                <a:lnTo>
                  <a:pt x="479280" y="290888"/>
                </a:lnTo>
                <a:lnTo>
                  <a:pt x="465172" y="336332"/>
                </a:lnTo>
                <a:lnTo>
                  <a:pt x="442850" y="377456"/>
                </a:lnTo>
                <a:lnTo>
                  <a:pt x="413286" y="413286"/>
                </a:lnTo>
                <a:lnTo>
                  <a:pt x="377456" y="442850"/>
                </a:lnTo>
                <a:lnTo>
                  <a:pt x="336332" y="465172"/>
                </a:lnTo>
                <a:lnTo>
                  <a:pt x="290888" y="479280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8E7C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190266" y="3104150"/>
            <a:ext cx="231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350" spc="-37" baseline="-339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350" baseline="-3395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073815" y="4095466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10" y="479280"/>
                </a:lnTo>
                <a:lnTo>
                  <a:pt x="147866" y="465172"/>
                </a:lnTo>
                <a:lnTo>
                  <a:pt x="106742" y="442850"/>
                </a:lnTo>
                <a:lnTo>
                  <a:pt x="70912" y="413286"/>
                </a:lnTo>
                <a:lnTo>
                  <a:pt x="41348" y="377456"/>
                </a:lnTo>
                <a:lnTo>
                  <a:pt x="19026" y="336332"/>
                </a:lnTo>
                <a:lnTo>
                  <a:pt x="4918" y="290888"/>
                </a:lnTo>
                <a:lnTo>
                  <a:pt x="0" y="242099"/>
                </a:lnTo>
                <a:lnTo>
                  <a:pt x="4918" y="193310"/>
                </a:lnTo>
                <a:lnTo>
                  <a:pt x="19026" y="147866"/>
                </a:lnTo>
                <a:lnTo>
                  <a:pt x="41348" y="106742"/>
                </a:lnTo>
                <a:lnTo>
                  <a:pt x="70927" y="70899"/>
                </a:lnTo>
                <a:lnTo>
                  <a:pt x="106742" y="41348"/>
                </a:lnTo>
                <a:lnTo>
                  <a:pt x="147866" y="19026"/>
                </a:lnTo>
                <a:lnTo>
                  <a:pt x="193310" y="4918"/>
                </a:lnTo>
                <a:lnTo>
                  <a:pt x="242099" y="0"/>
                </a:lnTo>
                <a:lnTo>
                  <a:pt x="289559" y="4693"/>
                </a:lnTo>
                <a:lnTo>
                  <a:pt x="334758" y="18424"/>
                </a:lnTo>
                <a:lnTo>
                  <a:pt x="376427" y="40668"/>
                </a:lnTo>
                <a:lnTo>
                  <a:pt x="413309" y="70912"/>
                </a:lnTo>
                <a:lnTo>
                  <a:pt x="443530" y="107774"/>
                </a:lnTo>
                <a:lnTo>
                  <a:pt x="465774" y="149449"/>
                </a:lnTo>
                <a:lnTo>
                  <a:pt x="479505" y="194649"/>
                </a:lnTo>
                <a:lnTo>
                  <a:pt x="484199" y="242099"/>
                </a:lnTo>
                <a:lnTo>
                  <a:pt x="479281" y="290888"/>
                </a:lnTo>
                <a:lnTo>
                  <a:pt x="465176" y="336332"/>
                </a:lnTo>
                <a:lnTo>
                  <a:pt x="442856" y="377456"/>
                </a:lnTo>
                <a:lnTo>
                  <a:pt x="413296" y="413286"/>
                </a:lnTo>
                <a:lnTo>
                  <a:pt x="377467" y="442850"/>
                </a:lnTo>
                <a:lnTo>
                  <a:pt x="336342" y="465172"/>
                </a:lnTo>
                <a:lnTo>
                  <a:pt x="290895" y="479280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8E7C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192352" y="4212973"/>
            <a:ext cx="2381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764936" y="2982194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03" y="479280"/>
                </a:lnTo>
                <a:lnTo>
                  <a:pt x="147856" y="465172"/>
                </a:lnTo>
                <a:lnTo>
                  <a:pt x="106731" y="442850"/>
                </a:lnTo>
                <a:lnTo>
                  <a:pt x="70902" y="413286"/>
                </a:lnTo>
                <a:lnTo>
                  <a:pt x="41342" y="377456"/>
                </a:lnTo>
                <a:lnTo>
                  <a:pt x="19023" y="336332"/>
                </a:lnTo>
                <a:lnTo>
                  <a:pt x="4917" y="290888"/>
                </a:lnTo>
                <a:lnTo>
                  <a:pt x="0" y="242099"/>
                </a:lnTo>
                <a:lnTo>
                  <a:pt x="4917" y="193310"/>
                </a:lnTo>
                <a:lnTo>
                  <a:pt x="19023" y="147866"/>
                </a:lnTo>
                <a:lnTo>
                  <a:pt x="41342" y="106742"/>
                </a:lnTo>
                <a:lnTo>
                  <a:pt x="70918" y="70899"/>
                </a:lnTo>
                <a:lnTo>
                  <a:pt x="106731" y="41348"/>
                </a:lnTo>
                <a:lnTo>
                  <a:pt x="147856" y="19026"/>
                </a:lnTo>
                <a:lnTo>
                  <a:pt x="193303" y="4918"/>
                </a:lnTo>
                <a:lnTo>
                  <a:pt x="242099" y="0"/>
                </a:lnTo>
                <a:lnTo>
                  <a:pt x="289545" y="4693"/>
                </a:lnTo>
                <a:lnTo>
                  <a:pt x="334736" y="18424"/>
                </a:lnTo>
                <a:lnTo>
                  <a:pt x="376403" y="40668"/>
                </a:lnTo>
                <a:lnTo>
                  <a:pt x="413284" y="70912"/>
                </a:lnTo>
                <a:lnTo>
                  <a:pt x="443509" y="107785"/>
                </a:lnTo>
                <a:lnTo>
                  <a:pt x="465761" y="149459"/>
                </a:lnTo>
                <a:lnTo>
                  <a:pt x="479501" y="194653"/>
                </a:lnTo>
                <a:lnTo>
                  <a:pt x="484199" y="242099"/>
                </a:lnTo>
                <a:lnTo>
                  <a:pt x="479280" y="290888"/>
                </a:lnTo>
                <a:lnTo>
                  <a:pt x="465172" y="336332"/>
                </a:lnTo>
                <a:lnTo>
                  <a:pt x="442850" y="377456"/>
                </a:lnTo>
                <a:lnTo>
                  <a:pt x="413286" y="413286"/>
                </a:lnTo>
                <a:lnTo>
                  <a:pt x="377456" y="442850"/>
                </a:lnTo>
                <a:lnTo>
                  <a:pt x="336332" y="465172"/>
                </a:lnTo>
                <a:lnTo>
                  <a:pt x="290888" y="479280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6EA8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883465" y="3099712"/>
            <a:ext cx="231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767011" y="3578642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10" y="479280"/>
                </a:lnTo>
                <a:lnTo>
                  <a:pt x="147866" y="465172"/>
                </a:lnTo>
                <a:lnTo>
                  <a:pt x="106742" y="442850"/>
                </a:lnTo>
                <a:lnTo>
                  <a:pt x="70912" y="413286"/>
                </a:lnTo>
                <a:lnTo>
                  <a:pt x="41348" y="377456"/>
                </a:lnTo>
                <a:lnTo>
                  <a:pt x="19026" y="336332"/>
                </a:lnTo>
                <a:lnTo>
                  <a:pt x="4918" y="290888"/>
                </a:lnTo>
                <a:lnTo>
                  <a:pt x="0" y="242099"/>
                </a:lnTo>
                <a:lnTo>
                  <a:pt x="4918" y="193310"/>
                </a:lnTo>
                <a:lnTo>
                  <a:pt x="19026" y="147866"/>
                </a:lnTo>
                <a:lnTo>
                  <a:pt x="41348" y="106742"/>
                </a:lnTo>
                <a:lnTo>
                  <a:pt x="70927" y="70899"/>
                </a:lnTo>
                <a:lnTo>
                  <a:pt x="106742" y="41348"/>
                </a:lnTo>
                <a:lnTo>
                  <a:pt x="147866" y="19026"/>
                </a:lnTo>
                <a:lnTo>
                  <a:pt x="193310" y="4918"/>
                </a:lnTo>
                <a:lnTo>
                  <a:pt x="242099" y="0"/>
                </a:lnTo>
                <a:lnTo>
                  <a:pt x="289559" y="4693"/>
                </a:lnTo>
                <a:lnTo>
                  <a:pt x="334758" y="18424"/>
                </a:lnTo>
                <a:lnTo>
                  <a:pt x="376427" y="40668"/>
                </a:lnTo>
                <a:lnTo>
                  <a:pt x="413309" y="70912"/>
                </a:lnTo>
                <a:lnTo>
                  <a:pt x="443530" y="107785"/>
                </a:lnTo>
                <a:lnTo>
                  <a:pt x="465774" y="149459"/>
                </a:lnTo>
                <a:lnTo>
                  <a:pt x="479505" y="194653"/>
                </a:lnTo>
                <a:lnTo>
                  <a:pt x="484199" y="242099"/>
                </a:lnTo>
                <a:lnTo>
                  <a:pt x="479280" y="290888"/>
                </a:lnTo>
                <a:lnTo>
                  <a:pt x="465172" y="336332"/>
                </a:lnTo>
                <a:lnTo>
                  <a:pt x="442850" y="377456"/>
                </a:lnTo>
                <a:lnTo>
                  <a:pt x="413286" y="413286"/>
                </a:lnTo>
                <a:lnTo>
                  <a:pt x="377456" y="442850"/>
                </a:lnTo>
                <a:lnTo>
                  <a:pt x="336332" y="465172"/>
                </a:lnTo>
                <a:lnTo>
                  <a:pt x="290888" y="479280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6EA8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885551" y="3696156"/>
            <a:ext cx="2374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071740" y="2432217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5">
                <a:moveTo>
                  <a:pt x="242099" y="484201"/>
                </a:moveTo>
                <a:lnTo>
                  <a:pt x="193303" y="479282"/>
                </a:lnTo>
                <a:lnTo>
                  <a:pt x="147856" y="465175"/>
                </a:lnTo>
                <a:lnTo>
                  <a:pt x="106731" y="442852"/>
                </a:lnTo>
                <a:lnTo>
                  <a:pt x="70902" y="413289"/>
                </a:lnTo>
                <a:lnTo>
                  <a:pt x="41342" y="377458"/>
                </a:lnTo>
                <a:lnTo>
                  <a:pt x="19023" y="336334"/>
                </a:lnTo>
                <a:lnTo>
                  <a:pt x="4917" y="290891"/>
                </a:lnTo>
                <a:lnTo>
                  <a:pt x="0" y="242102"/>
                </a:lnTo>
                <a:lnTo>
                  <a:pt x="4917" y="193312"/>
                </a:lnTo>
                <a:lnTo>
                  <a:pt x="19023" y="147869"/>
                </a:lnTo>
                <a:lnTo>
                  <a:pt x="41342" y="106744"/>
                </a:lnTo>
                <a:lnTo>
                  <a:pt x="70916" y="70902"/>
                </a:lnTo>
                <a:lnTo>
                  <a:pt x="106731" y="41349"/>
                </a:lnTo>
                <a:lnTo>
                  <a:pt x="147856" y="19026"/>
                </a:lnTo>
                <a:lnTo>
                  <a:pt x="193303" y="4919"/>
                </a:lnTo>
                <a:lnTo>
                  <a:pt x="242099" y="0"/>
                </a:lnTo>
                <a:lnTo>
                  <a:pt x="289545" y="4694"/>
                </a:lnTo>
                <a:lnTo>
                  <a:pt x="334736" y="18428"/>
                </a:lnTo>
                <a:lnTo>
                  <a:pt x="376403" y="40672"/>
                </a:lnTo>
                <a:lnTo>
                  <a:pt x="413283" y="70913"/>
                </a:lnTo>
                <a:lnTo>
                  <a:pt x="443509" y="107777"/>
                </a:lnTo>
                <a:lnTo>
                  <a:pt x="465761" y="149452"/>
                </a:lnTo>
                <a:lnTo>
                  <a:pt x="479501" y="194652"/>
                </a:lnTo>
                <a:lnTo>
                  <a:pt x="484199" y="242102"/>
                </a:lnTo>
                <a:lnTo>
                  <a:pt x="479280" y="290891"/>
                </a:lnTo>
                <a:lnTo>
                  <a:pt x="465172" y="336334"/>
                </a:lnTo>
                <a:lnTo>
                  <a:pt x="442850" y="377458"/>
                </a:lnTo>
                <a:lnTo>
                  <a:pt x="413286" y="413289"/>
                </a:lnTo>
                <a:lnTo>
                  <a:pt x="377456" y="442852"/>
                </a:lnTo>
                <a:lnTo>
                  <a:pt x="336332" y="465175"/>
                </a:lnTo>
                <a:lnTo>
                  <a:pt x="290888" y="479282"/>
                </a:lnTo>
                <a:lnTo>
                  <a:pt x="242099" y="484201"/>
                </a:lnTo>
                <a:close/>
              </a:path>
            </a:pathLst>
          </a:custGeom>
          <a:solidFill>
            <a:srgbClr val="8E7C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190266" y="2549730"/>
            <a:ext cx="231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102493" y="3570592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10" y="479281"/>
                </a:lnTo>
                <a:lnTo>
                  <a:pt x="147866" y="465176"/>
                </a:lnTo>
                <a:lnTo>
                  <a:pt x="106742" y="442856"/>
                </a:lnTo>
                <a:lnTo>
                  <a:pt x="70912" y="413296"/>
                </a:lnTo>
                <a:lnTo>
                  <a:pt x="41348" y="377467"/>
                </a:lnTo>
                <a:lnTo>
                  <a:pt x="19026" y="336342"/>
                </a:lnTo>
                <a:lnTo>
                  <a:pt x="4918" y="290895"/>
                </a:lnTo>
                <a:lnTo>
                  <a:pt x="0" y="242099"/>
                </a:lnTo>
                <a:lnTo>
                  <a:pt x="4918" y="193310"/>
                </a:lnTo>
                <a:lnTo>
                  <a:pt x="19026" y="147866"/>
                </a:lnTo>
                <a:lnTo>
                  <a:pt x="41348" y="106742"/>
                </a:lnTo>
                <a:lnTo>
                  <a:pt x="70912" y="70912"/>
                </a:lnTo>
                <a:lnTo>
                  <a:pt x="106742" y="41348"/>
                </a:lnTo>
                <a:lnTo>
                  <a:pt x="147866" y="19026"/>
                </a:lnTo>
                <a:lnTo>
                  <a:pt x="193310" y="4918"/>
                </a:lnTo>
                <a:lnTo>
                  <a:pt x="242099" y="0"/>
                </a:lnTo>
                <a:lnTo>
                  <a:pt x="289559" y="4697"/>
                </a:lnTo>
                <a:lnTo>
                  <a:pt x="334758" y="18437"/>
                </a:lnTo>
                <a:lnTo>
                  <a:pt x="376427" y="40689"/>
                </a:lnTo>
                <a:lnTo>
                  <a:pt x="413299" y="70924"/>
                </a:lnTo>
                <a:lnTo>
                  <a:pt x="443530" y="107795"/>
                </a:lnTo>
                <a:lnTo>
                  <a:pt x="465774" y="149462"/>
                </a:lnTo>
                <a:lnTo>
                  <a:pt x="479505" y="194653"/>
                </a:lnTo>
                <a:lnTo>
                  <a:pt x="484199" y="242099"/>
                </a:lnTo>
                <a:lnTo>
                  <a:pt x="479281" y="290895"/>
                </a:lnTo>
                <a:lnTo>
                  <a:pt x="465176" y="336342"/>
                </a:lnTo>
                <a:lnTo>
                  <a:pt x="442856" y="377467"/>
                </a:lnTo>
                <a:lnTo>
                  <a:pt x="413296" y="413296"/>
                </a:lnTo>
                <a:lnTo>
                  <a:pt x="377467" y="442856"/>
                </a:lnTo>
                <a:lnTo>
                  <a:pt x="336342" y="465176"/>
                </a:lnTo>
                <a:lnTo>
                  <a:pt x="290895" y="479281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8E7C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221034" y="3688108"/>
            <a:ext cx="231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100418" y="3016193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03" y="479280"/>
                </a:lnTo>
                <a:lnTo>
                  <a:pt x="147856" y="465172"/>
                </a:lnTo>
                <a:lnTo>
                  <a:pt x="106731" y="442850"/>
                </a:lnTo>
                <a:lnTo>
                  <a:pt x="70902" y="413286"/>
                </a:lnTo>
                <a:lnTo>
                  <a:pt x="41342" y="377456"/>
                </a:lnTo>
                <a:lnTo>
                  <a:pt x="19023" y="336332"/>
                </a:lnTo>
                <a:lnTo>
                  <a:pt x="4917" y="290888"/>
                </a:lnTo>
                <a:lnTo>
                  <a:pt x="0" y="242099"/>
                </a:lnTo>
                <a:lnTo>
                  <a:pt x="4917" y="193303"/>
                </a:lnTo>
                <a:lnTo>
                  <a:pt x="19023" y="147856"/>
                </a:lnTo>
                <a:lnTo>
                  <a:pt x="41342" y="106731"/>
                </a:lnTo>
                <a:lnTo>
                  <a:pt x="70906" y="70899"/>
                </a:lnTo>
                <a:lnTo>
                  <a:pt x="106731" y="41342"/>
                </a:lnTo>
                <a:lnTo>
                  <a:pt x="147856" y="19023"/>
                </a:lnTo>
                <a:lnTo>
                  <a:pt x="193303" y="4917"/>
                </a:lnTo>
                <a:lnTo>
                  <a:pt x="242099" y="0"/>
                </a:lnTo>
                <a:lnTo>
                  <a:pt x="289545" y="4693"/>
                </a:lnTo>
                <a:lnTo>
                  <a:pt x="334736" y="18424"/>
                </a:lnTo>
                <a:lnTo>
                  <a:pt x="376403" y="40668"/>
                </a:lnTo>
                <a:lnTo>
                  <a:pt x="413276" y="70902"/>
                </a:lnTo>
                <a:lnTo>
                  <a:pt x="443509" y="107771"/>
                </a:lnTo>
                <a:lnTo>
                  <a:pt x="465761" y="149440"/>
                </a:lnTo>
                <a:lnTo>
                  <a:pt x="479501" y="194639"/>
                </a:lnTo>
                <a:lnTo>
                  <a:pt x="484199" y="242099"/>
                </a:lnTo>
                <a:lnTo>
                  <a:pt x="479280" y="290888"/>
                </a:lnTo>
                <a:lnTo>
                  <a:pt x="465172" y="336332"/>
                </a:lnTo>
                <a:lnTo>
                  <a:pt x="442850" y="377456"/>
                </a:lnTo>
                <a:lnTo>
                  <a:pt x="413286" y="413286"/>
                </a:lnTo>
                <a:lnTo>
                  <a:pt x="377456" y="442850"/>
                </a:lnTo>
                <a:lnTo>
                  <a:pt x="336332" y="465172"/>
                </a:lnTo>
                <a:lnTo>
                  <a:pt x="290888" y="479280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8E7C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3218938" y="3133697"/>
            <a:ext cx="231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102493" y="4125016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10" y="479280"/>
                </a:lnTo>
                <a:lnTo>
                  <a:pt x="147866" y="465172"/>
                </a:lnTo>
                <a:lnTo>
                  <a:pt x="106742" y="442850"/>
                </a:lnTo>
                <a:lnTo>
                  <a:pt x="70912" y="413286"/>
                </a:lnTo>
                <a:lnTo>
                  <a:pt x="41348" y="377456"/>
                </a:lnTo>
                <a:lnTo>
                  <a:pt x="19026" y="336332"/>
                </a:lnTo>
                <a:lnTo>
                  <a:pt x="4918" y="290888"/>
                </a:lnTo>
                <a:lnTo>
                  <a:pt x="0" y="242099"/>
                </a:lnTo>
                <a:lnTo>
                  <a:pt x="4918" y="193310"/>
                </a:lnTo>
                <a:lnTo>
                  <a:pt x="19026" y="147866"/>
                </a:lnTo>
                <a:lnTo>
                  <a:pt x="41348" y="106742"/>
                </a:lnTo>
                <a:lnTo>
                  <a:pt x="70927" y="70899"/>
                </a:lnTo>
                <a:lnTo>
                  <a:pt x="106742" y="41348"/>
                </a:lnTo>
                <a:lnTo>
                  <a:pt x="147866" y="19026"/>
                </a:lnTo>
                <a:lnTo>
                  <a:pt x="193310" y="4918"/>
                </a:lnTo>
                <a:lnTo>
                  <a:pt x="242099" y="0"/>
                </a:lnTo>
                <a:lnTo>
                  <a:pt x="289559" y="4693"/>
                </a:lnTo>
                <a:lnTo>
                  <a:pt x="334758" y="18424"/>
                </a:lnTo>
                <a:lnTo>
                  <a:pt x="376427" y="40668"/>
                </a:lnTo>
                <a:lnTo>
                  <a:pt x="413309" y="70912"/>
                </a:lnTo>
                <a:lnTo>
                  <a:pt x="443530" y="107774"/>
                </a:lnTo>
                <a:lnTo>
                  <a:pt x="465774" y="149449"/>
                </a:lnTo>
                <a:lnTo>
                  <a:pt x="479505" y="194649"/>
                </a:lnTo>
                <a:lnTo>
                  <a:pt x="484199" y="242099"/>
                </a:lnTo>
                <a:lnTo>
                  <a:pt x="479281" y="290888"/>
                </a:lnTo>
                <a:lnTo>
                  <a:pt x="465176" y="336332"/>
                </a:lnTo>
                <a:lnTo>
                  <a:pt x="442856" y="377456"/>
                </a:lnTo>
                <a:lnTo>
                  <a:pt x="413296" y="413286"/>
                </a:lnTo>
                <a:lnTo>
                  <a:pt x="377467" y="442850"/>
                </a:lnTo>
                <a:lnTo>
                  <a:pt x="336342" y="465172"/>
                </a:lnTo>
                <a:lnTo>
                  <a:pt x="290895" y="479280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8E7C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221034" y="4242529"/>
            <a:ext cx="2381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100418" y="2461767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5">
                <a:moveTo>
                  <a:pt x="242099" y="484201"/>
                </a:moveTo>
                <a:lnTo>
                  <a:pt x="193303" y="479282"/>
                </a:lnTo>
                <a:lnTo>
                  <a:pt x="147856" y="465175"/>
                </a:lnTo>
                <a:lnTo>
                  <a:pt x="106731" y="442852"/>
                </a:lnTo>
                <a:lnTo>
                  <a:pt x="70902" y="413289"/>
                </a:lnTo>
                <a:lnTo>
                  <a:pt x="41342" y="377458"/>
                </a:lnTo>
                <a:lnTo>
                  <a:pt x="19023" y="336334"/>
                </a:lnTo>
                <a:lnTo>
                  <a:pt x="4917" y="290891"/>
                </a:lnTo>
                <a:lnTo>
                  <a:pt x="0" y="242102"/>
                </a:lnTo>
                <a:lnTo>
                  <a:pt x="4917" y="193312"/>
                </a:lnTo>
                <a:lnTo>
                  <a:pt x="19023" y="147869"/>
                </a:lnTo>
                <a:lnTo>
                  <a:pt x="41342" y="106744"/>
                </a:lnTo>
                <a:lnTo>
                  <a:pt x="70916" y="70902"/>
                </a:lnTo>
                <a:lnTo>
                  <a:pt x="106731" y="41349"/>
                </a:lnTo>
                <a:lnTo>
                  <a:pt x="147856" y="19026"/>
                </a:lnTo>
                <a:lnTo>
                  <a:pt x="193303" y="4919"/>
                </a:lnTo>
                <a:lnTo>
                  <a:pt x="242099" y="0"/>
                </a:lnTo>
                <a:lnTo>
                  <a:pt x="289545" y="4694"/>
                </a:lnTo>
                <a:lnTo>
                  <a:pt x="334736" y="18428"/>
                </a:lnTo>
                <a:lnTo>
                  <a:pt x="376403" y="40672"/>
                </a:lnTo>
                <a:lnTo>
                  <a:pt x="413283" y="70913"/>
                </a:lnTo>
                <a:lnTo>
                  <a:pt x="443509" y="107777"/>
                </a:lnTo>
                <a:lnTo>
                  <a:pt x="465761" y="149452"/>
                </a:lnTo>
                <a:lnTo>
                  <a:pt x="479501" y="194652"/>
                </a:lnTo>
                <a:lnTo>
                  <a:pt x="484199" y="242102"/>
                </a:lnTo>
                <a:lnTo>
                  <a:pt x="479280" y="290891"/>
                </a:lnTo>
                <a:lnTo>
                  <a:pt x="465172" y="336334"/>
                </a:lnTo>
                <a:lnTo>
                  <a:pt x="442850" y="377458"/>
                </a:lnTo>
                <a:lnTo>
                  <a:pt x="413286" y="413289"/>
                </a:lnTo>
                <a:lnTo>
                  <a:pt x="377456" y="442852"/>
                </a:lnTo>
                <a:lnTo>
                  <a:pt x="336332" y="465175"/>
                </a:lnTo>
                <a:lnTo>
                  <a:pt x="290888" y="479282"/>
                </a:lnTo>
                <a:lnTo>
                  <a:pt x="242099" y="484201"/>
                </a:lnTo>
                <a:close/>
              </a:path>
            </a:pathLst>
          </a:custGeom>
          <a:solidFill>
            <a:srgbClr val="8E7C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3218938" y="2579276"/>
            <a:ext cx="231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689968" y="3304853"/>
            <a:ext cx="1733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latin typeface="Arial"/>
                <a:cs typeface="Arial"/>
              </a:rPr>
              <a:t>...</a:t>
            </a:r>
            <a:endParaRPr sz="14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2507619" y="2929494"/>
            <a:ext cx="495300" cy="1185545"/>
          </a:xfrm>
          <a:custGeom>
            <a:avLst/>
            <a:gdLst/>
            <a:ahLst/>
            <a:cxnLst/>
            <a:rect l="l" t="t" r="r" b="b"/>
            <a:pathLst>
              <a:path w="495300" h="1185545">
                <a:moveTo>
                  <a:pt x="0" y="1135497"/>
                </a:moveTo>
                <a:lnTo>
                  <a:pt x="444299" y="0"/>
                </a:lnTo>
              </a:path>
              <a:path w="495300" h="1185545">
                <a:moveTo>
                  <a:pt x="494699" y="1185047"/>
                </a:moveTo>
                <a:lnTo>
                  <a:pt x="50399" y="37549"/>
                </a:lnTo>
              </a:path>
            </a:pathLst>
          </a:custGeom>
          <a:ln w="19049">
            <a:solidFill>
              <a:srgbClr val="7790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944042" y="2904719"/>
            <a:ext cx="495300" cy="1185545"/>
          </a:xfrm>
          <a:custGeom>
            <a:avLst/>
            <a:gdLst/>
            <a:ahLst/>
            <a:cxnLst/>
            <a:rect l="l" t="t" r="r" b="b"/>
            <a:pathLst>
              <a:path w="495300" h="1185545">
                <a:moveTo>
                  <a:pt x="0" y="1135497"/>
                </a:moveTo>
                <a:lnTo>
                  <a:pt x="444299" y="0"/>
                </a:lnTo>
              </a:path>
              <a:path w="495300" h="1185545">
                <a:moveTo>
                  <a:pt x="494699" y="1185047"/>
                </a:moveTo>
                <a:lnTo>
                  <a:pt x="50399" y="37549"/>
                </a:lnTo>
              </a:path>
            </a:pathLst>
          </a:custGeom>
          <a:ln w="19049">
            <a:solidFill>
              <a:srgbClr val="7790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915162" y="2879944"/>
            <a:ext cx="495300" cy="1185545"/>
          </a:xfrm>
          <a:custGeom>
            <a:avLst/>
            <a:gdLst/>
            <a:ahLst/>
            <a:cxnLst/>
            <a:rect l="l" t="t" r="r" b="b"/>
            <a:pathLst>
              <a:path w="495300" h="1185545">
                <a:moveTo>
                  <a:pt x="0" y="1135497"/>
                </a:moveTo>
                <a:lnTo>
                  <a:pt x="444299" y="0"/>
                </a:lnTo>
              </a:path>
              <a:path w="495300" h="1185545">
                <a:moveTo>
                  <a:pt x="494699" y="1185047"/>
                </a:moveTo>
                <a:lnTo>
                  <a:pt x="50399" y="37549"/>
                </a:lnTo>
              </a:path>
            </a:pathLst>
          </a:custGeom>
          <a:ln w="19049">
            <a:solidFill>
              <a:srgbClr val="7790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475248" y="1216356"/>
            <a:ext cx="5521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During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training,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randomly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set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some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activations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solidFill>
                  <a:srgbClr val="595959"/>
                </a:solidFill>
                <a:latin typeface="Arial MT"/>
                <a:cs typeface="Arial MT"/>
              </a:rPr>
              <a:t>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8" name="object 8">
            <a:extLst>
              <a:ext uri="{FF2B5EF4-FFF2-40B4-BE49-F238E27FC236}">
                <a16:creationId xmlns:a16="http://schemas.microsoft.com/office/drawing/2014/main" id="{ED2A025C-D434-5E4C-A34B-88A2647A34F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590800" y="4716893"/>
            <a:ext cx="4179570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05"/>
              </a:lnSpc>
            </a:pPr>
            <a:r>
              <a:rPr lang="fr-FR" spc="-50" dirty="0"/>
              <a:t>ESILV</a:t>
            </a:r>
            <a:r>
              <a:rPr spc="-50" dirty="0"/>
              <a:t> </a:t>
            </a:r>
            <a:r>
              <a:rPr spc="-45" dirty="0"/>
              <a:t> </a:t>
            </a:r>
            <a:r>
              <a:rPr dirty="0">
                <a:solidFill>
                  <a:srgbClr val="0097A7"/>
                </a:solidFill>
              </a:rPr>
              <a:t>|</a:t>
            </a:r>
            <a:r>
              <a:rPr spc="-45" dirty="0">
                <a:solidFill>
                  <a:srgbClr val="0097A7"/>
                </a:solidFill>
              </a:rPr>
              <a:t> </a:t>
            </a:r>
            <a:r>
              <a:rPr spc="-10" dirty="0"/>
              <a:t>Intro</a:t>
            </a:r>
            <a:r>
              <a:rPr spc="-50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Deep</a:t>
            </a:r>
            <a:r>
              <a:rPr spc="-50" dirty="0"/>
              <a:t> </a:t>
            </a:r>
            <a:r>
              <a:rPr spc="-10" dirty="0"/>
              <a:t>Learning</a:t>
            </a:r>
            <a:r>
              <a:rPr spc="-40" dirty="0"/>
              <a:t> </a:t>
            </a:r>
            <a:r>
              <a:rPr dirty="0">
                <a:solidFill>
                  <a:srgbClr val="0097A7"/>
                </a:solidFill>
              </a:rPr>
              <a:t>|</a:t>
            </a:r>
            <a:r>
              <a:rPr spc="-50" dirty="0">
                <a:solidFill>
                  <a:srgbClr val="0097A7"/>
                </a:solidFill>
              </a:rPr>
              <a:t> </a:t>
            </a:r>
            <a:r>
              <a:rPr lang="fr-FR" spc="-50" dirty="0">
                <a:solidFill>
                  <a:srgbClr val="0097A7"/>
                </a:solidFill>
              </a:rPr>
              <a:t> </a:t>
            </a:r>
            <a:r>
              <a:rPr lang="fr-FR" spc="-50" dirty="0" err="1">
                <a:solidFill>
                  <a:srgbClr val="0097A7"/>
                </a:solidFill>
              </a:rPr>
              <a:t>K.Kadri</a:t>
            </a:r>
            <a:endParaRPr spc="-2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5248" y="1216356"/>
            <a:ext cx="5521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During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training,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randomly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set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some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activations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solidFill>
                  <a:srgbClr val="595959"/>
                </a:solidFill>
                <a:latin typeface="Arial MT"/>
                <a:cs typeface="Arial MT"/>
              </a:rPr>
              <a:t>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Regularization</a:t>
            </a:r>
            <a:r>
              <a:rPr spc="-60" dirty="0"/>
              <a:t> </a:t>
            </a:r>
            <a:r>
              <a:rPr dirty="0"/>
              <a:t>I:</a:t>
            </a:r>
            <a:r>
              <a:rPr spc="-60" dirty="0"/>
              <a:t> </a:t>
            </a:r>
            <a:r>
              <a:rPr spc="-10" dirty="0"/>
              <a:t>Dropout</a:t>
            </a:r>
          </a:p>
        </p:txBody>
      </p:sp>
      <p:sp>
        <p:nvSpPr>
          <p:cNvPr id="4" name="object 4"/>
          <p:cNvSpPr/>
          <p:nvPr/>
        </p:nvSpPr>
        <p:spPr>
          <a:xfrm>
            <a:off x="1840426" y="2675494"/>
            <a:ext cx="516890" cy="516890"/>
          </a:xfrm>
          <a:custGeom>
            <a:avLst/>
            <a:gdLst/>
            <a:ahLst/>
            <a:cxnLst/>
            <a:rect l="l" t="t" r="r" b="b"/>
            <a:pathLst>
              <a:path w="516889" h="516889">
                <a:moveTo>
                  <a:pt x="258299" y="516598"/>
                </a:moveTo>
                <a:lnTo>
                  <a:pt x="211869" y="512437"/>
                </a:lnTo>
                <a:lnTo>
                  <a:pt x="168170" y="500438"/>
                </a:lnTo>
                <a:lnTo>
                  <a:pt x="127930" y="481332"/>
                </a:lnTo>
                <a:lnTo>
                  <a:pt x="91880" y="455848"/>
                </a:lnTo>
                <a:lnTo>
                  <a:pt x="60748" y="424716"/>
                </a:lnTo>
                <a:lnTo>
                  <a:pt x="35265" y="388665"/>
                </a:lnTo>
                <a:lnTo>
                  <a:pt x="16159" y="348426"/>
                </a:lnTo>
                <a:lnTo>
                  <a:pt x="4161" y="304727"/>
                </a:lnTo>
                <a:lnTo>
                  <a:pt x="0" y="258299"/>
                </a:lnTo>
                <a:lnTo>
                  <a:pt x="4161" y="211871"/>
                </a:lnTo>
                <a:lnTo>
                  <a:pt x="16159" y="168172"/>
                </a:lnTo>
                <a:lnTo>
                  <a:pt x="35265" y="127933"/>
                </a:lnTo>
                <a:lnTo>
                  <a:pt x="60748" y="91882"/>
                </a:lnTo>
                <a:lnTo>
                  <a:pt x="91880" y="60750"/>
                </a:lnTo>
                <a:lnTo>
                  <a:pt x="127930" y="35266"/>
                </a:lnTo>
                <a:lnTo>
                  <a:pt x="168170" y="16160"/>
                </a:lnTo>
                <a:lnTo>
                  <a:pt x="211869" y="4161"/>
                </a:lnTo>
                <a:lnTo>
                  <a:pt x="258299" y="0"/>
                </a:lnTo>
                <a:lnTo>
                  <a:pt x="308926" y="5010"/>
                </a:lnTo>
                <a:lnTo>
                  <a:pt x="357146" y="19665"/>
                </a:lnTo>
                <a:lnTo>
                  <a:pt x="401603" y="43400"/>
                </a:lnTo>
                <a:lnTo>
                  <a:pt x="440944" y="75649"/>
                </a:lnTo>
                <a:lnTo>
                  <a:pt x="473200" y="114995"/>
                </a:lnTo>
                <a:lnTo>
                  <a:pt x="496936" y="159455"/>
                </a:lnTo>
                <a:lnTo>
                  <a:pt x="511589" y="207675"/>
                </a:lnTo>
                <a:lnTo>
                  <a:pt x="516598" y="258299"/>
                </a:lnTo>
                <a:lnTo>
                  <a:pt x="512437" y="304727"/>
                </a:lnTo>
                <a:lnTo>
                  <a:pt x="500439" y="348426"/>
                </a:lnTo>
                <a:lnTo>
                  <a:pt x="481333" y="388665"/>
                </a:lnTo>
                <a:lnTo>
                  <a:pt x="455850" y="424716"/>
                </a:lnTo>
                <a:lnTo>
                  <a:pt x="424718" y="455848"/>
                </a:lnTo>
                <a:lnTo>
                  <a:pt x="388668" y="481332"/>
                </a:lnTo>
                <a:lnTo>
                  <a:pt x="348428" y="500438"/>
                </a:lnTo>
                <a:lnTo>
                  <a:pt x="304729" y="512437"/>
                </a:lnTo>
                <a:lnTo>
                  <a:pt x="258299" y="516598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963708" y="2809215"/>
            <a:ext cx="21462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3950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350" baseline="-3395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56626" y="3264718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5" h="484504">
                <a:moveTo>
                  <a:pt x="242099" y="484199"/>
                </a:moveTo>
                <a:lnTo>
                  <a:pt x="193308" y="479281"/>
                </a:lnTo>
                <a:lnTo>
                  <a:pt x="147863" y="465176"/>
                </a:lnTo>
                <a:lnTo>
                  <a:pt x="106739" y="442856"/>
                </a:lnTo>
                <a:lnTo>
                  <a:pt x="70909" y="413296"/>
                </a:lnTo>
                <a:lnTo>
                  <a:pt x="41346" y="377467"/>
                </a:lnTo>
                <a:lnTo>
                  <a:pt x="19025" y="336342"/>
                </a:lnTo>
                <a:lnTo>
                  <a:pt x="4918" y="290895"/>
                </a:lnTo>
                <a:lnTo>
                  <a:pt x="0" y="242099"/>
                </a:lnTo>
                <a:lnTo>
                  <a:pt x="4918" y="193310"/>
                </a:lnTo>
                <a:lnTo>
                  <a:pt x="19025" y="147866"/>
                </a:lnTo>
                <a:lnTo>
                  <a:pt x="41346" y="106742"/>
                </a:lnTo>
                <a:lnTo>
                  <a:pt x="70909" y="70912"/>
                </a:lnTo>
                <a:lnTo>
                  <a:pt x="106739" y="41348"/>
                </a:lnTo>
                <a:lnTo>
                  <a:pt x="147863" y="19026"/>
                </a:lnTo>
                <a:lnTo>
                  <a:pt x="193308" y="4918"/>
                </a:lnTo>
                <a:lnTo>
                  <a:pt x="242099" y="0"/>
                </a:lnTo>
                <a:lnTo>
                  <a:pt x="289550" y="4697"/>
                </a:lnTo>
                <a:lnTo>
                  <a:pt x="334746" y="18437"/>
                </a:lnTo>
                <a:lnTo>
                  <a:pt x="376415" y="40689"/>
                </a:lnTo>
                <a:lnTo>
                  <a:pt x="413289" y="70924"/>
                </a:lnTo>
                <a:lnTo>
                  <a:pt x="443522" y="107795"/>
                </a:lnTo>
                <a:lnTo>
                  <a:pt x="465770" y="149462"/>
                </a:lnTo>
                <a:lnTo>
                  <a:pt x="479504" y="194653"/>
                </a:lnTo>
                <a:lnTo>
                  <a:pt x="484199" y="242099"/>
                </a:lnTo>
                <a:lnTo>
                  <a:pt x="479280" y="290895"/>
                </a:lnTo>
                <a:lnTo>
                  <a:pt x="465173" y="336342"/>
                </a:lnTo>
                <a:lnTo>
                  <a:pt x="442852" y="377467"/>
                </a:lnTo>
                <a:lnTo>
                  <a:pt x="413289" y="413296"/>
                </a:lnTo>
                <a:lnTo>
                  <a:pt x="377459" y="442856"/>
                </a:lnTo>
                <a:lnTo>
                  <a:pt x="336335" y="465176"/>
                </a:lnTo>
                <a:lnTo>
                  <a:pt x="290890" y="479281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975157" y="3382232"/>
            <a:ext cx="21462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856626" y="3821542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5" h="484504">
                <a:moveTo>
                  <a:pt x="242099" y="484199"/>
                </a:moveTo>
                <a:lnTo>
                  <a:pt x="193308" y="479281"/>
                </a:lnTo>
                <a:lnTo>
                  <a:pt x="147863" y="465176"/>
                </a:lnTo>
                <a:lnTo>
                  <a:pt x="106739" y="442856"/>
                </a:lnTo>
                <a:lnTo>
                  <a:pt x="70909" y="413296"/>
                </a:lnTo>
                <a:lnTo>
                  <a:pt x="41346" y="377467"/>
                </a:lnTo>
                <a:lnTo>
                  <a:pt x="19025" y="336342"/>
                </a:lnTo>
                <a:lnTo>
                  <a:pt x="4918" y="290895"/>
                </a:lnTo>
                <a:lnTo>
                  <a:pt x="0" y="242099"/>
                </a:lnTo>
                <a:lnTo>
                  <a:pt x="4918" y="193310"/>
                </a:lnTo>
                <a:lnTo>
                  <a:pt x="19025" y="147866"/>
                </a:lnTo>
                <a:lnTo>
                  <a:pt x="41346" y="106742"/>
                </a:lnTo>
                <a:lnTo>
                  <a:pt x="70909" y="70912"/>
                </a:lnTo>
                <a:lnTo>
                  <a:pt x="106739" y="41348"/>
                </a:lnTo>
                <a:lnTo>
                  <a:pt x="147863" y="19026"/>
                </a:lnTo>
                <a:lnTo>
                  <a:pt x="193308" y="4918"/>
                </a:lnTo>
                <a:lnTo>
                  <a:pt x="242099" y="0"/>
                </a:lnTo>
                <a:lnTo>
                  <a:pt x="289550" y="4697"/>
                </a:lnTo>
                <a:lnTo>
                  <a:pt x="334746" y="18437"/>
                </a:lnTo>
                <a:lnTo>
                  <a:pt x="376415" y="40689"/>
                </a:lnTo>
                <a:lnTo>
                  <a:pt x="413289" y="70924"/>
                </a:lnTo>
                <a:lnTo>
                  <a:pt x="443522" y="107795"/>
                </a:lnTo>
                <a:lnTo>
                  <a:pt x="465770" y="149462"/>
                </a:lnTo>
                <a:lnTo>
                  <a:pt x="479504" y="194653"/>
                </a:lnTo>
                <a:lnTo>
                  <a:pt x="484199" y="242099"/>
                </a:lnTo>
                <a:lnTo>
                  <a:pt x="479280" y="290895"/>
                </a:lnTo>
                <a:lnTo>
                  <a:pt x="465173" y="336342"/>
                </a:lnTo>
                <a:lnTo>
                  <a:pt x="442852" y="377467"/>
                </a:lnTo>
                <a:lnTo>
                  <a:pt x="413289" y="413296"/>
                </a:lnTo>
                <a:lnTo>
                  <a:pt x="377459" y="442856"/>
                </a:lnTo>
                <a:lnTo>
                  <a:pt x="336335" y="465176"/>
                </a:lnTo>
                <a:lnTo>
                  <a:pt x="290890" y="479281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073815" y="3541917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10" y="479281"/>
                </a:lnTo>
                <a:lnTo>
                  <a:pt x="147866" y="465176"/>
                </a:lnTo>
                <a:lnTo>
                  <a:pt x="106742" y="442856"/>
                </a:lnTo>
                <a:lnTo>
                  <a:pt x="70912" y="413296"/>
                </a:lnTo>
                <a:lnTo>
                  <a:pt x="41348" y="377467"/>
                </a:lnTo>
                <a:lnTo>
                  <a:pt x="19026" y="336342"/>
                </a:lnTo>
                <a:lnTo>
                  <a:pt x="4918" y="290895"/>
                </a:lnTo>
                <a:lnTo>
                  <a:pt x="0" y="242099"/>
                </a:lnTo>
                <a:lnTo>
                  <a:pt x="4918" y="193310"/>
                </a:lnTo>
                <a:lnTo>
                  <a:pt x="19026" y="147866"/>
                </a:lnTo>
                <a:lnTo>
                  <a:pt x="41348" y="106742"/>
                </a:lnTo>
                <a:lnTo>
                  <a:pt x="70912" y="70912"/>
                </a:lnTo>
                <a:lnTo>
                  <a:pt x="106742" y="41348"/>
                </a:lnTo>
                <a:lnTo>
                  <a:pt x="147866" y="19026"/>
                </a:lnTo>
                <a:lnTo>
                  <a:pt x="193310" y="4918"/>
                </a:lnTo>
                <a:lnTo>
                  <a:pt x="242099" y="0"/>
                </a:lnTo>
                <a:lnTo>
                  <a:pt x="289559" y="4697"/>
                </a:lnTo>
                <a:lnTo>
                  <a:pt x="334758" y="18437"/>
                </a:lnTo>
                <a:lnTo>
                  <a:pt x="376427" y="40689"/>
                </a:lnTo>
                <a:lnTo>
                  <a:pt x="413299" y="70924"/>
                </a:lnTo>
                <a:lnTo>
                  <a:pt x="443530" y="107795"/>
                </a:lnTo>
                <a:lnTo>
                  <a:pt x="465774" y="149462"/>
                </a:lnTo>
                <a:lnTo>
                  <a:pt x="479505" y="194653"/>
                </a:lnTo>
                <a:lnTo>
                  <a:pt x="484199" y="242099"/>
                </a:lnTo>
                <a:lnTo>
                  <a:pt x="479281" y="290895"/>
                </a:lnTo>
                <a:lnTo>
                  <a:pt x="465176" y="336342"/>
                </a:lnTo>
                <a:lnTo>
                  <a:pt x="442856" y="377467"/>
                </a:lnTo>
                <a:lnTo>
                  <a:pt x="413296" y="413296"/>
                </a:lnTo>
                <a:lnTo>
                  <a:pt x="377467" y="442856"/>
                </a:lnTo>
                <a:lnTo>
                  <a:pt x="336342" y="465176"/>
                </a:lnTo>
                <a:lnTo>
                  <a:pt x="290895" y="479281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8E7C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868931" y="2116612"/>
            <a:ext cx="460375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22225" marR="5080" indent="-10160">
              <a:lnSpc>
                <a:spcPts val="1650"/>
              </a:lnSpc>
              <a:spcBef>
                <a:spcPts val="180"/>
              </a:spcBef>
            </a:pPr>
            <a:r>
              <a:rPr sz="1400" b="1" spc="-10" dirty="0">
                <a:solidFill>
                  <a:srgbClr val="FFAA3F"/>
                </a:solidFill>
                <a:latin typeface="Arial"/>
                <a:cs typeface="Arial"/>
              </a:rPr>
              <a:t>Input layer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89510" y="2102058"/>
            <a:ext cx="607695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46355" marR="5080" indent="-34290">
              <a:lnSpc>
                <a:spcPts val="1650"/>
              </a:lnSpc>
              <a:spcBef>
                <a:spcPts val="180"/>
              </a:spcBef>
            </a:pPr>
            <a:r>
              <a:rPr sz="1400" b="1" spc="-10" dirty="0">
                <a:solidFill>
                  <a:srgbClr val="8E7CC3"/>
                </a:solidFill>
                <a:latin typeface="Arial"/>
                <a:cs typeface="Arial"/>
              </a:rPr>
              <a:t>hidden layers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18051" y="2102058"/>
            <a:ext cx="578485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81280" marR="5080" indent="-69215">
              <a:lnSpc>
                <a:spcPts val="1650"/>
              </a:lnSpc>
              <a:spcBef>
                <a:spcPts val="180"/>
              </a:spcBef>
            </a:pPr>
            <a:r>
              <a:rPr sz="1400" b="1" spc="-10" dirty="0">
                <a:solidFill>
                  <a:srgbClr val="6EA8DB"/>
                </a:solidFill>
                <a:latin typeface="Arial"/>
                <a:cs typeface="Arial"/>
              </a:rPr>
              <a:t>output layer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071740" y="2987519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03" y="479280"/>
                </a:lnTo>
                <a:lnTo>
                  <a:pt x="147856" y="465172"/>
                </a:lnTo>
                <a:lnTo>
                  <a:pt x="106731" y="442850"/>
                </a:lnTo>
                <a:lnTo>
                  <a:pt x="70902" y="413286"/>
                </a:lnTo>
                <a:lnTo>
                  <a:pt x="41342" y="377456"/>
                </a:lnTo>
                <a:lnTo>
                  <a:pt x="19023" y="336332"/>
                </a:lnTo>
                <a:lnTo>
                  <a:pt x="4917" y="290888"/>
                </a:lnTo>
                <a:lnTo>
                  <a:pt x="0" y="242099"/>
                </a:lnTo>
                <a:lnTo>
                  <a:pt x="4917" y="193303"/>
                </a:lnTo>
                <a:lnTo>
                  <a:pt x="19023" y="147856"/>
                </a:lnTo>
                <a:lnTo>
                  <a:pt x="41342" y="106731"/>
                </a:lnTo>
                <a:lnTo>
                  <a:pt x="70906" y="70899"/>
                </a:lnTo>
                <a:lnTo>
                  <a:pt x="106731" y="41342"/>
                </a:lnTo>
                <a:lnTo>
                  <a:pt x="147856" y="19023"/>
                </a:lnTo>
                <a:lnTo>
                  <a:pt x="193303" y="4917"/>
                </a:lnTo>
                <a:lnTo>
                  <a:pt x="242099" y="0"/>
                </a:lnTo>
                <a:lnTo>
                  <a:pt x="289545" y="4693"/>
                </a:lnTo>
                <a:lnTo>
                  <a:pt x="334736" y="18424"/>
                </a:lnTo>
                <a:lnTo>
                  <a:pt x="376403" y="40668"/>
                </a:lnTo>
                <a:lnTo>
                  <a:pt x="413276" y="70902"/>
                </a:lnTo>
                <a:lnTo>
                  <a:pt x="443509" y="107771"/>
                </a:lnTo>
                <a:lnTo>
                  <a:pt x="465761" y="149440"/>
                </a:lnTo>
                <a:lnTo>
                  <a:pt x="479501" y="194639"/>
                </a:lnTo>
                <a:lnTo>
                  <a:pt x="484199" y="242099"/>
                </a:lnTo>
                <a:lnTo>
                  <a:pt x="479280" y="290888"/>
                </a:lnTo>
                <a:lnTo>
                  <a:pt x="465172" y="336332"/>
                </a:lnTo>
                <a:lnTo>
                  <a:pt x="442850" y="377456"/>
                </a:lnTo>
                <a:lnTo>
                  <a:pt x="413286" y="413286"/>
                </a:lnTo>
                <a:lnTo>
                  <a:pt x="377456" y="442850"/>
                </a:lnTo>
                <a:lnTo>
                  <a:pt x="336332" y="465172"/>
                </a:lnTo>
                <a:lnTo>
                  <a:pt x="290888" y="479280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8E7CC3">
              <a:alpha val="1807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190266" y="3105027"/>
            <a:ext cx="231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350" spc="-37" baseline="-339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350" baseline="-3395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073815" y="4096341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10" y="479280"/>
                </a:lnTo>
                <a:lnTo>
                  <a:pt x="147866" y="465172"/>
                </a:lnTo>
                <a:lnTo>
                  <a:pt x="106742" y="442850"/>
                </a:lnTo>
                <a:lnTo>
                  <a:pt x="70912" y="413286"/>
                </a:lnTo>
                <a:lnTo>
                  <a:pt x="41348" y="377456"/>
                </a:lnTo>
                <a:lnTo>
                  <a:pt x="19026" y="336332"/>
                </a:lnTo>
                <a:lnTo>
                  <a:pt x="4918" y="290888"/>
                </a:lnTo>
                <a:lnTo>
                  <a:pt x="0" y="242099"/>
                </a:lnTo>
                <a:lnTo>
                  <a:pt x="4918" y="193310"/>
                </a:lnTo>
                <a:lnTo>
                  <a:pt x="19026" y="147866"/>
                </a:lnTo>
                <a:lnTo>
                  <a:pt x="41348" y="106742"/>
                </a:lnTo>
                <a:lnTo>
                  <a:pt x="70927" y="70899"/>
                </a:lnTo>
                <a:lnTo>
                  <a:pt x="106742" y="41348"/>
                </a:lnTo>
                <a:lnTo>
                  <a:pt x="147866" y="19026"/>
                </a:lnTo>
                <a:lnTo>
                  <a:pt x="193310" y="4918"/>
                </a:lnTo>
                <a:lnTo>
                  <a:pt x="242099" y="0"/>
                </a:lnTo>
                <a:lnTo>
                  <a:pt x="289559" y="4693"/>
                </a:lnTo>
                <a:lnTo>
                  <a:pt x="334758" y="18424"/>
                </a:lnTo>
                <a:lnTo>
                  <a:pt x="376427" y="40668"/>
                </a:lnTo>
                <a:lnTo>
                  <a:pt x="413309" y="70912"/>
                </a:lnTo>
                <a:lnTo>
                  <a:pt x="443530" y="107774"/>
                </a:lnTo>
                <a:lnTo>
                  <a:pt x="465774" y="149449"/>
                </a:lnTo>
                <a:lnTo>
                  <a:pt x="479505" y="194649"/>
                </a:lnTo>
                <a:lnTo>
                  <a:pt x="484199" y="242099"/>
                </a:lnTo>
                <a:lnTo>
                  <a:pt x="479281" y="290888"/>
                </a:lnTo>
                <a:lnTo>
                  <a:pt x="465176" y="336332"/>
                </a:lnTo>
                <a:lnTo>
                  <a:pt x="442856" y="377456"/>
                </a:lnTo>
                <a:lnTo>
                  <a:pt x="413296" y="413286"/>
                </a:lnTo>
                <a:lnTo>
                  <a:pt x="377467" y="442850"/>
                </a:lnTo>
                <a:lnTo>
                  <a:pt x="336342" y="465172"/>
                </a:lnTo>
                <a:lnTo>
                  <a:pt x="290895" y="479280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8E7CC3">
              <a:alpha val="1807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764936" y="3004594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03" y="479280"/>
                </a:lnTo>
                <a:lnTo>
                  <a:pt x="147856" y="465172"/>
                </a:lnTo>
                <a:lnTo>
                  <a:pt x="106731" y="442850"/>
                </a:lnTo>
                <a:lnTo>
                  <a:pt x="70902" y="413286"/>
                </a:lnTo>
                <a:lnTo>
                  <a:pt x="41342" y="377456"/>
                </a:lnTo>
                <a:lnTo>
                  <a:pt x="19023" y="336332"/>
                </a:lnTo>
                <a:lnTo>
                  <a:pt x="4917" y="290888"/>
                </a:lnTo>
                <a:lnTo>
                  <a:pt x="0" y="242099"/>
                </a:lnTo>
                <a:lnTo>
                  <a:pt x="4917" y="193310"/>
                </a:lnTo>
                <a:lnTo>
                  <a:pt x="19023" y="147866"/>
                </a:lnTo>
                <a:lnTo>
                  <a:pt x="41342" y="106742"/>
                </a:lnTo>
                <a:lnTo>
                  <a:pt x="70918" y="70899"/>
                </a:lnTo>
                <a:lnTo>
                  <a:pt x="106731" y="41348"/>
                </a:lnTo>
                <a:lnTo>
                  <a:pt x="147856" y="19026"/>
                </a:lnTo>
                <a:lnTo>
                  <a:pt x="193303" y="4918"/>
                </a:lnTo>
                <a:lnTo>
                  <a:pt x="242099" y="0"/>
                </a:lnTo>
                <a:lnTo>
                  <a:pt x="289545" y="4693"/>
                </a:lnTo>
                <a:lnTo>
                  <a:pt x="334736" y="18424"/>
                </a:lnTo>
                <a:lnTo>
                  <a:pt x="376403" y="40668"/>
                </a:lnTo>
                <a:lnTo>
                  <a:pt x="413284" y="70912"/>
                </a:lnTo>
                <a:lnTo>
                  <a:pt x="443509" y="107774"/>
                </a:lnTo>
                <a:lnTo>
                  <a:pt x="465761" y="149449"/>
                </a:lnTo>
                <a:lnTo>
                  <a:pt x="479501" y="194649"/>
                </a:lnTo>
                <a:lnTo>
                  <a:pt x="484199" y="242099"/>
                </a:lnTo>
                <a:lnTo>
                  <a:pt x="479280" y="290888"/>
                </a:lnTo>
                <a:lnTo>
                  <a:pt x="465172" y="336332"/>
                </a:lnTo>
                <a:lnTo>
                  <a:pt x="442850" y="377456"/>
                </a:lnTo>
                <a:lnTo>
                  <a:pt x="413286" y="413286"/>
                </a:lnTo>
                <a:lnTo>
                  <a:pt x="377456" y="442850"/>
                </a:lnTo>
                <a:lnTo>
                  <a:pt x="336332" y="465172"/>
                </a:lnTo>
                <a:lnTo>
                  <a:pt x="290888" y="479280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6EA8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883465" y="3122105"/>
            <a:ext cx="231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767011" y="3601042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10" y="479280"/>
                </a:lnTo>
                <a:lnTo>
                  <a:pt x="147866" y="465172"/>
                </a:lnTo>
                <a:lnTo>
                  <a:pt x="106742" y="442850"/>
                </a:lnTo>
                <a:lnTo>
                  <a:pt x="70912" y="413286"/>
                </a:lnTo>
                <a:lnTo>
                  <a:pt x="41348" y="377456"/>
                </a:lnTo>
                <a:lnTo>
                  <a:pt x="19026" y="336332"/>
                </a:lnTo>
                <a:lnTo>
                  <a:pt x="4918" y="290888"/>
                </a:lnTo>
                <a:lnTo>
                  <a:pt x="0" y="242099"/>
                </a:lnTo>
                <a:lnTo>
                  <a:pt x="4918" y="193310"/>
                </a:lnTo>
                <a:lnTo>
                  <a:pt x="19026" y="147866"/>
                </a:lnTo>
                <a:lnTo>
                  <a:pt x="41348" y="106742"/>
                </a:lnTo>
                <a:lnTo>
                  <a:pt x="70927" y="70899"/>
                </a:lnTo>
                <a:lnTo>
                  <a:pt x="106742" y="41348"/>
                </a:lnTo>
                <a:lnTo>
                  <a:pt x="147866" y="19026"/>
                </a:lnTo>
                <a:lnTo>
                  <a:pt x="193310" y="4918"/>
                </a:lnTo>
                <a:lnTo>
                  <a:pt x="242099" y="0"/>
                </a:lnTo>
                <a:lnTo>
                  <a:pt x="289559" y="4693"/>
                </a:lnTo>
                <a:lnTo>
                  <a:pt x="334758" y="18424"/>
                </a:lnTo>
                <a:lnTo>
                  <a:pt x="376427" y="40668"/>
                </a:lnTo>
                <a:lnTo>
                  <a:pt x="413309" y="70912"/>
                </a:lnTo>
                <a:lnTo>
                  <a:pt x="443530" y="107774"/>
                </a:lnTo>
                <a:lnTo>
                  <a:pt x="465774" y="149449"/>
                </a:lnTo>
                <a:lnTo>
                  <a:pt x="479505" y="194649"/>
                </a:lnTo>
                <a:lnTo>
                  <a:pt x="484199" y="242099"/>
                </a:lnTo>
                <a:lnTo>
                  <a:pt x="479280" y="290888"/>
                </a:lnTo>
                <a:lnTo>
                  <a:pt x="465172" y="336332"/>
                </a:lnTo>
                <a:lnTo>
                  <a:pt x="442850" y="377456"/>
                </a:lnTo>
                <a:lnTo>
                  <a:pt x="413286" y="413286"/>
                </a:lnTo>
                <a:lnTo>
                  <a:pt x="377456" y="442850"/>
                </a:lnTo>
                <a:lnTo>
                  <a:pt x="336332" y="465172"/>
                </a:lnTo>
                <a:lnTo>
                  <a:pt x="290888" y="479280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6EA8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071740" y="2433095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5">
                <a:moveTo>
                  <a:pt x="242099" y="484199"/>
                </a:moveTo>
                <a:lnTo>
                  <a:pt x="193303" y="479280"/>
                </a:lnTo>
                <a:lnTo>
                  <a:pt x="147856" y="465172"/>
                </a:lnTo>
                <a:lnTo>
                  <a:pt x="106731" y="442850"/>
                </a:lnTo>
                <a:lnTo>
                  <a:pt x="70902" y="413286"/>
                </a:lnTo>
                <a:lnTo>
                  <a:pt x="41342" y="377456"/>
                </a:lnTo>
                <a:lnTo>
                  <a:pt x="19023" y="336332"/>
                </a:lnTo>
                <a:lnTo>
                  <a:pt x="4917" y="290888"/>
                </a:lnTo>
                <a:lnTo>
                  <a:pt x="0" y="242099"/>
                </a:lnTo>
                <a:lnTo>
                  <a:pt x="4917" y="193310"/>
                </a:lnTo>
                <a:lnTo>
                  <a:pt x="19023" y="147866"/>
                </a:lnTo>
                <a:lnTo>
                  <a:pt x="41342" y="106742"/>
                </a:lnTo>
                <a:lnTo>
                  <a:pt x="70918" y="70899"/>
                </a:lnTo>
                <a:lnTo>
                  <a:pt x="106731" y="41348"/>
                </a:lnTo>
                <a:lnTo>
                  <a:pt x="147856" y="19026"/>
                </a:lnTo>
                <a:lnTo>
                  <a:pt x="193303" y="4918"/>
                </a:lnTo>
                <a:lnTo>
                  <a:pt x="242099" y="0"/>
                </a:lnTo>
                <a:lnTo>
                  <a:pt x="289545" y="4694"/>
                </a:lnTo>
                <a:lnTo>
                  <a:pt x="334736" y="18427"/>
                </a:lnTo>
                <a:lnTo>
                  <a:pt x="376403" y="40671"/>
                </a:lnTo>
                <a:lnTo>
                  <a:pt x="413284" y="70912"/>
                </a:lnTo>
                <a:lnTo>
                  <a:pt x="443509" y="107774"/>
                </a:lnTo>
                <a:lnTo>
                  <a:pt x="465761" y="149449"/>
                </a:lnTo>
                <a:lnTo>
                  <a:pt x="479501" y="194649"/>
                </a:lnTo>
                <a:lnTo>
                  <a:pt x="484199" y="242099"/>
                </a:lnTo>
                <a:lnTo>
                  <a:pt x="479280" y="290888"/>
                </a:lnTo>
                <a:lnTo>
                  <a:pt x="465172" y="336332"/>
                </a:lnTo>
                <a:lnTo>
                  <a:pt x="442850" y="377456"/>
                </a:lnTo>
                <a:lnTo>
                  <a:pt x="413286" y="413286"/>
                </a:lnTo>
                <a:lnTo>
                  <a:pt x="377456" y="442850"/>
                </a:lnTo>
                <a:lnTo>
                  <a:pt x="336332" y="465172"/>
                </a:lnTo>
                <a:lnTo>
                  <a:pt x="290888" y="479280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8E7C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190266" y="2550606"/>
            <a:ext cx="231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102493" y="3571468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10" y="479281"/>
                </a:lnTo>
                <a:lnTo>
                  <a:pt x="147866" y="465176"/>
                </a:lnTo>
                <a:lnTo>
                  <a:pt x="106742" y="442856"/>
                </a:lnTo>
                <a:lnTo>
                  <a:pt x="70912" y="413296"/>
                </a:lnTo>
                <a:lnTo>
                  <a:pt x="41348" y="377467"/>
                </a:lnTo>
                <a:lnTo>
                  <a:pt x="19026" y="336342"/>
                </a:lnTo>
                <a:lnTo>
                  <a:pt x="4918" y="290895"/>
                </a:lnTo>
                <a:lnTo>
                  <a:pt x="0" y="242099"/>
                </a:lnTo>
                <a:lnTo>
                  <a:pt x="4918" y="193310"/>
                </a:lnTo>
                <a:lnTo>
                  <a:pt x="19026" y="147866"/>
                </a:lnTo>
                <a:lnTo>
                  <a:pt x="41348" y="106742"/>
                </a:lnTo>
                <a:lnTo>
                  <a:pt x="70912" y="70912"/>
                </a:lnTo>
                <a:lnTo>
                  <a:pt x="106742" y="41348"/>
                </a:lnTo>
                <a:lnTo>
                  <a:pt x="147866" y="19026"/>
                </a:lnTo>
                <a:lnTo>
                  <a:pt x="193310" y="4918"/>
                </a:lnTo>
                <a:lnTo>
                  <a:pt x="242099" y="0"/>
                </a:lnTo>
                <a:lnTo>
                  <a:pt x="289559" y="4697"/>
                </a:lnTo>
                <a:lnTo>
                  <a:pt x="334758" y="18437"/>
                </a:lnTo>
                <a:lnTo>
                  <a:pt x="376427" y="40689"/>
                </a:lnTo>
                <a:lnTo>
                  <a:pt x="413299" y="70924"/>
                </a:lnTo>
                <a:lnTo>
                  <a:pt x="443530" y="107795"/>
                </a:lnTo>
                <a:lnTo>
                  <a:pt x="465774" y="149462"/>
                </a:lnTo>
                <a:lnTo>
                  <a:pt x="479505" y="194653"/>
                </a:lnTo>
                <a:lnTo>
                  <a:pt x="484199" y="242099"/>
                </a:lnTo>
                <a:lnTo>
                  <a:pt x="479281" y="290895"/>
                </a:lnTo>
                <a:lnTo>
                  <a:pt x="465176" y="336342"/>
                </a:lnTo>
                <a:lnTo>
                  <a:pt x="442856" y="377467"/>
                </a:lnTo>
                <a:lnTo>
                  <a:pt x="413296" y="413296"/>
                </a:lnTo>
                <a:lnTo>
                  <a:pt x="377467" y="442856"/>
                </a:lnTo>
                <a:lnTo>
                  <a:pt x="336342" y="465176"/>
                </a:lnTo>
                <a:lnTo>
                  <a:pt x="290895" y="479281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8E7C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100418" y="3017068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03" y="479280"/>
                </a:lnTo>
                <a:lnTo>
                  <a:pt x="147856" y="465172"/>
                </a:lnTo>
                <a:lnTo>
                  <a:pt x="106731" y="442850"/>
                </a:lnTo>
                <a:lnTo>
                  <a:pt x="70902" y="413286"/>
                </a:lnTo>
                <a:lnTo>
                  <a:pt x="41342" y="377456"/>
                </a:lnTo>
                <a:lnTo>
                  <a:pt x="19023" y="336332"/>
                </a:lnTo>
                <a:lnTo>
                  <a:pt x="4917" y="290888"/>
                </a:lnTo>
                <a:lnTo>
                  <a:pt x="0" y="242099"/>
                </a:lnTo>
                <a:lnTo>
                  <a:pt x="4917" y="193303"/>
                </a:lnTo>
                <a:lnTo>
                  <a:pt x="19023" y="147856"/>
                </a:lnTo>
                <a:lnTo>
                  <a:pt x="41342" y="106731"/>
                </a:lnTo>
                <a:lnTo>
                  <a:pt x="70906" y="70899"/>
                </a:lnTo>
                <a:lnTo>
                  <a:pt x="106731" y="41342"/>
                </a:lnTo>
                <a:lnTo>
                  <a:pt x="147856" y="19023"/>
                </a:lnTo>
                <a:lnTo>
                  <a:pt x="193303" y="4917"/>
                </a:lnTo>
                <a:lnTo>
                  <a:pt x="242099" y="0"/>
                </a:lnTo>
                <a:lnTo>
                  <a:pt x="289545" y="4693"/>
                </a:lnTo>
                <a:lnTo>
                  <a:pt x="334736" y="18424"/>
                </a:lnTo>
                <a:lnTo>
                  <a:pt x="376403" y="40668"/>
                </a:lnTo>
                <a:lnTo>
                  <a:pt x="413276" y="70902"/>
                </a:lnTo>
                <a:lnTo>
                  <a:pt x="443509" y="107771"/>
                </a:lnTo>
                <a:lnTo>
                  <a:pt x="465761" y="149440"/>
                </a:lnTo>
                <a:lnTo>
                  <a:pt x="479501" y="194639"/>
                </a:lnTo>
                <a:lnTo>
                  <a:pt x="484199" y="242099"/>
                </a:lnTo>
                <a:lnTo>
                  <a:pt x="479280" y="290888"/>
                </a:lnTo>
                <a:lnTo>
                  <a:pt x="465172" y="336332"/>
                </a:lnTo>
                <a:lnTo>
                  <a:pt x="442850" y="377456"/>
                </a:lnTo>
                <a:lnTo>
                  <a:pt x="413286" y="413286"/>
                </a:lnTo>
                <a:lnTo>
                  <a:pt x="377456" y="442850"/>
                </a:lnTo>
                <a:lnTo>
                  <a:pt x="336332" y="465172"/>
                </a:lnTo>
                <a:lnTo>
                  <a:pt x="290888" y="479280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8E7CC3">
              <a:alpha val="1807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218938" y="3134573"/>
            <a:ext cx="231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102493" y="4125891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10" y="479280"/>
                </a:lnTo>
                <a:lnTo>
                  <a:pt x="147866" y="465172"/>
                </a:lnTo>
                <a:lnTo>
                  <a:pt x="106742" y="442850"/>
                </a:lnTo>
                <a:lnTo>
                  <a:pt x="70912" y="413286"/>
                </a:lnTo>
                <a:lnTo>
                  <a:pt x="41348" y="377456"/>
                </a:lnTo>
                <a:lnTo>
                  <a:pt x="19026" y="336332"/>
                </a:lnTo>
                <a:lnTo>
                  <a:pt x="4918" y="290888"/>
                </a:lnTo>
                <a:lnTo>
                  <a:pt x="0" y="242099"/>
                </a:lnTo>
                <a:lnTo>
                  <a:pt x="4918" y="193310"/>
                </a:lnTo>
                <a:lnTo>
                  <a:pt x="19026" y="147866"/>
                </a:lnTo>
                <a:lnTo>
                  <a:pt x="41348" y="106742"/>
                </a:lnTo>
                <a:lnTo>
                  <a:pt x="70927" y="70899"/>
                </a:lnTo>
                <a:lnTo>
                  <a:pt x="106742" y="41348"/>
                </a:lnTo>
                <a:lnTo>
                  <a:pt x="147866" y="19026"/>
                </a:lnTo>
                <a:lnTo>
                  <a:pt x="193310" y="4918"/>
                </a:lnTo>
                <a:lnTo>
                  <a:pt x="242099" y="0"/>
                </a:lnTo>
                <a:lnTo>
                  <a:pt x="289559" y="4693"/>
                </a:lnTo>
                <a:lnTo>
                  <a:pt x="334758" y="18424"/>
                </a:lnTo>
                <a:lnTo>
                  <a:pt x="376427" y="40668"/>
                </a:lnTo>
                <a:lnTo>
                  <a:pt x="413309" y="70912"/>
                </a:lnTo>
                <a:lnTo>
                  <a:pt x="443530" y="107774"/>
                </a:lnTo>
                <a:lnTo>
                  <a:pt x="465774" y="149449"/>
                </a:lnTo>
                <a:lnTo>
                  <a:pt x="479505" y="194649"/>
                </a:lnTo>
                <a:lnTo>
                  <a:pt x="484199" y="242099"/>
                </a:lnTo>
                <a:lnTo>
                  <a:pt x="479281" y="290888"/>
                </a:lnTo>
                <a:lnTo>
                  <a:pt x="465176" y="336332"/>
                </a:lnTo>
                <a:lnTo>
                  <a:pt x="442856" y="377456"/>
                </a:lnTo>
                <a:lnTo>
                  <a:pt x="413296" y="413286"/>
                </a:lnTo>
                <a:lnTo>
                  <a:pt x="377467" y="442850"/>
                </a:lnTo>
                <a:lnTo>
                  <a:pt x="336342" y="465172"/>
                </a:lnTo>
                <a:lnTo>
                  <a:pt x="290895" y="479280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8E7C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100418" y="2462645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5">
                <a:moveTo>
                  <a:pt x="242099" y="484199"/>
                </a:moveTo>
                <a:lnTo>
                  <a:pt x="193303" y="479280"/>
                </a:lnTo>
                <a:lnTo>
                  <a:pt x="147856" y="465172"/>
                </a:lnTo>
                <a:lnTo>
                  <a:pt x="106731" y="442850"/>
                </a:lnTo>
                <a:lnTo>
                  <a:pt x="70902" y="413286"/>
                </a:lnTo>
                <a:lnTo>
                  <a:pt x="41342" y="377456"/>
                </a:lnTo>
                <a:lnTo>
                  <a:pt x="19023" y="336332"/>
                </a:lnTo>
                <a:lnTo>
                  <a:pt x="4917" y="290888"/>
                </a:lnTo>
                <a:lnTo>
                  <a:pt x="0" y="242099"/>
                </a:lnTo>
                <a:lnTo>
                  <a:pt x="4917" y="193310"/>
                </a:lnTo>
                <a:lnTo>
                  <a:pt x="19023" y="147866"/>
                </a:lnTo>
                <a:lnTo>
                  <a:pt x="41342" y="106742"/>
                </a:lnTo>
                <a:lnTo>
                  <a:pt x="70918" y="70899"/>
                </a:lnTo>
                <a:lnTo>
                  <a:pt x="106731" y="41348"/>
                </a:lnTo>
                <a:lnTo>
                  <a:pt x="147856" y="19026"/>
                </a:lnTo>
                <a:lnTo>
                  <a:pt x="193303" y="4918"/>
                </a:lnTo>
                <a:lnTo>
                  <a:pt x="242099" y="0"/>
                </a:lnTo>
                <a:lnTo>
                  <a:pt x="289545" y="4694"/>
                </a:lnTo>
                <a:lnTo>
                  <a:pt x="334736" y="18427"/>
                </a:lnTo>
                <a:lnTo>
                  <a:pt x="376403" y="40671"/>
                </a:lnTo>
                <a:lnTo>
                  <a:pt x="413284" y="70912"/>
                </a:lnTo>
                <a:lnTo>
                  <a:pt x="443509" y="107774"/>
                </a:lnTo>
                <a:lnTo>
                  <a:pt x="465761" y="149449"/>
                </a:lnTo>
                <a:lnTo>
                  <a:pt x="479501" y="194649"/>
                </a:lnTo>
                <a:lnTo>
                  <a:pt x="484199" y="242099"/>
                </a:lnTo>
                <a:lnTo>
                  <a:pt x="479280" y="290888"/>
                </a:lnTo>
                <a:lnTo>
                  <a:pt x="465172" y="336332"/>
                </a:lnTo>
                <a:lnTo>
                  <a:pt x="442850" y="377456"/>
                </a:lnTo>
                <a:lnTo>
                  <a:pt x="413286" y="413286"/>
                </a:lnTo>
                <a:lnTo>
                  <a:pt x="377456" y="442850"/>
                </a:lnTo>
                <a:lnTo>
                  <a:pt x="336332" y="465172"/>
                </a:lnTo>
                <a:lnTo>
                  <a:pt x="290888" y="479280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8E7CC3">
              <a:alpha val="1807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218938" y="2580153"/>
            <a:ext cx="231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689968" y="3305730"/>
            <a:ext cx="1733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latin typeface="Arial"/>
                <a:cs typeface="Arial"/>
              </a:rPr>
              <a:t>...</a:t>
            </a:r>
            <a:endParaRPr sz="14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507619" y="2930369"/>
            <a:ext cx="495300" cy="1185545"/>
          </a:xfrm>
          <a:custGeom>
            <a:avLst/>
            <a:gdLst/>
            <a:ahLst/>
            <a:cxnLst/>
            <a:rect l="l" t="t" r="r" b="b"/>
            <a:pathLst>
              <a:path w="495300" h="1185545">
                <a:moveTo>
                  <a:pt x="0" y="1135497"/>
                </a:moveTo>
                <a:lnTo>
                  <a:pt x="444299" y="0"/>
                </a:lnTo>
              </a:path>
              <a:path w="495300" h="1185545">
                <a:moveTo>
                  <a:pt x="494699" y="1185047"/>
                </a:moveTo>
                <a:lnTo>
                  <a:pt x="50399" y="37549"/>
                </a:lnTo>
              </a:path>
            </a:pathLst>
          </a:custGeom>
          <a:ln w="19049">
            <a:solidFill>
              <a:srgbClr val="7790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944042" y="2905594"/>
            <a:ext cx="495300" cy="1185545"/>
          </a:xfrm>
          <a:custGeom>
            <a:avLst/>
            <a:gdLst/>
            <a:ahLst/>
            <a:cxnLst/>
            <a:rect l="l" t="t" r="r" b="b"/>
            <a:pathLst>
              <a:path w="495300" h="1185545">
                <a:moveTo>
                  <a:pt x="0" y="1135497"/>
                </a:moveTo>
                <a:lnTo>
                  <a:pt x="444299" y="0"/>
                </a:lnTo>
              </a:path>
              <a:path w="495300" h="1185545">
                <a:moveTo>
                  <a:pt x="494699" y="1185047"/>
                </a:moveTo>
                <a:lnTo>
                  <a:pt x="50399" y="37549"/>
                </a:lnTo>
              </a:path>
            </a:pathLst>
          </a:custGeom>
          <a:ln w="19049">
            <a:solidFill>
              <a:srgbClr val="7790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915162" y="2880819"/>
            <a:ext cx="495300" cy="1185545"/>
          </a:xfrm>
          <a:custGeom>
            <a:avLst/>
            <a:gdLst/>
            <a:ahLst/>
            <a:cxnLst/>
            <a:rect l="l" t="t" r="r" b="b"/>
            <a:pathLst>
              <a:path w="495300" h="1185545">
                <a:moveTo>
                  <a:pt x="0" y="1135497"/>
                </a:moveTo>
                <a:lnTo>
                  <a:pt x="444299" y="0"/>
                </a:lnTo>
              </a:path>
              <a:path w="495300" h="1185545">
                <a:moveTo>
                  <a:pt x="494699" y="1185047"/>
                </a:moveTo>
                <a:lnTo>
                  <a:pt x="50399" y="37549"/>
                </a:lnTo>
              </a:path>
            </a:pathLst>
          </a:custGeom>
          <a:ln w="19049">
            <a:solidFill>
              <a:srgbClr val="7790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5217752" y="3662283"/>
            <a:ext cx="180975" cy="29972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246434" y="3691829"/>
            <a:ext cx="180975" cy="29972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910951" y="3721404"/>
            <a:ext cx="186690" cy="29972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000557" y="3941907"/>
            <a:ext cx="169545" cy="29972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217752" y="4216703"/>
            <a:ext cx="187325" cy="29972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246434" y="4246250"/>
            <a:ext cx="187325" cy="29972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38" name="object 8">
            <a:extLst>
              <a:ext uri="{FF2B5EF4-FFF2-40B4-BE49-F238E27FC236}">
                <a16:creationId xmlns:a16="http://schemas.microsoft.com/office/drawing/2014/main" id="{86C60E59-45F1-37AF-F5C2-9B001B76F28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590800" y="4716893"/>
            <a:ext cx="4179570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05"/>
              </a:lnSpc>
            </a:pPr>
            <a:r>
              <a:rPr lang="fr-FR" spc="-50" dirty="0"/>
              <a:t>ESILV</a:t>
            </a:r>
            <a:r>
              <a:rPr spc="-50" dirty="0"/>
              <a:t> </a:t>
            </a:r>
            <a:r>
              <a:rPr spc="-45" dirty="0"/>
              <a:t> </a:t>
            </a:r>
            <a:r>
              <a:rPr dirty="0">
                <a:solidFill>
                  <a:srgbClr val="0097A7"/>
                </a:solidFill>
              </a:rPr>
              <a:t>|</a:t>
            </a:r>
            <a:r>
              <a:rPr spc="-45" dirty="0">
                <a:solidFill>
                  <a:srgbClr val="0097A7"/>
                </a:solidFill>
              </a:rPr>
              <a:t> </a:t>
            </a:r>
            <a:r>
              <a:rPr spc="-10" dirty="0"/>
              <a:t>Intro</a:t>
            </a:r>
            <a:r>
              <a:rPr spc="-50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Deep</a:t>
            </a:r>
            <a:r>
              <a:rPr spc="-50" dirty="0"/>
              <a:t> </a:t>
            </a:r>
            <a:r>
              <a:rPr spc="-10" dirty="0"/>
              <a:t>Learning</a:t>
            </a:r>
            <a:r>
              <a:rPr spc="-40" dirty="0"/>
              <a:t> </a:t>
            </a:r>
            <a:r>
              <a:rPr dirty="0">
                <a:solidFill>
                  <a:srgbClr val="0097A7"/>
                </a:solidFill>
              </a:rPr>
              <a:t>|</a:t>
            </a:r>
            <a:r>
              <a:rPr spc="-50" dirty="0">
                <a:solidFill>
                  <a:srgbClr val="0097A7"/>
                </a:solidFill>
              </a:rPr>
              <a:t> </a:t>
            </a:r>
            <a:r>
              <a:rPr lang="fr-FR" spc="-50" dirty="0">
                <a:solidFill>
                  <a:srgbClr val="0097A7"/>
                </a:solidFill>
              </a:rPr>
              <a:t> </a:t>
            </a:r>
            <a:r>
              <a:rPr lang="fr-FR" spc="-50" dirty="0" err="1">
                <a:solidFill>
                  <a:srgbClr val="0097A7"/>
                </a:solidFill>
              </a:rPr>
              <a:t>K.Kadri</a:t>
            </a:r>
            <a:endParaRPr spc="-2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5248" y="1162309"/>
            <a:ext cx="5521325" cy="85725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During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training,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randomly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set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some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activations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solidFill>
                  <a:srgbClr val="595959"/>
                </a:solidFill>
                <a:latin typeface="Arial MT"/>
                <a:cs typeface="Arial MT"/>
              </a:rPr>
              <a:t>0</a:t>
            </a:r>
            <a:endParaRPr sz="1800">
              <a:latin typeface="Arial MT"/>
              <a:cs typeface="Arial MT"/>
            </a:endParaRPr>
          </a:p>
          <a:p>
            <a:pPr marL="836294" lvl="1" indent="-335915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Typically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‘drop’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50%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activations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in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 layer</a:t>
            </a:r>
            <a:endParaRPr sz="1400">
              <a:latin typeface="Arial MT"/>
              <a:cs typeface="Arial MT"/>
            </a:endParaRPr>
          </a:p>
          <a:p>
            <a:pPr marL="836294" lvl="1" indent="-335915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Forces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network</a:t>
            </a:r>
            <a:r>
              <a:rPr sz="14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not</a:t>
            </a:r>
            <a:r>
              <a:rPr sz="14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rely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on</a:t>
            </a:r>
            <a:r>
              <a:rPr sz="14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any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1</a:t>
            </a:r>
            <a:r>
              <a:rPr sz="14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node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840426" y="2675494"/>
            <a:ext cx="516890" cy="516890"/>
          </a:xfrm>
          <a:custGeom>
            <a:avLst/>
            <a:gdLst/>
            <a:ahLst/>
            <a:cxnLst/>
            <a:rect l="l" t="t" r="r" b="b"/>
            <a:pathLst>
              <a:path w="516889" h="516889">
                <a:moveTo>
                  <a:pt x="258299" y="516598"/>
                </a:moveTo>
                <a:lnTo>
                  <a:pt x="211869" y="512437"/>
                </a:lnTo>
                <a:lnTo>
                  <a:pt x="168170" y="500438"/>
                </a:lnTo>
                <a:lnTo>
                  <a:pt x="127930" y="481332"/>
                </a:lnTo>
                <a:lnTo>
                  <a:pt x="91880" y="455848"/>
                </a:lnTo>
                <a:lnTo>
                  <a:pt x="60748" y="424716"/>
                </a:lnTo>
                <a:lnTo>
                  <a:pt x="35265" y="388665"/>
                </a:lnTo>
                <a:lnTo>
                  <a:pt x="16159" y="348426"/>
                </a:lnTo>
                <a:lnTo>
                  <a:pt x="4161" y="304727"/>
                </a:lnTo>
                <a:lnTo>
                  <a:pt x="0" y="258299"/>
                </a:lnTo>
                <a:lnTo>
                  <a:pt x="4161" y="211871"/>
                </a:lnTo>
                <a:lnTo>
                  <a:pt x="16159" y="168172"/>
                </a:lnTo>
                <a:lnTo>
                  <a:pt x="35265" y="127933"/>
                </a:lnTo>
                <a:lnTo>
                  <a:pt x="60748" y="91882"/>
                </a:lnTo>
                <a:lnTo>
                  <a:pt x="91880" y="60750"/>
                </a:lnTo>
                <a:lnTo>
                  <a:pt x="127930" y="35266"/>
                </a:lnTo>
                <a:lnTo>
                  <a:pt x="168170" y="16160"/>
                </a:lnTo>
                <a:lnTo>
                  <a:pt x="211869" y="4161"/>
                </a:lnTo>
                <a:lnTo>
                  <a:pt x="258299" y="0"/>
                </a:lnTo>
                <a:lnTo>
                  <a:pt x="308926" y="5010"/>
                </a:lnTo>
                <a:lnTo>
                  <a:pt x="357146" y="19665"/>
                </a:lnTo>
                <a:lnTo>
                  <a:pt x="401603" y="43400"/>
                </a:lnTo>
                <a:lnTo>
                  <a:pt x="440944" y="75649"/>
                </a:lnTo>
                <a:lnTo>
                  <a:pt x="473200" y="114995"/>
                </a:lnTo>
                <a:lnTo>
                  <a:pt x="496936" y="159455"/>
                </a:lnTo>
                <a:lnTo>
                  <a:pt x="511589" y="207675"/>
                </a:lnTo>
                <a:lnTo>
                  <a:pt x="516598" y="258299"/>
                </a:lnTo>
                <a:lnTo>
                  <a:pt x="512437" y="304727"/>
                </a:lnTo>
                <a:lnTo>
                  <a:pt x="500439" y="348426"/>
                </a:lnTo>
                <a:lnTo>
                  <a:pt x="481333" y="388665"/>
                </a:lnTo>
                <a:lnTo>
                  <a:pt x="455850" y="424716"/>
                </a:lnTo>
                <a:lnTo>
                  <a:pt x="424718" y="455848"/>
                </a:lnTo>
                <a:lnTo>
                  <a:pt x="388668" y="481332"/>
                </a:lnTo>
                <a:lnTo>
                  <a:pt x="348428" y="500438"/>
                </a:lnTo>
                <a:lnTo>
                  <a:pt x="304729" y="512437"/>
                </a:lnTo>
                <a:lnTo>
                  <a:pt x="258299" y="516598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963708" y="2809215"/>
            <a:ext cx="21462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3950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350" baseline="-3395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856626" y="3264718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5" h="484504">
                <a:moveTo>
                  <a:pt x="242099" y="484199"/>
                </a:moveTo>
                <a:lnTo>
                  <a:pt x="193308" y="479281"/>
                </a:lnTo>
                <a:lnTo>
                  <a:pt x="147863" y="465176"/>
                </a:lnTo>
                <a:lnTo>
                  <a:pt x="106739" y="442856"/>
                </a:lnTo>
                <a:lnTo>
                  <a:pt x="70909" y="413296"/>
                </a:lnTo>
                <a:lnTo>
                  <a:pt x="41346" y="377467"/>
                </a:lnTo>
                <a:lnTo>
                  <a:pt x="19025" y="336342"/>
                </a:lnTo>
                <a:lnTo>
                  <a:pt x="4918" y="290895"/>
                </a:lnTo>
                <a:lnTo>
                  <a:pt x="0" y="242099"/>
                </a:lnTo>
                <a:lnTo>
                  <a:pt x="4918" y="193310"/>
                </a:lnTo>
                <a:lnTo>
                  <a:pt x="19025" y="147866"/>
                </a:lnTo>
                <a:lnTo>
                  <a:pt x="41346" y="106742"/>
                </a:lnTo>
                <a:lnTo>
                  <a:pt x="70909" y="70912"/>
                </a:lnTo>
                <a:lnTo>
                  <a:pt x="106739" y="41348"/>
                </a:lnTo>
                <a:lnTo>
                  <a:pt x="147863" y="19026"/>
                </a:lnTo>
                <a:lnTo>
                  <a:pt x="193308" y="4918"/>
                </a:lnTo>
                <a:lnTo>
                  <a:pt x="242099" y="0"/>
                </a:lnTo>
                <a:lnTo>
                  <a:pt x="289550" y="4697"/>
                </a:lnTo>
                <a:lnTo>
                  <a:pt x="334746" y="18437"/>
                </a:lnTo>
                <a:lnTo>
                  <a:pt x="376415" y="40689"/>
                </a:lnTo>
                <a:lnTo>
                  <a:pt x="413289" y="70924"/>
                </a:lnTo>
                <a:lnTo>
                  <a:pt x="443522" y="107795"/>
                </a:lnTo>
                <a:lnTo>
                  <a:pt x="465770" y="149462"/>
                </a:lnTo>
                <a:lnTo>
                  <a:pt x="479504" y="194653"/>
                </a:lnTo>
                <a:lnTo>
                  <a:pt x="484199" y="242099"/>
                </a:lnTo>
                <a:lnTo>
                  <a:pt x="479280" y="290895"/>
                </a:lnTo>
                <a:lnTo>
                  <a:pt x="465173" y="336342"/>
                </a:lnTo>
                <a:lnTo>
                  <a:pt x="442852" y="377467"/>
                </a:lnTo>
                <a:lnTo>
                  <a:pt x="413289" y="413296"/>
                </a:lnTo>
                <a:lnTo>
                  <a:pt x="377459" y="442856"/>
                </a:lnTo>
                <a:lnTo>
                  <a:pt x="336335" y="465176"/>
                </a:lnTo>
                <a:lnTo>
                  <a:pt x="290890" y="479281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975157" y="3382232"/>
            <a:ext cx="21462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856626" y="3821542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5" h="484504">
                <a:moveTo>
                  <a:pt x="242099" y="484199"/>
                </a:moveTo>
                <a:lnTo>
                  <a:pt x="193308" y="479281"/>
                </a:lnTo>
                <a:lnTo>
                  <a:pt x="147863" y="465176"/>
                </a:lnTo>
                <a:lnTo>
                  <a:pt x="106739" y="442856"/>
                </a:lnTo>
                <a:lnTo>
                  <a:pt x="70909" y="413296"/>
                </a:lnTo>
                <a:lnTo>
                  <a:pt x="41346" y="377467"/>
                </a:lnTo>
                <a:lnTo>
                  <a:pt x="19025" y="336342"/>
                </a:lnTo>
                <a:lnTo>
                  <a:pt x="4918" y="290895"/>
                </a:lnTo>
                <a:lnTo>
                  <a:pt x="0" y="242099"/>
                </a:lnTo>
                <a:lnTo>
                  <a:pt x="4918" y="193310"/>
                </a:lnTo>
                <a:lnTo>
                  <a:pt x="19025" y="147866"/>
                </a:lnTo>
                <a:lnTo>
                  <a:pt x="41346" y="106742"/>
                </a:lnTo>
                <a:lnTo>
                  <a:pt x="70909" y="70912"/>
                </a:lnTo>
                <a:lnTo>
                  <a:pt x="106739" y="41348"/>
                </a:lnTo>
                <a:lnTo>
                  <a:pt x="147863" y="19026"/>
                </a:lnTo>
                <a:lnTo>
                  <a:pt x="193308" y="4918"/>
                </a:lnTo>
                <a:lnTo>
                  <a:pt x="242099" y="0"/>
                </a:lnTo>
                <a:lnTo>
                  <a:pt x="289550" y="4697"/>
                </a:lnTo>
                <a:lnTo>
                  <a:pt x="334746" y="18437"/>
                </a:lnTo>
                <a:lnTo>
                  <a:pt x="376415" y="40689"/>
                </a:lnTo>
                <a:lnTo>
                  <a:pt x="413289" y="70924"/>
                </a:lnTo>
                <a:lnTo>
                  <a:pt x="443522" y="107795"/>
                </a:lnTo>
                <a:lnTo>
                  <a:pt x="465770" y="149462"/>
                </a:lnTo>
                <a:lnTo>
                  <a:pt x="479504" y="194653"/>
                </a:lnTo>
                <a:lnTo>
                  <a:pt x="484199" y="242099"/>
                </a:lnTo>
                <a:lnTo>
                  <a:pt x="479280" y="290895"/>
                </a:lnTo>
                <a:lnTo>
                  <a:pt x="465173" y="336342"/>
                </a:lnTo>
                <a:lnTo>
                  <a:pt x="442852" y="377467"/>
                </a:lnTo>
                <a:lnTo>
                  <a:pt x="413289" y="413296"/>
                </a:lnTo>
                <a:lnTo>
                  <a:pt x="377459" y="442856"/>
                </a:lnTo>
                <a:lnTo>
                  <a:pt x="336335" y="465176"/>
                </a:lnTo>
                <a:lnTo>
                  <a:pt x="290890" y="479281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975157" y="3939063"/>
            <a:ext cx="2203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073815" y="3541917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10" y="479281"/>
                </a:lnTo>
                <a:lnTo>
                  <a:pt x="147866" y="465176"/>
                </a:lnTo>
                <a:lnTo>
                  <a:pt x="106742" y="442856"/>
                </a:lnTo>
                <a:lnTo>
                  <a:pt x="70912" y="413296"/>
                </a:lnTo>
                <a:lnTo>
                  <a:pt x="41348" y="377467"/>
                </a:lnTo>
                <a:lnTo>
                  <a:pt x="19026" y="336342"/>
                </a:lnTo>
                <a:lnTo>
                  <a:pt x="4918" y="290895"/>
                </a:lnTo>
                <a:lnTo>
                  <a:pt x="0" y="242099"/>
                </a:lnTo>
                <a:lnTo>
                  <a:pt x="4918" y="193310"/>
                </a:lnTo>
                <a:lnTo>
                  <a:pt x="19026" y="147866"/>
                </a:lnTo>
                <a:lnTo>
                  <a:pt x="41348" y="106742"/>
                </a:lnTo>
                <a:lnTo>
                  <a:pt x="70912" y="70912"/>
                </a:lnTo>
                <a:lnTo>
                  <a:pt x="106742" y="41348"/>
                </a:lnTo>
                <a:lnTo>
                  <a:pt x="147866" y="19026"/>
                </a:lnTo>
                <a:lnTo>
                  <a:pt x="193310" y="4918"/>
                </a:lnTo>
                <a:lnTo>
                  <a:pt x="242099" y="0"/>
                </a:lnTo>
                <a:lnTo>
                  <a:pt x="289559" y="4697"/>
                </a:lnTo>
                <a:lnTo>
                  <a:pt x="334758" y="18437"/>
                </a:lnTo>
                <a:lnTo>
                  <a:pt x="376427" y="40689"/>
                </a:lnTo>
                <a:lnTo>
                  <a:pt x="413299" y="70924"/>
                </a:lnTo>
                <a:lnTo>
                  <a:pt x="443530" y="107795"/>
                </a:lnTo>
                <a:lnTo>
                  <a:pt x="465774" y="149462"/>
                </a:lnTo>
                <a:lnTo>
                  <a:pt x="479505" y="194653"/>
                </a:lnTo>
                <a:lnTo>
                  <a:pt x="484199" y="242099"/>
                </a:lnTo>
                <a:lnTo>
                  <a:pt x="479281" y="290895"/>
                </a:lnTo>
                <a:lnTo>
                  <a:pt x="465176" y="336342"/>
                </a:lnTo>
                <a:lnTo>
                  <a:pt x="442856" y="377467"/>
                </a:lnTo>
                <a:lnTo>
                  <a:pt x="413296" y="413296"/>
                </a:lnTo>
                <a:lnTo>
                  <a:pt x="377467" y="442856"/>
                </a:lnTo>
                <a:lnTo>
                  <a:pt x="336342" y="465176"/>
                </a:lnTo>
                <a:lnTo>
                  <a:pt x="290895" y="479281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8E7C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192352" y="3659438"/>
            <a:ext cx="231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68931" y="2116612"/>
            <a:ext cx="460375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22225" marR="5080" indent="-10160">
              <a:lnSpc>
                <a:spcPts val="1650"/>
              </a:lnSpc>
              <a:spcBef>
                <a:spcPts val="180"/>
              </a:spcBef>
            </a:pPr>
            <a:r>
              <a:rPr sz="1400" b="1" spc="-10" dirty="0">
                <a:solidFill>
                  <a:srgbClr val="FFAA3F"/>
                </a:solidFill>
                <a:latin typeface="Arial"/>
                <a:cs typeface="Arial"/>
              </a:rPr>
              <a:t>Input layer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89510" y="2102058"/>
            <a:ext cx="607695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46355" marR="5080" indent="-34290">
              <a:lnSpc>
                <a:spcPts val="1650"/>
              </a:lnSpc>
              <a:spcBef>
                <a:spcPts val="180"/>
              </a:spcBef>
            </a:pPr>
            <a:r>
              <a:rPr sz="1400" b="1" spc="-10" dirty="0">
                <a:solidFill>
                  <a:srgbClr val="8E7CC3"/>
                </a:solidFill>
                <a:latin typeface="Arial"/>
                <a:cs typeface="Arial"/>
              </a:rPr>
              <a:t>hidden layers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18051" y="2102058"/>
            <a:ext cx="578485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81280" marR="5080" indent="-69215">
              <a:lnSpc>
                <a:spcPts val="1650"/>
              </a:lnSpc>
              <a:spcBef>
                <a:spcPts val="180"/>
              </a:spcBef>
            </a:pPr>
            <a:r>
              <a:rPr sz="1400" b="1" spc="-10" dirty="0">
                <a:solidFill>
                  <a:srgbClr val="6EA8DB"/>
                </a:solidFill>
                <a:latin typeface="Arial"/>
                <a:cs typeface="Arial"/>
              </a:rPr>
              <a:t>output layer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071740" y="2987519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03" y="479280"/>
                </a:lnTo>
                <a:lnTo>
                  <a:pt x="147856" y="465172"/>
                </a:lnTo>
                <a:lnTo>
                  <a:pt x="106731" y="442850"/>
                </a:lnTo>
                <a:lnTo>
                  <a:pt x="70902" y="413286"/>
                </a:lnTo>
                <a:lnTo>
                  <a:pt x="41342" y="377456"/>
                </a:lnTo>
                <a:lnTo>
                  <a:pt x="19023" y="336332"/>
                </a:lnTo>
                <a:lnTo>
                  <a:pt x="4917" y="290888"/>
                </a:lnTo>
                <a:lnTo>
                  <a:pt x="0" y="242099"/>
                </a:lnTo>
                <a:lnTo>
                  <a:pt x="4917" y="193303"/>
                </a:lnTo>
                <a:lnTo>
                  <a:pt x="19023" y="147856"/>
                </a:lnTo>
                <a:lnTo>
                  <a:pt x="41342" y="106731"/>
                </a:lnTo>
                <a:lnTo>
                  <a:pt x="70906" y="70899"/>
                </a:lnTo>
                <a:lnTo>
                  <a:pt x="106731" y="41342"/>
                </a:lnTo>
                <a:lnTo>
                  <a:pt x="147856" y="19023"/>
                </a:lnTo>
                <a:lnTo>
                  <a:pt x="193303" y="4917"/>
                </a:lnTo>
                <a:lnTo>
                  <a:pt x="242099" y="0"/>
                </a:lnTo>
                <a:lnTo>
                  <a:pt x="289545" y="4693"/>
                </a:lnTo>
                <a:lnTo>
                  <a:pt x="334736" y="18424"/>
                </a:lnTo>
                <a:lnTo>
                  <a:pt x="376403" y="40668"/>
                </a:lnTo>
                <a:lnTo>
                  <a:pt x="413276" y="70902"/>
                </a:lnTo>
                <a:lnTo>
                  <a:pt x="443509" y="107771"/>
                </a:lnTo>
                <a:lnTo>
                  <a:pt x="465761" y="149440"/>
                </a:lnTo>
                <a:lnTo>
                  <a:pt x="479501" y="194639"/>
                </a:lnTo>
                <a:lnTo>
                  <a:pt x="484199" y="242099"/>
                </a:lnTo>
                <a:lnTo>
                  <a:pt x="479280" y="290888"/>
                </a:lnTo>
                <a:lnTo>
                  <a:pt x="465172" y="336332"/>
                </a:lnTo>
                <a:lnTo>
                  <a:pt x="442850" y="377456"/>
                </a:lnTo>
                <a:lnTo>
                  <a:pt x="413286" y="413286"/>
                </a:lnTo>
                <a:lnTo>
                  <a:pt x="377456" y="442850"/>
                </a:lnTo>
                <a:lnTo>
                  <a:pt x="336332" y="465172"/>
                </a:lnTo>
                <a:lnTo>
                  <a:pt x="290888" y="479280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8E7CC3">
              <a:alpha val="1807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190266" y="3105027"/>
            <a:ext cx="231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350" spc="-37" baseline="-339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350" baseline="-3395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073815" y="4096341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10" y="479280"/>
                </a:lnTo>
                <a:lnTo>
                  <a:pt x="147866" y="465172"/>
                </a:lnTo>
                <a:lnTo>
                  <a:pt x="106742" y="442850"/>
                </a:lnTo>
                <a:lnTo>
                  <a:pt x="70912" y="413286"/>
                </a:lnTo>
                <a:lnTo>
                  <a:pt x="41348" y="377456"/>
                </a:lnTo>
                <a:lnTo>
                  <a:pt x="19026" y="336332"/>
                </a:lnTo>
                <a:lnTo>
                  <a:pt x="4918" y="290888"/>
                </a:lnTo>
                <a:lnTo>
                  <a:pt x="0" y="242099"/>
                </a:lnTo>
                <a:lnTo>
                  <a:pt x="4918" y="193310"/>
                </a:lnTo>
                <a:lnTo>
                  <a:pt x="19026" y="147866"/>
                </a:lnTo>
                <a:lnTo>
                  <a:pt x="41348" y="106742"/>
                </a:lnTo>
                <a:lnTo>
                  <a:pt x="70927" y="70899"/>
                </a:lnTo>
                <a:lnTo>
                  <a:pt x="106742" y="41348"/>
                </a:lnTo>
                <a:lnTo>
                  <a:pt x="147866" y="19026"/>
                </a:lnTo>
                <a:lnTo>
                  <a:pt x="193310" y="4918"/>
                </a:lnTo>
                <a:lnTo>
                  <a:pt x="242099" y="0"/>
                </a:lnTo>
                <a:lnTo>
                  <a:pt x="289559" y="4693"/>
                </a:lnTo>
                <a:lnTo>
                  <a:pt x="334758" y="18424"/>
                </a:lnTo>
                <a:lnTo>
                  <a:pt x="376427" y="40668"/>
                </a:lnTo>
                <a:lnTo>
                  <a:pt x="413309" y="70912"/>
                </a:lnTo>
                <a:lnTo>
                  <a:pt x="443530" y="107774"/>
                </a:lnTo>
                <a:lnTo>
                  <a:pt x="465774" y="149449"/>
                </a:lnTo>
                <a:lnTo>
                  <a:pt x="479505" y="194649"/>
                </a:lnTo>
                <a:lnTo>
                  <a:pt x="484199" y="242099"/>
                </a:lnTo>
                <a:lnTo>
                  <a:pt x="479281" y="290888"/>
                </a:lnTo>
                <a:lnTo>
                  <a:pt x="465176" y="336332"/>
                </a:lnTo>
                <a:lnTo>
                  <a:pt x="442856" y="377456"/>
                </a:lnTo>
                <a:lnTo>
                  <a:pt x="413296" y="413286"/>
                </a:lnTo>
                <a:lnTo>
                  <a:pt x="377467" y="442850"/>
                </a:lnTo>
                <a:lnTo>
                  <a:pt x="336342" y="465172"/>
                </a:lnTo>
                <a:lnTo>
                  <a:pt x="290895" y="479280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8E7CC3">
              <a:alpha val="1807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192352" y="4213858"/>
            <a:ext cx="2381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764936" y="3004594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03" y="479280"/>
                </a:lnTo>
                <a:lnTo>
                  <a:pt x="147856" y="465172"/>
                </a:lnTo>
                <a:lnTo>
                  <a:pt x="106731" y="442850"/>
                </a:lnTo>
                <a:lnTo>
                  <a:pt x="70902" y="413286"/>
                </a:lnTo>
                <a:lnTo>
                  <a:pt x="41342" y="377456"/>
                </a:lnTo>
                <a:lnTo>
                  <a:pt x="19023" y="336332"/>
                </a:lnTo>
                <a:lnTo>
                  <a:pt x="4917" y="290888"/>
                </a:lnTo>
                <a:lnTo>
                  <a:pt x="0" y="242099"/>
                </a:lnTo>
                <a:lnTo>
                  <a:pt x="4917" y="193310"/>
                </a:lnTo>
                <a:lnTo>
                  <a:pt x="19023" y="147866"/>
                </a:lnTo>
                <a:lnTo>
                  <a:pt x="41342" y="106742"/>
                </a:lnTo>
                <a:lnTo>
                  <a:pt x="70918" y="70899"/>
                </a:lnTo>
                <a:lnTo>
                  <a:pt x="106731" y="41348"/>
                </a:lnTo>
                <a:lnTo>
                  <a:pt x="147856" y="19026"/>
                </a:lnTo>
                <a:lnTo>
                  <a:pt x="193303" y="4918"/>
                </a:lnTo>
                <a:lnTo>
                  <a:pt x="242099" y="0"/>
                </a:lnTo>
                <a:lnTo>
                  <a:pt x="289545" y="4693"/>
                </a:lnTo>
                <a:lnTo>
                  <a:pt x="334736" y="18424"/>
                </a:lnTo>
                <a:lnTo>
                  <a:pt x="376403" y="40668"/>
                </a:lnTo>
                <a:lnTo>
                  <a:pt x="413284" y="70912"/>
                </a:lnTo>
                <a:lnTo>
                  <a:pt x="443509" y="107774"/>
                </a:lnTo>
                <a:lnTo>
                  <a:pt x="465761" y="149449"/>
                </a:lnTo>
                <a:lnTo>
                  <a:pt x="479501" y="194649"/>
                </a:lnTo>
                <a:lnTo>
                  <a:pt x="484199" y="242099"/>
                </a:lnTo>
                <a:lnTo>
                  <a:pt x="479280" y="290888"/>
                </a:lnTo>
                <a:lnTo>
                  <a:pt x="465172" y="336332"/>
                </a:lnTo>
                <a:lnTo>
                  <a:pt x="442850" y="377456"/>
                </a:lnTo>
                <a:lnTo>
                  <a:pt x="413286" y="413286"/>
                </a:lnTo>
                <a:lnTo>
                  <a:pt x="377456" y="442850"/>
                </a:lnTo>
                <a:lnTo>
                  <a:pt x="336332" y="465172"/>
                </a:lnTo>
                <a:lnTo>
                  <a:pt x="290888" y="479280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6EA8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883465" y="3122105"/>
            <a:ext cx="231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767011" y="3601042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10" y="479280"/>
                </a:lnTo>
                <a:lnTo>
                  <a:pt x="147866" y="465172"/>
                </a:lnTo>
                <a:lnTo>
                  <a:pt x="106742" y="442850"/>
                </a:lnTo>
                <a:lnTo>
                  <a:pt x="70912" y="413286"/>
                </a:lnTo>
                <a:lnTo>
                  <a:pt x="41348" y="377456"/>
                </a:lnTo>
                <a:lnTo>
                  <a:pt x="19026" y="336332"/>
                </a:lnTo>
                <a:lnTo>
                  <a:pt x="4918" y="290888"/>
                </a:lnTo>
                <a:lnTo>
                  <a:pt x="0" y="242099"/>
                </a:lnTo>
                <a:lnTo>
                  <a:pt x="4918" y="193310"/>
                </a:lnTo>
                <a:lnTo>
                  <a:pt x="19026" y="147866"/>
                </a:lnTo>
                <a:lnTo>
                  <a:pt x="41348" y="106742"/>
                </a:lnTo>
                <a:lnTo>
                  <a:pt x="70927" y="70899"/>
                </a:lnTo>
                <a:lnTo>
                  <a:pt x="106742" y="41348"/>
                </a:lnTo>
                <a:lnTo>
                  <a:pt x="147866" y="19026"/>
                </a:lnTo>
                <a:lnTo>
                  <a:pt x="193310" y="4918"/>
                </a:lnTo>
                <a:lnTo>
                  <a:pt x="242099" y="0"/>
                </a:lnTo>
                <a:lnTo>
                  <a:pt x="289559" y="4693"/>
                </a:lnTo>
                <a:lnTo>
                  <a:pt x="334758" y="18424"/>
                </a:lnTo>
                <a:lnTo>
                  <a:pt x="376427" y="40668"/>
                </a:lnTo>
                <a:lnTo>
                  <a:pt x="413309" y="70912"/>
                </a:lnTo>
                <a:lnTo>
                  <a:pt x="443530" y="107774"/>
                </a:lnTo>
                <a:lnTo>
                  <a:pt x="465774" y="149449"/>
                </a:lnTo>
                <a:lnTo>
                  <a:pt x="479505" y="194649"/>
                </a:lnTo>
                <a:lnTo>
                  <a:pt x="484199" y="242099"/>
                </a:lnTo>
                <a:lnTo>
                  <a:pt x="479280" y="290888"/>
                </a:lnTo>
                <a:lnTo>
                  <a:pt x="465172" y="336332"/>
                </a:lnTo>
                <a:lnTo>
                  <a:pt x="442850" y="377456"/>
                </a:lnTo>
                <a:lnTo>
                  <a:pt x="413286" y="413286"/>
                </a:lnTo>
                <a:lnTo>
                  <a:pt x="377456" y="442850"/>
                </a:lnTo>
                <a:lnTo>
                  <a:pt x="336332" y="465172"/>
                </a:lnTo>
                <a:lnTo>
                  <a:pt x="290888" y="479280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6EA8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885551" y="3718559"/>
            <a:ext cx="2374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071740" y="2433095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5">
                <a:moveTo>
                  <a:pt x="242099" y="484199"/>
                </a:moveTo>
                <a:lnTo>
                  <a:pt x="193303" y="479280"/>
                </a:lnTo>
                <a:lnTo>
                  <a:pt x="147856" y="465172"/>
                </a:lnTo>
                <a:lnTo>
                  <a:pt x="106731" y="442850"/>
                </a:lnTo>
                <a:lnTo>
                  <a:pt x="70902" y="413286"/>
                </a:lnTo>
                <a:lnTo>
                  <a:pt x="41342" y="377456"/>
                </a:lnTo>
                <a:lnTo>
                  <a:pt x="19023" y="336332"/>
                </a:lnTo>
                <a:lnTo>
                  <a:pt x="4917" y="290888"/>
                </a:lnTo>
                <a:lnTo>
                  <a:pt x="0" y="242099"/>
                </a:lnTo>
                <a:lnTo>
                  <a:pt x="4917" y="193310"/>
                </a:lnTo>
                <a:lnTo>
                  <a:pt x="19023" y="147866"/>
                </a:lnTo>
                <a:lnTo>
                  <a:pt x="41342" y="106742"/>
                </a:lnTo>
                <a:lnTo>
                  <a:pt x="70918" y="70899"/>
                </a:lnTo>
                <a:lnTo>
                  <a:pt x="106731" y="41348"/>
                </a:lnTo>
                <a:lnTo>
                  <a:pt x="147856" y="19026"/>
                </a:lnTo>
                <a:lnTo>
                  <a:pt x="193303" y="4918"/>
                </a:lnTo>
                <a:lnTo>
                  <a:pt x="242099" y="0"/>
                </a:lnTo>
                <a:lnTo>
                  <a:pt x="289545" y="4694"/>
                </a:lnTo>
                <a:lnTo>
                  <a:pt x="334736" y="18427"/>
                </a:lnTo>
                <a:lnTo>
                  <a:pt x="376403" y="40671"/>
                </a:lnTo>
                <a:lnTo>
                  <a:pt x="413284" y="70912"/>
                </a:lnTo>
                <a:lnTo>
                  <a:pt x="443509" y="107774"/>
                </a:lnTo>
                <a:lnTo>
                  <a:pt x="465761" y="149449"/>
                </a:lnTo>
                <a:lnTo>
                  <a:pt x="479501" y="194649"/>
                </a:lnTo>
                <a:lnTo>
                  <a:pt x="484199" y="242099"/>
                </a:lnTo>
                <a:lnTo>
                  <a:pt x="479280" y="290888"/>
                </a:lnTo>
                <a:lnTo>
                  <a:pt x="465172" y="336332"/>
                </a:lnTo>
                <a:lnTo>
                  <a:pt x="442850" y="377456"/>
                </a:lnTo>
                <a:lnTo>
                  <a:pt x="413286" y="413286"/>
                </a:lnTo>
                <a:lnTo>
                  <a:pt x="377456" y="442850"/>
                </a:lnTo>
                <a:lnTo>
                  <a:pt x="336332" y="465172"/>
                </a:lnTo>
                <a:lnTo>
                  <a:pt x="290888" y="479280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8E7C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190266" y="2550606"/>
            <a:ext cx="231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102493" y="3571468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10" y="479281"/>
                </a:lnTo>
                <a:lnTo>
                  <a:pt x="147866" y="465176"/>
                </a:lnTo>
                <a:lnTo>
                  <a:pt x="106742" y="442856"/>
                </a:lnTo>
                <a:lnTo>
                  <a:pt x="70912" y="413296"/>
                </a:lnTo>
                <a:lnTo>
                  <a:pt x="41348" y="377467"/>
                </a:lnTo>
                <a:lnTo>
                  <a:pt x="19026" y="336342"/>
                </a:lnTo>
                <a:lnTo>
                  <a:pt x="4918" y="290895"/>
                </a:lnTo>
                <a:lnTo>
                  <a:pt x="0" y="242099"/>
                </a:lnTo>
                <a:lnTo>
                  <a:pt x="4918" y="193310"/>
                </a:lnTo>
                <a:lnTo>
                  <a:pt x="19026" y="147866"/>
                </a:lnTo>
                <a:lnTo>
                  <a:pt x="41348" y="106742"/>
                </a:lnTo>
                <a:lnTo>
                  <a:pt x="70912" y="70912"/>
                </a:lnTo>
                <a:lnTo>
                  <a:pt x="106742" y="41348"/>
                </a:lnTo>
                <a:lnTo>
                  <a:pt x="147866" y="19026"/>
                </a:lnTo>
                <a:lnTo>
                  <a:pt x="193310" y="4918"/>
                </a:lnTo>
                <a:lnTo>
                  <a:pt x="242099" y="0"/>
                </a:lnTo>
                <a:lnTo>
                  <a:pt x="289559" y="4697"/>
                </a:lnTo>
                <a:lnTo>
                  <a:pt x="334758" y="18437"/>
                </a:lnTo>
                <a:lnTo>
                  <a:pt x="376427" y="40689"/>
                </a:lnTo>
                <a:lnTo>
                  <a:pt x="413299" y="70924"/>
                </a:lnTo>
                <a:lnTo>
                  <a:pt x="443530" y="107795"/>
                </a:lnTo>
                <a:lnTo>
                  <a:pt x="465774" y="149462"/>
                </a:lnTo>
                <a:lnTo>
                  <a:pt x="479505" y="194653"/>
                </a:lnTo>
                <a:lnTo>
                  <a:pt x="484199" y="242099"/>
                </a:lnTo>
                <a:lnTo>
                  <a:pt x="479281" y="290895"/>
                </a:lnTo>
                <a:lnTo>
                  <a:pt x="465176" y="336342"/>
                </a:lnTo>
                <a:lnTo>
                  <a:pt x="442856" y="377467"/>
                </a:lnTo>
                <a:lnTo>
                  <a:pt x="413296" y="413296"/>
                </a:lnTo>
                <a:lnTo>
                  <a:pt x="377467" y="442856"/>
                </a:lnTo>
                <a:lnTo>
                  <a:pt x="336342" y="465176"/>
                </a:lnTo>
                <a:lnTo>
                  <a:pt x="290895" y="479281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8E7C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221034" y="3688984"/>
            <a:ext cx="231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100418" y="3017068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03" y="479280"/>
                </a:lnTo>
                <a:lnTo>
                  <a:pt x="147856" y="465172"/>
                </a:lnTo>
                <a:lnTo>
                  <a:pt x="106731" y="442850"/>
                </a:lnTo>
                <a:lnTo>
                  <a:pt x="70902" y="413286"/>
                </a:lnTo>
                <a:lnTo>
                  <a:pt x="41342" y="377456"/>
                </a:lnTo>
                <a:lnTo>
                  <a:pt x="19023" y="336332"/>
                </a:lnTo>
                <a:lnTo>
                  <a:pt x="4917" y="290888"/>
                </a:lnTo>
                <a:lnTo>
                  <a:pt x="0" y="242099"/>
                </a:lnTo>
                <a:lnTo>
                  <a:pt x="4917" y="193303"/>
                </a:lnTo>
                <a:lnTo>
                  <a:pt x="19023" y="147856"/>
                </a:lnTo>
                <a:lnTo>
                  <a:pt x="41342" y="106731"/>
                </a:lnTo>
                <a:lnTo>
                  <a:pt x="70906" y="70899"/>
                </a:lnTo>
                <a:lnTo>
                  <a:pt x="106731" y="41342"/>
                </a:lnTo>
                <a:lnTo>
                  <a:pt x="147856" y="19023"/>
                </a:lnTo>
                <a:lnTo>
                  <a:pt x="193303" y="4917"/>
                </a:lnTo>
                <a:lnTo>
                  <a:pt x="242099" y="0"/>
                </a:lnTo>
                <a:lnTo>
                  <a:pt x="289545" y="4693"/>
                </a:lnTo>
                <a:lnTo>
                  <a:pt x="334736" y="18424"/>
                </a:lnTo>
                <a:lnTo>
                  <a:pt x="376403" y="40668"/>
                </a:lnTo>
                <a:lnTo>
                  <a:pt x="413276" y="70902"/>
                </a:lnTo>
                <a:lnTo>
                  <a:pt x="443509" y="107771"/>
                </a:lnTo>
                <a:lnTo>
                  <a:pt x="465761" y="149440"/>
                </a:lnTo>
                <a:lnTo>
                  <a:pt x="479501" y="194639"/>
                </a:lnTo>
                <a:lnTo>
                  <a:pt x="484199" y="242099"/>
                </a:lnTo>
                <a:lnTo>
                  <a:pt x="479280" y="290888"/>
                </a:lnTo>
                <a:lnTo>
                  <a:pt x="465172" y="336332"/>
                </a:lnTo>
                <a:lnTo>
                  <a:pt x="442850" y="377456"/>
                </a:lnTo>
                <a:lnTo>
                  <a:pt x="413286" y="413286"/>
                </a:lnTo>
                <a:lnTo>
                  <a:pt x="377456" y="442850"/>
                </a:lnTo>
                <a:lnTo>
                  <a:pt x="336332" y="465172"/>
                </a:lnTo>
                <a:lnTo>
                  <a:pt x="290888" y="479280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8E7CC3">
              <a:alpha val="1807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3218938" y="3134573"/>
            <a:ext cx="231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102493" y="4125891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10" y="479280"/>
                </a:lnTo>
                <a:lnTo>
                  <a:pt x="147866" y="465172"/>
                </a:lnTo>
                <a:lnTo>
                  <a:pt x="106742" y="442850"/>
                </a:lnTo>
                <a:lnTo>
                  <a:pt x="70912" y="413286"/>
                </a:lnTo>
                <a:lnTo>
                  <a:pt x="41348" y="377456"/>
                </a:lnTo>
                <a:lnTo>
                  <a:pt x="19026" y="336332"/>
                </a:lnTo>
                <a:lnTo>
                  <a:pt x="4918" y="290888"/>
                </a:lnTo>
                <a:lnTo>
                  <a:pt x="0" y="242099"/>
                </a:lnTo>
                <a:lnTo>
                  <a:pt x="4918" y="193310"/>
                </a:lnTo>
                <a:lnTo>
                  <a:pt x="19026" y="147866"/>
                </a:lnTo>
                <a:lnTo>
                  <a:pt x="41348" y="106742"/>
                </a:lnTo>
                <a:lnTo>
                  <a:pt x="70927" y="70899"/>
                </a:lnTo>
                <a:lnTo>
                  <a:pt x="106742" y="41348"/>
                </a:lnTo>
                <a:lnTo>
                  <a:pt x="147866" y="19026"/>
                </a:lnTo>
                <a:lnTo>
                  <a:pt x="193310" y="4918"/>
                </a:lnTo>
                <a:lnTo>
                  <a:pt x="242099" y="0"/>
                </a:lnTo>
                <a:lnTo>
                  <a:pt x="289559" y="4693"/>
                </a:lnTo>
                <a:lnTo>
                  <a:pt x="334758" y="18424"/>
                </a:lnTo>
                <a:lnTo>
                  <a:pt x="376427" y="40668"/>
                </a:lnTo>
                <a:lnTo>
                  <a:pt x="413309" y="70912"/>
                </a:lnTo>
                <a:lnTo>
                  <a:pt x="443530" y="107774"/>
                </a:lnTo>
                <a:lnTo>
                  <a:pt x="465774" y="149449"/>
                </a:lnTo>
                <a:lnTo>
                  <a:pt x="479505" y="194649"/>
                </a:lnTo>
                <a:lnTo>
                  <a:pt x="484199" y="242099"/>
                </a:lnTo>
                <a:lnTo>
                  <a:pt x="479281" y="290888"/>
                </a:lnTo>
                <a:lnTo>
                  <a:pt x="465176" y="336332"/>
                </a:lnTo>
                <a:lnTo>
                  <a:pt x="442856" y="377456"/>
                </a:lnTo>
                <a:lnTo>
                  <a:pt x="413296" y="413286"/>
                </a:lnTo>
                <a:lnTo>
                  <a:pt x="377467" y="442850"/>
                </a:lnTo>
                <a:lnTo>
                  <a:pt x="336342" y="465172"/>
                </a:lnTo>
                <a:lnTo>
                  <a:pt x="290895" y="479280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8E7C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221034" y="4243405"/>
            <a:ext cx="2381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100418" y="2462645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5">
                <a:moveTo>
                  <a:pt x="242099" y="484199"/>
                </a:moveTo>
                <a:lnTo>
                  <a:pt x="193303" y="479280"/>
                </a:lnTo>
                <a:lnTo>
                  <a:pt x="147856" y="465172"/>
                </a:lnTo>
                <a:lnTo>
                  <a:pt x="106731" y="442850"/>
                </a:lnTo>
                <a:lnTo>
                  <a:pt x="70902" y="413286"/>
                </a:lnTo>
                <a:lnTo>
                  <a:pt x="41342" y="377456"/>
                </a:lnTo>
                <a:lnTo>
                  <a:pt x="19023" y="336332"/>
                </a:lnTo>
                <a:lnTo>
                  <a:pt x="4917" y="290888"/>
                </a:lnTo>
                <a:lnTo>
                  <a:pt x="0" y="242099"/>
                </a:lnTo>
                <a:lnTo>
                  <a:pt x="4917" y="193310"/>
                </a:lnTo>
                <a:lnTo>
                  <a:pt x="19023" y="147866"/>
                </a:lnTo>
                <a:lnTo>
                  <a:pt x="41342" y="106742"/>
                </a:lnTo>
                <a:lnTo>
                  <a:pt x="70918" y="70899"/>
                </a:lnTo>
                <a:lnTo>
                  <a:pt x="106731" y="41348"/>
                </a:lnTo>
                <a:lnTo>
                  <a:pt x="147856" y="19026"/>
                </a:lnTo>
                <a:lnTo>
                  <a:pt x="193303" y="4918"/>
                </a:lnTo>
                <a:lnTo>
                  <a:pt x="242099" y="0"/>
                </a:lnTo>
                <a:lnTo>
                  <a:pt x="289545" y="4694"/>
                </a:lnTo>
                <a:lnTo>
                  <a:pt x="334736" y="18427"/>
                </a:lnTo>
                <a:lnTo>
                  <a:pt x="376403" y="40671"/>
                </a:lnTo>
                <a:lnTo>
                  <a:pt x="413284" y="70912"/>
                </a:lnTo>
                <a:lnTo>
                  <a:pt x="443509" y="107774"/>
                </a:lnTo>
                <a:lnTo>
                  <a:pt x="465761" y="149449"/>
                </a:lnTo>
                <a:lnTo>
                  <a:pt x="479501" y="194649"/>
                </a:lnTo>
                <a:lnTo>
                  <a:pt x="484199" y="242099"/>
                </a:lnTo>
                <a:lnTo>
                  <a:pt x="479280" y="290888"/>
                </a:lnTo>
                <a:lnTo>
                  <a:pt x="465172" y="336332"/>
                </a:lnTo>
                <a:lnTo>
                  <a:pt x="442850" y="377456"/>
                </a:lnTo>
                <a:lnTo>
                  <a:pt x="413286" y="413286"/>
                </a:lnTo>
                <a:lnTo>
                  <a:pt x="377456" y="442850"/>
                </a:lnTo>
                <a:lnTo>
                  <a:pt x="336332" y="465172"/>
                </a:lnTo>
                <a:lnTo>
                  <a:pt x="290888" y="479280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8E7CC3">
              <a:alpha val="1807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3218938" y="2580153"/>
            <a:ext cx="231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689968" y="3305730"/>
            <a:ext cx="1733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latin typeface="Arial"/>
                <a:cs typeface="Arial"/>
              </a:rPr>
              <a:t>...</a:t>
            </a:r>
            <a:endParaRPr sz="14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2507619" y="2930369"/>
            <a:ext cx="495300" cy="1185545"/>
          </a:xfrm>
          <a:custGeom>
            <a:avLst/>
            <a:gdLst/>
            <a:ahLst/>
            <a:cxnLst/>
            <a:rect l="l" t="t" r="r" b="b"/>
            <a:pathLst>
              <a:path w="495300" h="1185545">
                <a:moveTo>
                  <a:pt x="0" y="1135497"/>
                </a:moveTo>
                <a:lnTo>
                  <a:pt x="444299" y="0"/>
                </a:lnTo>
              </a:path>
              <a:path w="495300" h="1185545">
                <a:moveTo>
                  <a:pt x="494699" y="1185047"/>
                </a:moveTo>
                <a:lnTo>
                  <a:pt x="50399" y="37549"/>
                </a:lnTo>
              </a:path>
            </a:pathLst>
          </a:custGeom>
          <a:ln w="19049">
            <a:solidFill>
              <a:srgbClr val="7790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944042" y="2905594"/>
            <a:ext cx="495300" cy="1185545"/>
          </a:xfrm>
          <a:custGeom>
            <a:avLst/>
            <a:gdLst/>
            <a:ahLst/>
            <a:cxnLst/>
            <a:rect l="l" t="t" r="r" b="b"/>
            <a:pathLst>
              <a:path w="495300" h="1185545">
                <a:moveTo>
                  <a:pt x="0" y="1135497"/>
                </a:moveTo>
                <a:lnTo>
                  <a:pt x="444299" y="0"/>
                </a:lnTo>
              </a:path>
              <a:path w="495300" h="1185545">
                <a:moveTo>
                  <a:pt x="494699" y="1185047"/>
                </a:moveTo>
                <a:lnTo>
                  <a:pt x="50399" y="37549"/>
                </a:lnTo>
              </a:path>
            </a:pathLst>
          </a:custGeom>
          <a:ln w="19049">
            <a:solidFill>
              <a:srgbClr val="7790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915162" y="2880819"/>
            <a:ext cx="495300" cy="1185545"/>
          </a:xfrm>
          <a:custGeom>
            <a:avLst/>
            <a:gdLst/>
            <a:ahLst/>
            <a:cxnLst/>
            <a:rect l="l" t="t" r="r" b="b"/>
            <a:pathLst>
              <a:path w="495300" h="1185545">
                <a:moveTo>
                  <a:pt x="0" y="1135497"/>
                </a:moveTo>
                <a:lnTo>
                  <a:pt x="444299" y="0"/>
                </a:lnTo>
              </a:path>
              <a:path w="495300" h="1185545">
                <a:moveTo>
                  <a:pt x="494699" y="1185047"/>
                </a:moveTo>
                <a:lnTo>
                  <a:pt x="50399" y="37549"/>
                </a:lnTo>
              </a:path>
            </a:pathLst>
          </a:custGeom>
          <a:ln w="19049">
            <a:solidFill>
              <a:srgbClr val="7790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Regularization</a:t>
            </a:r>
            <a:r>
              <a:rPr spc="-60" dirty="0"/>
              <a:t> </a:t>
            </a:r>
            <a:r>
              <a:rPr dirty="0"/>
              <a:t>I:</a:t>
            </a:r>
            <a:r>
              <a:rPr spc="-60" dirty="0"/>
              <a:t> </a:t>
            </a:r>
            <a:r>
              <a:rPr spc="-10" dirty="0"/>
              <a:t>Dropout</a:t>
            </a:r>
          </a:p>
        </p:txBody>
      </p:sp>
      <p:sp>
        <p:nvSpPr>
          <p:cNvPr id="38" name="object 8">
            <a:extLst>
              <a:ext uri="{FF2B5EF4-FFF2-40B4-BE49-F238E27FC236}">
                <a16:creationId xmlns:a16="http://schemas.microsoft.com/office/drawing/2014/main" id="{0C3F023E-0E7F-1DE0-C0A4-7525FD3144B1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590800" y="4716893"/>
            <a:ext cx="4179570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05"/>
              </a:lnSpc>
            </a:pPr>
            <a:r>
              <a:rPr lang="fr-FR" spc="-50" dirty="0"/>
              <a:t>ESILV</a:t>
            </a:r>
            <a:r>
              <a:rPr spc="-50" dirty="0"/>
              <a:t> </a:t>
            </a:r>
            <a:r>
              <a:rPr spc="-45" dirty="0"/>
              <a:t> </a:t>
            </a:r>
            <a:r>
              <a:rPr dirty="0">
                <a:solidFill>
                  <a:srgbClr val="0097A7"/>
                </a:solidFill>
              </a:rPr>
              <a:t>|</a:t>
            </a:r>
            <a:r>
              <a:rPr spc="-45" dirty="0">
                <a:solidFill>
                  <a:srgbClr val="0097A7"/>
                </a:solidFill>
              </a:rPr>
              <a:t> </a:t>
            </a:r>
            <a:r>
              <a:rPr spc="-10" dirty="0"/>
              <a:t>Intro</a:t>
            </a:r>
            <a:r>
              <a:rPr spc="-50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Deep</a:t>
            </a:r>
            <a:r>
              <a:rPr spc="-50" dirty="0"/>
              <a:t> </a:t>
            </a:r>
            <a:r>
              <a:rPr spc="-10" dirty="0"/>
              <a:t>Learning</a:t>
            </a:r>
            <a:r>
              <a:rPr spc="-40" dirty="0"/>
              <a:t> </a:t>
            </a:r>
            <a:r>
              <a:rPr dirty="0">
                <a:solidFill>
                  <a:srgbClr val="0097A7"/>
                </a:solidFill>
              </a:rPr>
              <a:t>|</a:t>
            </a:r>
            <a:r>
              <a:rPr spc="-50" dirty="0">
                <a:solidFill>
                  <a:srgbClr val="0097A7"/>
                </a:solidFill>
              </a:rPr>
              <a:t> </a:t>
            </a:r>
            <a:r>
              <a:rPr lang="fr-FR" spc="-50" dirty="0">
                <a:solidFill>
                  <a:srgbClr val="0097A7"/>
                </a:solidFill>
              </a:rPr>
              <a:t> </a:t>
            </a:r>
            <a:r>
              <a:rPr lang="fr-FR" spc="-50" dirty="0" err="1">
                <a:solidFill>
                  <a:srgbClr val="0097A7"/>
                </a:solidFill>
              </a:rPr>
              <a:t>K.Kadri</a:t>
            </a:r>
            <a:endParaRPr spc="-2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5248" y="1162309"/>
            <a:ext cx="5521325" cy="85725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During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training,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randomly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set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some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activations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solidFill>
                  <a:srgbClr val="595959"/>
                </a:solidFill>
                <a:latin typeface="Arial MT"/>
                <a:cs typeface="Arial MT"/>
              </a:rPr>
              <a:t>0</a:t>
            </a:r>
            <a:endParaRPr sz="1800">
              <a:latin typeface="Arial MT"/>
              <a:cs typeface="Arial MT"/>
            </a:endParaRPr>
          </a:p>
          <a:p>
            <a:pPr marL="836294" lvl="1" indent="-335915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Typically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‘drop’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50%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activations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in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 layer</a:t>
            </a:r>
            <a:endParaRPr sz="1400">
              <a:latin typeface="Arial MT"/>
              <a:cs typeface="Arial MT"/>
            </a:endParaRPr>
          </a:p>
          <a:p>
            <a:pPr marL="836294" lvl="1" indent="-335915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Forces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network</a:t>
            </a:r>
            <a:r>
              <a:rPr sz="14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not</a:t>
            </a:r>
            <a:r>
              <a:rPr sz="14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rely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on</a:t>
            </a:r>
            <a:r>
              <a:rPr sz="14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any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1</a:t>
            </a:r>
            <a:r>
              <a:rPr sz="14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node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840426" y="2676369"/>
            <a:ext cx="516890" cy="516890"/>
          </a:xfrm>
          <a:custGeom>
            <a:avLst/>
            <a:gdLst/>
            <a:ahLst/>
            <a:cxnLst/>
            <a:rect l="l" t="t" r="r" b="b"/>
            <a:pathLst>
              <a:path w="516889" h="516889">
                <a:moveTo>
                  <a:pt x="258299" y="516598"/>
                </a:moveTo>
                <a:lnTo>
                  <a:pt x="211869" y="512437"/>
                </a:lnTo>
                <a:lnTo>
                  <a:pt x="168170" y="500438"/>
                </a:lnTo>
                <a:lnTo>
                  <a:pt x="127930" y="481332"/>
                </a:lnTo>
                <a:lnTo>
                  <a:pt x="91880" y="455848"/>
                </a:lnTo>
                <a:lnTo>
                  <a:pt x="60748" y="424716"/>
                </a:lnTo>
                <a:lnTo>
                  <a:pt x="35265" y="388665"/>
                </a:lnTo>
                <a:lnTo>
                  <a:pt x="16159" y="348426"/>
                </a:lnTo>
                <a:lnTo>
                  <a:pt x="4161" y="304727"/>
                </a:lnTo>
                <a:lnTo>
                  <a:pt x="0" y="258299"/>
                </a:lnTo>
                <a:lnTo>
                  <a:pt x="4161" y="211871"/>
                </a:lnTo>
                <a:lnTo>
                  <a:pt x="16159" y="168172"/>
                </a:lnTo>
                <a:lnTo>
                  <a:pt x="35265" y="127933"/>
                </a:lnTo>
                <a:lnTo>
                  <a:pt x="60748" y="91882"/>
                </a:lnTo>
                <a:lnTo>
                  <a:pt x="91880" y="60750"/>
                </a:lnTo>
                <a:lnTo>
                  <a:pt x="127930" y="35266"/>
                </a:lnTo>
                <a:lnTo>
                  <a:pt x="168170" y="16160"/>
                </a:lnTo>
                <a:lnTo>
                  <a:pt x="211869" y="4161"/>
                </a:lnTo>
                <a:lnTo>
                  <a:pt x="258299" y="0"/>
                </a:lnTo>
                <a:lnTo>
                  <a:pt x="308926" y="5010"/>
                </a:lnTo>
                <a:lnTo>
                  <a:pt x="357146" y="19665"/>
                </a:lnTo>
                <a:lnTo>
                  <a:pt x="401603" y="43400"/>
                </a:lnTo>
                <a:lnTo>
                  <a:pt x="440944" y="75649"/>
                </a:lnTo>
                <a:lnTo>
                  <a:pt x="473200" y="114995"/>
                </a:lnTo>
                <a:lnTo>
                  <a:pt x="496936" y="159455"/>
                </a:lnTo>
                <a:lnTo>
                  <a:pt x="511589" y="207675"/>
                </a:lnTo>
                <a:lnTo>
                  <a:pt x="516598" y="258299"/>
                </a:lnTo>
                <a:lnTo>
                  <a:pt x="512437" y="304727"/>
                </a:lnTo>
                <a:lnTo>
                  <a:pt x="500439" y="348426"/>
                </a:lnTo>
                <a:lnTo>
                  <a:pt x="481333" y="388665"/>
                </a:lnTo>
                <a:lnTo>
                  <a:pt x="455850" y="424716"/>
                </a:lnTo>
                <a:lnTo>
                  <a:pt x="424718" y="455848"/>
                </a:lnTo>
                <a:lnTo>
                  <a:pt x="388668" y="481332"/>
                </a:lnTo>
                <a:lnTo>
                  <a:pt x="348428" y="500438"/>
                </a:lnTo>
                <a:lnTo>
                  <a:pt x="304729" y="512437"/>
                </a:lnTo>
                <a:lnTo>
                  <a:pt x="258299" y="516598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963708" y="2810091"/>
            <a:ext cx="21462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3950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350" baseline="-3395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856626" y="3265593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5" h="484504">
                <a:moveTo>
                  <a:pt x="242099" y="484199"/>
                </a:moveTo>
                <a:lnTo>
                  <a:pt x="193308" y="479281"/>
                </a:lnTo>
                <a:lnTo>
                  <a:pt x="147863" y="465176"/>
                </a:lnTo>
                <a:lnTo>
                  <a:pt x="106739" y="442856"/>
                </a:lnTo>
                <a:lnTo>
                  <a:pt x="70909" y="413296"/>
                </a:lnTo>
                <a:lnTo>
                  <a:pt x="41346" y="377467"/>
                </a:lnTo>
                <a:lnTo>
                  <a:pt x="19025" y="336342"/>
                </a:lnTo>
                <a:lnTo>
                  <a:pt x="4918" y="290895"/>
                </a:lnTo>
                <a:lnTo>
                  <a:pt x="0" y="242099"/>
                </a:lnTo>
                <a:lnTo>
                  <a:pt x="4918" y="193310"/>
                </a:lnTo>
                <a:lnTo>
                  <a:pt x="19025" y="147866"/>
                </a:lnTo>
                <a:lnTo>
                  <a:pt x="41346" y="106742"/>
                </a:lnTo>
                <a:lnTo>
                  <a:pt x="70909" y="70912"/>
                </a:lnTo>
                <a:lnTo>
                  <a:pt x="106739" y="41348"/>
                </a:lnTo>
                <a:lnTo>
                  <a:pt x="147863" y="19026"/>
                </a:lnTo>
                <a:lnTo>
                  <a:pt x="193308" y="4918"/>
                </a:lnTo>
                <a:lnTo>
                  <a:pt x="242099" y="0"/>
                </a:lnTo>
                <a:lnTo>
                  <a:pt x="289550" y="4697"/>
                </a:lnTo>
                <a:lnTo>
                  <a:pt x="334746" y="18437"/>
                </a:lnTo>
                <a:lnTo>
                  <a:pt x="376415" y="40689"/>
                </a:lnTo>
                <a:lnTo>
                  <a:pt x="413289" y="70924"/>
                </a:lnTo>
                <a:lnTo>
                  <a:pt x="443522" y="107795"/>
                </a:lnTo>
                <a:lnTo>
                  <a:pt x="465770" y="149462"/>
                </a:lnTo>
                <a:lnTo>
                  <a:pt x="479504" y="194653"/>
                </a:lnTo>
                <a:lnTo>
                  <a:pt x="484199" y="242099"/>
                </a:lnTo>
                <a:lnTo>
                  <a:pt x="479280" y="290895"/>
                </a:lnTo>
                <a:lnTo>
                  <a:pt x="465173" y="336342"/>
                </a:lnTo>
                <a:lnTo>
                  <a:pt x="442852" y="377467"/>
                </a:lnTo>
                <a:lnTo>
                  <a:pt x="413289" y="413296"/>
                </a:lnTo>
                <a:lnTo>
                  <a:pt x="377459" y="442856"/>
                </a:lnTo>
                <a:lnTo>
                  <a:pt x="336335" y="465176"/>
                </a:lnTo>
                <a:lnTo>
                  <a:pt x="290890" y="479281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975157" y="3383118"/>
            <a:ext cx="21462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856626" y="3822417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5" h="484504">
                <a:moveTo>
                  <a:pt x="242099" y="484199"/>
                </a:moveTo>
                <a:lnTo>
                  <a:pt x="193308" y="479281"/>
                </a:lnTo>
                <a:lnTo>
                  <a:pt x="147863" y="465176"/>
                </a:lnTo>
                <a:lnTo>
                  <a:pt x="106739" y="442856"/>
                </a:lnTo>
                <a:lnTo>
                  <a:pt x="70909" y="413296"/>
                </a:lnTo>
                <a:lnTo>
                  <a:pt x="41346" y="377467"/>
                </a:lnTo>
                <a:lnTo>
                  <a:pt x="19025" y="336342"/>
                </a:lnTo>
                <a:lnTo>
                  <a:pt x="4918" y="290895"/>
                </a:lnTo>
                <a:lnTo>
                  <a:pt x="0" y="242099"/>
                </a:lnTo>
                <a:lnTo>
                  <a:pt x="4918" y="193310"/>
                </a:lnTo>
                <a:lnTo>
                  <a:pt x="19025" y="147866"/>
                </a:lnTo>
                <a:lnTo>
                  <a:pt x="41346" y="106742"/>
                </a:lnTo>
                <a:lnTo>
                  <a:pt x="70909" y="70912"/>
                </a:lnTo>
                <a:lnTo>
                  <a:pt x="106739" y="41348"/>
                </a:lnTo>
                <a:lnTo>
                  <a:pt x="147863" y="19026"/>
                </a:lnTo>
                <a:lnTo>
                  <a:pt x="193308" y="4918"/>
                </a:lnTo>
                <a:lnTo>
                  <a:pt x="242099" y="0"/>
                </a:lnTo>
                <a:lnTo>
                  <a:pt x="289550" y="4697"/>
                </a:lnTo>
                <a:lnTo>
                  <a:pt x="334746" y="18437"/>
                </a:lnTo>
                <a:lnTo>
                  <a:pt x="376415" y="40689"/>
                </a:lnTo>
                <a:lnTo>
                  <a:pt x="413289" y="70924"/>
                </a:lnTo>
                <a:lnTo>
                  <a:pt x="443522" y="107795"/>
                </a:lnTo>
                <a:lnTo>
                  <a:pt x="465770" y="149462"/>
                </a:lnTo>
                <a:lnTo>
                  <a:pt x="479504" y="194653"/>
                </a:lnTo>
                <a:lnTo>
                  <a:pt x="484199" y="242099"/>
                </a:lnTo>
                <a:lnTo>
                  <a:pt x="479280" y="290895"/>
                </a:lnTo>
                <a:lnTo>
                  <a:pt x="465173" y="336342"/>
                </a:lnTo>
                <a:lnTo>
                  <a:pt x="442852" y="377467"/>
                </a:lnTo>
                <a:lnTo>
                  <a:pt x="413289" y="413296"/>
                </a:lnTo>
                <a:lnTo>
                  <a:pt x="377459" y="442856"/>
                </a:lnTo>
                <a:lnTo>
                  <a:pt x="336335" y="465176"/>
                </a:lnTo>
                <a:lnTo>
                  <a:pt x="290890" y="479281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FFAA3F">
              <a:alpha val="537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975157" y="3939939"/>
            <a:ext cx="2203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073815" y="3542793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10" y="479281"/>
                </a:lnTo>
                <a:lnTo>
                  <a:pt x="147866" y="465176"/>
                </a:lnTo>
                <a:lnTo>
                  <a:pt x="106742" y="442856"/>
                </a:lnTo>
                <a:lnTo>
                  <a:pt x="70912" y="413296"/>
                </a:lnTo>
                <a:lnTo>
                  <a:pt x="41348" y="377467"/>
                </a:lnTo>
                <a:lnTo>
                  <a:pt x="19026" y="336342"/>
                </a:lnTo>
                <a:lnTo>
                  <a:pt x="4918" y="290895"/>
                </a:lnTo>
                <a:lnTo>
                  <a:pt x="0" y="242099"/>
                </a:lnTo>
                <a:lnTo>
                  <a:pt x="4918" y="193310"/>
                </a:lnTo>
                <a:lnTo>
                  <a:pt x="19026" y="147866"/>
                </a:lnTo>
                <a:lnTo>
                  <a:pt x="41348" y="106742"/>
                </a:lnTo>
                <a:lnTo>
                  <a:pt x="70912" y="70912"/>
                </a:lnTo>
                <a:lnTo>
                  <a:pt x="106742" y="41348"/>
                </a:lnTo>
                <a:lnTo>
                  <a:pt x="147866" y="19026"/>
                </a:lnTo>
                <a:lnTo>
                  <a:pt x="193310" y="4918"/>
                </a:lnTo>
                <a:lnTo>
                  <a:pt x="242099" y="0"/>
                </a:lnTo>
                <a:lnTo>
                  <a:pt x="289559" y="4697"/>
                </a:lnTo>
                <a:lnTo>
                  <a:pt x="334758" y="18437"/>
                </a:lnTo>
                <a:lnTo>
                  <a:pt x="376427" y="40689"/>
                </a:lnTo>
                <a:lnTo>
                  <a:pt x="413299" y="70924"/>
                </a:lnTo>
                <a:lnTo>
                  <a:pt x="443530" y="107795"/>
                </a:lnTo>
                <a:lnTo>
                  <a:pt x="465774" y="149462"/>
                </a:lnTo>
                <a:lnTo>
                  <a:pt x="479505" y="194653"/>
                </a:lnTo>
                <a:lnTo>
                  <a:pt x="484199" y="242099"/>
                </a:lnTo>
                <a:lnTo>
                  <a:pt x="479281" y="290895"/>
                </a:lnTo>
                <a:lnTo>
                  <a:pt x="465176" y="336342"/>
                </a:lnTo>
                <a:lnTo>
                  <a:pt x="442856" y="377467"/>
                </a:lnTo>
                <a:lnTo>
                  <a:pt x="413296" y="413296"/>
                </a:lnTo>
                <a:lnTo>
                  <a:pt x="377467" y="442856"/>
                </a:lnTo>
                <a:lnTo>
                  <a:pt x="336342" y="465176"/>
                </a:lnTo>
                <a:lnTo>
                  <a:pt x="290895" y="479281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8E7C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192352" y="3660314"/>
            <a:ext cx="231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68931" y="2117488"/>
            <a:ext cx="460375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22225" marR="5080" indent="-10160">
              <a:lnSpc>
                <a:spcPts val="1650"/>
              </a:lnSpc>
              <a:spcBef>
                <a:spcPts val="180"/>
              </a:spcBef>
            </a:pPr>
            <a:r>
              <a:rPr sz="1400" b="1" spc="-10" dirty="0">
                <a:solidFill>
                  <a:srgbClr val="FFAA3F"/>
                </a:solidFill>
                <a:latin typeface="Arial"/>
                <a:cs typeface="Arial"/>
              </a:rPr>
              <a:t>Input layer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89510" y="2102934"/>
            <a:ext cx="607695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46355" marR="5080" indent="-34290">
              <a:lnSpc>
                <a:spcPts val="1650"/>
              </a:lnSpc>
              <a:spcBef>
                <a:spcPts val="180"/>
              </a:spcBef>
            </a:pPr>
            <a:r>
              <a:rPr sz="1400" b="1" spc="-10" dirty="0">
                <a:solidFill>
                  <a:srgbClr val="8E7CC3"/>
                </a:solidFill>
                <a:latin typeface="Arial"/>
                <a:cs typeface="Arial"/>
              </a:rPr>
              <a:t>hidden layers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18051" y="2102934"/>
            <a:ext cx="578485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81280" marR="5080" indent="-69215">
              <a:lnSpc>
                <a:spcPts val="1650"/>
              </a:lnSpc>
              <a:spcBef>
                <a:spcPts val="180"/>
              </a:spcBef>
            </a:pPr>
            <a:r>
              <a:rPr sz="1400" b="1" spc="-10" dirty="0">
                <a:solidFill>
                  <a:srgbClr val="6EA8DB"/>
                </a:solidFill>
                <a:latin typeface="Arial"/>
                <a:cs typeface="Arial"/>
              </a:rPr>
              <a:t>output layer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071740" y="2988394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03" y="479280"/>
                </a:lnTo>
                <a:lnTo>
                  <a:pt x="147856" y="465172"/>
                </a:lnTo>
                <a:lnTo>
                  <a:pt x="106731" y="442850"/>
                </a:lnTo>
                <a:lnTo>
                  <a:pt x="70902" y="413286"/>
                </a:lnTo>
                <a:lnTo>
                  <a:pt x="41342" y="377456"/>
                </a:lnTo>
                <a:lnTo>
                  <a:pt x="19023" y="336332"/>
                </a:lnTo>
                <a:lnTo>
                  <a:pt x="4917" y="290888"/>
                </a:lnTo>
                <a:lnTo>
                  <a:pt x="0" y="242099"/>
                </a:lnTo>
                <a:lnTo>
                  <a:pt x="4917" y="193303"/>
                </a:lnTo>
                <a:lnTo>
                  <a:pt x="19023" y="147856"/>
                </a:lnTo>
                <a:lnTo>
                  <a:pt x="41342" y="106731"/>
                </a:lnTo>
                <a:lnTo>
                  <a:pt x="70906" y="70899"/>
                </a:lnTo>
                <a:lnTo>
                  <a:pt x="106731" y="41342"/>
                </a:lnTo>
                <a:lnTo>
                  <a:pt x="147856" y="19023"/>
                </a:lnTo>
                <a:lnTo>
                  <a:pt x="193303" y="4917"/>
                </a:lnTo>
                <a:lnTo>
                  <a:pt x="242099" y="0"/>
                </a:lnTo>
                <a:lnTo>
                  <a:pt x="289545" y="4693"/>
                </a:lnTo>
                <a:lnTo>
                  <a:pt x="334736" y="18424"/>
                </a:lnTo>
                <a:lnTo>
                  <a:pt x="376403" y="40668"/>
                </a:lnTo>
                <a:lnTo>
                  <a:pt x="413276" y="70902"/>
                </a:lnTo>
                <a:lnTo>
                  <a:pt x="443509" y="107771"/>
                </a:lnTo>
                <a:lnTo>
                  <a:pt x="465761" y="149440"/>
                </a:lnTo>
                <a:lnTo>
                  <a:pt x="479501" y="194639"/>
                </a:lnTo>
                <a:lnTo>
                  <a:pt x="484199" y="242099"/>
                </a:lnTo>
                <a:lnTo>
                  <a:pt x="479280" y="290888"/>
                </a:lnTo>
                <a:lnTo>
                  <a:pt x="465172" y="336332"/>
                </a:lnTo>
                <a:lnTo>
                  <a:pt x="442850" y="377456"/>
                </a:lnTo>
                <a:lnTo>
                  <a:pt x="413286" y="413286"/>
                </a:lnTo>
                <a:lnTo>
                  <a:pt x="377456" y="442850"/>
                </a:lnTo>
                <a:lnTo>
                  <a:pt x="336332" y="465172"/>
                </a:lnTo>
                <a:lnTo>
                  <a:pt x="290888" y="479280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8E7C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190266" y="3105903"/>
            <a:ext cx="231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350" spc="-37" baseline="-339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350" baseline="-3395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073815" y="4097216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10" y="479280"/>
                </a:lnTo>
                <a:lnTo>
                  <a:pt x="147866" y="465172"/>
                </a:lnTo>
                <a:lnTo>
                  <a:pt x="106742" y="442850"/>
                </a:lnTo>
                <a:lnTo>
                  <a:pt x="70912" y="413286"/>
                </a:lnTo>
                <a:lnTo>
                  <a:pt x="41348" y="377456"/>
                </a:lnTo>
                <a:lnTo>
                  <a:pt x="19026" y="336332"/>
                </a:lnTo>
                <a:lnTo>
                  <a:pt x="4918" y="290888"/>
                </a:lnTo>
                <a:lnTo>
                  <a:pt x="0" y="242099"/>
                </a:lnTo>
                <a:lnTo>
                  <a:pt x="4918" y="193310"/>
                </a:lnTo>
                <a:lnTo>
                  <a:pt x="19026" y="147866"/>
                </a:lnTo>
                <a:lnTo>
                  <a:pt x="41348" y="106742"/>
                </a:lnTo>
                <a:lnTo>
                  <a:pt x="70927" y="70899"/>
                </a:lnTo>
                <a:lnTo>
                  <a:pt x="106742" y="41348"/>
                </a:lnTo>
                <a:lnTo>
                  <a:pt x="147866" y="19026"/>
                </a:lnTo>
                <a:lnTo>
                  <a:pt x="193310" y="4918"/>
                </a:lnTo>
                <a:lnTo>
                  <a:pt x="242099" y="0"/>
                </a:lnTo>
                <a:lnTo>
                  <a:pt x="289559" y="4693"/>
                </a:lnTo>
                <a:lnTo>
                  <a:pt x="334758" y="18424"/>
                </a:lnTo>
                <a:lnTo>
                  <a:pt x="376427" y="40668"/>
                </a:lnTo>
                <a:lnTo>
                  <a:pt x="413309" y="70912"/>
                </a:lnTo>
                <a:lnTo>
                  <a:pt x="443530" y="107785"/>
                </a:lnTo>
                <a:lnTo>
                  <a:pt x="465774" y="149459"/>
                </a:lnTo>
                <a:lnTo>
                  <a:pt x="479505" y="194653"/>
                </a:lnTo>
                <a:lnTo>
                  <a:pt x="484199" y="242099"/>
                </a:lnTo>
                <a:lnTo>
                  <a:pt x="479281" y="290888"/>
                </a:lnTo>
                <a:lnTo>
                  <a:pt x="465176" y="336332"/>
                </a:lnTo>
                <a:lnTo>
                  <a:pt x="442856" y="377456"/>
                </a:lnTo>
                <a:lnTo>
                  <a:pt x="413296" y="413286"/>
                </a:lnTo>
                <a:lnTo>
                  <a:pt x="377467" y="442850"/>
                </a:lnTo>
                <a:lnTo>
                  <a:pt x="336342" y="465172"/>
                </a:lnTo>
                <a:lnTo>
                  <a:pt x="290895" y="479280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8E7CC3">
              <a:alpha val="1803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192352" y="4214734"/>
            <a:ext cx="2381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764936" y="3005469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03" y="479280"/>
                </a:lnTo>
                <a:lnTo>
                  <a:pt x="147856" y="465172"/>
                </a:lnTo>
                <a:lnTo>
                  <a:pt x="106731" y="442850"/>
                </a:lnTo>
                <a:lnTo>
                  <a:pt x="70902" y="413286"/>
                </a:lnTo>
                <a:lnTo>
                  <a:pt x="41342" y="377456"/>
                </a:lnTo>
                <a:lnTo>
                  <a:pt x="19023" y="336332"/>
                </a:lnTo>
                <a:lnTo>
                  <a:pt x="4917" y="290888"/>
                </a:lnTo>
                <a:lnTo>
                  <a:pt x="0" y="242099"/>
                </a:lnTo>
                <a:lnTo>
                  <a:pt x="4917" y="193310"/>
                </a:lnTo>
                <a:lnTo>
                  <a:pt x="19023" y="147866"/>
                </a:lnTo>
                <a:lnTo>
                  <a:pt x="41342" y="106742"/>
                </a:lnTo>
                <a:lnTo>
                  <a:pt x="70918" y="70899"/>
                </a:lnTo>
                <a:lnTo>
                  <a:pt x="106731" y="41348"/>
                </a:lnTo>
                <a:lnTo>
                  <a:pt x="147856" y="19026"/>
                </a:lnTo>
                <a:lnTo>
                  <a:pt x="193303" y="4918"/>
                </a:lnTo>
                <a:lnTo>
                  <a:pt x="242099" y="0"/>
                </a:lnTo>
                <a:lnTo>
                  <a:pt x="289545" y="4693"/>
                </a:lnTo>
                <a:lnTo>
                  <a:pt x="334736" y="18424"/>
                </a:lnTo>
                <a:lnTo>
                  <a:pt x="376403" y="40668"/>
                </a:lnTo>
                <a:lnTo>
                  <a:pt x="413284" y="70912"/>
                </a:lnTo>
                <a:lnTo>
                  <a:pt x="443509" y="107785"/>
                </a:lnTo>
                <a:lnTo>
                  <a:pt x="465761" y="149459"/>
                </a:lnTo>
                <a:lnTo>
                  <a:pt x="479501" y="194653"/>
                </a:lnTo>
                <a:lnTo>
                  <a:pt x="484199" y="242099"/>
                </a:lnTo>
                <a:lnTo>
                  <a:pt x="479280" y="290888"/>
                </a:lnTo>
                <a:lnTo>
                  <a:pt x="465172" y="336332"/>
                </a:lnTo>
                <a:lnTo>
                  <a:pt x="442850" y="377456"/>
                </a:lnTo>
                <a:lnTo>
                  <a:pt x="413286" y="413286"/>
                </a:lnTo>
                <a:lnTo>
                  <a:pt x="377456" y="442850"/>
                </a:lnTo>
                <a:lnTo>
                  <a:pt x="336332" y="465172"/>
                </a:lnTo>
                <a:lnTo>
                  <a:pt x="290888" y="479280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6EA8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883465" y="3122981"/>
            <a:ext cx="231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767011" y="3601917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10" y="479280"/>
                </a:lnTo>
                <a:lnTo>
                  <a:pt x="147866" y="465172"/>
                </a:lnTo>
                <a:lnTo>
                  <a:pt x="106742" y="442850"/>
                </a:lnTo>
                <a:lnTo>
                  <a:pt x="70912" y="413286"/>
                </a:lnTo>
                <a:lnTo>
                  <a:pt x="41348" y="377456"/>
                </a:lnTo>
                <a:lnTo>
                  <a:pt x="19026" y="336332"/>
                </a:lnTo>
                <a:lnTo>
                  <a:pt x="4918" y="290888"/>
                </a:lnTo>
                <a:lnTo>
                  <a:pt x="0" y="242099"/>
                </a:lnTo>
                <a:lnTo>
                  <a:pt x="4918" y="193310"/>
                </a:lnTo>
                <a:lnTo>
                  <a:pt x="19026" y="147866"/>
                </a:lnTo>
                <a:lnTo>
                  <a:pt x="41348" y="106742"/>
                </a:lnTo>
                <a:lnTo>
                  <a:pt x="70927" y="70899"/>
                </a:lnTo>
                <a:lnTo>
                  <a:pt x="106742" y="41348"/>
                </a:lnTo>
                <a:lnTo>
                  <a:pt x="147866" y="19026"/>
                </a:lnTo>
                <a:lnTo>
                  <a:pt x="193310" y="4918"/>
                </a:lnTo>
                <a:lnTo>
                  <a:pt x="242099" y="0"/>
                </a:lnTo>
                <a:lnTo>
                  <a:pt x="289559" y="4693"/>
                </a:lnTo>
                <a:lnTo>
                  <a:pt x="334758" y="18424"/>
                </a:lnTo>
                <a:lnTo>
                  <a:pt x="376427" y="40668"/>
                </a:lnTo>
                <a:lnTo>
                  <a:pt x="413309" y="70912"/>
                </a:lnTo>
                <a:lnTo>
                  <a:pt x="443530" y="107785"/>
                </a:lnTo>
                <a:lnTo>
                  <a:pt x="465774" y="149459"/>
                </a:lnTo>
                <a:lnTo>
                  <a:pt x="479505" y="194653"/>
                </a:lnTo>
                <a:lnTo>
                  <a:pt x="484199" y="242099"/>
                </a:lnTo>
                <a:lnTo>
                  <a:pt x="479280" y="290888"/>
                </a:lnTo>
                <a:lnTo>
                  <a:pt x="465172" y="336332"/>
                </a:lnTo>
                <a:lnTo>
                  <a:pt x="442850" y="377456"/>
                </a:lnTo>
                <a:lnTo>
                  <a:pt x="413286" y="413286"/>
                </a:lnTo>
                <a:lnTo>
                  <a:pt x="377456" y="442850"/>
                </a:lnTo>
                <a:lnTo>
                  <a:pt x="336332" y="465172"/>
                </a:lnTo>
                <a:lnTo>
                  <a:pt x="290888" y="479280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6EA8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885551" y="3719436"/>
            <a:ext cx="2374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071740" y="2433972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5">
                <a:moveTo>
                  <a:pt x="242099" y="484196"/>
                </a:moveTo>
                <a:lnTo>
                  <a:pt x="193303" y="479277"/>
                </a:lnTo>
                <a:lnTo>
                  <a:pt x="147856" y="465170"/>
                </a:lnTo>
                <a:lnTo>
                  <a:pt x="106731" y="442847"/>
                </a:lnTo>
                <a:lnTo>
                  <a:pt x="70902" y="413284"/>
                </a:lnTo>
                <a:lnTo>
                  <a:pt x="41342" y="377453"/>
                </a:lnTo>
                <a:lnTo>
                  <a:pt x="19023" y="336329"/>
                </a:lnTo>
                <a:lnTo>
                  <a:pt x="4917" y="290886"/>
                </a:lnTo>
                <a:lnTo>
                  <a:pt x="0" y="242097"/>
                </a:lnTo>
                <a:lnTo>
                  <a:pt x="4917" y="193307"/>
                </a:lnTo>
                <a:lnTo>
                  <a:pt x="19023" y="147864"/>
                </a:lnTo>
                <a:lnTo>
                  <a:pt x="41342" y="106741"/>
                </a:lnTo>
                <a:lnTo>
                  <a:pt x="70919" y="70897"/>
                </a:lnTo>
                <a:lnTo>
                  <a:pt x="106731" y="41348"/>
                </a:lnTo>
                <a:lnTo>
                  <a:pt x="147856" y="19026"/>
                </a:lnTo>
                <a:lnTo>
                  <a:pt x="193303" y="4918"/>
                </a:lnTo>
                <a:lnTo>
                  <a:pt x="242099" y="0"/>
                </a:lnTo>
                <a:lnTo>
                  <a:pt x="289545" y="4694"/>
                </a:lnTo>
                <a:lnTo>
                  <a:pt x="334736" y="18426"/>
                </a:lnTo>
                <a:lnTo>
                  <a:pt x="376403" y="40669"/>
                </a:lnTo>
                <a:lnTo>
                  <a:pt x="413285" y="70911"/>
                </a:lnTo>
                <a:lnTo>
                  <a:pt x="443509" y="107782"/>
                </a:lnTo>
                <a:lnTo>
                  <a:pt x="465761" y="149456"/>
                </a:lnTo>
                <a:lnTo>
                  <a:pt x="479501" y="194650"/>
                </a:lnTo>
                <a:lnTo>
                  <a:pt x="484199" y="242097"/>
                </a:lnTo>
                <a:lnTo>
                  <a:pt x="479280" y="290886"/>
                </a:lnTo>
                <a:lnTo>
                  <a:pt x="465172" y="336329"/>
                </a:lnTo>
                <a:lnTo>
                  <a:pt x="442850" y="377453"/>
                </a:lnTo>
                <a:lnTo>
                  <a:pt x="413286" y="413284"/>
                </a:lnTo>
                <a:lnTo>
                  <a:pt x="377456" y="442847"/>
                </a:lnTo>
                <a:lnTo>
                  <a:pt x="336332" y="465170"/>
                </a:lnTo>
                <a:lnTo>
                  <a:pt x="290888" y="479277"/>
                </a:lnTo>
                <a:lnTo>
                  <a:pt x="242099" y="484196"/>
                </a:lnTo>
                <a:close/>
              </a:path>
            </a:pathLst>
          </a:custGeom>
          <a:solidFill>
            <a:srgbClr val="8E7CC3">
              <a:alpha val="1803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190266" y="2551483"/>
            <a:ext cx="231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102493" y="3572342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10" y="479281"/>
                </a:lnTo>
                <a:lnTo>
                  <a:pt x="147866" y="465176"/>
                </a:lnTo>
                <a:lnTo>
                  <a:pt x="106742" y="442856"/>
                </a:lnTo>
                <a:lnTo>
                  <a:pt x="70912" y="413296"/>
                </a:lnTo>
                <a:lnTo>
                  <a:pt x="41348" y="377467"/>
                </a:lnTo>
                <a:lnTo>
                  <a:pt x="19026" y="336342"/>
                </a:lnTo>
                <a:lnTo>
                  <a:pt x="4918" y="290895"/>
                </a:lnTo>
                <a:lnTo>
                  <a:pt x="0" y="242099"/>
                </a:lnTo>
                <a:lnTo>
                  <a:pt x="4918" y="193310"/>
                </a:lnTo>
                <a:lnTo>
                  <a:pt x="19026" y="147866"/>
                </a:lnTo>
                <a:lnTo>
                  <a:pt x="41348" y="106742"/>
                </a:lnTo>
                <a:lnTo>
                  <a:pt x="70912" y="70912"/>
                </a:lnTo>
                <a:lnTo>
                  <a:pt x="106742" y="41348"/>
                </a:lnTo>
                <a:lnTo>
                  <a:pt x="147866" y="19026"/>
                </a:lnTo>
                <a:lnTo>
                  <a:pt x="193310" y="4918"/>
                </a:lnTo>
                <a:lnTo>
                  <a:pt x="242099" y="0"/>
                </a:lnTo>
                <a:lnTo>
                  <a:pt x="289559" y="4697"/>
                </a:lnTo>
                <a:lnTo>
                  <a:pt x="334758" y="18437"/>
                </a:lnTo>
                <a:lnTo>
                  <a:pt x="376427" y="40689"/>
                </a:lnTo>
                <a:lnTo>
                  <a:pt x="413299" y="70924"/>
                </a:lnTo>
                <a:lnTo>
                  <a:pt x="443530" y="107795"/>
                </a:lnTo>
                <a:lnTo>
                  <a:pt x="465774" y="149462"/>
                </a:lnTo>
                <a:lnTo>
                  <a:pt x="479505" y="194653"/>
                </a:lnTo>
                <a:lnTo>
                  <a:pt x="484199" y="242099"/>
                </a:lnTo>
                <a:lnTo>
                  <a:pt x="479281" y="290895"/>
                </a:lnTo>
                <a:lnTo>
                  <a:pt x="465176" y="336342"/>
                </a:lnTo>
                <a:lnTo>
                  <a:pt x="442856" y="377467"/>
                </a:lnTo>
                <a:lnTo>
                  <a:pt x="413296" y="413296"/>
                </a:lnTo>
                <a:lnTo>
                  <a:pt x="377467" y="442856"/>
                </a:lnTo>
                <a:lnTo>
                  <a:pt x="336342" y="465176"/>
                </a:lnTo>
                <a:lnTo>
                  <a:pt x="290895" y="479281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8E7CC3">
              <a:alpha val="1803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221034" y="3689861"/>
            <a:ext cx="231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100418" y="3017944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03" y="479280"/>
                </a:lnTo>
                <a:lnTo>
                  <a:pt x="147856" y="465172"/>
                </a:lnTo>
                <a:lnTo>
                  <a:pt x="106731" y="442850"/>
                </a:lnTo>
                <a:lnTo>
                  <a:pt x="70902" y="413286"/>
                </a:lnTo>
                <a:lnTo>
                  <a:pt x="41342" y="377456"/>
                </a:lnTo>
                <a:lnTo>
                  <a:pt x="19023" y="336332"/>
                </a:lnTo>
                <a:lnTo>
                  <a:pt x="4917" y="290888"/>
                </a:lnTo>
                <a:lnTo>
                  <a:pt x="0" y="242099"/>
                </a:lnTo>
                <a:lnTo>
                  <a:pt x="4917" y="193303"/>
                </a:lnTo>
                <a:lnTo>
                  <a:pt x="19023" y="147856"/>
                </a:lnTo>
                <a:lnTo>
                  <a:pt x="41342" y="106731"/>
                </a:lnTo>
                <a:lnTo>
                  <a:pt x="70906" y="70899"/>
                </a:lnTo>
                <a:lnTo>
                  <a:pt x="106731" y="41342"/>
                </a:lnTo>
                <a:lnTo>
                  <a:pt x="147856" y="19023"/>
                </a:lnTo>
                <a:lnTo>
                  <a:pt x="193303" y="4917"/>
                </a:lnTo>
                <a:lnTo>
                  <a:pt x="242099" y="0"/>
                </a:lnTo>
                <a:lnTo>
                  <a:pt x="289545" y="4693"/>
                </a:lnTo>
                <a:lnTo>
                  <a:pt x="334736" y="18424"/>
                </a:lnTo>
                <a:lnTo>
                  <a:pt x="376403" y="40668"/>
                </a:lnTo>
                <a:lnTo>
                  <a:pt x="413276" y="70902"/>
                </a:lnTo>
                <a:lnTo>
                  <a:pt x="443509" y="107771"/>
                </a:lnTo>
                <a:lnTo>
                  <a:pt x="465761" y="149440"/>
                </a:lnTo>
                <a:lnTo>
                  <a:pt x="479501" y="194639"/>
                </a:lnTo>
                <a:lnTo>
                  <a:pt x="484199" y="242099"/>
                </a:lnTo>
                <a:lnTo>
                  <a:pt x="479280" y="290888"/>
                </a:lnTo>
                <a:lnTo>
                  <a:pt x="465172" y="336332"/>
                </a:lnTo>
                <a:lnTo>
                  <a:pt x="442850" y="377456"/>
                </a:lnTo>
                <a:lnTo>
                  <a:pt x="413286" y="413286"/>
                </a:lnTo>
                <a:lnTo>
                  <a:pt x="377456" y="442850"/>
                </a:lnTo>
                <a:lnTo>
                  <a:pt x="336332" y="465172"/>
                </a:lnTo>
                <a:lnTo>
                  <a:pt x="290888" y="479280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8E7C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3218938" y="3135450"/>
            <a:ext cx="231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102493" y="4126766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4">
                <a:moveTo>
                  <a:pt x="242099" y="484199"/>
                </a:moveTo>
                <a:lnTo>
                  <a:pt x="193310" y="479280"/>
                </a:lnTo>
                <a:lnTo>
                  <a:pt x="147866" y="465172"/>
                </a:lnTo>
                <a:lnTo>
                  <a:pt x="106742" y="442850"/>
                </a:lnTo>
                <a:lnTo>
                  <a:pt x="70912" y="413286"/>
                </a:lnTo>
                <a:lnTo>
                  <a:pt x="41348" y="377456"/>
                </a:lnTo>
                <a:lnTo>
                  <a:pt x="19026" y="336332"/>
                </a:lnTo>
                <a:lnTo>
                  <a:pt x="4918" y="290888"/>
                </a:lnTo>
                <a:lnTo>
                  <a:pt x="0" y="242099"/>
                </a:lnTo>
                <a:lnTo>
                  <a:pt x="4918" y="193310"/>
                </a:lnTo>
                <a:lnTo>
                  <a:pt x="19026" y="147866"/>
                </a:lnTo>
                <a:lnTo>
                  <a:pt x="41348" y="106742"/>
                </a:lnTo>
                <a:lnTo>
                  <a:pt x="70927" y="70899"/>
                </a:lnTo>
                <a:lnTo>
                  <a:pt x="106742" y="41348"/>
                </a:lnTo>
                <a:lnTo>
                  <a:pt x="147866" y="19026"/>
                </a:lnTo>
                <a:lnTo>
                  <a:pt x="193310" y="4918"/>
                </a:lnTo>
                <a:lnTo>
                  <a:pt x="242099" y="0"/>
                </a:lnTo>
                <a:lnTo>
                  <a:pt x="289559" y="4693"/>
                </a:lnTo>
                <a:lnTo>
                  <a:pt x="334758" y="18424"/>
                </a:lnTo>
                <a:lnTo>
                  <a:pt x="376427" y="40668"/>
                </a:lnTo>
                <a:lnTo>
                  <a:pt x="413309" y="70912"/>
                </a:lnTo>
                <a:lnTo>
                  <a:pt x="443530" y="107785"/>
                </a:lnTo>
                <a:lnTo>
                  <a:pt x="465774" y="149459"/>
                </a:lnTo>
                <a:lnTo>
                  <a:pt x="479505" y="194653"/>
                </a:lnTo>
                <a:lnTo>
                  <a:pt x="484199" y="242099"/>
                </a:lnTo>
                <a:lnTo>
                  <a:pt x="479281" y="290888"/>
                </a:lnTo>
                <a:lnTo>
                  <a:pt x="465176" y="336332"/>
                </a:lnTo>
                <a:lnTo>
                  <a:pt x="442856" y="377456"/>
                </a:lnTo>
                <a:lnTo>
                  <a:pt x="413296" y="413286"/>
                </a:lnTo>
                <a:lnTo>
                  <a:pt x="377467" y="442850"/>
                </a:lnTo>
                <a:lnTo>
                  <a:pt x="336342" y="465172"/>
                </a:lnTo>
                <a:lnTo>
                  <a:pt x="290895" y="479280"/>
                </a:lnTo>
                <a:lnTo>
                  <a:pt x="242099" y="484199"/>
                </a:lnTo>
                <a:close/>
              </a:path>
            </a:pathLst>
          </a:custGeom>
          <a:solidFill>
            <a:srgbClr val="8E7C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221034" y="4244281"/>
            <a:ext cx="2381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100418" y="2463522"/>
            <a:ext cx="484505" cy="484505"/>
          </a:xfrm>
          <a:custGeom>
            <a:avLst/>
            <a:gdLst/>
            <a:ahLst/>
            <a:cxnLst/>
            <a:rect l="l" t="t" r="r" b="b"/>
            <a:pathLst>
              <a:path w="484504" h="484505">
                <a:moveTo>
                  <a:pt x="242099" y="484196"/>
                </a:moveTo>
                <a:lnTo>
                  <a:pt x="193303" y="479277"/>
                </a:lnTo>
                <a:lnTo>
                  <a:pt x="147856" y="465170"/>
                </a:lnTo>
                <a:lnTo>
                  <a:pt x="106731" y="442847"/>
                </a:lnTo>
                <a:lnTo>
                  <a:pt x="70902" y="413284"/>
                </a:lnTo>
                <a:lnTo>
                  <a:pt x="41342" y="377453"/>
                </a:lnTo>
                <a:lnTo>
                  <a:pt x="19023" y="336329"/>
                </a:lnTo>
                <a:lnTo>
                  <a:pt x="4917" y="290886"/>
                </a:lnTo>
                <a:lnTo>
                  <a:pt x="0" y="242097"/>
                </a:lnTo>
                <a:lnTo>
                  <a:pt x="4917" y="193307"/>
                </a:lnTo>
                <a:lnTo>
                  <a:pt x="19023" y="147864"/>
                </a:lnTo>
                <a:lnTo>
                  <a:pt x="41342" y="106741"/>
                </a:lnTo>
                <a:lnTo>
                  <a:pt x="70919" y="70897"/>
                </a:lnTo>
                <a:lnTo>
                  <a:pt x="106731" y="41348"/>
                </a:lnTo>
                <a:lnTo>
                  <a:pt x="147856" y="19026"/>
                </a:lnTo>
                <a:lnTo>
                  <a:pt x="193303" y="4918"/>
                </a:lnTo>
                <a:lnTo>
                  <a:pt x="242099" y="0"/>
                </a:lnTo>
                <a:lnTo>
                  <a:pt x="289545" y="4694"/>
                </a:lnTo>
                <a:lnTo>
                  <a:pt x="334736" y="18426"/>
                </a:lnTo>
                <a:lnTo>
                  <a:pt x="376403" y="40669"/>
                </a:lnTo>
                <a:lnTo>
                  <a:pt x="413285" y="70911"/>
                </a:lnTo>
                <a:lnTo>
                  <a:pt x="443509" y="107782"/>
                </a:lnTo>
                <a:lnTo>
                  <a:pt x="465761" y="149456"/>
                </a:lnTo>
                <a:lnTo>
                  <a:pt x="479501" y="194650"/>
                </a:lnTo>
                <a:lnTo>
                  <a:pt x="484199" y="242097"/>
                </a:lnTo>
                <a:lnTo>
                  <a:pt x="479280" y="290886"/>
                </a:lnTo>
                <a:lnTo>
                  <a:pt x="465172" y="336329"/>
                </a:lnTo>
                <a:lnTo>
                  <a:pt x="442850" y="377453"/>
                </a:lnTo>
                <a:lnTo>
                  <a:pt x="413286" y="413284"/>
                </a:lnTo>
                <a:lnTo>
                  <a:pt x="377456" y="442847"/>
                </a:lnTo>
                <a:lnTo>
                  <a:pt x="336332" y="465170"/>
                </a:lnTo>
                <a:lnTo>
                  <a:pt x="290888" y="479277"/>
                </a:lnTo>
                <a:lnTo>
                  <a:pt x="242099" y="484196"/>
                </a:lnTo>
                <a:close/>
              </a:path>
            </a:pathLst>
          </a:custGeom>
          <a:solidFill>
            <a:srgbClr val="8E7C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3218938" y="2581038"/>
            <a:ext cx="231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350" spc="-37" baseline="-30864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350" baseline="-30864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689968" y="3306606"/>
            <a:ext cx="1733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latin typeface="Arial"/>
                <a:cs typeface="Arial"/>
              </a:rPr>
              <a:t>...</a:t>
            </a:r>
            <a:endParaRPr sz="14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2507619" y="2931244"/>
            <a:ext cx="495300" cy="1185545"/>
          </a:xfrm>
          <a:custGeom>
            <a:avLst/>
            <a:gdLst/>
            <a:ahLst/>
            <a:cxnLst/>
            <a:rect l="l" t="t" r="r" b="b"/>
            <a:pathLst>
              <a:path w="495300" h="1185545">
                <a:moveTo>
                  <a:pt x="0" y="1135497"/>
                </a:moveTo>
                <a:lnTo>
                  <a:pt x="444299" y="0"/>
                </a:lnTo>
              </a:path>
              <a:path w="495300" h="1185545">
                <a:moveTo>
                  <a:pt x="494699" y="1185047"/>
                </a:moveTo>
                <a:lnTo>
                  <a:pt x="50399" y="37549"/>
                </a:lnTo>
              </a:path>
            </a:pathLst>
          </a:custGeom>
          <a:ln w="19049">
            <a:solidFill>
              <a:srgbClr val="7790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944042" y="2906469"/>
            <a:ext cx="495300" cy="1185545"/>
          </a:xfrm>
          <a:custGeom>
            <a:avLst/>
            <a:gdLst/>
            <a:ahLst/>
            <a:cxnLst/>
            <a:rect l="l" t="t" r="r" b="b"/>
            <a:pathLst>
              <a:path w="495300" h="1185545">
                <a:moveTo>
                  <a:pt x="0" y="1135497"/>
                </a:moveTo>
                <a:lnTo>
                  <a:pt x="444299" y="0"/>
                </a:lnTo>
              </a:path>
              <a:path w="495300" h="1185545">
                <a:moveTo>
                  <a:pt x="494699" y="1185047"/>
                </a:moveTo>
                <a:lnTo>
                  <a:pt x="50399" y="37549"/>
                </a:lnTo>
              </a:path>
            </a:pathLst>
          </a:custGeom>
          <a:ln w="19049">
            <a:solidFill>
              <a:srgbClr val="7790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915162" y="2881694"/>
            <a:ext cx="495300" cy="1185545"/>
          </a:xfrm>
          <a:custGeom>
            <a:avLst/>
            <a:gdLst/>
            <a:ahLst/>
            <a:cxnLst/>
            <a:rect l="l" t="t" r="r" b="b"/>
            <a:pathLst>
              <a:path w="495300" h="1185545">
                <a:moveTo>
                  <a:pt x="0" y="1135497"/>
                </a:moveTo>
                <a:lnTo>
                  <a:pt x="444299" y="0"/>
                </a:lnTo>
              </a:path>
              <a:path w="495300" h="1185545">
                <a:moveTo>
                  <a:pt x="494699" y="1185047"/>
                </a:moveTo>
                <a:lnTo>
                  <a:pt x="50399" y="37549"/>
                </a:lnTo>
              </a:path>
            </a:pathLst>
          </a:custGeom>
          <a:ln w="19049">
            <a:solidFill>
              <a:srgbClr val="7790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Regularization</a:t>
            </a:r>
            <a:r>
              <a:rPr spc="-60" dirty="0"/>
              <a:t> </a:t>
            </a:r>
            <a:r>
              <a:rPr dirty="0"/>
              <a:t>I:</a:t>
            </a:r>
            <a:r>
              <a:rPr spc="-60" dirty="0"/>
              <a:t> </a:t>
            </a:r>
            <a:r>
              <a:rPr spc="-10" dirty="0"/>
              <a:t>Dropout</a:t>
            </a:r>
          </a:p>
        </p:txBody>
      </p:sp>
      <p:sp>
        <p:nvSpPr>
          <p:cNvPr id="38" name="object 8">
            <a:extLst>
              <a:ext uri="{FF2B5EF4-FFF2-40B4-BE49-F238E27FC236}">
                <a16:creationId xmlns:a16="http://schemas.microsoft.com/office/drawing/2014/main" id="{5A38DE8E-8AB6-77FC-D56C-E4B59603F28F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590800" y="4716893"/>
            <a:ext cx="4179570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05"/>
              </a:lnSpc>
            </a:pPr>
            <a:r>
              <a:rPr lang="fr-FR" spc="-50" dirty="0"/>
              <a:t>ESILV</a:t>
            </a:r>
            <a:r>
              <a:rPr spc="-50" dirty="0"/>
              <a:t> </a:t>
            </a:r>
            <a:r>
              <a:rPr spc="-45" dirty="0"/>
              <a:t> </a:t>
            </a:r>
            <a:r>
              <a:rPr dirty="0">
                <a:solidFill>
                  <a:srgbClr val="0097A7"/>
                </a:solidFill>
              </a:rPr>
              <a:t>|</a:t>
            </a:r>
            <a:r>
              <a:rPr spc="-45" dirty="0">
                <a:solidFill>
                  <a:srgbClr val="0097A7"/>
                </a:solidFill>
              </a:rPr>
              <a:t> </a:t>
            </a:r>
            <a:r>
              <a:rPr spc="-10" dirty="0"/>
              <a:t>Intro</a:t>
            </a:r>
            <a:r>
              <a:rPr spc="-50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Deep</a:t>
            </a:r>
            <a:r>
              <a:rPr spc="-50" dirty="0"/>
              <a:t> </a:t>
            </a:r>
            <a:r>
              <a:rPr spc="-10" dirty="0"/>
              <a:t>Learning</a:t>
            </a:r>
            <a:r>
              <a:rPr spc="-40" dirty="0"/>
              <a:t> </a:t>
            </a:r>
            <a:r>
              <a:rPr dirty="0">
                <a:solidFill>
                  <a:srgbClr val="0097A7"/>
                </a:solidFill>
              </a:rPr>
              <a:t>|</a:t>
            </a:r>
            <a:r>
              <a:rPr spc="-50" dirty="0">
                <a:solidFill>
                  <a:srgbClr val="0097A7"/>
                </a:solidFill>
              </a:rPr>
              <a:t> </a:t>
            </a:r>
            <a:r>
              <a:rPr lang="fr-FR" spc="-50" dirty="0">
                <a:solidFill>
                  <a:srgbClr val="0097A7"/>
                </a:solidFill>
              </a:rPr>
              <a:t> </a:t>
            </a:r>
            <a:r>
              <a:rPr lang="fr-FR" spc="-50" dirty="0" err="1">
                <a:solidFill>
                  <a:srgbClr val="0097A7"/>
                </a:solidFill>
              </a:rPr>
              <a:t>K.Kadri</a:t>
            </a:r>
            <a:endParaRPr spc="-2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Regularization</a:t>
            </a:r>
            <a:r>
              <a:rPr spc="-65" dirty="0"/>
              <a:t> </a:t>
            </a:r>
            <a:r>
              <a:rPr dirty="0"/>
              <a:t>II:</a:t>
            </a:r>
            <a:r>
              <a:rPr spc="-65" dirty="0"/>
              <a:t> </a:t>
            </a:r>
            <a:r>
              <a:rPr dirty="0"/>
              <a:t>Early</a:t>
            </a:r>
            <a:r>
              <a:rPr spc="-65" dirty="0"/>
              <a:t> </a:t>
            </a:r>
            <a:r>
              <a:rPr spc="-10" dirty="0"/>
              <a:t>Stopping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8" y="1176351"/>
            <a:ext cx="4303395" cy="254000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14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Don’t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give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network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time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overfit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b="1" spc="-25" dirty="0">
                <a:solidFill>
                  <a:srgbClr val="595959"/>
                </a:solidFill>
                <a:latin typeface="Arial"/>
                <a:cs typeface="Arial"/>
              </a:rPr>
              <a:t>...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Epoch</a:t>
            </a:r>
            <a:r>
              <a:rPr sz="18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15:</a:t>
            </a:r>
            <a:r>
              <a:rPr sz="1800" b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8751C"/>
                </a:solidFill>
                <a:latin typeface="Arial MT"/>
                <a:cs typeface="Arial MT"/>
              </a:rPr>
              <a:t>Train:</a:t>
            </a:r>
            <a:r>
              <a:rPr sz="1800" spc="-25" dirty="0">
                <a:solidFill>
                  <a:srgbClr val="38751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8751C"/>
                </a:solidFill>
                <a:latin typeface="Arial MT"/>
                <a:cs typeface="Arial MT"/>
              </a:rPr>
              <a:t>85%</a:t>
            </a:r>
            <a:r>
              <a:rPr sz="1800" spc="-25" dirty="0">
                <a:solidFill>
                  <a:srgbClr val="38751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8751C"/>
                </a:solidFill>
                <a:latin typeface="Arial MT"/>
                <a:cs typeface="Arial MT"/>
              </a:rPr>
              <a:t>Validation:</a:t>
            </a:r>
            <a:r>
              <a:rPr sz="1800" spc="-25" dirty="0">
                <a:solidFill>
                  <a:srgbClr val="38751C"/>
                </a:solidFill>
                <a:latin typeface="Arial MT"/>
                <a:cs typeface="Arial MT"/>
              </a:rPr>
              <a:t> 80%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Epoch</a:t>
            </a:r>
            <a:r>
              <a:rPr sz="18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16:</a:t>
            </a:r>
            <a:r>
              <a:rPr sz="1800" b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8751C"/>
                </a:solidFill>
                <a:latin typeface="Arial MT"/>
                <a:cs typeface="Arial MT"/>
              </a:rPr>
              <a:t>Train:</a:t>
            </a:r>
            <a:r>
              <a:rPr sz="1800" spc="-25" dirty="0">
                <a:solidFill>
                  <a:srgbClr val="38751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8751C"/>
                </a:solidFill>
                <a:latin typeface="Arial MT"/>
                <a:cs typeface="Arial MT"/>
              </a:rPr>
              <a:t>87%</a:t>
            </a:r>
            <a:r>
              <a:rPr sz="1800" spc="-25" dirty="0">
                <a:solidFill>
                  <a:srgbClr val="38751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8751C"/>
                </a:solidFill>
                <a:latin typeface="Arial MT"/>
                <a:cs typeface="Arial MT"/>
              </a:rPr>
              <a:t>Validation:</a:t>
            </a:r>
            <a:r>
              <a:rPr sz="1800" spc="-25" dirty="0">
                <a:solidFill>
                  <a:srgbClr val="38751C"/>
                </a:solidFill>
                <a:latin typeface="Arial MT"/>
                <a:cs typeface="Arial MT"/>
              </a:rPr>
              <a:t> 82%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Epoch</a:t>
            </a:r>
            <a:r>
              <a:rPr sz="18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17:</a:t>
            </a:r>
            <a:r>
              <a:rPr sz="1800" b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8751C"/>
                </a:solidFill>
                <a:latin typeface="Arial MT"/>
                <a:cs typeface="Arial MT"/>
              </a:rPr>
              <a:t>Train:</a:t>
            </a:r>
            <a:r>
              <a:rPr sz="1800" spc="-25" dirty="0">
                <a:solidFill>
                  <a:srgbClr val="38751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8751C"/>
                </a:solidFill>
                <a:latin typeface="Arial MT"/>
                <a:cs typeface="Arial MT"/>
              </a:rPr>
              <a:t>90%</a:t>
            </a:r>
            <a:r>
              <a:rPr sz="1800" spc="-25" dirty="0">
                <a:solidFill>
                  <a:srgbClr val="38751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8751C"/>
                </a:solidFill>
                <a:latin typeface="Arial MT"/>
                <a:cs typeface="Arial MT"/>
              </a:rPr>
              <a:t>Validation:</a:t>
            </a:r>
            <a:r>
              <a:rPr sz="1800" spc="-25" dirty="0">
                <a:solidFill>
                  <a:srgbClr val="38751C"/>
                </a:solidFill>
                <a:latin typeface="Arial MT"/>
                <a:cs typeface="Arial MT"/>
              </a:rPr>
              <a:t> 85%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Epoch</a:t>
            </a:r>
            <a:r>
              <a:rPr sz="18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18:</a:t>
            </a:r>
            <a:r>
              <a:rPr sz="1800" b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8751C"/>
                </a:solidFill>
                <a:latin typeface="Arial MT"/>
                <a:cs typeface="Arial MT"/>
              </a:rPr>
              <a:t>Train:</a:t>
            </a:r>
            <a:r>
              <a:rPr sz="1800" spc="-25" dirty="0">
                <a:solidFill>
                  <a:srgbClr val="38751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8751C"/>
                </a:solidFill>
                <a:latin typeface="Arial MT"/>
                <a:cs typeface="Arial MT"/>
              </a:rPr>
              <a:t>95%</a:t>
            </a:r>
            <a:r>
              <a:rPr sz="1800" spc="-10" dirty="0">
                <a:solidFill>
                  <a:srgbClr val="38751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CC0000"/>
                </a:solidFill>
                <a:latin typeface="Arial MT"/>
                <a:cs typeface="Arial MT"/>
              </a:rPr>
              <a:t>Validation:</a:t>
            </a:r>
            <a:r>
              <a:rPr sz="1800" spc="-25" dirty="0">
                <a:solidFill>
                  <a:srgbClr val="CC0000"/>
                </a:solidFill>
                <a:latin typeface="Arial MT"/>
                <a:cs typeface="Arial MT"/>
              </a:rPr>
              <a:t> 83%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Epoch</a:t>
            </a:r>
            <a:r>
              <a:rPr sz="18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19:</a:t>
            </a:r>
            <a:r>
              <a:rPr sz="1800" b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8751C"/>
                </a:solidFill>
                <a:latin typeface="Arial MT"/>
                <a:cs typeface="Arial MT"/>
              </a:rPr>
              <a:t>Train:</a:t>
            </a:r>
            <a:r>
              <a:rPr sz="1800" spc="-25" dirty="0">
                <a:solidFill>
                  <a:srgbClr val="38751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8751C"/>
                </a:solidFill>
                <a:latin typeface="Arial MT"/>
                <a:cs typeface="Arial MT"/>
              </a:rPr>
              <a:t>97%</a:t>
            </a:r>
            <a:r>
              <a:rPr sz="1800" spc="-10" dirty="0">
                <a:solidFill>
                  <a:srgbClr val="38751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CC0000"/>
                </a:solidFill>
                <a:latin typeface="Arial MT"/>
                <a:cs typeface="Arial MT"/>
              </a:rPr>
              <a:t>Validation:</a:t>
            </a:r>
            <a:r>
              <a:rPr sz="1800" spc="-25" dirty="0">
                <a:solidFill>
                  <a:srgbClr val="CC0000"/>
                </a:solidFill>
                <a:latin typeface="Arial MT"/>
                <a:cs typeface="Arial MT"/>
              </a:rPr>
              <a:t> 78%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Epoch</a:t>
            </a:r>
            <a:r>
              <a:rPr sz="18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20:</a:t>
            </a:r>
            <a:r>
              <a:rPr sz="1800" b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8751C"/>
                </a:solidFill>
                <a:latin typeface="Arial MT"/>
                <a:cs typeface="Arial MT"/>
              </a:rPr>
              <a:t>Train:</a:t>
            </a:r>
            <a:r>
              <a:rPr sz="1800" spc="-25" dirty="0">
                <a:solidFill>
                  <a:srgbClr val="38751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8751C"/>
                </a:solidFill>
                <a:latin typeface="Arial MT"/>
                <a:cs typeface="Arial MT"/>
              </a:rPr>
              <a:t>98%</a:t>
            </a:r>
            <a:r>
              <a:rPr sz="1800" spc="-10" dirty="0">
                <a:solidFill>
                  <a:srgbClr val="38751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CC0000"/>
                </a:solidFill>
                <a:latin typeface="Arial MT"/>
                <a:cs typeface="Arial MT"/>
              </a:rPr>
              <a:t>Validation:</a:t>
            </a:r>
            <a:r>
              <a:rPr sz="1800" spc="-25" dirty="0">
                <a:solidFill>
                  <a:srgbClr val="CC0000"/>
                </a:solidFill>
                <a:latin typeface="Arial MT"/>
                <a:cs typeface="Arial MT"/>
              </a:rPr>
              <a:t> 75%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14"/>
              </a:spcBef>
              <a:buChar char="●"/>
              <a:tabLst>
                <a:tab pos="379095" algn="l"/>
              </a:tabLst>
            </a:pPr>
            <a:r>
              <a:rPr dirty="0"/>
              <a:t>Don’t</a:t>
            </a:r>
            <a:r>
              <a:rPr spc="-30" dirty="0"/>
              <a:t> </a:t>
            </a:r>
            <a:r>
              <a:rPr dirty="0"/>
              <a:t>give</a:t>
            </a:r>
            <a:r>
              <a:rPr spc="-15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network</a:t>
            </a:r>
            <a:r>
              <a:rPr spc="-15" dirty="0"/>
              <a:t> </a:t>
            </a:r>
            <a:r>
              <a:rPr dirty="0"/>
              <a:t>time</a:t>
            </a:r>
            <a:r>
              <a:rPr spc="-15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spc="-10" dirty="0"/>
              <a:t>overfit</a:t>
            </a: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</a:tabLst>
            </a:pPr>
            <a:r>
              <a:rPr b="1" spc="-25" dirty="0">
                <a:latin typeface="Arial"/>
                <a:cs typeface="Arial"/>
              </a:rPr>
              <a:t>...</a:t>
            </a: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</a:tabLst>
            </a:pPr>
            <a:r>
              <a:rPr b="1" dirty="0">
                <a:latin typeface="Arial"/>
                <a:cs typeface="Arial"/>
              </a:rPr>
              <a:t>Epoch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15: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dirty="0">
                <a:solidFill>
                  <a:srgbClr val="38751C"/>
                </a:solidFill>
              </a:rPr>
              <a:t>Train:</a:t>
            </a:r>
            <a:r>
              <a:rPr spc="-25" dirty="0">
                <a:solidFill>
                  <a:srgbClr val="38751C"/>
                </a:solidFill>
              </a:rPr>
              <a:t> </a:t>
            </a:r>
            <a:r>
              <a:rPr dirty="0">
                <a:solidFill>
                  <a:srgbClr val="38751C"/>
                </a:solidFill>
              </a:rPr>
              <a:t>85%</a:t>
            </a:r>
            <a:r>
              <a:rPr spc="-25" dirty="0">
                <a:solidFill>
                  <a:srgbClr val="38751C"/>
                </a:solidFill>
              </a:rPr>
              <a:t> </a:t>
            </a:r>
            <a:r>
              <a:rPr dirty="0">
                <a:solidFill>
                  <a:srgbClr val="38751C"/>
                </a:solidFill>
              </a:rPr>
              <a:t>Validation:</a:t>
            </a:r>
            <a:r>
              <a:rPr spc="-25" dirty="0">
                <a:solidFill>
                  <a:srgbClr val="38751C"/>
                </a:solidFill>
              </a:rPr>
              <a:t> 80%</a:t>
            </a: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</a:tabLst>
            </a:pPr>
            <a:r>
              <a:rPr b="1" dirty="0">
                <a:latin typeface="Arial"/>
                <a:cs typeface="Arial"/>
              </a:rPr>
              <a:t>Epoch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16: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dirty="0">
                <a:solidFill>
                  <a:srgbClr val="38751C"/>
                </a:solidFill>
              </a:rPr>
              <a:t>Train:</a:t>
            </a:r>
            <a:r>
              <a:rPr spc="-25" dirty="0">
                <a:solidFill>
                  <a:srgbClr val="38751C"/>
                </a:solidFill>
              </a:rPr>
              <a:t> </a:t>
            </a:r>
            <a:r>
              <a:rPr dirty="0">
                <a:solidFill>
                  <a:srgbClr val="38751C"/>
                </a:solidFill>
              </a:rPr>
              <a:t>87%</a:t>
            </a:r>
            <a:r>
              <a:rPr spc="-25" dirty="0">
                <a:solidFill>
                  <a:srgbClr val="38751C"/>
                </a:solidFill>
              </a:rPr>
              <a:t> </a:t>
            </a:r>
            <a:r>
              <a:rPr dirty="0">
                <a:solidFill>
                  <a:srgbClr val="38751C"/>
                </a:solidFill>
              </a:rPr>
              <a:t>Validation:</a:t>
            </a:r>
            <a:r>
              <a:rPr spc="-25" dirty="0">
                <a:solidFill>
                  <a:srgbClr val="38751C"/>
                </a:solidFill>
              </a:rPr>
              <a:t> 82%</a:t>
            </a: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</a:tabLst>
            </a:pPr>
            <a:r>
              <a:rPr b="1" dirty="0">
                <a:latin typeface="Arial"/>
                <a:cs typeface="Arial"/>
              </a:rPr>
              <a:t>Epoch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17: </a:t>
            </a:r>
            <a:r>
              <a:rPr b="1" dirty="0">
                <a:solidFill>
                  <a:srgbClr val="38751C"/>
                </a:solidFill>
                <a:latin typeface="Arial"/>
                <a:cs typeface="Arial"/>
              </a:rPr>
              <a:t>Train:</a:t>
            </a:r>
            <a:r>
              <a:rPr b="1" spc="-10" dirty="0">
                <a:solidFill>
                  <a:srgbClr val="38751C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38751C"/>
                </a:solidFill>
                <a:latin typeface="Arial"/>
                <a:cs typeface="Arial"/>
              </a:rPr>
              <a:t>90%</a:t>
            </a:r>
            <a:r>
              <a:rPr b="1" spc="-10" dirty="0">
                <a:solidFill>
                  <a:srgbClr val="38751C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38751C"/>
                </a:solidFill>
                <a:latin typeface="Arial"/>
                <a:cs typeface="Arial"/>
              </a:rPr>
              <a:t>Validation:</a:t>
            </a:r>
            <a:r>
              <a:rPr b="1" spc="-10" dirty="0">
                <a:solidFill>
                  <a:srgbClr val="38751C"/>
                </a:solidFill>
                <a:latin typeface="Arial"/>
                <a:cs typeface="Arial"/>
              </a:rPr>
              <a:t> </a:t>
            </a:r>
            <a:r>
              <a:rPr b="1" spc="-25" dirty="0">
                <a:solidFill>
                  <a:srgbClr val="38751C"/>
                </a:solidFill>
                <a:latin typeface="Arial"/>
                <a:cs typeface="Arial"/>
              </a:rPr>
              <a:t>85%</a:t>
            </a: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</a:tabLst>
            </a:pPr>
            <a:r>
              <a:rPr b="1" dirty="0">
                <a:latin typeface="Arial"/>
                <a:cs typeface="Arial"/>
              </a:rPr>
              <a:t>Epoch</a:t>
            </a:r>
            <a:r>
              <a:rPr b="1" spc="-4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18: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dirty="0">
                <a:solidFill>
                  <a:srgbClr val="38751C"/>
                </a:solidFill>
              </a:rPr>
              <a:t>Train:</a:t>
            </a:r>
            <a:r>
              <a:rPr spc="-25" dirty="0">
                <a:solidFill>
                  <a:srgbClr val="38751C"/>
                </a:solidFill>
              </a:rPr>
              <a:t> </a:t>
            </a:r>
            <a:r>
              <a:rPr dirty="0">
                <a:solidFill>
                  <a:srgbClr val="38751C"/>
                </a:solidFill>
              </a:rPr>
              <a:t>95%</a:t>
            </a:r>
            <a:r>
              <a:rPr spc="-10" dirty="0">
                <a:solidFill>
                  <a:srgbClr val="38751C"/>
                </a:solidFill>
              </a:rPr>
              <a:t> </a:t>
            </a:r>
            <a:r>
              <a:rPr dirty="0">
                <a:solidFill>
                  <a:srgbClr val="CC0000"/>
                </a:solidFill>
              </a:rPr>
              <a:t>Validation:</a:t>
            </a:r>
            <a:r>
              <a:rPr spc="-25" dirty="0">
                <a:solidFill>
                  <a:srgbClr val="CC0000"/>
                </a:solidFill>
              </a:rPr>
              <a:t> 83%</a:t>
            </a: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</a:tabLst>
            </a:pPr>
            <a:r>
              <a:rPr b="1" dirty="0">
                <a:latin typeface="Arial"/>
                <a:cs typeface="Arial"/>
              </a:rPr>
              <a:t>Epoch</a:t>
            </a:r>
            <a:r>
              <a:rPr b="1" spc="-4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19: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dirty="0">
                <a:solidFill>
                  <a:srgbClr val="38751C"/>
                </a:solidFill>
              </a:rPr>
              <a:t>Train:</a:t>
            </a:r>
            <a:r>
              <a:rPr spc="-25" dirty="0">
                <a:solidFill>
                  <a:srgbClr val="38751C"/>
                </a:solidFill>
              </a:rPr>
              <a:t> </a:t>
            </a:r>
            <a:r>
              <a:rPr dirty="0">
                <a:solidFill>
                  <a:srgbClr val="38751C"/>
                </a:solidFill>
              </a:rPr>
              <a:t>97%</a:t>
            </a:r>
            <a:r>
              <a:rPr spc="-10" dirty="0">
                <a:solidFill>
                  <a:srgbClr val="38751C"/>
                </a:solidFill>
              </a:rPr>
              <a:t> </a:t>
            </a:r>
            <a:r>
              <a:rPr dirty="0">
                <a:solidFill>
                  <a:srgbClr val="CC0000"/>
                </a:solidFill>
              </a:rPr>
              <a:t>Validation:</a:t>
            </a:r>
            <a:r>
              <a:rPr spc="-25" dirty="0">
                <a:solidFill>
                  <a:srgbClr val="CC0000"/>
                </a:solidFill>
              </a:rPr>
              <a:t> 78%</a:t>
            </a: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</a:tabLst>
            </a:pPr>
            <a:r>
              <a:rPr b="1" dirty="0">
                <a:latin typeface="Arial"/>
                <a:cs typeface="Arial"/>
              </a:rPr>
              <a:t>Epoch</a:t>
            </a:r>
            <a:r>
              <a:rPr b="1" spc="-4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20: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dirty="0">
                <a:solidFill>
                  <a:srgbClr val="38751C"/>
                </a:solidFill>
              </a:rPr>
              <a:t>Train:</a:t>
            </a:r>
            <a:r>
              <a:rPr spc="-25" dirty="0">
                <a:solidFill>
                  <a:srgbClr val="38751C"/>
                </a:solidFill>
              </a:rPr>
              <a:t> </a:t>
            </a:r>
            <a:r>
              <a:rPr dirty="0">
                <a:solidFill>
                  <a:srgbClr val="38751C"/>
                </a:solidFill>
              </a:rPr>
              <a:t>98%</a:t>
            </a:r>
            <a:r>
              <a:rPr spc="-10" dirty="0">
                <a:solidFill>
                  <a:srgbClr val="38751C"/>
                </a:solidFill>
              </a:rPr>
              <a:t> </a:t>
            </a:r>
            <a:r>
              <a:rPr dirty="0">
                <a:solidFill>
                  <a:srgbClr val="CC0000"/>
                </a:solidFill>
              </a:rPr>
              <a:t>Validation:</a:t>
            </a:r>
            <a:r>
              <a:rPr spc="-25" dirty="0">
                <a:solidFill>
                  <a:srgbClr val="CC0000"/>
                </a:solidFill>
              </a:rPr>
              <a:t> 75%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025689" y="2180495"/>
            <a:ext cx="900430" cy="430530"/>
            <a:chOff x="5025689" y="2180495"/>
            <a:chExt cx="900430" cy="430530"/>
          </a:xfrm>
        </p:grpSpPr>
        <p:sp>
          <p:nvSpPr>
            <p:cNvPr id="4" name="object 4"/>
            <p:cNvSpPr/>
            <p:nvPr/>
          </p:nvSpPr>
          <p:spPr>
            <a:xfrm>
              <a:off x="5202164" y="2199545"/>
              <a:ext cx="704850" cy="320675"/>
            </a:xfrm>
            <a:custGeom>
              <a:avLst/>
              <a:gdLst/>
              <a:ahLst/>
              <a:cxnLst/>
              <a:rect l="l" t="t" r="r" b="b"/>
              <a:pathLst>
                <a:path w="704850" h="320675">
                  <a:moveTo>
                    <a:pt x="704773" y="0"/>
                  </a:moveTo>
                  <a:lnTo>
                    <a:pt x="0" y="320324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25689" y="2443517"/>
              <a:ext cx="221549" cy="166927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5979960" y="1960628"/>
            <a:ext cx="1079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Stop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here!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Regularization</a:t>
            </a:r>
            <a:r>
              <a:rPr spc="-65" dirty="0"/>
              <a:t> </a:t>
            </a:r>
            <a:r>
              <a:rPr dirty="0"/>
              <a:t>II:</a:t>
            </a:r>
            <a:r>
              <a:rPr spc="-65" dirty="0"/>
              <a:t> </a:t>
            </a:r>
            <a:r>
              <a:rPr dirty="0"/>
              <a:t>Early</a:t>
            </a:r>
            <a:r>
              <a:rPr spc="-65" dirty="0"/>
              <a:t> </a:t>
            </a:r>
            <a:r>
              <a:rPr spc="-10" dirty="0"/>
              <a:t>Stopping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331552" y="1745671"/>
            <a:ext cx="4660265" cy="2529205"/>
            <a:chOff x="2331552" y="1745671"/>
            <a:chExt cx="4660265" cy="25292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31552" y="1841785"/>
              <a:ext cx="4385539" cy="243256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204014" y="1764721"/>
              <a:ext cx="1769110" cy="759460"/>
            </a:xfrm>
            <a:custGeom>
              <a:avLst/>
              <a:gdLst/>
              <a:ahLst/>
              <a:cxnLst/>
              <a:rect l="l" t="t" r="r" b="b"/>
              <a:pathLst>
                <a:path w="1769109" h="759460">
                  <a:moveTo>
                    <a:pt x="1768746" y="0"/>
                  </a:moveTo>
                  <a:lnTo>
                    <a:pt x="0" y="759398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26089" y="2447255"/>
              <a:ext cx="221799" cy="164139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6969910" y="1359849"/>
            <a:ext cx="1079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Stop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here!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Regularization</a:t>
            </a:r>
            <a:r>
              <a:rPr spc="-65" dirty="0"/>
              <a:t> </a:t>
            </a:r>
            <a:r>
              <a:rPr dirty="0"/>
              <a:t>II:</a:t>
            </a:r>
            <a:r>
              <a:rPr spc="-65" dirty="0"/>
              <a:t> </a:t>
            </a:r>
            <a:r>
              <a:rPr dirty="0"/>
              <a:t>Early</a:t>
            </a:r>
            <a:r>
              <a:rPr spc="-65" dirty="0"/>
              <a:t> </a:t>
            </a:r>
            <a:r>
              <a:rPr spc="-10" dirty="0"/>
              <a:t>Stopping</a:t>
            </a: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5DC14FE7-80C1-40FD-D7C4-E97640877BED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590800" y="4716893"/>
            <a:ext cx="4179570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05"/>
              </a:lnSpc>
            </a:pPr>
            <a:r>
              <a:rPr lang="fr-FR" spc="-50" dirty="0"/>
              <a:t>ESILV</a:t>
            </a:r>
            <a:r>
              <a:rPr spc="-50" dirty="0"/>
              <a:t> </a:t>
            </a:r>
            <a:r>
              <a:rPr spc="-45" dirty="0"/>
              <a:t> </a:t>
            </a:r>
            <a:r>
              <a:rPr dirty="0">
                <a:solidFill>
                  <a:srgbClr val="0097A7"/>
                </a:solidFill>
              </a:rPr>
              <a:t>|</a:t>
            </a:r>
            <a:r>
              <a:rPr spc="-45" dirty="0">
                <a:solidFill>
                  <a:srgbClr val="0097A7"/>
                </a:solidFill>
              </a:rPr>
              <a:t> </a:t>
            </a:r>
            <a:r>
              <a:rPr spc="-10" dirty="0"/>
              <a:t>Intro</a:t>
            </a:r>
            <a:r>
              <a:rPr spc="-50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Deep</a:t>
            </a:r>
            <a:r>
              <a:rPr spc="-50" dirty="0"/>
              <a:t> </a:t>
            </a:r>
            <a:r>
              <a:rPr spc="-10" dirty="0"/>
              <a:t>Learning</a:t>
            </a:r>
            <a:r>
              <a:rPr spc="-40" dirty="0"/>
              <a:t> </a:t>
            </a:r>
            <a:r>
              <a:rPr dirty="0">
                <a:solidFill>
                  <a:srgbClr val="0097A7"/>
                </a:solidFill>
              </a:rPr>
              <a:t>|</a:t>
            </a:r>
            <a:r>
              <a:rPr spc="-50" dirty="0">
                <a:solidFill>
                  <a:srgbClr val="0097A7"/>
                </a:solidFill>
              </a:rPr>
              <a:t> </a:t>
            </a:r>
            <a:r>
              <a:rPr lang="fr-FR" spc="-50" dirty="0">
                <a:solidFill>
                  <a:srgbClr val="0097A7"/>
                </a:solidFill>
              </a:rPr>
              <a:t> </a:t>
            </a:r>
            <a:r>
              <a:rPr lang="fr-FR" spc="-50" dirty="0" err="1">
                <a:solidFill>
                  <a:srgbClr val="0097A7"/>
                </a:solidFill>
              </a:rPr>
              <a:t>K.Kadri</a:t>
            </a:r>
            <a:endParaRPr spc="-2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5248" y="1176351"/>
            <a:ext cx="5294630" cy="96837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14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Large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weights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typically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mean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model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is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overfitting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Add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size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weights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our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loss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function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Perform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well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on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task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+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keep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weights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small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Regularization</a:t>
            </a:r>
            <a:r>
              <a:rPr spc="-85" dirty="0"/>
              <a:t> </a:t>
            </a:r>
            <a:r>
              <a:rPr dirty="0"/>
              <a:t>III:</a:t>
            </a:r>
            <a:r>
              <a:rPr spc="-80" dirty="0"/>
              <a:t> </a:t>
            </a:r>
            <a:r>
              <a:rPr dirty="0"/>
              <a:t>Weight</a:t>
            </a:r>
            <a:r>
              <a:rPr spc="-85" dirty="0"/>
              <a:t> </a:t>
            </a:r>
            <a:r>
              <a:rPr spc="-10" dirty="0"/>
              <a:t>Regularization</a:t>
            </a:r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FE2928FD-CFDB-ED02-76BD-DED88550CC17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590800" y="4716893"/>
            <a:ext cx="4179570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05"/>
              </a:lnSpc>
            </a:pPr>
            <a:r>
              <a:rPr lang="fr-FR" spc="-50" dirty="0"/>
              <a:t>ESILV</a:t>
            </a:r>
            <a:r>
              <a:rPr spc="-50" dirty="0"/>
              <a:t> </a:t>
            </a:r>
            <a:r>
              <a:rPr spc="-45" dirty="0"/>
              <a:t> </a:t>
            </a:r>
            <a:r>
              <a:rPr dirty="0">
                <a:solidFill>
                  <a:srgbClr val="0097A7"/>
                </a:solidFill>
              </a:rPr>
              <a:t>|</a:t>
            </a:r>
            <a:r>
              <a:rPr spc="-45" dirty="0">
                <a:solidFill>
                  <a:srgbClr val="0097A7"/>
                </a:solidFill>
              </a:rPr>
              <a:t> </a:t>
            </a:r>
            <a:r>
              <a:rPr spc="-10" dirty="0"/>
              <a:t>Intro</a:t>
            </a:r>
            <a:r>
              <a:rPr spc="-50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Deep</a:t>
            </a:r>
            <a:r>
              <a:rPr spc="-50" dirty="0"/>
              <a:t> </a:t>
            </a:r>
            <a:r>
              <a:rPr spc="-10" dirty="0"/>
              <a:t>Learning</a:t>
            </a:r>
            <a:r>
              <a:rPr spc="-40" dirty="0"/>
              <a:t> </a:t>
            </a:r>
            <a:r>
              <a:rPr dirty="0">
                <a:solidFill>
                  <a:srgbClr val="0097A7"/>
                </a:solidFill>
              </a:rPr>
              <a:t>|</a:t>
            </a:r>
            <a:r>
              <a:rPr spc="-50" dirty="0">
                <a:solidFill>
                  <a:srgbClr val="0097A7"/>
                </a:solidFill>
              </a:rPr>
              <a:t> </a:t>
            </a:r>
            <a:r>
              <a:rPr lang="fr-FR" spc="-50" dirty="0">
                <a:solidFill>
                  <a:srgbClr val="0097A7"/>
                </a:solidFill>
              </a:rPr>
              <a:t> </a:t>
            </a:r>
            <a:r>
              <a:rPr lang="fr-FR" spc="-50" dirty="0" err="1">
                <a:solidFill>
                  <a:srgbClr val="0097A7"/>
                </a:solidFill>
              </a:rPr>
              <a:t>K.Kadri</a:t>
            </a:r>
            <a:endParaRPr spc="-2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5248" y="1176351"/>
            <a:ext cx="5294630" cy="96837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14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Large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weights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typically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mean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model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is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overfitting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Add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size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weights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our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loss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function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Perform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well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on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task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+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keep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weights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small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373" y="2733494"/>
            <a:ext cx="4190991" cy="74294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Regularization</a:t>
            </a:r>
            <a:r>
              <a:rPr spc="-85" dirty="0"/>
              <a:t> </a:t>
            </a:r>
            <a:r>
              <a:rPr dirty="0"/>
              <a:t>III:</a:t>
            </a:r>
            <a:r>
              <a:rPr spc="-80" dirty="0"/>
              <a:t> </a:t>
            </a:r>
            <a:r>
              <a:rPr dirty="0"/>
              <a:t>Weight</a:t>
            </a:r>
            <a:r>
              <a:rPr spc="-85" dirty="0"/>
              <a:t> </a:t>
            </a:r>
            <a:r>
              <a:rPr spc="-10" dirty="0"/>
              <a:t>Regularization</a:t>
            </a:r>
          </a:p>
        </p:txBody>
      </p:sp>
      <p:sp>
        <p:nvSpPr>
          <p:cNvPr id="6" name="object 8">
            <a:extLst>
              <a:ext uri="{FF2B5EF4-FFF2-40B4-BE49-F238E27FC236}">
                <a16:creationId xmlns:a16="http://schemas.microsoft.com/office/drawing/2014/main" id="{83C881FD-67CC-2837-34DE-3C7724B6693A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590800" y="4716893"/>
            <a:ext cx="4179570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05"/>
              </a:lnSpc>
            </a:pPr>
            <a:r>
              <a:rPr lang="fr-FR" spc="-50" dirty="0"/>
              <a:t>ESILV</a:t>
            </a:r>
            <a:r>
              <a:rPr spc="-50" dirty="0"/>
              <a:t> </a:t>
            </a:r>
            <a:r>
              <a:rPr spc="-45" dirty="0"/>
              <a:t> </a:t>
            </a:r>
            <a:r>
              <a:rPr dirty="0">
                <a:solidFill>
                  <a:srgbClr val="0097A7"/>
                </a:solidFill>
              </a:rPr>
              <a:t>|</a:t>
            </a:r>
            <a:r>
              <a:rPr spc="-45" dirty="0">
                <a:solidFill>
                  <a:srgbClr val="0097A7"/>
                </a:solidFill>
              </a:rPr>
              <a:t> </a:t>
            </a:r>
            <a:r>
              <a:rPr spc="-10" dirty="0"/>
              <a:t>Intro</a:t>
            </a:r>
            <a:r>
              <a:rPr spc="-50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Deep</a:t>
            </a:r>
            <a:r>
              <a:rPr spc="-50" dirty="0"/>
              <a:t> </a:t>
            </a:r>
            <a:r>
              <a:rPr spc="-10" dirty="0"/>
              <a:t>Learning</a:t>
            </a:r>
            <a:r>
              <a:rPr spc="-40" dirty="0"/>
              <a:t> </a:t>
            </a:r>
            <a:r>
              <a:rPr dirty="0">
                <a:solidFill>
                  <a:srgbClr val="0097A7"/>
                </a:solidFill>
              </a:rPr>
              <a:t>|</a:t>
            </a:r>
            <a:r>
              <a:rPr spc="-50" dirty="0">
                <a:solidFill>
                  <a:srgbClr val="0097A7"/>
                </a:solidFill>
              </a:rPr>
              <a:t> </a:t>
            </a:r>
            <a:r>
              <a:rPr lang="fr-FR" spc="-50" dirty="0">
                <a:solidFill>
                  <a:srgbClr val="0097A7"/>
                </a:solidFill>
              </a:rPr>
              <a:t> </a:t>
            </a:r>
            <a:r>
              <a:rPr lang="fr-FR" spc="-50" dirty="0" err="1">
                <a:solidFill>
                  <a:srgbClr val="0097A7"/>
                </a:solidFill>
              </a:rPr>
              <a:t>K.Kadri</a:t>
            </a:r>
            <a:endParaRPr spc="-2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5248" y="1176351"/>
            <a:ext cx="5294630" cy="96837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14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Large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weights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typically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mean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model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is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overfitting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Add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size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weights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our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loss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function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Perform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well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on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task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+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keep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weights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small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373" y="2733494"/>
            <a:ext cx="4190991" cy="74294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03589" y="2828744"/>
            <a:ext cx="1438272" cy="64769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Regularization</a:t>
            </a:r>
            <a:r>
              <a:rPr spc="-85" dirty="0"/>
              <a:t> </a:t>
            </a:r>
            <a:r>
              <a:rPr dirty="0"/>
              <a:t>III:</a:t>
            </a:r>
            <a:r>
              <a:rPr spc="-80" dirty="0"/>
              <a:t> </a:t>
            </a:r>
            <a:r>
              <a:rPr dirty="0"/>
              <a:t>Weight</a:t>
            </a:r>
            <a:r>
              <a:rPr spc="-85" dirty="0"/>
              <a:t> </a:t>
            </a:r>
            <a:r>
              <a:rPr spc="-10" dirty="0"/>
              <a:t>Regularization</a:t>
            </a: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7AD2205C-3D82-9BC8-C8E3-D80FACCDDB49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590800" y="4716893"/>
            <a:ext cx="4179570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05"/>
              </a:lnSpc>
            </a:pPr>
            <a:r>
              <a:rPr lang="fr-FR" spc="-50" dirty="0"/>
              <a:t>ESILV</a:t>
            </a:r>
            <a:r>
              <a:rPr spc="-50" dirty="0"/>
              <a:t> </a:t>
            </a:r>
            <a:r>
              <a:rPr spc="-45" dirty="0"/>
              <a:t> </a:t>
            </a:r>
            <a:r>
              <a:rPr dirty="0">
                <a:solidFill>
                  <a:srgbClr val="0097A7"/>
                </a:solidFill>
              </a:rPr>
              <a:t>|</a:t>
            </a:r>
            <a:r>
              <a:rPr spc="-45" dirty="0">
                <a:solidFill>
                  <a:srgbClr val="0097A7"/>
                </a:solidFill>
              </a:rPr>
              <a:t> </a:t>
            </a:r>
            <a:r>
              <a:rPr spc="-10" dirty="0"/>
              <a:t>Intro</a:t>
            </a:r>
            <a:r>
              <a:rPr spc="-50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Deep</a:t>
            </a:r>
            <a:r>
              <a:rPr spc="-50" dirty="0"/>
              <a:t> </a:t>
            </a:r>
            <a:r>
              <a:rPr spc="-10" dirty="0"/>
              <a:t>Learning</a:t>
            </a:r>
            <a:r>
              <a:rPr spc="-40" dirty="0"/>
              <a:t> </a:t>
            </a:r>
            <a:r>
              <a:rPr dirty="0">
                <a:solidFill>
                  <a:srgbClr val="0097A7"/>
                </a:solidFill>
              </a:rPr>
              <a:t>|</a:t>
            </a:r>
            <a:r>
              <a:rPr spc="-50" dirty="0">
                <a:solidFill>
                  <a:srgbClr val="0097A7"/>
                </a:solidFill>
              </a:rPr>
              <a:t> </a:t>
            </a:r>
            <a:r>
              <a:rPr lang="fr-FR" spc="-50" dirty="0">
                <a:solidFill>
                  <a:srgbClr val="0097A7"/>
                </a:solidFill>
              </a:rPr>
              <a:t> </a:t>
            </a:r>
            <a:r>
              <a:rPr lang="fr-FR" spc="-50" dirty="0" err="1">
                <a:solidFill>
                  <a:srgbClr val="0097A7"/>
                </a:solidFill>
              </a:rPr>
              <a:t>K.Kadri</a:t>
            </a:r>
            <a:endParaRPr spc="-2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5248" y="1176351"/>
            <a:ext cx="5294630" cy="96837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14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Large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weights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typically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mean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model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is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overfitting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Add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size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weights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our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loss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function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Perform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well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on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task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+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keep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weights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small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373" y="2733494"/>
            <a:ext cx="4190991" cy="74294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32735" y="3628842"/>
            <a:ext cx="3452544" cy="3809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30367" y="4314641"/>
            <a:ext cx="609598" cy="3714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03589" y="2828744"/>
            <a:ext cx="1438272" cy="647698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Regularization</a:t>
            </a:r>
            <a:r>
              <a:rPr spc="-85" dirty="0"/>
              <a:t> </a:t>
            </a:r>
            <a:r>
              <a:rPr dirty="0"/>
              <a:t>III:</a:t>
            </a:r>
            <a:r>
              <a:rPr spc="-80" dirty="0"/>
              <a:t> </a:t>
            </a:r>
            <a:r>
              <a:rPr dirty="0"/>
              <a:t>Weight</a:t>
            </a:r>
            <a:r>
              <a:rPr spc="-85" dirty="0"/>
              <a:t> </a:t>
            </a:r>
            <a:r>
              <a:rPr spc="-10" dirty="0"/>
              <a:t>Regularization</a:t>
            </a: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AEF3CC13-42BE-3CD0-2BC9-A0F0F7491CA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590800" y="4716893"/>
            <a:ext cx="4179570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05"/>
              </a:lnSpc>
            </a:pPr>
            <a:r>
              <a:rPr lang="fr-FR" spc="-50" dirty="0"/>
              <a:t>ESILV</a:t>
            </a:r>
            <a:r>
              <a:rPr spc="-50" dirty="0"/>
              <a:t> </a:t>
            </a:r>
            <a:r>
              <a:rPr spc="-45" dirty="0"/>
              <a:t> </a:t>
            </a:r>
            <a:r>
              <a:rPr dirty="0">
                <a:solidFill>
                  <a:srgbClr val="0097A7"/>
                </a:solidFill>
              </a:rPr>
              <a:t>|</a:t>
            </a:r>
            <a:r>
              <a:rPr spc="-45" dirty="0">
                <a:solidFill>
                  <a:srgbClr val="0097A7"/>
                </a:solidFill>
              </a:rPr>
              <a:t> </a:t>
            </a:r>
            <a:r>
              <a:rPr spc="-10" dirty="0"/>
              <a:t>Intro</a:t>
            </a:r>
            <a:r>
              <a:rPr spc="-50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Deep</a:t>
            </a:r>
            <a:r>
              <a:rPr spc="-50" dirty="0"/>
              <a:t> </a:t>
            </a:r>
            <a:r>
              <a:rPr spc="-10" dirty="0"/>
              <a:t>Learning</a:t>
            </a:r>
            <a:r>
              <a:rPr spc="-40" dirty="0"/>
              <a:t> </a:t>
            </a:r>
            <a:r>
              <a:rPr dirty="0">
                <a:solidFill>
                  <a:srgbClr val="0097A7"/>
                </a:solidFill>
              </a:rPr>
              <a:t>|</a:t>
            </a:r>
            <a:r>
              <a:rPr spc="-50" dirty="0">
                <a:solidFill>
                  <a:srgbClr val="0097A7"/>
                </a:solidFill>
              </a:rPr>
              <a:t> </a:t>
            </a:r>
            <a:r>
              <a:rPr lang="fr-FR" spc="-50" dirty="0">
                <a:solidFill>
                  <a:srgbClr val="0097A7"/>
                </a:solidFill>
              </a:rPr>
              <a:t> </a:t>
            </a:r>
            <a:r>
              <a:rPr lang="fr-FR" spc="-50" dirty="0" err="1">
                <a:solidFill>
                  <a:srgbClr val="0097A7"/>
                </a:solidFill>
              </a:rPr>
              <a:t>K.Kadri</a:t>
            </a:r>
            <a:endParaRPr spc="-2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5248" y="1176351"/>
            <a:ext cx="6273165" cy="159702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14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Perceptron</a:t>
            </a:r>
            <a:r>
              <a:rPr sz="1800" spc="-5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Classifier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Stacking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Perceptrons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form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neural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networks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How</a:t>
            </a:r>
            <a:r>
              <a:rPr sz="18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formulate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problems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with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neural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networks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Train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neural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networks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with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backpropagation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Techniques</a:t>
            </a:r>
            <a:r>
              <a:rPr sz="18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for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improving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training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deep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neural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networks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03131" y="3011193"/>
            <a:ext cx="3135799" cy="166703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Core</a:t>
            </a:r>
            <a:r>
              <a:rPr spc="-135" dirty="0"/>
              <a:t> </a:t>
            </a:r>
            <a:r>
              <a:rPr dirty="0"/>
              <a:t>Fundamentals</a:t>
            </a:r>
            <a:r>
              <a:rPr spc="-130" dirty="0"/>
              <a:t> </a:t>
            </a:r>
            <a:r>
              <a:rPr spc="-10" dirty="0"/>
              <a:t>Review</a:t>
            </a:r>
          </a:p>
        </p:txBody>
      </p:sp>
      <p:sp>
        <p:nvSpPr>
          <p:cNvPr id="6" name="object 8">
            <a:extLst>
              <a:ext uri="{FF2B5EF4-FFF2-40B4-BE49-F238E27FC236}">
                <a16:creationId xmlns:a16="http://schemas.microsoft.com/office/drawing/2014/main" id="{CD934958-2F36-9579-A495-E9FE9EBEC31C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590800" y="4716893"/>
            <a:ext cx="4179570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05"/>
              </a:lnSpc>
            </a:pPr>
            <a:r>
              <a:rPr lang="fr-FR" spc="-50" dirty="0"/>
              <a:t>ESILV</a:t>
            </a:r>
            <a:r>
              <a:rPr spc="-50" dirty="0"/>
              <a:t> </a:t>
            </a:r>
            <a:r>
              <a:rPr spc="-45" dirty="0"/>
              <a:t> </a:t>
            </a:r>
            <a:r>
              <a:rPr dirty="0">
                <a:solidFill>
                  <a:srgbClr val="0097A7"/>
                </a:solidFill>
              </a:rPr>
              <a:t>|</a:t>
            </a:r>
            <a:r>
              <a:rPr spc="-45" dirty="0">
                <a:solidFill>
                  <a:srgbClr val="0097A7"/>
                </a:solidFill>
              </a:rPr>
              <a:t> </a:t>
            </a:r>
            <a:r>
              <a:rPr spc="-10" dirty="0"/>
              <a:t>Intro</a:t>
            </a:r>
            <a:r>
              <a:rPr spc="-50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Deep</a:t>
            </a:r>
            <a:r>
              <a:rPr spc="-50" dirty="0"/>
              <a:t> </a:t>
            </a:r>
            <a:r>
              <a:rPr spc="-10" dirty="0"/>
              <a:t>Learning</a:t>
            </a:r>
            <a:r>
              <a:rPr spc="-40" dirty="0"/>
              <a:t> </a:t>
            </a:r>
            <a:r>
              <a:rPr dirty="0">
                <a:solidFill>
                  <a:srgbClr val="0097A7"/>
                </a:solidFill>
              </a:rPr>
              <a:t>|</a:t>
            </a:r>
            <a:r>
              <a:rPr spc="-50" dirty="0">
                <a:solidFill>
                  <a:srgbClr val="0097A7"/>
                </a:solidFill>
              </a:rPr>
              <a:t> </a:t>
            </a:r>
            <a:r>
              <a:rPr lang="fr-FR" spc="-50" dirty="0">
                <a:solidFill>
                  <a:srgbClr val="0097A7"/>
                </a:solidFill>
              </a:rPr>
              <a:t> </a:t>
            </a:r>
            <a:r>
              <a:rPr lang="fr-FR" spc="-50" dirty="0" err="1">
                <a:solidFill>
                  <a:srgbClr val="0097A7"/>
                </a:solidFill>
              </a:rPr>
              <a:t>K.Kadri</a:t>
            </a:r>
            <a:endParaRPr spc="-2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361950"/>
            <a:ext cx="23622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b="1" spc="-10" dirty="0">
                <a:latin typeface="Roboto"/>
                <a:cs typeface="Roboto"/>
              </a:rPr>
              <a:t>References</a:t>
            </a:r>
            <a:endParaRPr b="1" spc="-10" dirty="0">
              <a:latin typeface="Roboto"/>
              <a:cs typeface="Roboto"/>
            </a:endParaRPr>
          </a:p>
        </p:txBody>
      </p:sp>
      <p:sp>
        <p:nvSpPr>
          <p:cNvPr id="4" name="object 8">
            <a:extLst>
              <a:ext uri="{FF2B5EF4-FFF2-40B4-BE49-F238E27FC236}">
                <a16:creationId xmlns:a16="http://schemas.microsoft.com/office/drawing/2014/main" id="{41CB7FF3-D106-E6C9-61A5-2E21B35A98C8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590800" y="4716893"/>
            <a:ext cx="4179570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05"/>
              </a:lnSpc>
            </a:pPr>
            <a:r>
              <a:rPr lang="fr-FR" spc="-50" dirty="0"/>
              <a:t>ESILV</a:t>
            </a:r>
            <a:r>
              <a:rPr spc="-50" dirty="0"/>
              <a:t> </a:t>
            </a:r>
            <a:r>
              <a:rPr spc="-45" dirty="0"/>
              <a:t> </a:t>
            </a:r>
            <a:r>
              <a:rPr dirty="0">
                <a:solidFill>
                  <a:srgbClr val="0097A7"/>
                </a:solidFill>
              </a:rPr>
              <a:t>|</a:t>
            </a:r>
            <a:r>
              <a:rPr spc="-45" dirty="0">
                <a:solidFill>
                  <a:srgbClr val="0097A7"/>
                </a:solidFill>
              </a:rPr>
              <a:t> </a:t>
            </a:r>
            <a:r>
              <a:rPr spc="-10" dirty="0"/>
              <a:t>Intro</a:t>
            </a:r>
            <a:r>
              <a:rPr spc="-50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Deep</a:t>
            </a:r>
            <a:r>
              <a:rPr spc="-50" dirty="0"/>
              <a:t> </a:t>
            </a:r>
            <a:r>
              <a:rPr spc="-10" dirty="0"/>
              <a:t>Learning</a:t>
            </a:r>
            <a:r>
              <a:rPr spc="-40" dirty="0"/>
              <a:t> </a:t>
            </a:r>
            <a:r>
              <a:rPr dirty="0">
                <a:solidFill>
                  <a:srgbClr val="0097A7"/>
                </a:solidFill>
              </a:rPr>
              <a:t>|</a:t>
            </a:r>
            <a:r>
              <a:rPr spc="-50" dirty="0">
                <a:solidFill>
                  <a:srgbClr val="0097A7"/>
                </a:solidFill>
              </a:rPr>
              <a:t> </a:t>
            </a:r>
            <a:r>
              <a:rPr lang="fr-FR" spc="-50" dirty="0">
                <a:solidFill>
                  <a:srgbClr val="0097A7"/>
                </a:solidFill>
              </a:rPr>
              <a:t> </a:t>
            </a:r>
            <a:r>
              <a:rPr lang="fr-FR" spc="-50" dirty="0" err="1">
                <a:solidFill>
                  <a:srgbClr val="0097A7"/>
                </a:solidFill>
              </a:rPr>
              <a:t>K.Kadri</a:t>
            </a:r>
            <a:endParaRPr spc="-2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5ED4E90-DCED-7789-0159-4B6373853680}"/>
              </a:ext>
            </a:extLst>
          </p:cNvPr>
          <p:cNvSpPr txBox="1"/>
          <p:nvPr/>
        </p:nvSpPr>
        <p:spPr>
          <a:xfrm>
            <a:off x="533400" y="805661"/>
            <a:ext cx="76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Hands on machine learning with scikit learn : </a:t>
            </a:r>
            <a:r>
              <a:rPr lang="en-US" dirty="0" err="1"/>
              <a:t>Geron</a:t>
            </a:r>
            <a:r>
              <a:rPr lang="en-US" dirty="0"/>
              <a:t> </a:t>
            </a:r>
            <a:r>
              <a:rPr lang="en-US" dirty="0" err="1"/>
              <a:t>aurelien</a:t>
            </a:r>
            <a:r>
              <a:rPr lang="en-US" dirty="0"/>
              <a:t> </a:t>
            </a:r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A0EFC38-97A6-14AA-5489-3E26FFB47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2534" y="438150"/>
            <a:ext cx="1346532" cy="17717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7A7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229</TotalTime>
  <Words>2428</Words>
  <Application>Microsoft Office PowerPoint</Application>
  <PresentationFormat>Affichage à l'écran (16:9)</PresentationFormat>
  <Paragraphs>923</Paragraphs>
  <Slides>103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103</vt:i4>
      </vt:variant>
    </vt:vector>
  </HeadingPairs>
  <TitlesOfParts>
    <vt:vector size="110" baseType="lpstr">
      <vt:lpstr>Arial</vt:lpstr>
      <vt:lpstr>Arial MT</vt:lpstr>
      <vt:lpstr>Microsoft Sans Serif</vt:lpstr>
      <vt:lpstr>Roboto</vt:lpstr>
      <vt:lpstr>Tahoma</vt:lpstr>
      <vt:lpstr>Wingdings</vt:lpstr>
      <vt:lpstr>Office Theme</vt:lpstr>
      <vt:lpstr>Présentation PowerPoint</vt:lpstr>
      <vt:lpstr>Deep Learning Success</vt:lpstr>
      <vt:lpstr>Deep Learning Success</vt:lpstr>
      <vt:lpstr>Deep Learning Success</vt:lpstr>
      <vt:lpstr>Deep Learning Success</vt:lpstr>
      <vt:lpstr>Deep Learning Success</vt:lpstr>
      <vt:lpstr>Deep Learning Success</vt:lpstr>
      <vt:lpstr>Deep Learning Success</vt:lpstr>
      <vt:lpstr> Goals</vt:lpstr>
      <vt:lpstr>Why Deep Learning and why now?</vt:lpstr>
      <vt:lpstr>Why Deep Learning?</vt:lpstr>
      <vt:lpstr>Why Now?</vt:lpstr>
      <vt:lpstr>Fundamentals of Deep Learning</vt:lpstr>
      <vt:lpstr>The Perceptron</vt:lpstr>
      <vt:lpstr>The Perceptron</vt:lpstr>
      <vt:lpstr>Perceptron Forward Pass</vt:lpstr>
      <vt:lpstr>Perceptron Forward Pass</vt:lpstr>
      <vt:lpstr>Perceptron Forward Pass</vt:lpstr>
      <vt:lpstr>Perceptron Forward Pass</vt:lpstr>
      <vt:lpstr>Perceptron Forward Pass</vt:lpstr>
      <vt:lpstr>Perceptron Forward Pass</vt:lpstr>
      <vt:lpstr>Sigmoid Activation</vt:lpstr>
      <vt:lpstr>Common Activation Functions</vt:lpstr>
      <vt:lpstr>Importance of Activation Functions</vt:lpstr>
      <vt:lpstr>Perceptron Forward Pass</vt:lpstr>
      <vt:lpstr>Perceptron Forward Pass</vt:lpstr>
      <vt:lpstr>Perceptron Forward Pass</vt:lpstr>
      <vt:lpstr>How do we build neural networks with perceptrons?</vt:lpstr>
      <vt:lpstr>Perceptron Diagram Simplified</vt:lpstr>
      <vt:lpstr>Perceptron Diagram Simplified</vt:lpstr>
      <vt:lpstr>Multi-Output Perceptron</vt:lpstr>
      <vt:lpstr>Multi-Layer Perceptron (MLP)</vt:lpstr>
      <vt:lpstr>Multi-Layer Perceptron (MLP)</vt:lpstr>
      <vt:lpstr>Deep Neural Network</vt:lpstr>
      <vt:lpstr>Applying Neural Networks</vt:lpstr>
      <vt:lpstr>Example Problem: Will my Flight be Delayed?</vt:lpstr>
      <vt:lpstr>Example Problem: Will my Flight be Delayed?</vt:lpstr>
      <vt:lpstr>Example Problem: Will my Flight be Delayed?</vt:lpstr>
      <vt:lpstr>Example Problem: Will my Flight be Delayed?</vt:lpstr>
      <vt:lpstr>Example Problem: Will my Flight be Delayed?</vt:lpstr>
      <vt:lpstr>Example Problem: Will my Flight be Delayed?</vt:lpstr>
      <vt:lpstr>Quantifying Loss</vt:lpstr>
      <vt:lpstr>Total Loss</vt:lpstr>
      <vt:lpstr>Total Loss</vt:lpstr>
      <vt:lpstr>Binary Cross Entropy Loss</vt:lpstr>
      <vt:lpstr>Mean Squared Error (MSE) Loss</vt:lpstr>
      <vt:lpstr>Training Neural Networks</vt:lpstr>
      <vt:lpstr>Training Neural Networks: Objective</vt:lpstr>
      <vt:lpstr>Training Neural Networks: Objective</vt:lpstr>
      <vt:lpstr>Training Neural Networks: Objective</vt:lpstr>
      <vt:lpstr>Loss is a function of the model’s parameters</vt:lpstr>
      <vt:lpstr>How to minimize loss?</vt:lpstr>
      <vt:lpstr>How to minimize loss?</vt:lpstr>
      <vt:lpstr>How to minimize loss?</vt:lpstr>
      <vt:lpstr>How to minimize loss?</vt:lpstr>
      <vt:lpstr>How to minimize loss?</vt:lpstr>
      <vt:lpstr>This is called Stochastic Gradient Descent (SGD)</vt:lpstr>
      <vt:lpstr>Stochastic Gradient Descent (SGD)</vt:lpstr>
      <vt:lpstr>Stochastic Gradient Descent (SGD)</vt:lpstr>
      <vt:lpstr>Stochastic Gradient Descent (SGD)</vt:lpstr>
      <vt:lpstr>Calculating the Gradient: Backpropagation</vt:lpstr>
      <vt:lpstr>Calculating the Gradient: Backpropagation</vt:lpstr>
      <vt:lpstr>Calculating the Gradient: Backpropagation</vt:lpstr>
      <vt:lpstr>Calculating the Gradient: Backpropagation</vt:lpstr>
      <vt:lpstr>Calculating the Gradient: Backpropagation</vt:lpstr>
      <vt:lpstr>Calculating the Gradient: Backpropagation</vt:lpstr>
      <vt:lpstr>Calculating the Gradient: Backpropagation</vt:lpstr>
      <vt:lpstr>Calculating the Gradient: Backpropagation</vt:lpstr>
      <vt:lpstr>Calculating the Gradient: Backpropagation</vt:lpstr>
      <vt:lpstr>Calculating the Gradient: Backpropagation</vt:lpstr>
      <vt:lpstr>Training Neural Networks In Practice</vt:lpstr>
      <vt:lpstr>Loss function can be difficult to optimize</vt:lpstr>
      <vt:lpstr>Loss function can be difficult to optimize</vt:lpstr>
      <vt:lpstr>Loss function can be difficult to optimize</vt:lpstr>
      <vt:lpstr>Learning Rate &amp; Optimization</vt:lpstr>
      <vt:lpstr>Learning Rate &amp; Optimization</vt:lpstr>
      <vt:lpstr>How to deal with this?</vt:lpstr>
      <vt:lpstr>How to deal with this?</vt:lpstr>
      <vt:lpstr>How to deal with this?</vt:lpstr>
      <vt:lpstr>Adaptive Learning Rate</vt:lpstr>
      <vt:lpstr>Adaptive Learning Rate Algorithms</vt:lpstr>
      <vt:lpstr>Escaping Saddle Points</vt:lpstr>
      <vt:lpstr>Escaping Saddle Points</vt:lpstr>
      <vt:lpstr>Training Neural Networks In Practice 2: MiniBatches</vt:lpstr>
      <vt:lpstr>Why is it Stochastic Gradient Descent?</vt:lpstr>
      <vt:lpstr>Minibatches Reduce Gradient Variance</vt:lpstr>
      <vt:lpstr>Advantages of Minibatches</vt:lpstr>
      <vt:lpstr>Training Neural Networks In Practice 3: Fighting Overfitting</vt:lpstr>
      <vt:lpstr>The Problem of Overfitting</vt:lpstr>
      <vt:lpstr>Regularization Techniques</vt:lpstr>
      <vt:lpstr>Regularization I: Dropout</vt:lpstr>
      <vt:lpstr>Regularization I: Dropout</vt:lpstr>
      <vt:lpstr>Regularization I: Dropout</vt:lpstr>
      <vt:lpstr>Regularization I: Dropout</vt:lpstr>
      <vt:lpstr>Regularization II: Early Stopping</vt:lpstr>
      <vt:lpstr>Regularization II: Early Stopping</vt:lpstr>
      <vt:lpstr>Regularization II: Early Stopping</vt:lpstr>
      <vt:lpstr>Regularization III: Weight Regularization</vt:lpstr>
      <vt:lpstr>Regularization III: Weight Regularization</vt:lpstr>
      <vt:lpstr>Regularization III: Weight Regularization</vt:lpstr>
      <vt:lpstr>Regularization III: Weight Regularization</vt:lpstr>
      <vt:lpstr>Core Fundamentals Review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Kered</dc:creator>
  <cp:lastModifiedBy>Kheireddine Kadri</cp:lastModifiedBy>
  <cp:revision>6</cp:revision>
  <dcterms:created xsi:type="dcterms:W3CDTF">2023-12-06T17:39:15Z</dcterms:created>
  <dcterms:modified xsi:type="dcterms:W3CDTF">2023-12-26T13:44:40Z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2023-12-06T00:00:00Z</vt:filetime>
  </property>
  <property fmtid="{D5CDD505-2E9C-101B-9397-08002B2CF9AE}" pid="3" name="Creator">
    <vt:lpwstr>Google</vt:lpwstr>
  </property>
  <property fmtid="{D5CDD505-2E9C-101B-9397-08002B2CF9AE}" pid="4" name="LastSaved">
    <vt:filetime>2023-12-06T00:00:00Z</vt:filetime>
  </property>
  <property fmtid="{D5CDD505-2E9C-101B-9397-08002B2CF9AE}" pid="5" name="Producer">
    <vt:lpwstr>3-Heights(TM) PDF Optimization Shell 4.8.25.2 (http://www.pdf-tools.com)</vt:lpwstr>
  </property>
</Properties>
</file>